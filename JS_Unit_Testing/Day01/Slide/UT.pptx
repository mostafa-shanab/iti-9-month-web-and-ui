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19" r:id="rId1"/>
  </p:sldMasterIdLst>
  <p:sldIdLst>
    <p:sldId id="296" r:id="rId2"/>
    <p:sldId id="257" r:id="rId3"/>
    <p:sldId id="258" r:id="rId4"/>
    <p:sldId id="259" r:id="rId5"/>
    <p:sldId id="298" r:id="rId6"/>
    <p:sldId id="260" r:id="rId7"/>
    <p:sldId id="262" r:id="rId8"/>
    <p:sldId id="263" r:id="rId9"/>
    <p:sldId id="297" r:id="rId10"/>
    <p:sldId id="272" r:id="rId11"/>
    <p:sldId id="291" r:id="rId12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196" autoAdjust="0"/>
  </p:normalViewPr>
  <p:slideViewPr>
    <p:cSldViewPr>
      <p:cViewPr varScale="1">
        <p:scale>
          <a:sx n="81" d="100"/>
          <a:sy n="81" d="100"/>
        </p:scale>
        <p:origin x="725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20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52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22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58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2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99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08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6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29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0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88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592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34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884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93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6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88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4727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  <p:sldLayoutId id="2147483834" r:id="rId15"/>
    <p:sldLayoutId id="2147483835" r:id="rId16"/>
    <p:sldLayoutId id="214748383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378FF-6EA4-60F9-6FC9-AA4CFEEE0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4525" y="2050661"/>
            <a:ext cx="8982950" cy="1378339"/>
          </a:xfrm>
        </p:spPr>
        <p:txBody>
          <a:bodyPr>
            <a:noAutofit/>
          </a:bodyPr>
          <a:lstStyle/>
          <a:p>
            <a:r>
              <a:rPr 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JS Unit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45B7D-E78E-BFAB-2ED0-DCBFD8A41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3581400"/>
            <a:ext cx="2514600" cy="406399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Eng</a:t>
            </a:r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Ryhab Farouq </a:t>
            </a:r>
          </a:p>
        </p:txBody>
      </p:sp>
    </p:spTree>
    <p:extLst>
      <p:ext uri="{BB962C8B-B14F-4D97-AF65-F5344CB8AC3E}">
        <p14:creationId xmlns:p14="http://schemas.microsoft.com/office/powerpoint/2010/main" val="2482993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SDLC Guide – Software Development Life Cycle Phases and Methodologies">
            <a:extLst>
              <a:ext uri="{FF2B5EF4-FFF2-40B4-BE49-F238E27FC236}">
                <a16:creationId xmlns:a16="http://schemas.microsoft.com/office/drawing/2014/main" id="{61ACAB38-E990-4CAB-D3DD-18DCB5390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106225"/>
            <a:ext cx="8763000" cy="4645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0B46C67-840E-1F8B-9575-2ECAC5381E5E}"/>
              </a:ext>
            </a:extLst>
          </p:cNvPr>
          <p:cNvSpPr/>
          <p:nvPr/>
        </p:nvSpPr>
        <p:spPr>
          <a:xfrm>
            <a:off x="1752600" y="1066800"/>
            <a:ext cx="8763000" cy="4343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25605442-B353-C0EB-1A1C-C5E431680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300" y="2728735"/>
            <a:ext cx="5105399" cy="1400530"/>
          </a:xfrm>
        </p:spPr>
        <p:txBody>
          <a:bodyPr/>
          <a:lstStyle/>
          <a:p>
            <a:r>
              <a:rPr lang="en-US" dirty="0"/>
              <a:t>What is Unit-Testing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1447800"/>
            <a:ext cx="8610601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+mn-lt"/>
              </a:rPr>
              <a:t>Why is</a:t>
            </a:r>
            <a:r>
              <a:rPr sz="3200" spc="-100" dirty="0">
                <a:latin typeface="+mn-lt"/>
              </a:rPr>
              <a:t> </a:t>
            </a:r>
            <a:r>
              <a:rPr sz="3200" spc="-5" dirty="0">
                <a:latin typeface="+mn-lt"/>
              </a:rPr>
              <a:t>Software</a:t>
            </a:r>
            <a:r>
              <a:rPr sz="3200" spc="-270" dirty="0">
                <a:latin typeface="+mn-lt"/>
              </a:rPr>
              <a:t> </a:t>
            </a:r>
            <a:r>
              <a:rPr sz="3200" spc="-40" dirty="0">
                <a:latin typeface="+mn-lt"/>
              </a:rPr>
              <a:t>Testing</a:t>
            </a:r>
            <a:r>
              <a:rPr sz="3200" dirty="0">
                <a:latin typeface="+mn-lt"/>
              </a:rPr>
              <a:t> </a:t>
            </a:r>
            <a:r>
              <a:rPr sz="3200" spc="-5" dirty="0">
                <a:latin typeface="+mn-lt"/>
              </a:rPr>
              <a:t>Important?</a:t>
            </a:r>
            <a:endParaRPr sz="3200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2209800"/>
            <a:ext cx="8775573" cy="20133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1040130" indent="-28702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143750"/>
              <a:buFont typeface="Arial MT"/>
              <a:buChar char="•"/>
              <a:tabLst>
                <a:tab pos="299720" algn="l"/>
              </a:tabLst>
            </a:pPr>
            <a:r>
              <a:rPr sz="2400" spc="-25" dirty="0">
                <a:latin typeface="Corbel"/>
                <a:cs typeface="Corbel"/>
              </a:rPr>
              <a:t>Testing</a:t>
            </a:r>
            <a:r>
              <a:rPr sz="2400" spc="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is</a:t>
            </a:r>
            <a:r>
              <a:rPr sz="2400" spc="-5" dirty="0">
                <a:latin typeface="Corbel"/>
                <a:cs typeface="Corbel"/>
              </a:rPr>
              <a:t> important</a:t>
            </a:r>
            <a:r>
              <a:rPr sz="2400" dirty="0">
                <a:latin typeface="Corbel"/>
                <a:cs typeface="Corbel"/>
              </a:rPr>
              <a:t> as it uncovers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defect</a:t>
            </a:r>
            <a:r>
              <a:rPr sz="2400" spc="-5" dirty="0">
                <a:latin typeface="Corbel"/>
                <a:cs typeface="Corbel"/>
              </a:rPr>
              <a:t> before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it</a:t>
            </a:r>
            <a:r>
              <a:rPr sz="2400" spc="-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is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delivered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to the </a:t>
            </a:r>
            <a:r>
              <a:rPr sz="2400" spc="-46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customer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ensuring </a:t>
            </a:r>
            <a:r>
              <a:rPr sz="2400" spc="-5" dirty="0">
                <a:latin typeface="Corbel"/>
                <a:cs typeface="Corbel"/>
              </a:rPr>
              <a:t>the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quality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software.</a:t>
            </a:r>
            <a:endParaRPr sz="2400" dirty="0">
              <a:latin typeface="Corbel"/>
              <a:cs typeface="Corbel"/>
            </a:endParaRPr>
          </a:p>
          <a:p>
            <a:pPr marL="299085" marR="221615" indent="-287020">
              <a:lnSpc>
                <a:spcPct val="100000"/>
              </a:lnSpc>
              <a:spcBef>
                <a:spcPts val="1175"/>
              </a:spcBef>
              <a:buClr>
                <a:srgbClr val="C00000"/>
              </a:buClr>
              <a:buSzPct val="143750"/>
              <a:buFont typeface="Arial MT"/>
              <a:buChar char="•"/>
              <a:tabLst>
                <a:tab pos="299720" algn="l"/>
              </a:tabLst>
            </a:pPr>
            <a:r>
              <a:rPr sz="2400" dirty="0">
                <a:latin typeface="Corbel"/>
                <a:cs typeface="Corbel"/>
              </a:rPr>
              <a:t>So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that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the</a:t>
            </a:r>
            <a:r>
              <a:rPr sz="2400" dirty="0">
                <a:latin typeface="Corbel"/>
                <a:cs typeface="Corbel"/>
              </a:rPr>
              <a:t> defects</a:t>
            </a:r>
            <a:r>
              <a:rPr sz="2400" spc="-5" dirty="0">
                <a:latin typeface="Corbel"/>
                <a:cs typeface="Corbel"/>
              </a:rPr>
              <a:t> or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bugs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can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be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identified</a:t>
            </a:r>
            <a:r>
              <a:rPr sz="2400" spc="3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in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the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early </a:t>
            </a:r>
            <a:r>
              <a:rPr sz="2400" spc="-5" dirty="0">
                <a:latin typeface="Corbel"/>
                <a:cs typeface="Corbel"/>
              </a:rPr>
              <a:t>stages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of 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development;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as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later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the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stage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in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which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bug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is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identified,</a:t>
            </a:r>
            <a:r>
              <a:rPr sz="2400" spc="4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more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is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the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cost to </a:t>
            </a:r>
            <a:r>
              <a:rPr sz="2400" spc="-46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rectify it.</a:t>
            </a:r>
            <a:endParaRPr sz="2400" dirty="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y we love automated testing – ResRequest">
            <a:extLst>
              <a:ext uri="{FF2B5EF4-FFF2-40B4-BE49-F238E27FC236}">
                <a16:creationId xmlns:a16="http://schemas.microsoft.com/office/drawing/2014/main" id="{BB40F0FE-7418-5C35-8406-2875337B9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143000"/>
            <a:ext cx="8743950" cy="473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258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9600" y="838200"/>
            <a:ext cx="433641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+mn-lt"/>
                <a:cs typeface="Arial MT"/>
              </a:rPr>
              <a:t>Who</a:t>
            </a:r>
            <a:r>
              <a:rPr sz="3200" spc="-30" dirty="0">
                <a:latin typeface="+mn-lt"/>
                <a:cs typeface="Arial MT"/>
              </a:rPr>
              <a:t> </a:t>
            </a:r>
            <a:r>
              <a:rPr sz="3200" spc="-5" dirty="0">
                <a:latin typeface="+mn-lt"/>
                <a:cs typeface="Arial MT"/>
              </a:rPr>
              <a:t>does</a:t>
            </a:r>
            <a:r>
              <a:rPr sz="3200" spc="-80" dirty="0">
                <a:latin typeface="+mn-lt"/>
                <a:cs typeface="Arial MT"/>
              </a:rPr>
              <a:t> </a:t>
            </a:r>
            <a:r>
              <a:rPr sz="3200" spc="-60" dirty="0">
                <a:latin typeface="+mn-lt"/>
                <a:cs typeface="Arial MT"/>
              </a:rPr>
              <a:t>Testing?</a:t>
            </a:r>
            <a:endParaRPr sz="3200" dirty="0">
              <a:latin typeface="+mn-l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1752600"/>
            <a:ext cx="10245725" cy="39484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143750"/>
              <a:buFont typeface="Arial MT"/>
              <a:buChar char="•"/>
              <a:tabLst>
                <a:tab pos="299720" algn="l"/>
              </a:tabLst>
            </a:pPr>
            <a:r>
              <a:rPr sz="2400" dirty="0">
                <a:latin typeface="Corbel"/>
                <a:cs typeface="Corbel"/>
              </a:rPr>
              <a:t>In</a:t>
            </a:r>
            <a:r>
              <a:rPr sz="2400" spc="-5" dirty="0">
                <a:latin typeface="Corbel"/>
                <a:cs typeface="Corbel"/>
              </a:rPr>
              <a:t> the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IT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15" dirty="0">
                <a:latin typeface="Corbel"/>
                <a:cs typeface="Corbel"/>
              </a:rPr>
              <a:t>industry,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large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companies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have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</a:t>
            </a:r>
            <a:r>
              <a:rPr sz="2400" spc="-5" dirty="0">
                <a:latin typeface="Corbel"/>
                <a:cs typeface="Corbel"/>
              </a:rPr>
              <a:t> team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with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responsibilities</a:t>
            </a:r>
            <a:r>
              <a:rPr sz="2400" spc="5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to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evaluate </a:t>
            </a:r>
            <a:r>
              <a:rPr sz="2400" spc="-46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the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developed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software</a:t>
            </a:r>
            <a:r>
              <a:rPr sz="2400" dirty="0">
                <a:latin typeface="Corbel"/>
                <a:cs typeface="Corbel"/>
              </a:rPr>
              <a:t> in</a:t>
            </a:r>
            <a:r>
              <a:rPr sz="2400" spc="-5" dirty="0">
                <a:latin typeface="Corbel"/>
                <a:cs typeface="Corbel"/>
              </a:rPr>
              <a:t> context of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the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given</a:t>
            </a:r>
            <a:r>
              <a:rPr sz="2400" spc="4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requirements</a:t>
            </a:r>
            <a:endParaRPr sz="2400" dirty="0">
              <a:latin typeface="Corbel"/>
              <a:cs typeface="Corbel"/>
            </a:endParaRPr>
          </a:p>
          <a:p>
            <a:pPr marL="299085" indent="-287020">
              <a:lnSpc>
                <a:spcPct val="100000"/>
              </a:lnSpc>
              <a:spcBef>
                <a:spcPts val="1180"/>
              </a:spcBef>
              <a:buClr>
                <a:srgbClr val="C00000"/>
              </a:buClr>
              <a:buSzPct val="143750"/>
              <a:buFont typeface="Arial MT"/>
              <a:buChar char="•"/>
              <a:tabLst>
                <a:tab pos="299720" algn="l"/>
              </a:tabLst>
            </a:pPr>
            <a:r>
              <a:rPr sz="2400" spc="-5" dirty="0">
                <a:latin typeface="Corbel"/>
                <a:cs typeface="Corbel"/>
              </a:rPr>
              <a:t>developers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also </a:t>
            </a:r>
            <a:r>
              <a:rPr sz="2400" spc="-5" dirty="0">
                <a:latin typeface="Corbel"/>
                <a:cs typeface="Corbel"/>
              </a:rPr>
              <a:t>conduct</a:t>
            </a:r>
            <a:r>
              <a:rPr sz="2400" spc="-3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testing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which</a:t>
            </a:r>
            <a:r>
              <a:rPr sz="2400" dirty="0">
                <a:latin typeface="Corbel"/>
                <a:cs typeface="Corbel"/>
              </a:rPr>
              <a:t> is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called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b="1" spc="-5" dirty="0">
                <a:latin typeface="Corbel"/>
                <a:cs typeface="Corbel"/>
              </a:rPr>
              <a:t>Unit</a:t>
            </a:r>
            <a:r>
              <a:rPr sz="2400" b="1" spc="-155" dirty="0">
                <a:latin typeface="Corbel"/>
                <a:cs typeface="Corbel"/>
              </a:rPr>
              <a:t> </a:t>
            </a:r>
            <a:r>
              <a:rPr sz="2400" b="1" spc="-20" dirty="0">
                <a:latin typeface="Corbel"/>
                <a:cs typeface="Corbel"/>
              </a:rPr>
              <a:t>Testing</a:t>
            </a:r>
            <a:r>
              <a:rPr sz="2400" spc="-20" dirty="0">
                <a:latin typeface="Corbel"/>
                <a:cs typeface="Corbel"/>
              </a:rPr>
              <a:t>.</a:t>
            </a:r>
            <a:endParaRPr sz="2400" dirty="0">
              <a:latin typeface="Corbel"/>
              <a:cs typeface="Corbel"/>
            </a:endParaRPr>
          </a:p>
          <a:p>
            <a:pPr marL="299085" marR="1066800" indent="-287020">
              <a:lnSpc>
                <a:spcPct val="100000"/>
              </a:lnSpc>
              <a:spcBef>
                <a:spcPts val="1175"/>
              </a:spcBef>
              <a:buClr>
                <a:srgbClr val="C00000"/>
              </a:buClr>
              <a:buSzPct val="143750"/>
              <a:buFont typeface="Arial MT"/>
              <a:buChar char="•"/>
              <a:tabLst>
                <a:tab pos="299720" algn="l"/>
              </a:tabLst>
            </a:pPr>
            <a:r>
              <a:rPr sz="2400" spc="-5" dirty="0">
                <a:latin typeface="Corbel"/>
                <a:cs typeface="Corbel"/>
              </a:rPr>
              <a:t>the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following</a:t>
            </a:r>
            <a:r>
              <a:rPr sz="2400" dirty="0">
                <a:latin typeface="Corbel"/>
                <a:cs typeface="Corbel"/>
              </a:rPr>
              <a:t> professionals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are</a:t>
            </a:r>
            <a:r>
              <a:rPr sz="2400" spc="-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involved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in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testing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</a:t>
            </a:r>
            <a:r>
              <a:rPr sz="2400" spc="-5" dirty="0">
                <a:latin typeface="Corbel"/>
                <a:cs typeface="Corbel"/>
              </a:rPr>
              <a:t> system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within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their </a:t>
            </a:r>
            <a:r>
              <a:rPr sz="2400" spc="-46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respective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capacities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−</a:t>
            </a:r>
          </a:p>
          <a:p>
            <a:pPr marL="756285" lvl="1" indent="-287020">
              <a:lnSpc>
                <a:spcPct val="100000"/>
              </a:lnSpc>
              <a:spcBef>
                <a:spcPts val="1105"/>
              </a:spcBef>
              <a:buClr>
                <a:srgbClr val="C00000"/>
              </a:buClr>
              <a:buSzPct val="145000"/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Corbel"/>
                <a:cs typeface="Corbel"/>
              </a:rPr>
              <a:t>So</a:t>
            </a:r>
            <a:r>
              <a:rPr sz="2000" spc="-10" dirty="0">
                <a:latin typeface="Corbel"/>
                <a:cs typeface="Corbel"/>
              </a:rPr>
              <a:t>f</a:t>
            </a:r>
            <a:r>
              <a:rPr sz="2000" spc="-5" dirty="0">
                <a:latin typeface="Corbel"/>
                <a:cs typeface="Corbel"/>
              </a:rPr>
              <a:t>twar</a:t>
            </a:r>
            <a:r>
              <a:rPr sz="2000" dirty="0">
                <a:latin typeface="Corbel"/>
                <a:cs typeface="Corbel"/>
              </a:rPr>
              <a:t>e</a:t>
            </a:r>
            <a:r>
              <a:rPr sz="2000" spc="-155" dirty="0">
                <a:latin typeface="Corbel"/>
                <a:cs typeface="Corbel"/>
              </a:rPr>
              <a:t> </a:t>
            </a:r>
            <a:r>
              <a:rPr sz="2000" spc="-135" dirty="0">
                <a:latin typeface="Corbel"/>
                <a:cs typeface="Corbel"/>
              </a:rPr>
              <a:t>T</a:t>
            </a:r>
            <a:r>
              <a:rPr sz="2000" dirty="0">
                <a:latin typeface="Corbel"/>
                <a:cs typeface="Corbel"/>
              </a:rPr>
              <a:t>ester</a:t>
            </a:r>
          </a:p>
          <a:p>
            <a:pPr marL="756285" lvl="1" indent="-287020">
              <a:lnSpc>
                <a:spcPct val="100000"/>
              </a:lnSpc>
              <a:spcBef>
                <a:spcPts val="1085"/>
              </a:spcBef>
              <a:buClr>
                <a:srgbClr val="C00000"/>
              </a:buClr>
              <a:buSzPct val="145000"/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Corbel"/>
                <a:cs typeface="Corbel"/>
              </a:rPr>
              <a:t>Software</a:t>
            </a:r>
            <a:r>
              <a:rPr sz="2000" spc="-20" dirty="0">
                <a:latin typeface="Corbel"/>
                <a:cs typeface="Corbel"/>
              </a:rPr>
              <a:t> </a:t>
            </a:r>
            <a:r>
              <a:rPr sz="2000" spc="-5" dirty="0">
                <a:latin typeface="Corbel"/>
                <a:cs typeface="Corbel"/>
              </a:rPr>
              <a:t>Developer</a:t>
            </a:r>
            <a:endParaRPr sz="2000" dirty="0">
              <a:latin typeface="Corbel"/>
              <a:cs typeface="Corbel"/>
            </a:endParaRPr>
          </a:p>
          <a:p>
            <a:pPr marL="756285" lvl="1" indent="-287020">
              <a:lnSpc>
                <a:spcPct val="100000"/>
              </a:lnSpc>
              <a:spcBef>
                <a:spcPts val="1080"/>
              </a:spcBef>
              <a:buClr>
                <a:srgbClr val="C00000"/>
              </a:buClr>
              <a:buSzPct val="145000"/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spc="-5" dirty="0">
                <a:latin typeface="Corbel"/>
                <a:cs typeface="Corbel"/>
              </a:rPr>
              <a:t>Project</a:t>
            </a:r>
            <a:r>
              <a:rPr sz="2000" spc="-30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Lead/Manager</a:t>
            </a:r>
          </a:p>
          <a:p>
            <a:pPr marL="756285" lvl="1" indent="-287020">
              <a:lnSpc>
                <a:spcPct val="100000"/>
              </a:lnSpc>
              <a:spcBef>
                <a:spcPts val="1080"/>
              </a:spcBef>
              <a:buClr>
                <a:srgbClr val="C00000"/>
              </a:buClr>
              <a:buSzPct val="145000"/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spc="-5" dirty="0">
                <a:latin typeface="Corbel"/>
                <a:cs typeface="Corbel"/>
              </a:rPr>
              <a:t>En</a:t>
            </a:r>
            <a:r>
              <a:rPr sz="2000" dirty="0">
                <a:latin typeface="Corbel"/>
                <a:cs typeface="Corbel"/>
              </a:rPr>
              <a:t>d</a:t>
            </a:r>
            <a:r>
              <a:rPr sz="2000" spc="-75" dirty="0">
                <a:latin typeface="Corbel"/>
                <a:cs typeface="Corbel"/>
              </a:rPr>
              <a:t> </a:t>
            </a:r>
            <a:r>
              <a:rPr sz="2000" dirty="0">
                <a:latin typeface="Corbel"/>
                <a:cs typeface="Corbel"/>
              </a:rPr>
              <a:t>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1600200"/>
            <a:ext cx="8715831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+mn-lt"/>
              </a:rPr>
              <a:t>What</a:t>
            </a:r>
            <a:r>
              <a:rPr sz="2800" dirty="0">
                <a:latin typeface="+mn-lt"/>
              </a:rPr>
              <a:t> </a:t>
            </a:r>
            <a:r>
              <a:rPr sz="2800" spc="-5" dirty="0">
                <a:latin typeface="+mn-lt"/>
              </a:rPr>
              <a:t>is</a:t>
            </a:r>
            <a:r>
              <a:rPr sz="2800" spc="-105" dirty="0">
                <a:latin typeface="+mn-lt"/>
              </a:rPr>
              <a:t> </a:t>
            </a:r>
            <a:r>
              <a:rPr sz="2800" spc="-5" dirty="0">
                <a:latin typeface="+mn-lt"/>
              </a:rPr>
              <a:t>Software</a:t>
            </a:r>
            <a:r>
              <a:rPr sz="2800" spc="-260" dirty="0">
                <a:latin typeface="+mn-lt"/>
              </a:rPr>
              <a:t> </a:t>
            </a:r>
            <a:r>
              <a:rPr sz="2800" spc="-40" dirty="0">
                <a:latin typeface="+mn-lt"/>
              </a:rPr>
              <a:t>Testing</a:t>
            </a:r>
            <a:r>
              <a:rPr sz="2800" spc="10" dirty="0">
                <a:latin typeface="+mn-lt"/>
              </a:rPr>
              <a:t> </a:t>
            </a:r>
            <a:r>
              <a:rPr sz="2800" spc="-5" dirty="0">
                <a:latin typeface="+mn-lt"/>
              </a:rPr>
              <a:t>Life</a:t>
            </a:r>
            <a:r>
              <a:rPr sz="2800" spc="-160" dirty="0">
                <a:latin typeface="+mn-lt"/>
              </a:rPr>
              <a:t> </a:t>
            </a:r>
            <a:r>
              <a:rPr sz="2800" spc="-35" dirty="0">
                <a:latin typeface="+mn-lt"/>
              </a:rPr>
              <a:t>Cycle</a:t>
            </a:r>
            <a:r>
              <a:rPr sz="2800" dirty="0">
                <a:latin typeface="+mn-lt"/>
              </a:rPr>
              <a:t> </a:t>
            </a:r>
            <a:r>
              <a:rPr sz="2800" spc="-35" dirty="0">
                <a:latin typeface="+mn-lt"/>
              </a:rPr>
              <a:t>(STLC)?</a:t>
            </a:r>
            <a:endParaRPr sz="2800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0" y="2426970"/>
            <a:ext cx="9620885" cy="200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143750"/>
              <a:buFont typeface="Arial MT"/>
              <a:buChar char="•"/>
              <a:tabLst>
                <a:tab pos="299720" algn="l"/>
              </a:tabLst>
            </a:pPr>
            <a:r>
              <a:rPr sz="2400" spc="-15" dirty="0">
                <a:latin typeface="Corbel"/>
                <a:cs typeface="Corbel"/>
              </a:rPr>
              <a:t>SOFTWARE</a:t>
            </a:r>
            <a:r>
              <a:rPr sz="2400" spc="-155" dirty="0">
                <a:latin typeface="Corbel"/>
                <a:cs typeface="Corbel"/>
              </a:rPr>
              <a:t> </a:t>
            </a:r>
            <a:r>
              <a:rPr lang="en-US" sz="2400" spc="-15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TESTING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lang="en-US"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LIFE</a:t>
            </a:r>
            <a:r>
              <a:rPr sz="2400" spc="-100" dirty="0">
                <a:latin typeface="Corbel"/>
                <a:cs typeface="Corbel"/>
              </a:rPr>
              <a:t> </a:t>
            </a:r>
            <a:r>
              <a:rPr lang="en-US" sz="2400" spc="-100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CYCLE(STLC)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is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orbel"/>
                <a:cs typeface="Corbel"/>
              </a:rPr>
              <a:t>sequence</a:t>
            </a:r>
            <a:r>
              <a:rPr sz="2400" spc="-10" dirty="0">
                <a:solidFill>
                  <a:srgbClr val="C00000"/>
                </a:solidFill>
                <a:latin typeface="Corbel"/>
                <a:cs typeface="Corbel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orbel"/>
                <a:cs typeface="Corbel"/>
              </a:rPr>
              <a:t>of</a:t>
            </a:r>
            <a:r>
              <a:rPr sz="2400" spc="-20" dirty="0">
                <a:solidFill>
                  <a:srgbClr val="C00000"/>
                </a:solidFill>
                <a:latin typeface="Corbel"/>
                <a:cs typeface="Corbel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orbel"/>
                <a:cs typeface="Corbel"/>
              </a:rPr>
              <a:t>specific activities </a:t>
            </a:r>
            <a:r>
              <a:rPr sz="2400" spc="-465" dirty="0">
                <a:solidFill>
                  <a:srgbClr val="C00000"/>
                </a:solidFill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conducted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during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the testing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process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to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ensure</a:t>
            </a:r>
            <a:r>
              <a:rPr sz="2400" spc="-5" dirty="0">
                <a:latin typeface="Corbel"/>
                <a:cs typeface="Corbel"/>
              </a:rPr>
              <a:t> software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quality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goals are 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met</a:t>
            </a:r>
          </a:p>
          <a:p>
            <a:pPr marL="299085" marR="636270" indent="-287020">
              <a:lnSpc>
                <a:spcPct val="100000"/>
              </a:lnSpc>
              <a:spcBef>
                <a:spcPts val="1175"/>
              </a:spcBef>
              <a:buClr>
                <a:srgbClr val="C00000"/>
              </a:buClr>
              <a:buSzPct val="143750"/>
              <a:buFont typeface="Arial MT"/>
              <a:buChar char="•"/>
              <a:tabLst>
                <a:tab pos="299720" algn="l"/>
              </a:tabLst>
            </a:pPr>
            <a:r>
              <a:rPr sz="2400" dirty="0">
                <a:latin typeface="Corbel"/>
                <a:cs typeface="Corbel"/>
              </a:rPr>
              <a:t>It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consists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of </a:t>
            </a:r>
            <a:r>
              <a:rPr sz="2400" dirty="0">
                <a:latin typeface="Corbel"/>
                <a:cs typeface="Corbel"/>
              </a:rPr>
              <a:t>a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series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of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activities</a:t>
            </a:r>
            <a:r>
              <a:rPr sz="2400" spc="5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carried</a:t>
            </a:r>
            <a:r>
              <a:rPr sz="2400" dirty="0">
                <a:latin typeface="Corbel"/>
                <a:cs typeface="Corbel"/>
              </a:rPr>
              <a:t> out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methodologically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to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help </a:t>
            </a:r>
            <a:r>
              <a:rPr sz="2400" spc="-46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certify </a:t>
            </a:r>
            <a:r>
              <a:rPr sz="2400" dirty="0">
                <a:latin typeface="Corbel"/>
                <a:cs typeface="Corbel"/>
              </a:rPr>
              <a:t>your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software</a:t>
            </a:r>
            <a:r>
              <a:rPr sz="2400" dirty="0">
                <a:latin typeface="Corbel"/>
                <a:cs typeface="Corbel"/>
              </a:rPr>
              <a:t> product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The Software Testing Life Cycle (STLC) Guide: Phases And Criteria">
            <a:extLst>
              <a:ext uri="{FF2B5EF4-FFF2-40B4-BE49-F238E27FC236}">
                <a16:creationId xmlns:a16="http://schemas.microsoft.com/office/drawing/2014/main" id="{151052E3-6D41-E418-C3D8-14810CADA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43000"/>
            <a:ext cx="10439400" cy="5715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hat's a requirements traceability matrix? Explained">
            <a:extLst>
              <a:ext uri="{FF2B5EF4-FFF2-40B4-BE49-F238E27FC236}">
                <a16:creationId xmlns:a16="http://schemas.microsoft.com/office/drawing/2014/main" id="{EE53B49B-3CB6-5677-6CC0-83346043B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25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1023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69342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+mn-lt"/>
              </a:rPr>
              <a:t>Different</a:t>
            </a:r>
            <a:r>
              <a:rPr sz="3200" spc="5" dirty="0">
                <a:latin typeface="+mn-lt"/>
              </a:rPr>
              <a:t> </a:t>
            </a:r>
            <a:r>
              <a:rPr sz="3200" spc="-5" dirty="0">
                <a:latin typeface="+mn-lt"/>
              </a:rPr>
              <a:t>L</a:t>
            </a:r>
            <a:r>
              <a:rPr sz="3200" spc="-35" dirty="0">
                <a:latin typeface="+mn-lt"/>
              </a:rPr>
              <a:t>e</a:t>
            </a:r>
            <a:r>
              <a:rPr sz="3200" spc="-5" dirty="0">
                <a:latin typeface="+mn-lt"/>
              </a:rPr>
              <a:t>vels </a:t>
            </a:r>
            <a:r>
              <a:rPr sz="3200" spc="-10" dirty="0">
                <a:latin typeface="+mn-lt"/>
              </a:rPr>
              <a:t>o</a:t>
            </a:r>
            <a:r>
              <a:rPr sz="3200" spc="-5" dirty="0">
                <a:latin typeface="+mn-lt"/>
              </a:rPr>
              <a:t>f</a:t>
            </a:r>
            <a:r>
              <a:rPr sz="3200" spc="-260" dirty="0">
                <a:latin typeface="+mn-lt"/>
              </a:rPr>
              <a:t> T</a:t>
            </a:r>
            <a:r>
              <a:rPr sz="3200" spc="-5" dirty="0">
                <a:latin typeface="+mn-lt"/>
              </a:rPr>
              <a:t>esting</a:t>
            </a:r>
            <a:endParaRPr sz="3200" dirty="0">
              <a:latin typeface="+mn-l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1600200"/>
            <a:ext cx="7591044" cy="4928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ecoding Testing Paradigms: TDD vs. BDD for Software Excellence">
            <a:extLst>
              <a:ext uri="{FF2B5EF4-FFF2-40B4-BE49-F238E27FC236}">
                <a16:creationId xmlns:a16="http://schemas.microsoft.com/office/drawing/2014/main" id="{375E5890-FFDF-7725-30AB-C106AD677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91071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2405</TotalTime>
  <Words>186</Words>
  <Application>Microsoft Office PowerPoint</Application>
  <PresentationFormat>Widescreen</PresentationFormat>
  <Paragraphs>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MT</vt:lpstr>
      <vt:lpstr>Arial Rounded MT Bold</vt:lpstr>
      <vt:lpstr>Century Gothic</vt:lpstr>
      <vt:lpstr>Corbel</vt:lpstr>
      <vt:lpstr>Wingdings 3</vt:lpstr>
      <vt:lpstr>Ion</vt:lpstr>
      <vt:lpstr>JS Unit Testing</vt:lpstr>
      <vt:lpstr>PowerPoint Presentation</vt:lpstr>
      <vt:lpstr>What is Unit-Testing</vt:lpstr>
      <vt:lpstr>Why is Software Testing Important?</vt:lpstr>
      <vt:lpstr>PowerPoint Presentation</vt:lpstr>
      <vt:lpstr>Who does Testing?</vt:lpstr>
      <vt:lpstr>What is Software Testing Life Cycle (STLC)?</vt:lpstr>
      <vt:lpstr>PowerPoint Presentation</vt:lpstr>
      <vt:lpstr>PowerPoint Presentation</vt:lpstr>
      <vt:lpstr>Different Levels of Testing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 unit testing techniques</dc:title>
  <dc:creator>Ayman Abo El-Abbas</dc:creator>
  <cp:lastModifiedBy>Ryhab Farouq</cp:lastModifiedBy>
  <cp:revision>21</cp:revision>
  <dcterms:created xsi:type="dcterms:W3CDTF">2022-10-21T05:11:58Z</dcterms:created>
  <dcterms:modified xsi:type="dcterms:W3CDTF">2026-05-21T09:00:23Z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2020-01-21T00:00:00Z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2022-10-21T00:00:00Z</vt:filetime>
  </property>
</Properties>
</file>