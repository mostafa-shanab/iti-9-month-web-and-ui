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0" r:id="rId3"/>
  </p:sldMasterIdLst>
  <p:notesMasterIdLst>
    <p:notesMasterId r:id="rId5"/>
  </p:notesMasterIdLst>
  <p:handoutMasterIdLst>
    <p:handoutMasterId r:id="rId16"/>
  </p:handoutMasterIdLst>
  <p:sldIdLst>
    <p:sldId id="258" r:id="rId4"/>
    <p:sldId id="294" r:id="rId6"/>
    <p:sldId id="295" r:id="rId7"/>
    <p:sldId id="296" r:id="rId8"/>
    <p:sldId id="297" r:id="rId9"/>
    <p:sldId id="298" r:id="rId10"/>
    <p:sldId id="302" r:id="rId11"/>
    <p:sldId id="299" r:id="rId12"/>
    <p:sldId id="300" r:id="rId13"/>
    <p:sldId id="301" r:id="rId14"/>
    <p:sldId id="265" r:id="rId15"/>
  </p:sldIdLst>
  <p:sldSz cx="12192000" cy="6858000"/>
  <p:notesSz cx="6858000" cy="9144000"/>
  <p:embeddedFontLst>
    <p:embeddedFont>
      <p:font typeface="Cascadia Code" panose="020B0609020000020004" charset="0"/>
      <p:regular r:id="rId20"/>
      <p:bold r:id="rId21"/>
    </p:embeddedFont>
    <p:embeddedFont>
      <p:font typeface="Lato" panose="020F0502020204030203" charset="0"/>
      <p:regular r:id="rId22"/>
    </p:embeddedFont>
    <p:embeddedFont>
      <p:font typeface="Manrope ExtraBold" charset="0"/>
      <p:bold r:id="rId23"/>
    </p:embeddedFont>
  </p:embeddedFont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A3B"/>
    <a:srgbClr val="353F48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howOutlineIcons="0">
    <p:restoredLeft sz="15597"/>
    <p:restoredTop sz="94619"/>
  </p:normalViewPr>
  <p:slideViewPr>
    <p:cSldViewPr snapToGrid="0" showGuides="1">
      <p:cViewPr>
        <p:scale>
          <a:sx n="100" d="100"/>
          <a:sy n="100" d="100"/>
        </p:scale>
        <p:origin x="768" y="6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8" Type="http://schemas.openxmlformats.org/officeDocument/2006/relationships/viewProps" Target="viewProps.xml"/><Relationship Id="rId13" Type="http://schemas.openxmlformats.org/officeDocument/2006/relationships/slide" Target="slides/slide9.xml"/><Relationship Id="rId26" Type="http://schemas.openxmlformats.org/officeDocument/2006/relationships/customXml" Target="../customXml/item3.xml"/><Relationship Id="rId3" Type="http://schemas.openxmlformats.org/officeDocument/2006/relationships/slideMaster" Target="slideMasters/slideMaster2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7" Type="http://schemas.openxmlformats.org/officeDocument/2006/relationships/presProps" Target="presProps.xml"/><Relationship Id="rId12" Type="http://schemas.openxmlformats.org/officeDocument/2006/relationships/slide" Target="slides/slide8.xml"/><Relationship Id="rId25" Type="http://schemas.openxmlformats.org/officeDocument/2006/relationships/customXml" Target="../customXml/item2.xml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6" Type="http://schemas.openxmlformats.org/officeDocument/2006/relationships/handoutMaster" Target="handoutMasters/handout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24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23" Type="http://schemas.openxmlformats.org/officeDocument/2006/relationships/font" Target="fonts/font4.fntdata"/><Relationship Id="rId15" Type="http://schemas.openxmlformats.org/officeDocument/2006/relationships/slide" Target="slides/slide11.xml"/><Relationship Id="rId19" Type="http://schemas.openxmlformats.org/officeDocument/2006/relationships/tableStyles" Target="tableStyles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22" Type="http://schemas.openxmlformats.org/officeDocument/2006/relationships/font" Target="fonts/font3.fntdata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等线" pitchFamily="2" charset="-122"/>
                <a:ea typeface="等线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等线" pitchFamily="2" charset="-122"/>
                <a:ea typeface="等线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Click to edit Master text style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Second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Third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Fourth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Fifth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C9B17E-EBA4-4BA6-BFBF-CFC4EA0BE6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6146" name="文本占位符 2"/>
          <p:cNvSpPr/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image" Target="../media/image2.png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0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image" Target="../media/image2.png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image" Target="../media/image2.png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0" Type="http://schemas.openxmlformats.org/officeDocument/2006/relationships/tags" Target="../tags/tag6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353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 smtClean="0"/>
              <a:t>Click to edit Master text style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Second level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Third level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Fourth level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Fifth level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3" hasCustomPrompt="1"/>
            <p:custDataLst>
              <p:tags r:id="rId5"/>
            </p:custDataLst>
          </p:nvPr>
        </p:nvSpPr>
        <p:spPr>
          <a:xfrm>
            <a:off x="1151890" y="1365885"/>
            <a:ext cx="6343015" cy="7969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6"/>
            </p:custDataLst>
          </p:nvPr>
        </p:nvSpPr>
        <p:spPr>
          <a:xfrm>
            <a:off x="1151890" y="2314575"/>
            <a:ext cx="9429115" cy="16478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8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7"/>
            </p:custDataLst>
          </p:nvPr>
        </p:nvSpPr>
        <p:spPr>
          <a:xfrm>
            <a:off x="1151890" y="4104640"/>
            <a:ext cx="2114550" cy="426085"/>
          </a:xfrm>
          <a:prstGeom prst="parallelogram">
            <a:avLst>
              <a:gd name="adj" fmla="val 45603"/>
            </a:avLst>
          </a:prstGeom>
          <a:gradFill>
            <a:gsLst>
              <a:gs pos="2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1" i="0" u="none" strike="noStrike" kern="1200" cap="none" spc="0" normalizeH="0" baseline="0" noProof="1" dirty="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 anchor="b" anchorCtr="0">
            <a:normAutofit/>
          </a:bodyPr>
          <a:lstStyle>
            <a:lvl1pPr algn="l">
              <a:defRPr u="none" strike="noStrike" kern="1200" cap="none" spc="0" normalizeH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270" y="2009774"/>
            <a:ext cx="8619066" cy="4848225"/>
          </a:xfrm>
          <a:prstGeom prst="rect">
            <a:avLst/>
          </a:prstGeom>
        </p:spPr>
      </p:pic>
      <p:cxnSp>
        <p:nvCxnSpPr>
          <p:cNvPr id="20" name="直接连接符 19"/>
          <p:cNvCxnSpPr/>
          <p:nvPr userDrawn="1">
            <p:custDataLst>
              <p:tags r:id="rId5"/>
            </p:custDataLst>
          </p:nvPr>
        </p:nvCxnSpPr>
        <p:spPr>
          <a:xfrm>
            <a:off x="10600690" y="1176655"/>
            <a:ext cx="987425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>
            <p:custDataLst>
              <p:tags r:id="rId6"/>
            </p:custDataLst>
          </p:nvPr>
        </p:nvCxnSpPr>
        <p:spPr>
          <a:xfrm>
            <a:off x="-1270" y="1593215"/>
            <a:ext cx="12193270" cy="0"/>
          </a:xfrm>
          <a:prstGeom prst="line">
            <a:avLst/>
          </a:prstGeom>
          <a:ln w="3175">
            <a:solidFill>
              <a:schemeClr val="lt1">
                <a:alpha val="2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6362700" y="531495"/>
            <a:ext cx="5332730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 err="1">
                <a:latin typeface="+mj-lt"/>
                <a:sym typeface="+mn-ea"/>
              </a:rPr>
              <a:t>Click to add title</a:t>
            </a:r>
            <a:endParaRPr dirty="0" err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5"/>
            </p:custDataLst>
          </p:nvPr>
        </p:nvSpPr>
        <p:spPr>
          <a:xfrm>
            <a:off x="1073785" y="1535430"/>
            <a:ext cx="5628640" cy="11410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sz="3200" b="0" i="0" u="none" strike="noStrike" kern="1200" cap="none" spc="0" normalizeH="0" baseline="0" noProof="1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dirty="0" err="1">
                <a:latin typeface="+mn-lt"/>
                <a:sym typeface="+mn-ea"/>
              </a:rPr>
              <a:t>Click to add text</a:t>
            </a:r>
            <a:endParaRPr dirty="0" err="1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1073785" y="2767965"/>
            <a:ext cx="8561705" cy="29292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 err="1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dirty="0" err="1">
                <a:latin typeface="+mj-lt"/>
                <a:sym typeface="+mn-ea"/>
              </a:rPr>
              <a:t>Click to add title</a:t>
            </a:r>
            <a:endParaRPr dirty="0" err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u="none" strike="noStrike" kern="1200" cap="none" spc="0" normalizeH="0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642" y="360000"/>
            <a:ext cx="10800397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u="none" strike="noStrike" kern="1200" cap="none" spc="0" normalizeH="0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9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608330" y="234315"/>
            <a:ext cx="10968990" cy="786130"/>
          </a:xfrm>
          <a:prstGeom prst="rect">
            <a:avLst/>
          </a:prstGeom>
          <a:noFill/>
        </p:spPr>
        <p:txBody>
          <a:bodyPr wrap="square" lIns="36195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642" y="360000"/>
            <a:ext cx="10799087" cy="86400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 u="none" strike="noStrike" kern="1200" cap="none" spc="0" normalizeH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705601" y="-1"/>
            <a:ext cx="5486399" cy="308609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978337"/>
            <a:ext cx="10452735" cy="5879663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3" hasCustomPrompt="1"/>
            <p:custDataLst>
              <p:tags r:id="rId6"/>
            </p:custDataLst>
          </p:nvPr>
        </p:nvSpPr>
        <p:spPr>
          <a:xfrm>
            <a:off x="5038090" y="4172585"/>
            <a:ext cx="2114550" cy="426085"/>
          </a:xfrm>
          <a:prstGeom prst="parallelogram">
            <a:avLst>
              <a:gd name="adj" fmla="val 45603"/>
            </a:avLst>
          </a:prstGeom>
          <a:gradFill>
            <a:gsLst>
              <a:gs pos="26000">
                <a:schemeClr val="accent1">
                  <a:alpha val="12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gradFill>
              <a:gsLst>
                <a:gs pos="0">
                  <a:schemeClr val="accent2">
                    <a:alpha val="5000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1" i="0" u="none" strike="noStrike" kern="1200" cap="none" spc="0" normalizeH="0" baseline="0" noProof="1" dirty="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1796415" y="1999615"/>
            <a:ext cx="8939530" cy="15182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2" Type="http://schemas.openxmlformats.org/officeDocument/2006/relationships/theme" Target="../theme/theme2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slideLayout" Target="../slideLayouts/slideLayout3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image" Target="../media/image3.png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3F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sym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5" cstate="print">
            <a:alphaModFix amt="56000"/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21"/>
          <a:stretch>
            <a:fillRect/>
          </a:stretch>
        </p:blipFill>
        <p:spPr>
          <a:xfrm>
            <a:off x="1392001" y="360000"/>
            <a:ext cx="10800000" cy="6498000"/>
          </a:xfrm>
          <a:custGeom>
            <a:avLst/>
            <a:gdLst>
              <a:gd name="connsiteX0" fmla="*/ 0 w 7124699"/>
              <a:gd name="connsiteY0" fmla="*/ 0 h 4095750"/>
              <a:gd name="connsiteX1" fmla="*/ 7124699 w 7124699"/>
              <a:gd name="connsiteY1" fmla="*/ 0 h 4095750"/>
              <a:gd name="connsiteX2" fmla="*/ 7124699 w 7124699"/>
              <a:gd name="connsiteY2" fmla="*/ 4095750 h 4095750"/>
              <a:gd name="connsiteX3" fmla="*/ 0 w 7124699"/>
              <a:gd name="connsiteY3" fmla="*/ 4095750 h 409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24699" h="4095750">
                <a:moveTo>
                  <a:pt x="0" y="0"/>
                </a:moveTo>
                <a:lnTo>
                  <a:pt x="7124699" y="0"/>
                </a:lnTo>
                <a:lnTo>
                  <a:pt x="7124699" y="4095750"/>
                </a:lnTo>
                <a:lnTo>
                  <a:pt x="0" y="4095750"/>
                </a:lnTo>
                <a:close/>
              </a:path>
            </a:pathLst>
          </a:custGeom>
        </p:spPr>
      </p:pic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标题占位符 2"/>
          <p:cNvSpPr txBox="1"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36195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0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6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noProof="1" dirty="0" smtClean="0">
          <a:ln>
            <a:noFill/>
            <a:prstDash val="sysDot"/>
          </a:ln>
          <a:solidFill>
            <a:srgbClr val="FFFFFF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91.xml"/><Relationship Id="rId3" Type="http://schemas.openxmlformats.org/officeDocument/2006/relationships/image" Target="../media/image4.png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96.xml"/><Relationship Id="rId2" Type="http://schemas.openxmlformats.org/officeDocument/2006/relationships/image" Target="../media/image5.png"/><Relationship Id="rId1" Type="http://schemas.openxmlformats.org/officeDocument/2006/relationships/tags" Target="../tags/tag9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>
          <a:xfrm>
            <a:off x="1151890" y="1365885"/>
            <a:ext cx="6343015" cy="796925"/>
          </a:xfrm>
        </p:spPr>
        <p:txBody>
          <a:bodyPr/>
          <a:p>
            <a:pPr mar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en-GB" altLang="zh-CN" sz="3200" dirty="0"/>
              <a:t>Day 4</a:t>
            </a:r>
            <a:endParaRPr lang="en-GB" altLang="zh-CN" sz="3200" dirty="0"/>
          </a:p>
        </p:txBody>
      </p:sp>
      <p:sp>
        <p:nvSpPr>
          <p:cNvPr id="4" name="标题 3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>
          <a:xfrm>
            <a:off x="1151890" y="2314575"/>
            <a:ext cx="9429115" cy="1647825"/>
          </a:xfrm>
        </p:spPr>
        <p:txBody>
          <a:bodyPr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altLang="en-US" sz="4800"/>
              <a:t>Node js</a:t>
            </a:r>
            <a:endParaRPr altLang="en-US" sz="4800"/>
          </a:p>
        </p:txBody>
      </p:sp>
      <p:sp>
        <p:nvSpPr>
          <p:cNvPr id="5" name="文本占位符 5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prstGeom prst="parallelogram">
            <a:avLst>
              <a:gd name="adj" fmla="val 45603"/>
            </a:avLst>
          </a:prstGeom>
          <a:gradFill>
            <a:gsLst>
              <a:gs pos="2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txBody>
          <a:bodyPr/>
          <a:p>
            <a:r>
              <a:rPr lang="en-GB" altLang="en-US"/>
              <a:t>shimaa ismail</a:t>
            </a:r>
            <a:endParaRPr lang="en-GB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 sz="4000">
                <a:latin typeface="Cascadia Code" panose="020B0609020000020004" charset="0"/>
                <a:cs typeface="Cascadia Code" panose="020B0609020000020004" charset="0"/>
              </a:rPr>
              <a:t>content</a:t>
            </a:r>
            <a:endParaRPr lang="en-GB" altLang="en-US" sz="4000"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endParaRPr lang="en-GB" altLang="en-US"/>
          </a:p>
          <a:p>
            <a:r>
              <a:rPr lang="en-US" altLang="en-GB" sz="3200"/>
              <a:t> </a:t>
            </a:r>
            <a:r>
              <a:rPr altLang="en-GB" sz="3200">
                <a:sym typeface="+mn-ea"/>
              </a:rPr>
              <a:t>Hashing</a:t>
            </a:r>
            <a:r>
              <a:rPr lang="en-GB" altLang="en-US" sz="3200">
                <a:sym typeface="+mn-ea"/>
              </a:rPr>
              <a:t> &amp;</a:t>
            </a:r>
            <a:r>
              <a:rPr altLang="en-GB" sz="3200">
                <a:sym typeface="+mn-ea"/>
              </a:rPr>
              <a:t> Encryption</a:t>
            </a:r>
            <a:endParaRPr lang="en-US" altLang="en-GB" sz="3200"/>
          </a:p>
          <a:p>
            <a:r>
              <a:rPr lang="en-GB" altLang="en-US" sz="3200"/>
              <a:t>bycrpt js</a:t>
            </a:r>
            <a:endParaRPr lang="en-US" altLang="en-GB" sz="3200"/>
          </a:p>
          <a:p>
            <a:r>
              <a:rPr lang="en-GB" altLang="en-US" sz="3200"/>
              <a:t>JWT</a:t>
            </a:r>
            <a:endParaRPr lang="en-GB" altLang="en-US" sz="3200"/>
          </a:p>
          <a:p>
            <a:r>
              <a:rPr sz="3200">
                <a:sym typeface="+mn-ea"/>
              </a:rPr>
              <a:t>Authentication</a:t>
            </a:r>
            <a:endParaRPr lang="en-GB" altLang="en-US" sz="3200">
              <a:sym typeface="+mn-ea"/>
            </a:endParaRPr>
          </a:p>
          <a:p>
            <a:r>
              <a:rPr sz="3200">
                <a:sym typeface="+mn-ea"/>
              </a:rPr>
              <a:t>Authorization</a:t>
            </a:r>
            <a:endParaRPr lang="en-GB" altLang="en-US" sz="3200"/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en-US" sz="3200">
                <a:sym typeface="+mn-ea"/>
              </a:rPr>
              <a:t> </a:t>
            </a:r>
            <a:endParaRPr lang="en-GB" altLang="en-US" sz="320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GB"/>
              <a:t>Hashing</a:t>
            </a:r>
            <a:r>
              <a:rPr lang="en-GB" altLang="en-US"/>
              <a:t> &amp;</a:t>
            </a:r>
            <a:r>
              <a:rPr lang="en-US" altLang="en-GB"/>
              <a:t> Encryption</a:t>
            </a:r>
            <a:endParaRPr lang="en-US" alt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 fontScale="50000"/>
          </a:bodyPr>
          <a:p>
            <a:r>
              <a:rPr lang="en-US" altLang="en-GB" sz="4800">
                <a:solidFill>
                  <a:srgbClr val="FFFF00"/>
                </a:solidFill>
              </a:rPr>
              <a:t>Encryption (Two</a:t>
            </a:r>
            <a:r>
              <a:rPr lang="en-GB" altLang="en-US" sz="4800">
                <a:solidFill>
                  <a:srgbClr val="FFFF00"/>
                </a:solidFill>
              </a:rPr>
              <a:t>-</a:t>
            </a:r>
            <a:r>
              <a:rPr lang="en-US" altLang="en-GB" sz="4800">
                <a:solidFill>
                  <a:srgbClr val="FFFF00"/>
                </a:solidFill>
              </a:rPr>
              <a:t>Way)</a:t>
            </a:r>
            <a:endParaRPr lang="en-US" altLang="en-GB" sz="480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en-GB" sz="4000"/>
              <a:t>Encryption is like a secret code. You take a message and scramble it with a key. Anyone with the right key can unscramble it back to the original.</a:t>
            </a:r>
            <a:endParaRPr lang="en-US" altLang="en-GB" sz="4000"/>
          </a:p>
          <a:p>
            <a:endParaRPr lang="en-US" altLang="en-GB"/>
          </a:p>
          <a:p>
            <a:r>
              <a:rPr lang="en-US" altLang="en-GB" sz="3600"/>
              <a:t>Purpose: Protect data so only authorised people can read it.</a:t>
            </a:r>
            <a:endParaRPr lang="en-US" altLang="en-GB" sz="3600"/>
          </a:p>
          <a:p>
            <a:r>
              <a:rPr lang="en-US" altLang="en-GB" sz="3600"/>
              <a:t>Direction: Reversible (encrypt </a:t>
            </a:r>
            <a:r>
              <a:rPr lang="en-US" altLang="en-US" sz="3600"/>
              <a:t>↔</a:t>
            </a:r>
            <a:r>
              <a:rPr lang="en-US" altLang="en-GB" sz="3600"/>
              <a:t> decrypt).</a:t>
            </a:r>
            <a:endParaRPr lang="en-US" altLang="en-GB" sz="3600"/>
          </a:p>
          <a:p>
            <a:r>
              <a:rPr lang="en-US" altLang="en-GB" sz="3600"/>
              <a:t>Example:</a:t>
            </a:r>
            <a:endParaRPr lang="en-US" altLang="en-GB" sz="3600"/>
          </a:p>
          <a:p>
            <a:pPr lvl="1">
              <a:lnSpc>
                <a:spcPct val="90000"/>
              </a:lnSpc>
            </a:pPr>
            <a:r>
              <a:rPr lang="en-US" altLang="en-GB" sz="3200"/>
              <a:t>Plaintext: "Hello"</a:t>
            </a:r>
            <a:endParaRPr lang="en-US" altLang="en-GB" sz="3200"/>
          </a:p>
          <a:p>
            <a:pPr lvl="1">
              <a:lnSpc>
                <a:spcPct val="90000"/>
              </a:lnSpc>
            </a:pPr>
            <a:r>
              <a:rPr lang="en-US" altLang="en-GB" sz="3200"/>
              <a:t>Encrypted: "U2FsdGVkX1/..."</a:t>
            </a:r>
            <a:endParaRPr lang="en-US" altLang="en-GB" sz="3200"/>
          </a:p>
          <a:p>
            <a:pPr lvl="1">
              <a:lnSpc>
                <a:spcPct val="90000"/>
              </a:lnSpc>
            </a:pPr>
            <a:r>
              <a:rPr lang="en-US" altLang="en-GB" sz="3200"/>
              <a:t>With the correct key, you get back "Hello".</a:t>
            </a:r>
            <a:endParaRPr lang="en-US" altLang="en-GB" sz="3200"/>
          </a:p>
          <a:p>
            <a:pPr marL="0" indent="0">
              <a:buNone/>
            </a:pPr>
            <a:endParaRPr lang="en-US" altLang="en-GB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5962650" y="1301750"/>
            <a:ext cx="5706110" cy="5213985"/>
          </a:xfrm>
        </p:spPr>
        <p:txBody>
          <a:bodyPr>
            <a:normAutofit fontScale="25000"/>
          </a:bodyPr>
          <a:p>
            <a:r>
              <a:rPr lang="en-US" altLang="en-GB" sz="9600">
                <a:solidFill>
                  <a:srgbClr val="FFFF00"/>
                </a:solidFill>
              </a:rPr>
              <a:t>Hashing (One</a:t>
            </a:r>
            <a:r>
              <a:rPr lang="en-GB" altLang="en-US" sz="9600">
                <a:solidFill>
                  <a:srgbClr val="FFFF00"/>
                </a:solidFill>
              </a:rPr>
              <a:t>-</a:t>
            </a:r>
            <a:r>
              <a:rPr lang="en-US" altLang="en-GB" sz="9600">
                <a:solidFill>
                  <a:srgbClr val="FFFF00"/>
                </a:solidFill>
              </a:rPr>
              <a:t>Way)</a:t>
            </a:r>
            <a:endParaRPr lang="en-US" altLang="en-GB" sz="9600">
              <a:solidFill>
                <a:srgbClr val="FFFF00"/>
              </a:solidFill>
            </a:endParaRPr>
          </a:p>
          <a:p>
            <a:r>
              <a:rPr lang="en-US" altLang="en-GB" sz="8000"/>
              <a:t>Hashing is like a fingerprint. You take any input and run it through a hash function, which produces a fixed‑length string. You cannot reverse it to get the original input.</a:t>
            </a:r>
            <a:endParaRPr lang="en-US" altLang="en-GB" sz="8000"/>
          </a:p>
          <a:p>
            <a:endParaRPr lang="en-US" altLang="en-GB"/>
          </a:p>
          <a:p>
            <a:r>
              <a:rPr lang="en-US" altLang="en-GB" sz="7200"/>
              <a:t>Purpose: Verify integrity or store sensitive data (like passwords) without keeping the original.</a:t>
            </a:r>
            <a:endParaRPr lang="en-US" altLang="en-GB" sz="7200"/>
          </a:p>
          <a:p>
            <a:r>
              <a:rPr lang="en-US" altLang="en-GB" sz="7200"/>
              <a:t>Direction: One</a:t>
            </a:r>
            <a:r>
              <a:rPr lang="en-GB" altLang="en-US" sz="7200"/>
              <a:t>-</a:t>
            </a:r>
            <a:r>
              <a:rPr lang="en-US" altLang="en-GB" sz="7200"/>
              <a:t>way only (no “un</a:t>
            </a:r>
            <a:r>
              <a:rPr lang="en-GB" altLang="en-US" sz="7200"/>
              <a:t>-</a:t>
            </a:r>
            <a:r>
              <a:rPr lang="en-US" altLang="en-GB" sz="7200"/>
              <a:t>hashing”).</a:t>
            </a:r>
            <a:endParaRPr lang="en-US" altLang="en-GB" sz="7200"/>
          </a:p>
          <a:p>
            <a:r>
              <a:rPr lang="en-US" altLang="en-GB" sz="7200"/>
              <a:t>Example:</a:t>
            </a:r>
            <a:endParaRPr lang="en-US" altLang="en-GB" sz="7200"/>
          </a:p>
          <a:p>
            <a:pPr lvl="1">
              <a:lnSpc>
                <a:spcPct val="80000"/>
              </a:lnSpc>
            </a:pPr>
            <a:r>
              <a:rPr lang="en-US" altLang="en-GB" sz="5330"/>
              <a:t>Input: "Hello"</a:t>
            </a:r>
            <a:endParaRPr lang="en-US" altLang="en-GB" sz="5330"/>
          </a:p>
          <a:p>
            <a:pPr lvl="1">
              <a:lnSpc>
                <a:spcPct val="80000"/>
              </a:lnSpc>
            </a:pPr>
            <a:r>
              <a:rPr lang="en-US" altLang="en-GB" sz="5330"/>
              <a:t> hash: "185f8db32271fe25f561a6fc938b2e264306ec304eda518007d1764826381969"</a:t>
            </a:r>
            <a:endParaRPr lang="en-US" altLang="en-GB" sz="5330"/>
          </a:p>
          <a:p>
            <a:r>
              <a:rPr lang="en-US" altLang="en-GB" sz="7200"/>
              <a:t>Use cases:</a:t>
            </a:r>
            <a:endParaRPr lang="en-US" altLang="en-GB"/>
          </a:p>
          <a:p>
            <a:pPr lvl="1"/>
            <a:r>
              <a:rPr lang="en-US" altLang="en-GB" sz="6400"/>
              <a:t>Storing passwords</a:t>
            </a:r>
            <a:r>
              <a:rPr lang="en-GB" altLang="en-US" sz="6400"/>
              <a:t> 	</a:t>
            </a:r>
            <a:endParaRPr lang="en-GB" altLang="en-US" sz="6400"/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>
                <a:sym typeface="+mn-ea"/>
              </a:rPr>
              <a:t>bcryptjs</a:t>
            </a:r>
            <a:endParaRPr lang="en-GB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GB" sz="2400"/>
              <a:t>bcryptjs is a JavaScript library that </a:t>
            </a:r>
            <a:r>
              <a:rPr lang="en-US" altLang="en-GB" sz="2400">
                <a:solidFill>
                  <a:srgbClr val="FFFF00"/>
                </a:solidFill>
              </a:rPr>
              <a:t>implements the bcrypt password hashing algorithm.</a:t>
            </a:r>
            <a:endParaRPr lang="en-US" altLang="en-GB" sz="2400">
              <a:solidFill>
                <a:srgbClr val="FFFF00"/>
              </a:solidFill>
            </a:endParaRPr>
          </a:p>
          <a:p>
            <a:r>
              <a:rPr lang="en-US" altLang="en-GB" sz="2400"/>
              <a:t>It’s designed to securely store passwords by turning them into fixed-length, irreversible hashes that automatically include a unique salt for every password.</a:t>
            </a:r>
            <a:endParaRPr lang="en-US" altLang="en-GB" sz="2400"/>
          </a:p>
          <a:p>
            <a:endParaRPr lang="en-GB" altLang="en-US" sz="2400"/>
          </a:p>
          <a:p>
            <a:r>
              <a:rPr altLang="en-GB" sz="2400">
                <a:sym typeface="+mn-ea"/>
              </a:rPr>
              <a:t>Once a password is hashed, you cannot turn it back into the original password.</a:t>
            </a:r>
            <a:endParaRPr lang="en-US" altLang="en-GB" sz="2400"/>
          </a:p>
          <a:p>
            <a:r>
              <a:rPr altLang="en-GB" sz="2400">
                <a:sym typeface="+mn-ea"/>
              </a:rPr>
              <a:t>A random </a:t>
            </a:r>
            <a:r>
              <a:rPr altLang="en-GB" sz="2400">
                <a:solidFill>
                  <a:srgbClr val="FFFF00"/>
                </a:solidFill>
                <a:sym typeface="+mn-ea"/>
              </a:rPr>
              <a:t>salt </a:t>
            </a:r>
            <a:r>
              <a:rPr altLang="en-GB" sz="2400">
                <a:sym typeface="+mn-ea"/>
              </a:rPr>
              <a:t>is generated for each password . Even if</a:t>
            </a:r>
            <a:r>
              <a:rPr altLang="en-GB" sz="2400">
                <a:solidFill>
                  <a:srgbClr val="FFFF00"/>
                </a:solidFill>
                <a:sym typeface="+mn-ea"/>
              </a:rPr>
              <a:t> two users</a:t>
            </a:r>
            <a:r>
              <a:rPr altLang="en-GB" sz="2400">
                <a:sym typeface="+mn-ea"/>
              </a:rPr>
              <a:t> have the </a:t>
            </a:r>
            <a:r>
              <a:rPr altLang="en-GB" sz="2400">
                <a:solidFill>
                  <a:srgbClr val="FFFF00"/>
                </a:solidFill>
                <a:sym typeface="+mn-ea"/>
              </a:rPr>
              <a:t>same password</a:t>
            </a:r>
            <a:r>
              <a:rPr altLang="en-GB" sz="2400">
                <a:sym typeface="+mn-ea"/>
              </a:rPr>
              <a:t>, their </a:t>
            </a:r>
            <a:r>
              <a:rPr altLang="en-GB" sz="2400">
                <a:solidFill>
                  <a:srgbClr val="FFFF00"/>
                </a:solidFill>
                <a:sym typeface="+mn-ea"/>
              </a:rPr>
              <a:t>hashes look completely different.</a:t>
            </a:r>
            <a:endParaRPr lang="en-US" altLang="en-GB" sz="2400"/>
          </a:p>
          <a:p>
            <a:endParaRPr lang="en-GB" altLang="en-US" sz="2400"/>
          </a:p>
          <a:p>
            <a:r>
              <a:rPr lang="en-GB" altLang="en-US" sz="2400"/>
              <a:t>install  =====&gt; </a:t>
            </a:r>
            <a:r>
              <a:rPr lang="en-US" altLang="en-GB" sz="2400">
                <a:solidFill>
                  <a:srgbClr val="FFFF00"/>
                </a:solidFill>
              </a:rPr>
              <a:t>npm i bcryptjs</a:t>
            </a:r>
            <a:endParaRPr lang="en-US" altLang="en-GB" sz="2400">
              <a:solidFill>
                <a:srgbClr val="FFFF0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/>
              <a:t>JWT (</a:t>
            </a:r>
            <a:r>
              <a:rPr lang="en-US" altLang="en-GB"/>
              <a:t>JSON Web Token</a:t>
            </a:r>
            <a:r>
              <a:rPr lang="en-GB" altLang="en-US"/>
              <a:t>)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GB" sz="2400"/>
              <a:t>is a </a:t>
            </a:r>
            <a:r>
              <a:rPr lang="en-US" altLang="en-GB" sz="2400">
                <a:solidFill>
                  <a:srgbClr val="FFFF00"/>
                </a:solidFill>
              </a:rPr>
              <a:t>secure way</a:t>
            </a:r>
            <a:r>
              <a:rPr lang="en-US" altLang="en-GB" sz="2400"/>
              <a:t> to </a:t>
            </a:r>
            <a:r>
              <a:rPr lang="en-US" altLang="en-GB" sz="2400">
                <a:solidFill>
                  <a:srgbClr val="FFFF00"/>
                </a:solidFill>
              </a:rPr>
              <a:t>send information</a:t>
            </a:r>
            <a:r>
              <a:rPr lang="en-US" altLang="en-GB" sz="2400"/>
              <a:t> between a </a:t>
            </a:r>
            <a:r>
              <a:rPr lang="en-US" altLang="en-GB" sz="2400">
                <a:solidFill>
                  <a:srgbClr val="FFFF00"/>
                </a:solidFill>
              </a:rPr>
              <a:t>client and a server</a:t>
            </a:r>
            <a:r>
              <a:rPr lang="en-US" altLang="en-GB" sz="2400"/>
              <a:t>. It is mainly used in web </a:t>
            </a:r>
            <a:r>
              <a:rPr lang="en-US" altLang="en-GB" sz="2400">
                <a:solidFill>
                  <a:srgbClr val="FFFF00"/>
                </a:solidFill>
              </a:rPr>
              <a:t>applications and APIs to verify users and prevent unauthorized access</a:t>
            </a:r>
            <a:r>
              <a:rPr lang="en-GB" altLang="en-US" sz="2400">
                <a:solidFill>
                  <a:srgbClr val="FFFF00"/>
                </a:solidFill>
              </a:rPr>
              <a:t>.</a:t>
            </a:r>
            <a:endParaRPr lang="en-GB" altLang="en-US" sz="2400">
              <a:solidFill>
                <a:srgbClr val="FFFF00"/>
              </a:solidFill>
            </a:endParaRPr>
          </a:p>
          <a:p>
            <a:r>
              <a:rPr lang="en-US" altLang="en-GB" sz="2400">
                <a:solidFill>
                  <a:schemeClr val="tx1"/>
                </a:solidFill>
              </a:rPr>
              <a:t>A JWT is a string that consists of three parts separated by dots (.):</a:t>
            </a:r>
            <a:endParaRPr lang="en-US" altLang="en-GB" sz="2400">
              <a:solidFill>
                <a:schemeClr val="tx1"/>
              </a:solidFill>
            </a:endParaRPr>
          </a:p>
          <a:p>
            <a:r>
              <a:rPr lang="en-US" altLang="en-GB" sz="2130">
                <a:solidFill>
                  <a:srgbClr val="FFFF00"/>
                </a:solidFill>
              </a:rPr>
              <a:t> </a:t>
            </a:r>
            <a:endParaRPr lang="en-US" altLang="en-GB" sz="2130">
              <a:solidFill>
                <a:srgbClr val="FFFF00"/>
              </a:solidFill>
            </a:endParaRPr>
          </a:p>
          <a:p>
            <a:endParaRPr lang="en-US" altLang="en-GB" sz="2130">
              <a:solidFill>
                <a:srgbClr val="FFFF00"/>
              </a:solidFill>
            </a:endParaRPr>
          </a:p>
          <a:p>
            <a:pPr marL="0" lvl="4"/>
            <a:r>
              <a:rPr altLang="en-GB" sz="2130">
                <a:solidFill>
                  <a:srgbClr val="FFFF00"/>
                </a:solidFill>
                <a:sym typeface="+mn-ea"/>
              </a:rPr>
              <a:t>npm install jsonwebtoken</a:t>
            </a:r>
            <a:endParaRPr lang="en-US" altLang="en-GB" sz="2130">
              <a:solidFill>
                <a:srgbClr val="FFFF00"/>
              </a:solidFill>
            </a:endParaRPr>
          </a:p>
          <a:p>
            <a:endParaRPr lang="en-US" altLang="en-GB" sz="2130"/>
          </a:p>
          <a:p>
            <a:pPr lvl="4"/>
            <a:endParaRPr lang="en-US" altLang="en-GB" sz="2130"/>
          </a:p>
          <a:p>
            <a:pPr lvl="4"/>
            <a:endParaRPr lang="en-US" altLang="en-GB" sz="2130"/>
          </a:p>
          <a:p>
            <a:pPr marL="1828800" lvl="4" indent="0">
              <a:buNone/>
            </a:pPr>
            <a:endParaRPr lang="en-US" altLang="en-GB" sz="2130"/>
          </a:p>
          <a:p>
            <a:pPr lvl="4"/>
            <a:endParaRPr lang="en-US" altLang="en-GB" sz="2130"/>
          </a:p>
          <a:p>
            <a:pPr lvl="4"/>
            <a:endParaRPr lang="en-US" altLang="en-GB" sz="2130"/>
          </a:p>
        </p:txBody>
      </p:sp>
      <p:pic>
        <p:nvPicPr>
          <p:cNvPr id="4" name="Picture 3" descr="jw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40" y="3201035"/>
            <a:ext cx="6096000" cy="304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altLang="en-GB">
                <a:sym typeface="+mn-ea"/>
              </a:rPr>
              <a:t>How JWT Works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endParaRPr lang="en-US" altLang="en-GB"/>
          </a:p>
          <a:p>
            <a:pPr>
              <a:lnSpc>
                <a:spcPct val="110000"/>
              </a:lnSpc>
            </a:pPr>
            <a:r>
              <a:rPr lang="en-US" altLang="en-GB" sz="2000"/>
              <a:t>User logs in </a:t>
            </a:r>
            <a:endParaRPr lang="en-US" altLang="en-GB" sz="2000"/>
          </a:p>
          <a:p>
            <a:pPr>
              <a:lnSpc>
                <a:spcPct val="110000"/>
              </a:lnSpc>
            </a:pPr>
            <a:r>
              <a:rPr lang="en-US" altLang="en-GB" sz="2000"/>
              <a:t>Server generates a JWT – signs it with a secret (or private key).</a:t>
            </a:r>
            <a:endParaRPr lang="en-US" altLang="en-GB" sz="2000"/>
          </a:p>
          <a:p>
            <a:pPr>
              <a:lnSpc>
                <a:spcPct val="110000"/>
              </a:lnSpc>
            </a:pPr>
            <a:r>
              <a:rPr lang="en-US" altLang="en-GB" sz="2000"/>
              <a:t>Token is sent to the client – usually in an HTTP response (body, cookie, or header).</a:t>
            </a:r>
            <a:endParaRPr lang="en-US" altLang="en-GB" sz="2000"/>
          </a:p>
          <a:p>
            <a:pPr>
              <a:lnSpc>
                <a:spcPct val="120000"/>
              </a:lnSpc>
            </a:pPr>
            <a:r>
              <a:rPr lang="en-US" altLang="en-GB" sz="2000"/>
              <a:t>Client stores the token – in memory, localStorage, or  cookie.</a:t>
            </a:r>
            <a:endParaRPr lang="en-US" altLang="en-GB" sz="2000"/>
          </a:p>
          <a:p>
            <a:pPr>
              <a:lnSpc>
                <a:spcPct val="120000"/>
              </a:lnSpc>
            </a:pPr>
            <a:r>
              <a:rPr lang="en-US" altLang="en-GB" sz="2000"/>
              <a:t>Client sends the token with every subsequent request </a:t>
            </a:r>
            <a:endParaRPr lang="en-US" altLang="en-GB" sz="2000"/>
          </a:p>
          <a:p>
            <a:pPr>
              <a:lnSpc>
                <a:spcPct val="120000"/>
              </a:lnSpc>
            </a:pPr>
            <a:r>
              <a:rPr lang="en-US" altLang="en-GB" sz="2000"/>
              <a:t>Server verifies the token – checks signature, expiration, etc.</a:t>
            </a:r>
            <a:endParaRPr lang="en-US" altLang="en-GB" sz="2000"/>
          </a:p>
          <a:p>
            <a:pPr>
              <a:lnSpc>
                <a:spcPct val="120000"/>
              </a:lnSpc>
            </a:pPr>
            <a:r>
              <a:rPr lang="en-US" altLang="en-GB" sz="2000"/>
              <a:t>If valid, server processes the request – extracting user info from payload.</a:t>
            </a:r>
            <a:endParaRPr lang="en-US" altLang="en-GB" sz="2000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/>
              <a:t>JWT</a:t>
            </a:r>
            <a:endParaRPr lang="en-GB" altLang="en-US"/>
          </a:p>
        </p:txBody>
      </p:sp>
      <p:pic>
        <p:nvPicPr>
          <p:cNvPr id="4" name="Picture 3" descr="tok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145" y="2061210"/>
            <a:ext cx="7335520" cy="36677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err="1">
                <a:sym typeface="+mn-ea"/>
              </a:rPr>
              <a:t>dotenv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>
              <a:lnSpc>
                <a:spcPct val="110000"/>
              </a:lnSpc>
            </a:pPr>
            <a:r>
              <a:rPr altLang="en-GB" sz="2800">
                <a:sym typeface="+mn-ea"/>
              </a:rPr>
              <a:t>dotenv is a </a:t>
            </a:r>
            <a:r>
              <a:rPr altLang="en-GB" sz="2800">
                <a:solidFill>
                  <a:srgbClr val="FFFF00"/>
                </a:solidFill>
                <a:sym typeface="+mn-ea"/>
              </a:rPr>
              <a:t>zero</a:t>
            </a:r>
            <a:r>
              <a:rPr lang="en-GB" altLang="en-US" sz="2800">
                <a:solidFill>
                  <a:srgbClr val="FFFF00"/>
                </a:solidFill>
                <a:sym typeface="+mn-ea"/>
              </a:rPr>
              <a:t>-</a:t>
            </a:r>
            <a:r>
              <a:rPr altLang="en-GB" sz="2800">
                <a:solidFill>
                  <a:srgbClr val="FFFF00"/>
                </a:solidFill>
                <a:sym typeface="+mn-ea"/>
              </a:rPr>
              <a:t>dependency</a:t>
            </a:r>
            <a:r>
              <a:rPr altLang="en-GB" sz="2800">
                <a:sym typeface="+mn-ea"/>
              </a:rPr>
              <a:t> Node.js module that </a:t>
            </a:r>
            <a:r>
              <a:rPr altLang="en-GB" sz="2800">
                <a:solidFill>
                  <a:srgbClr val="FFFF00"/>
                </a:solidFill>
                <a:sym typeface="+mn-ea"/>
              </a:rPr>
              <a:t>loads environment variables from a .env file into process.env. </a:t>
            </a:r>
            <a:r>
              <a:rPr altLang="en-GB" sz="2800">
                <a:sym typeface="+mn-ea"/>
              </a:rPr>
              <a:t>It helps you keep sensitive configuration (API keys, database passwords, JWT secrets) separate from your source code.</a:t>
            </a:r>
            <a:endParaRPr lang="en-US" altLang="en-GB" sz="2800"/>
          </a:p>
          <a:p>
            <a:endParaRPr lang="en-US" altLang="en-GB" sz="2800"/>
          </a:p>
          <a:p>
            <a:r>
              <a:rPr altLang="en-GB" sz="2800">
                <a:solidFill>
                  <a:srgbClr val="FFFF00"/>
                </a:solidFill>
                <a:sym typeface="+mn-ea"/>
              </a:rPr>
              <a:t>npm install dotenv</a:t>
            </a:r>
            <a:endParaRPr lang="en-US" altLang="en-GB" sz="2800">
              <a:solidFill>
                <a:srgbClr val="FFFF00"/>
              </a:solidFill>
            </a:endParaRPr>
          </a:p>
          <a:p>
            <a:endParaRPr lang="en-GB" altLang="en-US" sz="2800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GB"/>
              <a:t>Authentication</a:t>
            </a:r>
            <a:r>
              <a:rPr lang="en-GB" altLang="en-US"/>
              <a:t>  vs </a:t>
            </a:r>
            <a:r>
              <a:rPr altLang="zh-CN">
                <a:sym typeface="+mn-ea"/>
              </a:rPr>
              <a:t>Authorization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>
              <a:lnSpc>
                <a:spcPct val="110000"/>
              </a:lnSpc>
            </a:pPr>
            <a:endParaRPr lang="en-US" altLang="en-GB" sz="2400">
              <a:solidFill>
                <a:srgbClr val="FFFF00"/>
              </a:solidFill>
            </a:endParaRPr>
          </a:p>
          <a:p>
            <a:pPr>
              <a:lnSpc>
                <a:spcPct val="110000"/>
              </a:lnSpc>
            </a:pPr>
            <a:endParaRPr lang="en-US" altLang="en-GB" sz="2400">
              <a:solidFill>
                <a:srgbClr val="FFFF00"/>
              </a:solidFill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680720" y="2566670"/>
          <a:ext cx="10657840" cy="210629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415280"/>
                <a:gridCol w="5242560"/>
              </a:tblGrid>
              <a:tr h="734695">
                <a:tc>
                  <a:txBody>
                    <a:bodyPr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altLang="zh-CN" sz="2400"/>
                        <a:t>Authentication</a:t>
                      </a:r>
                      <a:endParaRPr lang="en-US" altLang="zh-CN" sz="2400"/>
                    </a:p>
                  </a:txBody>
                  <a:tcPr marL="0" marR="122237" marT="76517" marB="765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altLang="zh-CN" sz="2400"/>
                        <a:t>Authorization</a:t>
                      </a:r>
                      <a:endParaRPr lang="en-US" altLang="zh-CN" sz="2400"/>
                    </a:p>
                  </a:txBody>
                  <a:tcPr marL="122237" marR="122237" marT="76517" marB="765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2400"/>
                        <a:t>Who are you?</a:t>
                      </a:r>
                      <a:endParaRPr lang="en-US" altLang="zh-CN" sz="2400"/>
                    </a:p>
                  </a:txBody>
                  <a:tcPr marL="0" marR="12223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2400"/>
                        <a:t>What can you do?</a:t>
                      </a:r>
                      <a:endParaRPr lang="en-US" altLang="zh-CN" sz="2400"/>
                    </a:p>
                  </a:txBody>
                  <a:tcPr marL="122237" marR="0" marT="76517" marB="765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2400"/>
                        <a:t>Login step</a:t>
                      </a:r>
                      <a:endParaRPr lang="en-US" altLang="zh-CN" sz="2400"/>
                    </a:p>
                  </a:txBody>
                  <a:tcPr marL="0" marR="12223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2400"/>
                        <a:t>Access control step</a:t>
                      </a:r>
                      <a:endParaRPr lang="en-US" altLang="zh-CN" sz="2400"/>
                    </a:p>
                  </a:txBody>
                  <a:tcPr marL="122237" marR="0" marT="76517" marB="765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2400"/>
                        <a:t>Returns token/session</a:t>
                      </a:r>
                      <a:endParaRPr lang="en-US" altLang="zh-CN" sz="2400"/>
                    </a:p>
                  </a:txBody>
                  <a:tcPr marL="0" marR="12223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2400"/>
                        <a:t>Uses token to check permissions</a:t>
                      </a:r>
                      <a:endParaRPr lang="en-US" altLang="zh-CN" sz="2400"/>
                    </a:p>
                  </a:txBody>
                  <a:tcPr marL="122237" marR="0" marT="76517" marB="765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1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First (at login)</a:t>
                      </a:r>
                      <a:endParaRPr lang="en-US" altLang="zh-CN" sz="11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22237" marR="12223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1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After authentication (on every request)</a:t>
                      </a:r>
                      <a:endParaRPr lang="en-US" altLang="zh-CN" sz="11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22237" marR="0" marT="76517" marB="76517" anchor="ctr" anchorCtr="0"/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853440" y="4858385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9FAFB"/>
                </a:solidFill>
                <a:latin typeface="+mn-ea"/>
                <a:ea typeface="quote-cjk-patch"/>
                <a:cs typeface="+mn-ea"/>
                <a:sym typeface="+mn-ea"/>
              </a:rPr>
              <a:t>Authentication always comes first.</a:t>
            </a:r>
            <a:endParaRPr lang="en-US" altLang="zh-CN" sz="2400">
              <a:latin typeface="+mn-ea"/>
              <a:cs typeface="+mn-ea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+mn-ea"/>
              <a:cs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>
                <a:sym typeface="+mn-ea"/>
              </a:rPr>
              <a:t>Authentication vs Authorization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GB"/>
              <a:t>User logs in (email/password) </a:t>
            </a:r>
            <a:endParaRPr lang="en-US" altLang="en-GB"/>
          </a:p>
          <a:p>
            <a:r>
              <a:rPr lang="en-US" altLang="en-GB"/>
              <a:t>   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en-US" altLang="en-GB"/>
              <a:t>   [Authentication]  </a:t>
            </a:r>
            <a:r>
              <a:rPr lang="en-US" altLang="en-US"/>
              <a:t>←</a:t>
            </a:r>
            <a:r>
              <a:rPr lang="en-US" altLang="en-GB"/>
              <a:t> </a:t>
            </a:r>
            <a:endParaRPr lang="en-US" altLang="en-GB"/>
          </a:p>
          <a:p>
            <a:r>
              <a:rPr lang="en-US" altLang="en-GB"/>
              <a:t>   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en-US" altLang="en-GB"/>
              <a:t>   </a:t>
            </a:r>
            <a:r>
              <a:rPr lang="en-US" altLang="en-US"/>
              <a:t>✅</a:t>
            </a:r>
            <a:r>
              <a:rPr lang="en-US" altLang="en-GB"/>
              <a:t> Success </a:t>
            </a:r>
            <a:r>
              <a:rPr lang="en-US" altLang="en-US"/>
              <a:t>→</a:t>
            </a:r>
            <a:r>
              <a:rPr lang="en-US" altLang="en-GB"/>
              <a:t> issue JWT / session</a:t>
            </a:r>
            <a:endParaRPr lang="en-US" altLang="en-GB"/>
          </a:p>
          <a:p>
            <a:r>
              <a:rPr lang="en-US" altLang="en-GB"/>
              <a:t>   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en-US" altLang="en-GB"/>
              <a:t>User requests a protected resource (e.g., /admin)</a:t>
            </a:r>
            <a:endParaRPr lang="en-US" altLang="en-GB"/>
          </a:p>
          <a:p>
            <a:r>
              <a:rPr lang="en-US" altLang="en-GB"/>
              <a:t>   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en-US" altLang="en-GB"/>
              <a:t>   [Authentication] again? Actually token is validated (re‑authentication)</a:t>
            </a:r>
            <a:endParaRPr lang="en-US" altLang="en-GB"/>
          </a:p>
          <a:p>
            <a:r>
              <a:rPr lang="en-US" altLang="en-GB"/>
              <a:t>   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en-US" altLang="en-GB"/>
              <a:t>   [Authorization] </a:t>
            </a:r>
            <a:r>
              <a:rPr lang="en-US" altLang="en-US"/>
              <a:t>←</a:t>
            </a:r>
            <a:r>
              <a:rPr lang="en-US" altLang="en-GB"/>
              <a:t> checks role/permission in token or DB</a:t>
            </a:r>
            <a:endParaRPr lang="en-US" altLang="en-GB"/>
          </a:p>
          <a:p>
            <a:r>
              <a:rPr lang="en-US" altLang="en-GB"/>
              <a:t>   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en-US" altLang="en-GB"/>
              <a:t>   </a:t>
            </a:r>
            <a:r>
              <a:rPr lang="en-US" altLang="en-US"/>
              <a:t>✅</a:t>
            </a:r>
            <a:r>
              <a:rPr lang="en-US" altLang="en-GB"/>
              <a:t> Access granted OR </a:t>
            </a:r>
            <a:r>
              <a:rPr lang="en-US" altLang="en-US"/>
              <a:t>❌</a:t>
            </a:r>
            <a:r>
              <a:rPr lang="en-US" altLang="en-GB"/>
              <a:t> 403 Forbidden</a:t>
            </a:r>
            <a:endParaRPr lang="en-US" altLang="en-GB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1796415" y="1999615"/>
            <a:ext cx="8939530" cy="1518285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GB" altLang="en-US" sz="6000"/>
              <a:t>THANK YOU</a:t>
            </a:r>
            <a:endParaRPr lang="en-GB" altLang="en-US" sz="60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41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41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59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57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3.0"/>
  <p:tag name="KSO_WM_BEAUTIFY_FLAG" val="#wm#"/>
  <p:tag name="KSO_WM_TEMPLATE_CATEGORY" val="custom"/>
  <p:tag name="KSO_WM_TEMPLATE_INDEX" val="20233457"/>
</p:tagLst>
</file>

<file path=ppt/tags/tag74.xml><?xml version="1.0" encoding="utf-8"?>
<p:tagLst xmlns:p="http://schemas.openxmlformats.org/presentationml/2006/main">
  <p:tag name="KSO_WM_SPECIAL_SOURCE" val="bdnull"/>
  <p:tag name="KSO_WM_TEMPLATE_THUMBS_INDEX" val="1、11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57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custom20233457_1*b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Add description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57_1*a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Your title here"/>
</p:tagLst>
</file>

<file path=ppt/tags/tag7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汇报人：稻小壳"/>
</p:tagLst>
</file>

<file path=ppt/tags/tag78.xml><?xml version="1.0" encoding="utf-8"?>
<p:tagLst xmlns:p="http://schemas.openxmlformats.org/presentationml/2006/main">
  <p:tag name="KSO_WM_SPECIAL_SOURCE" val="bdnull"/>
  <p:tag name="KSO_WM_TEMPLATE_THUMBS_INDEX" val="1、11"/>
  <p:tag name="KSO_WM_SLIDE_CONTENT_AREA" val="{&quot;left&quot;:&quot;40.75&quot;,&quot;top&quot;:&quot;54.85&quot;,&quot;width&quot;:&quot;554.35&quot;,&quot;height&quot;:&quot;329.9&quot;}"/>
  <p:tag name="KSO_WM_SLIDE_ID" val="custom2023345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57"/>
  <p:tag name="KSO_WM_SLIDE_LAYOUT" val="a_b_f"/>
  <p:tag name="KSO_WM_SLIDE_LAYOUT_CNT" val="1_1_1"/>
  <p:tag name="KSO_WM_SLIDE_THEME_ID" val="3321307"/>
  <p:tag name="KSO_WM_SLIDE_THEME_NAME" val="Z_20233457_Green Technology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41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41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9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57_11*a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THANK YOU"/>
</p:tagLst>
</file>

<file path=ppt/tags/tag107.xml><?xml version="1.0" encoding="utf-8"?>
<p:tagLst xmlns:p="http://schemas.openxmlformats.org/presentationml/2006/main">
  <p:tag name="KSO_WM_SPECIAL_SOURCE" val="bdnull"/>
  <p:tag name="KSO_WM_SLIDE_CONTENT_AREA" val="{&quot;left&quot;:&quot;137.8&quot;,&quot;top&quot;:&quot;51.6&quot;,&quot;width&quot;:&quot;714.2&quot;,&quot;height&quot;:&quot;367.25&quot;}"/>
  <p:tag name="KSO_WM_SLIDE_ID" val="custom20233457_11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11"/>
  <p:tag name="KSO_WM_TAG_VERSION" val="3.0"/>
  <p:tag name="KSO_WM_BEAUTIFY_FLAG" val="#wm#"/>
  <p:tag name="KSO_WM_TEMPLATE_CATEGORY" val="custom"/>
  <p:tag name="KSO_WM_TEMPLATE_INDEX" val="20233457"/>
  <p:tag name="KSO_WM_SLIDE_LAYOUT" val="a_f"/>
  <p:tag name="KSO_WM_SLIDE_LAYOUT_CNT" val="1_1"/>
  <p:tag name="KSO_WM_SLIDE_THEME_ID" val="3321307"/>
  <p:tag name="KSO_WM_SLIDE_THEME_NAME" val="Z_20233457_Green Technolog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64">
      <a:dk1>
        <a:srgbClr val="000000"/>
      </a:dk1>
      <a:lt1>
        <a:srgbClr val="FFFFFF"/>
      </a:lt1>
      <a:dk2>
        <a:srgbClr val="003E28"/>
      </a:dk2>
      <a:lt2>
        <a:srgbClr val="ECFEF8"/>
      </a:lt2>
      <a:accent1>
        <a:srgbClr val="47FFBC"/>
      </a:accent1>
      <a:accent2>
        <a:srgbClr val="51E8C9"/>
      </a:accent2>
      <a:accent3>
        <a:srgbClr val="5AD2D6"/>
      </a:accent3>
      <a:accent4>
        <a:srgbClr val="64BBE3"/>
      </a:accent4>
      <a:accent5>
        <a:srgbClr val="6DA5F0"/>
      </a:accent5>
      <a:accent6>
        <a:srgbClr val="778EFD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9843BE9C8A54687BECE1C962241DE" ma:contentTypeVersion="11" ma:contentTypeDescription="Create a new document." ma:contentTypeScope="" ma:versionID="5303da4859f7fb6205292a9a253e8484">
  <xsd:schema xmlns:xsd="http://www.w3.org/2001/XMLSchema" xmlns:xs="http://www.w3.org/2001/XMLSchema" xmlns:p="http://schemas.microsoft.com/office/2006/metadata/properties" xmlns:ns2="a9426f9f-2a6a-403d-9984-0f17e3e6377d" xmlns:ns3="7473d3bc-240f-4a29-9442-65c9b41a6a64" targetNamespace="http://schemas.microsoft.com/office/2006/metadata/properties" ma:root="true" ma:fieldsID="14178f852c0080faadb1e3533221e417" ns2:_="" ns3:_="">
    <xsd:import namespace="a9426f9f-2a6a-403d-9984-0f17e3e6377d"/>
    <xsd:import namespace="7473d3bc-240f-4a29-9442-65c9b41a6a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26f9f-2a6a-403d-9984-0f17e3e637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73d3bc-240f-4a29-9442-65c9b41a6a6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94b558b-03e8-420f-8500-4935e605024d}" ma:internalName="TaxCatchAll" ma:showField="CatchAllData" ma:web="7473d3bc-240f-4a29-9442-65c9b41a6a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473d3bc-240f-4a29-9442-65c9b41a6a64" xsi:nil="true"/>
    <lcf76f155ced4ddcb4097134ff3c332f xmlns="a9426f9f-2a6a-403d-9984-0f17e3e6377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A36FA1E-2144-4776-AB3F-2F09A5F0F865}"/>
</file>

<file path=customXml/itemProps2.xml><?xml version="1.0" encoding="utf-8"?>
<ds:datastoreItem xmlns:ds="http://schemas.openxmlformats.org/officeDocument/2006/customXml" ds:itemID="{82684168-D8C2-4367-A464-D6B245B465F5}"/>
</file>

<file path=customXml/itemProps3.xml><?xml version="1.0" encoding="utf-8"?>
<ds:datastoreItem xmlns:ds="http://schemas.openxmlformats.org/officeDocument/2006/customXml" ds:itemID="{C66A1D70-F35D-4226-87E9-B0BFA3B2673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3034</Words>
  <Application>WPS Presentation</Application>
  <PresentationFormat/>
  <Paragraphs>127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SimSun</vt:lpstr>
      <vt:lpstr>Wingdings</vt:lpstr>
      <vt:lpstr>等线</vt:lpstr>
      <vt:lpstr>Cascadia Code</vt:lpstr>
      <vt:lpstr>Lato</vt:lpstr>
      <vt:lpstr>Manrope ExtraBold</vt:lpstr>
      <vt:lpstr>Microsoft YaHei</vt:lpstr>
      <vt:lpstr>Arial Unicode MS</vt:lpstr>
      <vt:lpstr>quote-cjk-patch</vt:lpstr>
      <vt:lpstr>Segoe Print</vt:lpstr>
      <vt:lpstr>Blackadder ITC</vt:lpstr>
      <vt:lpstr>Office Theme</vt:lpstr>
      <vt:lpstr>1_Office Theme</vt:lpstr>
      <vt:lpstr>Node js</vt:lpstr>
      <vt:lpstr>content</vt:lpstr>
      <vt:lpstr>Hashing &amp; Encryption</vt:lpstr>
      <vt:lpstr>bcryptjs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shimaa ismail</cp:lastModifiedBy>
  <cp:revision>82</cp:revision>
  <dcterms:created xsi:type="dcterms:W3CDTF">2015-10-17T07:33:00Z</dcterms:created>
  <dcterms:modified xsi:type="dcterms:W3CDTF">2026-04-02T11:00:39Z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2057-12.2.0.23196</vt:lpwstr>
  </property>
  <property fmtid="{D5CDD505-2E9C-101B-9397-08002B2CF9AE}" pid="3" name="ICV">
    <vt:lpwstr>723201727791428DB2CB6B704128EEF3_12</vt:lpwstr>
  </property>
  <property fmtid="{D5CDD505-2E9C-101B-9397-08002B2CF9AE}" pid="4" name="ContentTypeId">
    <vt:lpwstr>0x010100E569843BE9C8A54687BECE1C962241DE</vt:lpwstr>
  </property>
</Properties>
</file>