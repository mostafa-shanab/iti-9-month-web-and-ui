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20"/>
  </p:handoutMasterIdLst>
  <p:sldIdLst>
    <p:sldId id="258" r:id="rId4"/>
    <p:sldId id="294" r:id="rId6"/>
    <p:sldId id="325" r:id="rId7"/>
    <p:sldId id="326" r:id="rId8"/>
    <p:sldId id="327" r:id="rId9"/>
    <p:sldId id="330" r:id="rId10"/>
    <p:sldId id="332" r:id="rId11"/>
    <p:sldId id="329" r:id="rId12"/>
    <p:sldId id="322" r:id="rId13"/>
    <p:sldId id="338" r:id="rId14"/>
    <p:sldId id="333" r:id="rId15"/>
    <p:sldId id="334" r:id="rId16"/>
    <p:sldId id="335" r:id="rId17"/>
    <p:sldId id="314" r:id="rId18"/>
    <p:sldId id="265" r:id="rId19"/>
  </p:sldIdLst>
  <p:sldSz cx="12192000" cy="6858000"/>
  <p:notesSz cx="6858000" cy="9144000"/>
  <p:embeddedFontLst>
    <p:embeddedFont>
      <p:font typeface="Cascadia Code" panose="020B0609020000020004" charset="0"/>
      <p:regular r:id="rId24"/>
      <p:bold r:id="rId25"/>
    </p:embeddedFont>
    <p:embeddedFont>
      <p:font typeface="Lato" panose="020F0502020204030203" charset="0"/>
      <p:regular r:id="rId26"/>
    </p:embeddedFont>
    <p:embeddedFont>
      <p:font typeface="Manrope ExtraBold" charset="0"/>
      <p:bold r:id="rId27"/>
    </p:embeddedFont>
  </p:embeddedFont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等线" pitchFamily="2" charset="-122"/>
        <a:ea typeface="等线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A3B"/>
    <a:srgbClr val="353F48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597"/>
    <p:restoredTop sz="94619"/>
  </p:normalViewPr>
  <p:slideViewPr>
    <p:cSldViewPr snapToGrid="0" showGuides="1">
      <p:cViewPr>
        <p:scale>
          <a:sx n="100" d="100"/>
          <a:sy n="100" d="100"/>
        </p:scale>
        <p:origin x="768" y="636"/>
      </p:cViewPr>
      <p:guideLst>
        <p:guide orient="horz" pos="215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26" Type="http://schemas.openxmlformats.org/officeDocument/2006/relationships/font" Target="fonts/font3.fntdata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2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25" Type="http://schemas.openxmlformats.org/officeDocument/2006/relationships/font" Target="fonts/font2.fntdata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29" Type="http://schemas.openxmlformats.org/officeDocument/2006/relationships/customXml" Target="../customXml/item2.xml"/><Relationship Id="rId6" Type="http://schemas.openxmlformats.org/officeDocument/2006/relationships/slide" Target="slides/slide2.xml"/><Relationship Id="rId24" Type="http://schemas.openxmlformats.org/officeDocument/2006/relationships/font" Target="fonts/font1.fntdata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5" Type="http://schemas.openxmlformats.org/officeDocument/2006/relationships/slide" Target="slides/slide11.xml"/><Relationship Id="rId28" Type="http://schemas.openxmlformats.org/officeDocument/2006/relationships/customXml" Target="../customXml/item1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27" Type="http://schemas.openxmlformats.org/officeDocument/2006/relationships/font" Target="fonts/font4.fntdata"/><Relationship Id="rId22" Type="http://schemas.openxmlformats.org/officeDocument/2006/relationships/viewProps" Target="viewProps.xml"/><Relationship Id="rId14" Type="http://schemas.openxmlformats.org/officeDocument/2006/relationships/slide" Target="slides/slide10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等线" pitchFamily="2" charset="-122"/>
                <a:ea typeface="等线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Fifth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C9B17E-EBA4-4BA6-BFBF-CFC4EA0BE6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146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image" Target="../media/image2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2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image" Target="../media/image2.pn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Click to edit Master text style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Second level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Third level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Fourth level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Fifth level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5"/>
            </p:custDataLst>
          </p:nvPr>
        </p:nvSpPr>
        <p:spPr>
          <a:xfrm>
            <a:off x="1151890" y="1365885"/>
            <a:ext cx="6343015" cy="7969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1151890" y="2314575"/>
            <a:ext cx="9429115" cy="16478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1151890" y="4104640"/>
            <a:ext cx="2114550" cy="42608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270" y="2009774"/>
            <a:ext cx="8619066" cy="4848225"/>
          </a:xfrm>
          <a:prstGeom prst="rect">
            <a:avLst/>
          </a:prstGeom>
        </p:spPr>
      </p:pic>
      <p:cxnSp>
        <p:nvCxnSpPr>
          <p:cNvPr id="20" name="直接连接符 19"/>
          <p:cNvCxnSpPr/>
          <p:nvPr userDrawn="1">
            <p:custDataLst>
              <p:tags r:id="rId5"/>
            </p:custDataLst>
          </p:nvPr>
        </p:nvCxnSpPr>
        <p:spPr>
          <a:xfrm>
            <a:off x="10600690" y="1176655"/>
            <a:ext cx="987425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6"/>
            </p:custDataLst>
          </p:nvPr>
        </p:nvCxnSpPr>
        <p:spPr>
          <a:xfrm>
            <a:off x="-1270" y="1593215"/>
            <a:ext cx="12193270" cy="0"/>
          </a:xfrm>
          <a:prstGeom prst="line">
            <a:avLst/>
          </a:prstGeom>
          <a:ln w="3175">
            <a:solidFill>
              <a:schemeClr val="lt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6362700" y="531495"/>
            <a:ext cx="533273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1073785" y="1535430"/>
            <a:ext cx="5628640" cy="11410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1073785" y="2767965"/>
            <a:ext cx="8561705" cy="29292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 err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800397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330" y="234315"/>
            <a:ext cx="10968990" cy="786130"/>
          </a:xfrm>
          <a:prstGeom prst="rect">
            <a:avLst/>
          </a:prstGeom>
          <a:noFill/>
        </p:spPr>
        <p:txBody>
          <a:bodyPr wrap="square" lIns="36195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799087" cy="86400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705601" y="-1"/>
            <a:ext cx="5486399" cy="30860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978337"/>
            <a:ext cx="10452735" cy="5879663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5038090" y="4172585"/>
            <a:ext cx="2114550" cy="42608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12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796415" y="1999615"/>
            <a:ext cx="8939530" cy="15182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2" Type="http://schemas.openxmlformats.org/officeDocument/2006/relationships/theme" Target="../theme/theme2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image" Target="../media/image3.png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F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  <a:t> 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CD2E4A-79A0-459F-8578-CC9ECAA6381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8120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 cstate="print">
            <a:alphaModFix amt="56000"/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1"/>
          <a:stretch>
            <a:fillRect/>
          </a:stretch>
        </p:blipFill>
        <p:spPr>
          <a:xfrm>
            <a:off x="1392001" y="360000"/>
            <a:ext cx="10800000" cy="6498000"/>
          </a:xfrm>
          <a:custGeom>
            <a:avLst/>
            <a:gdLst>
              <a:gd name="connsiteX0" fmla="*/ 0 w 7124699"/>
              <a:gd name="connsiteY0" fmla="*/ 0 h 4095750"/>
              <a:gd name="connsiteX1" fmla="*/ 7124699 w 7124699"/>
              <a:gd name="connsiteY1" fmla="*/ 0 h 4095750"/>
              <a:gd name="connsiteX2" fmla="*/ 7124699 w 7124699"/>
              <a:gd name="connsiteY2" fmla="*/ 4095750 h 4095750"/>
              <a:gd name="connsiteX3" fmla="*/ 0 w 7124699"/>
              <a:gd name="connsiteY3" fmla="*/ 4095750 h 409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24699" h="4095750">
                <a:moveTo>
                  <a:pt x="0" y="0"/>
                </a:moveTo>
                <a:lnTo>
                  <a:pt x="7124699" y="0"/>
                </a:lnTo>
                <a:lnTo>
                  <a:pt x="7124699" y="4095750"/>
                </a:lnTo>
                <a:lnTo>
                  <a:pt x="0" y="4095750"/>
                </a:lnTo>
                <a:close/>
              </a:path>
            </a:pathLst>
          </a:custGeom>
        </p:spPr>
      </p:pic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 txBox="1"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6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 smtClean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84.xml"/><Relationship Id="rId3" Type="http://schemas.openxmlformats.org/officeDocument/2006/relationships/image" Target="../media/image4.png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87.xml"/><Relationship Id="rId3" Type="http://schemas.openxmlformats.org/officeDocument/2006/relationships/image" Target="../media/image5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90.xml"/><Relationship Id="rId3" Type="http://schemas.openxmlformats.org/officeDocument/2006/relationships/image" Target="../media/image6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93.xml"/><Relationship Id="rId3" Type="http://schemas.openxmlformats.org/officeDocument/2006/relationships/image" Target="../media/image7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96.xml"/><Relationship Id="rId3" Type="http://schemas.openxmlformats.org/officeDocument/2006/relationships/image" Target="../media/image8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99.xml"/><Relationship Id="rId3" Type="http://schemas.openxmlformats.org/officeDocument/2006/relationships/image" Target="../media/image9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05.xml"/><Relationship Id="rId3" Type="http://schemas.openxmlformats.org/officeDocument/2006/relationships/image" Target="../media/image10.png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08.xml"/><Relationship Id="rId3" Type="http://schemas.openxmlformats.org/officeDocument/2006/relationships/image" Target="../media/image11.pn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118.xml"/><Relationship Id="rId3" Type="http://schemas.openxmlformats.org/officeDocument/2006/relationships/image" Target="../media/image12.png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1151890" y="1365885"/>
            <a:ext cx="6343015" cy="796925"/>
          </a:xfrm>
        </p:spPr>
        <p:txBody>
          <a:bodyPr/>
          <a:p>
            <a:pPr mar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GB" altLang="zh-CN" sz="3200" dirty="0"/>
              <a:t>Day 3</a:t>
            </a:r>
            <a:endParaRPr lang="en-GB" altLang="zh-CN" sz="3200" dirty="0"/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1151890" y="2314575"/>
            <a:ext cx="9429115" cy="1647825"/>
          </a:xfrm>
        </p:spPr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4800"/>
              <a:t>Node js</a:t>
            </a:r>
            <a:endParaRPr altLang="en-US" sz="4800"/>
          </a:p>
        </p:txBody>
      </p:sp>
      <p:sp>
        <p:nvSpPr>
          <p:cNvPr id="5" name="文本占位符 5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/>
          <a:p>
            <a:r>
              <a:rPr lang="en-GB" altLang="en-US"/>
              <a:t>shimaa ismail</a:t>
            </a:r>
            <a:endParaRPr lang="en-GB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 sz="4000">
                <a:latin typeface="Cascadia Code" panose="020B0609020000020004" charset="0"/>
                <a:cs typeface="Cascadia Code" panose="020B0609020000020004" charset="0"/>
              </a:rPr>
              <a:t>content</a:t>
            </a:r>
            <a:endParaRPr lang="en-GB" altLang="en-US" sz="4000"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endParaRPr lang="en-GB" altLang="en-US" sz="3200">
              <a:solidFill>
                <a:srgbClr val="FFFF00"/>
              </a:solidFill>
            </a:endParaRPr>
          </a:p>
          <a:p>
            <a:r>
              <a:rPr lang="en-GB" altLang="en-US" sz="3200">
                <a:solidFill>
                  <a:srgbClr val="FFFF00"/>
                </a:solidFill>
                <a:sym typeface="+mn-ea"/>
              </a:rPr>
              <a:t> Middleware</a:t>
            </a:r>
            <a:r>
              <a:rPr altLang="en-GB" sz="3200">
                <a:sym typeface="+mn-ea"/>
              </a:rPr>
              <a:t> </a:t>
            </a:r>
            <a:endParaRPr lang="en-US" altLang="en-GB" sz="3200"/>
          </a:p>
          <a:p>
            <a:r>
              <a:rPr altLang="en-GB" sz="3200">
                <a:solidFill>
                  <a:srgbClr val="FFFF00"/>
                </a:solidFill>
                <a:sym typeface="+mn-ea"/>
              </a:rPr>
              <a:t>Mongoose</a:t>
            </a:r>
            <a:endParaRPr lang="en-US" altLang="en-GB" sz="3200">
              <a:solidFill>
                <a:srgbClr val="FFFF00"/>
              </a:solidFill>
            </a:endParaRPr>
          </a:p>
          <a:p>
            <a:r>
              <a:rPr lang="en-GB" altLang="en-US" sz="3200">
                <a:solidFill>
                  <a:srgbClr val="FFFF00"/>
                </a:solidFill>
                <a:sym typeface="+mn-ea"/>
              </a:rPr>
              <a:t>mvc</a:t>
            </a:r>
            <a:endParaRPr lang="en-US" altLang="en-GB" sz="3200"/>
          </a:p>
          <a:p>
            <a:r>
              <a:rPr lang="en-US" altLang="en-GB" sz="3200">
                <a:solidFill>
                  <a:srgbClr val="FFFF00"/>
                </a:solidFill>
              </a:rPr>
              <a:t> Project structure</a:t>
            </a:r>
            <a:endParaRPr lang="en-US" altLang="en-GB" sz="320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en-GB" sz="3200">
                <a:solidFill>
                  <a:srgbClr val="FFFF00"/>
                </a:solidFill>
              </a:rPr>
              <a:t> </a:t>
            </a:r>
            <a:endParaRPr lang="en-US" altLang="en-GB" sz="32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>
                <a:sym typeface="+mn-ea"/>
              </a:rPr>
              <a:t>Middleware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GB" sz="2400"/>
              <a:t>Middleware in Express.js are functions that run during the request–response lifecycle </a:t>
            </a:r>
            <a:endParaRPr lang="en-US" altLang="en-GB" sz="2400"/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</p:txBody>
      </p:sp>
      <p:pic>
        <p:nvPicPr>
          <p:cNvPr id="4" name="Picture 3" descr="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540" y="2553335"/>
            <a:ext cx="4267200" cy="26714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GB"/>
              <a:t>Types of Middleware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GB" sz="2000"/>
              <a:t>1. Application-level Middleware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2. Router-level Middleware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3. Error-handling Middleware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4. Built-in Middleware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5. Third-party Middleware</a:t>
            </a:r>
            <a:endParaRPr lang="en-US" altLang="en-GB" sz="2000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altLang="en-GB" sz="1800">
                <a:cs typeface="+mn-lt"/>
                <a:sym typeface="+mn-ea"/>
              </a:rPr>
              <a:t>Middleware </a:t>
            </a:r>
            <a:r>
              <a:rPr altLang="en-GB" sz="1800">
                <a:solidFill>
                  <a:srgbClr val="FFFF00"/>
                </a:solidFill>
                <a:cs typeface="+mn-lt"/>
                <a:sym typeface="+mn-ea"/>
              </a:rPr>
              <a:t>functions </a:t>
            </a:r>
            <a:r>
              <a:rPr altLang="en-GB" sz="1800">
                <a:cs typeface="+mn-lt"/>
                <a:sym typeface="+mn-ea"/>
              </a:rPr>
              <a:t>can perform the following tasks:</a:t>
            </a:r>
            <a:endParaRPr lang="en-US" altLang="en-GB" sz="1800">
              <a:cs typeface="+mn-lt"/>
            </a:endParaRPr>
          </a:p>
          <a:p>
            <a:pPr lvl="1"/>
            <a:r>
              <a:rPr altLang="en-GB" sz="1800">
                <a:cs typeface="+mn-lt"/>
                <a:sym typeface="+mn-ea"/>
              </a:rPr>
              <a:t>Execute any code.</a:t>
            </a:r>
            <a:endParaRPr lang="en-US" altLang="en-GB" sz="1800">
              <a:cs typeface="+mn-lt"/>
            </a:endParaRPr>
          </a:p>
          <a:p>
            <a:pPr lvl="1"/>
            <a:r>
              <a:rPr altLang="en-GB" sz="1800">
                <a:cs typeface="+mn-lt"/>
                <a:sym typeface="+mn-ea"/>
              </a:rPr>
              <a:t>Can read or modify req and res.</a:t>
            </a:r>
            <a:endParaRPr lang="en-US" altLang="en-GB" sz="1800">
              <a:cs typeface="+mn-lt"/>
            </a:endParaRPr>
          </a:p>
          <a:p>
            <a:pPr lvl="1"/>
            <a:r>
              <a:rPr altLang="en-GB" sz="1800">
                <a:cs typeface="+mn-lt"/>
                <a:sym typeface="+mn-ea"/>
              </a:rPr>
              <a:t>May send a response and end the cycle.</a:t>
            </a:r>
            <a:endParaRPr lang="en-US" altLang="en-GB" sz="1800">
              <a:cs typeface="+mn-lt"/>
            </a:endParaRPr>
          </a:p>
          <a:p>
            <a:pPr lvl="1"/>
            <a:r>
              <a:rPr altLang="en-GB" sz="1800">
                <a:cs typeface="+mn-lt"/>
                <a:sym typeface="+mn-ea"/>
              </a:rPr>
              <a:t>Uses next() to pass control to the next middleware</a:t>
            </a:r>
            <a:r>
              <a:rPr altLang="en-GB" sz="1800">
                <a:sym typeface="+mn-ea"/>
              </a:rPr>
              <a:t>.</a:t>
            </a:r>
            <a:endParaRPr lang="en-US" altLang="en-GB" sz="1800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680" y="1080135"/>
            <a:ext cx="5524500" cy="27355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altLang="en-GB">
                <a:sym typeface="+mn-ea"/>
              </a:rPr>
              <a:t>Application-level Middleware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>
              <a:lnSpc>
                <a:spcPct val="110000"/>
              </a:lnSpc>
            </a:pPr>
            <a:r>
              <a:rPr lang="en-US" altLang="en-GB" sz="2400"/>
              <a:t> is bound to an instance of the app object using</a:t>
            </a:r>
            <a:r>
              <a:rPr lang="en-US" altLang="en-GB" sz="2400">
                <a:solidFill>
                  <a:srgbClr val="FFFF00"/>
                </a:solidFill>
              </a:rPr>
              <a:t> app.use() </a:t>
            </a:r>
            <a:r>
              <a:rPr lang="en-US" altLang="en-GB" sz="2400"/>
              <a:t>or </a:t>
            </a:r>
            <a:r>
              <a:rPr lang="en-US" altLang="en-GB" sz="2400">
                <a:solidFill>
                  <a:srgbClr val="FFFF00"/>
                </a:solidFill>
              </a:rPr>
              <a:t>app.METHOD()</a:t>
            </a:r>
            <a:r>
              <a:rPr lang="en-US" altLang="en-GB" sz="2400"/>
              <a:t> (like app.get(), app.post(), etc.).</a:t>
            </a:r>
            <a:endParaRPr lang="en-US" altLang="en-GB" sz="2400"/>
          </a:p>
          <a:p>
            <a:pPr>
              <a:lnSpc>
                <a:spcPct val="110000"/>
              </a:lnSpc>
            </a:pPr>
            <a:endParaRPr lang="en-US" altLang="en-GB" sz="2400"/>
          </a:p>
          <a:p>
            <a:pPr>
              <a:lnSpc>
                <a:spcPct val="110000"/>
              </a:lnSpc>
            </a:pPr>
            <a:r>
              <a:rPr lang="en-US" altLang="en-GB" sz="2400">
                <a:solidFill>
                  <a:srgbClr val="FFFF00"/>
                </a:solidFill>
              </a:rPr>
              <a:t>app.use()</a:t>
            </a:r>
            <a:r>
              <a:rPr lang="en-US" altLang="en-GB" sz="2400"/>
              <a:t> applies middleware on a specified path. If no path is given, it runs for every request to the application.</a:t>
            </a:r>
            <a:endParaRPr lang="en-US" altLang="en-GB" sz="2400"/>
          </a:p>
          <a:p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  <p:pic>
        <p:nvPicPr>
          <p:cNvPr id="4" name="Picture 3" descr="mid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560" y="3429000"/>
            <a:ext cx="5189220" cy="30397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altLang="en-GB">
                <a:sym typeface="+mn-ea"/>
              </a:rPr>
              <a:t>Built-in Middleware</a:t>
            </a:r>
            <a:endParaRPr lang="en-GB" altLang="en-US"/>
          </a:p>
        </p:txBody>
      </p:sp>
      <p:pic>
        <p:nvPicPr>
          <p:cNvPr id="4" name="Content Placeholder 3" descr="built in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11910" y="3096260"/>
            <a:ext cx="9316720" cy="22002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66445" y="1160780"/>
            <a:ext cx="9751060" cy="1748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>
                <a:latin typeface="+mn-ea"/>
                <a:cs typeface="+mn-ea"/>
              </a:rPr>
              <a:t>Express has the following built-in middleware functions:</a:t>
            </a:r>
            <a:endParaRPr lang="en-US" altLang="en-GB" sz="2000">
              <a:latin typeface="+mn-ea"/>
              <a:cs typeface="+mn-ea"/>
            </a:endParaRPr>
          </a:p>
          <a:p>
            <a:endParaRPr lang="en-US" altLang="en-GB" sz="2000">
              <a:latin typeface="+mn-ea"/>
              <a:cs typeface="+mn-ea"/>
            </a:endParaRPr>
          </a:p>
          <a:p>
            <a:pPr lvl="1"/>
            <a:r>
              <a:rPr lang="en-US" altLang="en-GB" sz="2000">
                <a:solidFill>
                  <a:srgbClr val="FFFF00"/>
                </a:solidFill>
                <a:latin typeface="+mn-ea"/>
                <a:cs typeface="+mn-ea"/>
              </a:rPr>
              <a:t>express.static</a:t>
            </a:r>
            <a:r>
              <a:rPr lang="en-US" altLang="en-GB" sz="2000">
                <a:latin typeface="+mn-ea"/>
                <a:cs typeface="+mn-ea"/>
              </a:rPr>
              <a:t> serves static assets such as HTML files, images, and so on.</a:t>
            </a:r>
            <a:endParaRPr lang="en-US" altLang="en-GB" sz="2000">
              <a:latin typeface="+mn-ea"/>
              <a:cs typeface="+mn-ea"/>
            </a:endParaRPr>
          </a:p>
          <a:p>
            <a:pPr lvl="1"/>
            <a:r>
              <a:rPr lang="en-US" altLang="en-GB" sz="2000">
                <a:solidFill>
                  <a:srgbClr val="FFFF00"/>
                </a:solidFill>
                <a:latin typeface="+mn-ea"/>
                <a:cs typeface="+mn-ea"/>
              </a:rPr>
              <a:t>express.json</a:t>
            </a:r>
            <a:r>
              <a:rPr lang="en-US" altLang="en-GB" sz="2000">
                <a:latin typeface="+mn-ea"/>
                <a:cs typeface="+mn-ea"/>
              </a:rPr>
              <a:t> parses incoming requests with JSON payloads.</a:t>
            </a:r>
            <a:endParaRPr lang="en-US" altLang="en-GB" sz="2000">
              <a:latin typeface="+mn-ea"/>
              <a:cs typeface="+mn-ea"/>
            </a:endParaRPr>
          </a:p>
          <a:p>
            <a:endParaRPr lang="en-US" altLang="en-GB" sz="2000">
              <a:latin typeface="+mn-ea"/>
              <a:cs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altLang="en-GB">
                <a:sym typeface="+mn-ea"/>
              </a:rPr>
              <a:t>Error-handling Middleware</a:t>
            </a:r>
            <a:endParaRPr lang="en-GB" altLang="en-US"/>
          </a:p>
        </p:txBody>
      </p:sp>
      <p:pic>
        <p:nvPicPr>
          <p:cNvPr id="4" name="Content Placeholder 3" descr="error handle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25825" y="2626360"/>
            <a:ext cx="7746365" cy="322643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69645" y="1377315"/>
            <a:ext cx="9354820" cy="951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400">
                <a:latin typeface="+mn-ea"/>
                <a:cs typeface="+mn-ea"/>
              </a:rPr>
              <a:t>Error-handling middleware always takes four arguments</a:t>
            </a:r>
            <a:endParaRPr lang="en-US" altLang="en-GB" sz="2400">
              <a:latin typeface="+mn-ea"/>
              <a:cs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400">
                <a:latin typeface="+mn-ea"/>
                <a:cs typeface="+mn-ea"/>
              </a:rPr>
              <a:t>should be at the end of all routes and middleware</a:t>
            </a:r>
            <a:endParaRPr lang="en-GB" altLang="en-US" sz="2400">
              <a:latin typeface="+mn-ea"/>
              <a:cs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altLang="en-GB">
                <a:sym typeface="+mn-ea"/>
              </a:rPr>
              <a:t> Router-level Middleware</a:t>
            </a:r>
            <a:endParaRPr lang="en-GB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060450" y="161353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>
                <a:latin typeface="+mn-ea"/>
                <a:cs typeface="+mn-ea"/>
              </a:rPr>
              <a:t>Instead of putting all routes in one file</a:t>
            </a:r>
            <a:r>
              <a:rPr lang="en-GB" altLang="en-US" sz="2400">
                <a:latin typeface="+mn-ea"/>
                <a:cs typeface="+mn-ea"/>
              </a:rPr>
              <a:t> , </a:t>
            </a:r>
            <a:r>
              <a:rPr lang="en-US" altLang="en-GB" sz="2400">
                <a:latin typeface="+mn-ea"/>
                <a:cs typeface="+mn-ea"/>
              </a:rPr>
              <a:t>split them into separate files</a:t>
            </a:r>
            <a:endParaRPr lang="en-US" altLang="en-GB" sz="2400">
              <a:latin typeface="+mn-ea"/>
              <a:cs typeface="+mn-ea"/>
            </a:endParaRPr>
          </a:p>
        </p:txBody>
      </p:sp>
      <p:pic>
        <p:nvPicPr>
          <p:cNvPr id="6" name="Content Placeholder 5" descr="rrpng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33365" y="1496060"/>
            <a:ext cx="5777230" cy="38652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altLang="en-GB">
                <a:sym typeface="+mn-ea"/>
              </a:rPr>
              <a:t>Mongoose</a:t>
            </a:r>
            <a:endParaRPr lang="en-GB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GB" sz="2800"/>
              <a:t> is a popular ODM (Object Data Modeling) library for MongoDB</a:t>
            </a:r>
            <a:endParaRPr lang="en-US" altLang="en-GB" sz="2800"/>
          </a:p>
          <a:p>
            <a:endParaRPr lang="en-US" altLang="en-GB" sz="2800"/>
          </a:p>
          <a:p>
            <a:r>
              <a:rPr lang="en-US" altLang="en-GB" sz="2800">
                <a:solidFill>
                  <a:srgbClr val="FFFF00"/>
                </a:solidFill>
              </a:rPr>
              <a:t>Schema Definition </a:t>
            </a:r>
            <a:r>
              <a:rPr lang="en-US" altLang="en-GB" sz="2800"/>
              <a:t>– Define the structure of documents (fields, types, validation rules) in a clear, declarative way.</a:t>
            </a:r>
            <a:endParaRPr lang="en-US" altLang="en-GB" sz="2800"/>
          </a:p>
          <a:p>
            <a:r>
              <a:rPr lang="en-US" altLang="en-GB" sz="2800">
                <a:solidFill>
                  <a:srgbClr val="FFFF00"/>
                </a:solidFill>
              </a:rPr>
              <a:t>Model Layer </a:t>
            </a:r>
            <a:r>
              <a:rPr lang="en-US" altLang="en-GB" sz="2800"/>
              <a:t>–wrapper for a MongoDB collection, used for CRUD</a:t>
            </a:r>
            <a:endParaRPr lang="en-US" altLang="en-GB" sz="2800"/>
          </a:p>
          <a:p>
            <a:r>
              <a:rPr lang="en-US" altLang="en-GB" sz="2800">
                <a:solidFill>
                  <a:srgbClr val="FFFF00"/>
                </a:solidFill>
              </a:rPr>
              <a:t>Async/Await</a:t>
            </a:r>
            <a:r>
              <a:rPr lang="en-US" altLang="en-GB" sz="2800"/>
              <a:t> – all operations are asynchronous (promise-based)</a:t>
            </a:r>
            <a:endParaRPr lang="en-US" altLang="en-GB" sz="2800"/>
          </a:p>
          <a:p>
            <a:r>
              <a:rPr lang="en-US" altLang="en-GB" sz="2800">
                <a:solidFill>
                  <a:srgbClr val="FFFF00"/>
                </a:solidFill>
              </a:rPr>
              <a:t>Built-in Validation </a:t>
            </a:r>
            <a:r>
              <a:rPr lang="en-US" altLang="en-GB" sz="2800"/>
              <a:t>– Enforce required fields, string lengths, numeric ranges, custom validators, etc.</a:t>
            </a:r>
            <a:endParaRPr lang="en-US" altLang="en-GB" sz="2800"/>
          </a:p>
          <a:p>
            <a:r>
              <a:rPr lang="en-US" altLang="en-GB" sz="2800">
                <a:solidFill>
                  <a:srgbClr val="FFFF00"/>
                </a:solidFill>
              </a:rPr>
              <a:t>Middleware (Hooks)</a:t>
            </a:r>
            <a:r>
              <a:rPr lang="en-US" altLang="en-GB" sz="2800"/>
              <a:t> – Execute logic before/after operations (e.g., hashing passwords before saving).</a:t>
            </a:r>
            <a:endParaRPr lang="en-US" altLang="en-GB" sz="2800"/>
          </a:p>
          <a:p>
            <a:r>
              <a:rPr lang="en-US" altLang="en-GB" sz="2800"/>
              <a:t>Enables easy querying and data relationships</a:t>
            </a:r>
            <a:endParaRPr lang="en-US" altLang="en-GB" sz="2800"/>
          </a:p>
          <a:p>
            <a:endParaRPr lang="en-US" altLang="en-GB" sz="2800"/>
          </a:p>
          <a:p>
            <a:pPr marL="0" indent="0">
              <a:buNone/>
            </a:pPr>
            <a:endParaRPr lang="en-US" altLang="en-GB" sz="280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step for use mongoose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GB" altLang="en-US" sz="2000">
                <a:latin typeface="+mn-ea"/>
                <a:cs typeface="+mn-ea"/>
              </a:rPr>
              <a:t>install mongoos </a:t>
            </a:r>
            <a:endParaRPr lang="en-GB" altLang="en-US" sz="2000">
              <a:latin typeface="+mn-ea"/>
              <a:cs typeface="+mn-ea"/>
            </a:endParaRPr>
          </a:p>
          <a:p>
            <a:pPr lvl="1"/>
            <a:r>
              <a:rPr lang="en-GB" altLang="en-US" sz="2000">
                <a:latin typeface="+mn-ea"/>
                <a:cs typeface="+mn-ea"/>
              </a:rPr>
              <a:t>npm i mongoose</a:t>
            </a:r>
            <a:endParaRPr lang="en-GB" altLang="en-US" sz="2000">
              <a:latin typeface="+mn-ea"/>
              <a:cs typeface="+mn-ea"/>
            </a:endParaRPr>
          </a:p>
          <a:p>
            <a:pPr lvl="0"/>
            <a:r>
              <a:rPr lang="en-GB" altLang="en-US" sz="2000">
                <a:latin typeface="+mn-ea"/>
                <a:cs typeface="+mn-ea"/>
              </a:rPr>
              <a:t>connect on Database </a:t>
            </a:r>
            <a:endParaRPr lang="en-GB" altLang="en-US" sz="2000">
              <a:latin typeface="+mn-ea"/>
              <a:cs typeface="+mn-ea"/>
            </a:endParaRPr>
          </a:p>
          <a:p>
            <a:pPr lvl="0"/>
            <a:endParaRPr lang="en-GB" altLang="en-US" sz="2000">
              <a:latin typeface="+mn-ea"/>
              <a:cs typeface="+mn-ea"/>
            </a:endParaRPr>
          </a:p>
          <a:p>
            <a:pPr lvl="0"/>
            <a:endParaRPr lang="en-GB" altLang="en-US" sz="2000">
              <a:latin typeface="+mn-ea"/>
              <a:cs typeface="+mn-ea"/>
            </a:endParaRPr>
          </a:p>
          <a:p>
            <a:pPr lvl="0"/>
            <a:endParaRPr lang="en-GB" altLang="en-US" sz="2000">
              <a:latin typeface="+mn-ea"/>
              <a:cs typeface="+mn-ea"/>
            </a:endParaRPr>
          </a:p>
          <a:p>
            <a:pPr lvl="0"/>
            <a:endParaRPr lang="en-GB" altLang="en-US" sz="2000">
              <a:latin typeface="+mn-ea"/>
              <a:cs typeface="+mn-ea"/>
            </a:endParaRPr>
          </a:p>
          <a:p>
            <a:pPr lvl="0"/>
            <a:endParaRPr lang="en-GB" altLang="en-US" sz="2000">
              <a:latin typeface="+mn-ea"/>
              <a:cs typeface="+mn-ea"/>
            </a:endParaRPr>
          </a:p>
          <a:p>
            <a:pPr lvl="0"/>
            <a:endParaRPr lang="en-GB" altLang="en-US" sz="2000">
              <a:latin typeface="+mn-ea"/>
              <a:cs typeface="+mn-ea"/>
            </a:endParaRPr>
          </a:p>
          <a:p>
            <a:pPr lvl="0"/>
            <a:r>
              <a:rPr lang="en-GB" altLang="en-US" sz="2000">
                <a:latin typeface="+mn-ea"/>
                <a:cs typeface="+mn-ea"/>
              </a:rPr>
              <a:t>define schema</a:t>
            </a:r>
            <a:endParaRPr lang="en-GB" altLang="en-US" sz="2000">
              <a:latin typeface="+mn-ea"/>
              <a:cs typeface="+mn-ea"/>
            </a:endParaRPr>
          </a:p>
          <a:p>
            <a:pPr lvl="0"/>
            <a:r>
              <a:rPr lang="en-GB" altLang="en-US" sz="2000">
                <a:latin typeface="+mn-ea"/>
                <a:cs typeface="+mn-ea"/>
              </a:rPr>
              <a:t>create model </a:t>
            </a:r>
            <a:endParaRPr lang="en-GB" altLang="en-US" sz="2000">
              <a:latin typeface="+mn-ea"/>
              <a:cs typeface="+mn-ea"/>
            </a:endParaRPr>
          </a:p>
        </p:txBody>
      </p:sp>
      <p:pic>
        <p:nvPicPr>
          <p:cNvPr id="4" name="Picture 3" descr="db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510" y="2708910"/>
            <a:ext cx="7138035" cy="22783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mongoose</a:t>
            </a:r>
            <a:endParaRPr lang="en-GB" altLang="en-US"/>
          </a:p>
        </p:txBody>
      </p:sp>
      <p:pic>
        <p:nvPicPr>
          <p:cNvPr id="4" name="Content Placeholder 3" descr="mongose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764790" y="1301750"/>
            <a:ext cx="6661785" cy="4873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>
                <a:solidFill>
                  <a:schemeClr val="tx2">
                    <a:lumMod val="50000"/>
                  </a:schemeClr>
                </a:solidFill>
              </a:rPr>
              <a:t>CRUD operation</a:t>
            </a:r>
            <a:endParaRPr lang="en-GB" altLang="en-US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2"/>
            </p:custDataLst>
          </p:nvPr>
        </p:nvGraphicFramePr>
        <p:xfrm>
          <a:off x="695960" y="1301750"/>
          <a:ext cx="10573385" cy="49834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65705"/>
                <a:gridCol w="8107680"/>
              </a:tblGrid>
              <a:tr h="958215">
                <a:tc>
                  <a:txBody>
                    <a:bodyPr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800"/>
                        <a:t>Operation</a:t>
                      </a:r>
                      <a:endParaRPr lang="en-US" altLang="zh-CN" sz="1800"/>
                    </a:p>
                  </a:txBody>
                  <a:tcPr marL="0" marR="122237" marT="76517" marB="765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800"/>
                        <a:t>Methods</a:t>
                      </a:r>
                      <a:endParaRPr lang="en-US" altLang="zh-CN" sz="1800"/>
                    </a:p>
                  </a:txBody>
                  <a:tcPr marL="122237" marR="122237" marT="76517" marB="76517" anchor="ctr" anchorCtr="0"/>
                </a:tc>
              </a:tr>
              <a:tr h="958850">
                <a:tc>
                  <a:txBody>
                    <a:bodyPr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800"/>
                        <a:t>Create</a:t>
                      </a:r>
                      <a:endParaRPr lang="en-US" altLang="zh-CN" sz="1800"/>
                    </a:p>
                  </a:txBody>
                  <a:tcPr marL="0" marR="122237" marT="76517" marB="765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320"/>
                        </a:lnSpc>
                      </a:pPr>
                      <a:r>
                        <a:rPr lang="en-US" altLang="zh-CN" sz="1800"/>
                        <a:t>new Model() + .save(), Model.create()</a:t>
                      </a:r>
                      <a:endParaRPr lang="en-US" altLang="zh-CN" sz="1800"/>
                    </a:p>
                  </a:txBody>
                  <a:tcPr marL="122237" marR="0" marT="76517" marB="76517" anchor="ctr" anchorCtr="0"/>
                </a:tc>
              </a:tr>
              <a:tr h="437515">
                <a:tc>
                  <a:txBody>
                    <a:bodyPr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800"/>
                        <a:t>Read</a:t>
                      </a:r>
                      <a:endParaRPr lang="en-US" altLang="zh-CN" sz="1800"/>
                    </a:p>
                  </a:txBody>
                  <a:tcPr marL="0" marR="122237" marT="76517" marB="765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320"/>
                        </a:lnSpc>
                      </a:pPr>
                      <a:r>
                        <a:rPr lang="en-US" altLang="zh-CN" sz="1800"/>
                        <a:t>find(), findOne(), findById()</a:t>
                      </a:r>
                      <a:endParaRPr lang="en-US" altLang="zh-CN" sz="1800"/>
                    </a:p>
                  </a:txBody>
                  <a:tcPr marL="122237" marR="0" marT="76517" marB="76517" anchor="ctr" anchorCtr="0"/>
                </a:tc>
              </a:tr>
              <a:tr h="992505">
                <a:tc rowSpan="2">
                  <a:txBody>
                    <a:bodyPr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800"/>
                        <a:t>Update</a:t>
                      </a:r>
                      <a:endParaRPr lang="en-US" altLang="zh-CN" sz="1800"/>
                    </a:p>
                  </a:txBody>
                  <a:tcPr marL="137160" marR="137160" marT="137160" marB="137160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320"/>
                        </a:lnSpc>
                      </a:pPr>
                      <a:r>
                        <a:rPr lang="en-US" altLang="zh-CN" sz="1800"/>
                        <a:t>updateOne(), updateMany(), findOneAndUpdate(), </a:t>
                      </a:r>
                      <a:endParaRPr lang="en-US" altLang="zh-CN" sz="1800"/>
                    </a:p>
                    <a:p>
                      <a:pPr algn="l">
                        <a:lnSpc>
                          <a:spcPts val="1320"/>
                        </a:lnSpc>
                      </a:pPr>
                      <a:endParaRPr lang="en-US" altLang="zh-CN" sz="1800"/>
                    </a:p>
                  </a:txBody>
                  <a:tcPr marL="137160" marR="137160" marT="137160" marB="137160" anchor="ctr" anchorCtr="0"/>
                </a:tc>
              </a:tr>
              <a:tr h="609600">
                <a:tc vMerge="1">
                  <a:tcPr marL="137160" marR="137160" marT="137160" marB="137160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320"/>
                        </a:lnSpc>
                        <a:buNone/>
                      </a:pPr>
                      <a:r>
                        <a:rPr lang="en-US" altLang="zh-CN" sz="1800"/>
                        <a:t>findByIdAndUpdate()</a:t>
                      </a:r>
                      <a:endParaRPr lang="en-US" altLang="zh-CN" sz="1800"/>
                    </a:p>
                    <a:p>
                      <a:pPr algn="l">
                        <a:lnSpc>
                          <a:spcPts val="1320"/>
                        </a:lnSpc>
                        <a:buNone/>
                      </a:pPr>
                      <a:endParaRPr lang="en-US" altLang="zh-CN" sz="1800"/>
                    </a:p>
                  </a:txBody>
                  <a:tcPr marL="137160" marR="137160" marT="137160" marB="137160" anchor="ctr" anchorCtr="0"/>
                </a:tc>
              </a:tr>
              <a:tr h="1026795">
                <a:tc>
                  <a:txBody>
                    <a:bodyPr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800"/>
                        <a:t>Delete</a:t>
                      </a:r>
                      <a:endParaRPr lang="en-US" altLang="zh-CN" sz="1800"/>
                    </a:p>
                  </a:txBody>
                  <a:tcPr marL="0" marR="122237" marT="76517" marB="765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320"/>
                        </a:lnSpc>
                      </a:pPr>
                      <a:r>
                        <a:rPr lang="en-US" altLang="zh-CN" sz="1800"/>
                        <a:t>deleteOne(), deleteMany(), findOneAndDelete(), findByIdAndDelete()</a:t>
                      </a:r>
                      <a:endParaRPr lang="en-US" altLang="zh-CN" sz="1800"/>
                    </a:p>
                    <a:p>
                      <a:pPr algn="l">
                        <a:lnSpc>
                          <a:spcPts val="1320"/>
                        </a:lnSpc>
                      </a:pPr>
                      <a:endParaRPr lang="en-US" altLang="zh-CN" sz="1800"/>
                    </a:p>
                    <a:p>
                      <a:pPr algn="l">
                        <a:lnSpc>
                          <a:spcPts val="1320"/>
                        </a:lnSpc>
                      </a:pPr>
                      <a:endParaRPr lang="en-US" altLang="zh-CN" sz="1800"/>
                    </a:p>
                  </a:txBody>
                  <a:tcPr marL="122237" marR="0" marT="76517" marB="76517" anchor="ctr" anchorCtr="0"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MVC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GB"/>
              <a:t>is an architectural/design pattern that separates an application into three main logical components Model, View, and Controller</a:t>
            </a:r>
            <a:endParaRPr lang="en-US" altLang="en-GB"/>
          </a:p>
          <a:p>
            <a:endParaRPr lang="en-US" altLang="en-GB"/>
          </a:p>
          <a:p>
            <a:endParaRPr lang="en-US" altLang="en-GB"/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1172210" y="2728595"/>
          <a:ext cx="9008745" cy="32778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33065"/>
                <a:gridCol w="2933065"/>
                <a:gridCol w="3142615"/>
              </a:tblGrid>
              <a:tr h="1225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Model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View</a:t>
                      </a:r>
                      <a:endParaRPr lang="en-US" altLang="en-GB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Controller</a:t>
                      </a:r>
                      <a:endParaRPr lang="en-US" altLang="en-GB"/>
                    </a:p>
                  </a:txBody>
                  <a:tcPr anchor="ctr" anchorCtr="0"/>
                </a:tc>
              </a:tr>
              <a:tr h="2052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dirty="0">
                          <a:latin typeface="+mn-ea"/>
                          <a:cs typeface="+mn-ea"/>
                          <a:sym typeface="+mn-ea"/>
                        </a:rPr>
                        <a:t>Handles </a:t>
                      </a:r>
                      <a:r>
                        <a:rPr lang="en-US" sz="1800" b="1" dirty="0">
                          <a:latin typeface="+mn-ea"/>
                          <a:cs typeface="+mn-ea"/>
                          <a:sym typeface="+mn-ea"/>
                        </a:rPr>
                        <a:t>data &amp; logic</a:t>
                      </a:r>
                      <a:r>
                        <a:rPr lang="en-US" sz="1800" dirty="0">
                          <a:latin typeface="+mn-ea"/>
                          <a:cs typeface="+mn-ea"/>
                          <a:sym typeface="+mn-ea"/>
                        </a:rPr>
                        <a:t>. Defines schemas </a:t>
                      </a:r>
                      <a:endParaRPr lang="en-US" altLang="en-GB">
                        <a:latin typeface="+mn-ea"/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Handles the presentation layer (UI).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Receives the request from routes</a:t>
                      </a:r>
                      <a:endParaRPr lang="en-US" altLang="en-GB"/>
                    </a:p>
                    <a:p>
                      <a:pPr>
                        <a:buNone/>
                      </a:pPr>
                      <a:r>
                        <a:rPr lang="en-US" altLang="en-GB"/>
                        <a:t>Processes logic</a:t>
                      </a:r>
                      <a:endParaRPr lang="en-US" altLang="en-GB"/>
                    </a:p>
                    <a:p>
                      <a:pPr>
                        <a:buNone/>
                      </a:pPr>
                      <a:r>
                        <a:rPr lang="en-US" altLang="en-GB"/>
                        <a:t>Interacts with the Model</a:t>
                      </a:r>
                      <a:endParaRPr lang="en-US" altLang="en-GB"/>
                    </a:p>
                    <a:p>
                      <a:pPr>
                        <a:buNone/>
                      </a:pPr>
                      <a:r>
                        <a:rPr lang="en-US" altLang="en-GB"/>
                        <a:t>Sends back a response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altLang="en-GB">
                <a:sym typeface="+mn-ea"/>
              </a:rPr>
              <a:t> Project </a:t>
            </a:r>
            <a:r>
              <a:rPr lang="en-GB" altLang="en-US">
                <a:sym typeface="+mn-ea"/>
              </a:rPr>
              <a:t>S</a:t>
            </a:r>
            <a:r>
              <a:rPr altLang="en-GB">
                <a:sym typeface="+mn-ea"/>
              </a:rPr>
              <a:t>tructure</a:t>
            </a:r>
            <a:endParaRPr lang="en-GB" altLang="en-US"/>
          </a:p>
        </p:txBody>
      </p:sp>
      <p:pic>
        <p:nvPicPr>
          <p:cNvPr id="4" name="Content Placeholder 3" descr="struc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09365" y="1301750"/>
            <a:ext cx="4572000" cy="4873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1796415" y="1999615"/>
            <a:ext cx="8939530" cy="1518285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GB" altLang="en-US" sz="6000"/>
              <a:t>THANK YOU</a:t>
            </a:r>
            <a:endParaRPr lang="en-GB" altLang="en-US" sz="6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57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20233457"/>
</p:tagLst>
</file>

<file path=ppt/tags/tag74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7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57_1*b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Add description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57_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Your title here"/>
</p:tagLst>
</file>

<file path=ppt/tags/tag7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汇报人：稻小壳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0.75&quot;,&quot;top&quot;:&quot;54.85&quot;,&quot;width&quot;:&quot;554.35&quot;,&quot;height&quot;:&quot;329.9&quot;}"/>
  <p:tag name="KSO_WM_SLIDE_ID" val="custom2023345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7"/>
  <p:tag name="KSO_WM_SLIDE_LAYOUT" val="a_b_f"/>
  <p:tag name="KSO_WM_SLIDE_LAYOUT_CNT" val="1_1_1"/>
  <p:tag name="KSO_WM_SLIDE_THEME_ID" val="3321307"/>
  <p:tag name="KSO_WM_SLIDE_THEME_NAME" val="Z_20233457_Green Technology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TABLE_ENDDRAG_ORIGIN_RECT" val="844*411"/>
  <p:tag name="TABLE_ENDDRAG_RECT" val="54*102*844*411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TABLE_ENDDRAG_ORIGIN_RECT" val="692*258"/>
  <p:tag name="TABLE_ENDDRAG_RECT" val="144*240*692*258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57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57_1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THANK YOU"/>
</p:tagLst>
</file>

<file path=ppt/tags/tag120.xml><?xml version="1.0" encoding="utf-8"?>
<p:tagLst xmlns:p="http://schemas.openxmlformats.org/presentationml/2006/main">
  <p:tag name="KSO_WM_SPECIAL_SOURCE" val="bdnull"/>
  <p:tag name="KSO_WM_SLIDE_CONTENT_AREA" val="{&quot;left&quot;:&quot;137.8&quot;,&quot;top&quot;:&quot;51.6&quot;,&quot;width&quot;:&quot;714.2&quot;,&quot;height&quot;:&quot;367.25&quot;}"/>
  <p:tag name="KSO_WM_SLIDE_ID" val="custom20233457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3457"/>
  <p:tag name="KSO_WM_SLIDE_LAYOUT" val="a_f"/>
  <p:tag name="KSO_WM_SLIDE_LAYOUT_CNT" val="1_1"/>
  <p:tag name="KSO_WM_SLIDE_THEME_ID" val="3321307"/>
  <p:tag name="KSO_WM_SLIDE_THEME_NAME" val="Z_20233457_Green Technolog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64">
      <a:dk1>
        <a:srgbClr val="000000"/>
      </a:dk1>
      <a:lt1>
        <a:srgbClr val="FFFFFF"/>
      </a:lt1>
      <a:dk2>
        <a:srgbClr val="003E28"/>
      </a:dk2>
      <a:lt2>
        <a:srgbClr val="ECFEF8"/>
      </a:lt2>
      <a:accent1>
        <a:srgbClr val="47FFBC"/>
      </a:accent1>
      <a:accent2>
        <a:srgbClr val="51E8C9"/>
      </a:accent2>
      <a:accent3>
        <a:srgbClr val="5AD2D6"/>
      </a:accent3>
      <a:accent4>
        <a:srgbClr val="64BBE3"/>
      </a:accent4>
      <a:accent5>
        <a:srgbClr val="6DA5F0"/>
      </a:accent5>
      <a:accent6>
        <a:srgbClr val="778EFD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5303da4859f7fb6205292a9a253e8484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14178f852c0080faadb1e3533221e417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C526766-2800-43C7-A02A-8915CE70CB81}"/>
</file>

<file path=customXml/itemProps2.xml><?xml version="1.0" encoding="utf-8"?>
<ds:datastoreItem xmlns:ds="http://schemas.openxmlformats.org/officeDocument/2006/customXml" ds:itemID="{15BDBB3B-2BF9-48A3-857C-6A8B6A02223C}"/>
</file>

<file path=customXml/itemProps3.xml><?xml version="1.0" encoding="utf-8"?>
<ds:datastoreItem xmlns:ds="http://schemas.openxmlformats.org/officeDocument/2006/customXml" ds:itemID="{F9E210B1-165A-4451-9522-808F91C058A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2451</Words>
  <Application>WPS Presentation</Application>
  <PresentationFormat/>
  <Paragraphs>149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等线</vt:lpstr>
      <vt:lpstr>Cascadia Code</vt:lpstr>
      <vt:lpstr>Lato</vt:lpstr>
      <vt:lpstr>Manrope ExtraBold</vt:lpstr>
      <vt:lpstr>Microsoft YaHei</vt:lpstr>
      <vt:lpstr>Arial Unicode MS</vt:lpstr>
      <vt:lpstr>Blackadder ITC</vt:lpstr>
      <vt:lpstr>Office Theme</vt:lpstr>
      <vt:lpstr>1_Office Theme</vt:lpstr>
      <vt:lpstr>Node js</vt:lpstr>
      <vt:lpstr>content</vt:lpstr>
      <vt:lpstr>Middleware</vt:lpstr>
      <vt:lpstr>Types of Middleware</vt:lpstr>
      <vt:lpstr>Application-level Middleware</vt:lpstr>
      <vt:lpstr>Built-in Middleware</vt:lpstr>
      <vt:lpstr>Error-handling Middleware</vt:lpstr>
      <vt:lpstr> Router-level Middleware</vt:lpstr>
      <vt:lpstr>Mongoose</vt:lpstr>
      <vt:lpstr>PowerPoint 演示文稿</vt:lpstr>
      <vt:lpstr>mongoose</vt:lpstr>
      <vt:lpstr>CRUD operation</vt:lpstr>
      <vt:lpstr>MVC</vt:lpstr>
      <vt:lpstr> Project Structure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shimaa ismail</cp:lastModifiedBy>
  <cp:revision>82</cp:revision>
  <dcterms:created xsi:type="dcterms:W3CDTF">2015-10-17T07:33:00Z</dcterms:created>
  <dcterms:modified xsi:type="dcterms:W3CDTF">2026-03-31T10:52:48Z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2057-12.2.0.23196</vt:lpwstr>
  </property>
  <property fmtid="{D5CDD505-2E9C-101B-9397-08002B2CF9AE}" pid="3" name="ICV">
    <vt:lpwstr>723201727791428DB2CB6B704128EEF3_12</vt:lpwstr>
  </property>
  <property fmtid="{D5CDD505-2E9C-101B-9397-08002B2CF9AE}" pid="4" name="ContentTypeId">
    <vt:lpwstr>0x010100E569843BE9C8A54687BECE1C962241DE</vt:lpwstr>
  </property>
</Properties>
</file>