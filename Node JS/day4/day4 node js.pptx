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16"/>
  </p:handoutMasterIdLst>
  <p:sldIdLst>
    <p:sldId id="258" r:id="rId4"/>
    <p:sldId id="294" r:id="rId6"/>
    <p:sldId id="298" r:id="rId7"/>
    <p:sldId id="295" r:id="rId8"/>
    <p:sldId id="297" r:id="rId9"/>
    <p:sldId id="299" r:id="rId10"/>
    <p:sldId id="300" r:id="rId11"/>
    <p:sldId id="301" r:id="rId12"/>
    <p:sldId id="302" r:id="rId13"/>
    <p:sldId id="303" r:id="rId14"/>
    <p:sldId id="265" r:id="rId15"/>
  </p:sldIdLst>
  <p:sldSz cx="12192000" cy="6858000"/>
  <p:notesSz cx="6858000" cy="9144000"/>
  <p:embeddedFontLst>
    <p:embeddedFont>
      <p:font typeface="Cascadia Code" panose="020B0609020000020004" charset="0"/>
      <p:regular r:id="rId20"/>
      <p:bold r:id="rId21"/>
    </p:embeddedFont>
    <p:embeddedFont>
      <p:font typeface="Lato" panose="020F0502020204030203" charset="0"/>
      <p:regular r:id="rId22"/>
    </p:embeddedFont>
    <p:embeddedFont>
      <p:font typeface="Manrope ExtraBold" charset="0"/>
      <p:bold r:id="rId23"/>
    </p:embeddedFont>
  </p:embeddedFont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A3B"/>
    <a:srgbClr val="353F4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597"/>
    <p:restoredTop sz="94619"/>
  </p:normalViewPr>
  <p:slideViewPr>
    <p:cSldViewPr snapToGrid="0" showGuides="1">
      <p:cViewPr>
        <p:scale>
          <a:sx n="100" d="100"/>
          <a:sy n="100" d="100"/>
        </p:scale>
        <p:origin x="768" y="6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8" Type="http://schemas.openxmlformats.org/officeDocument/2006/relationships/viewProps" Target="viewProps.xml"/><Relationship Id="rId13" Type="http://schemas.openxmlformats.org/officeDocument/2006/relationships/slide" Target="slides/slide9.xml"/><Relationship Id="rId26" Type="http://schemas.openxmlformats.org/officeDocument/2006/relationships/customXml" Target="../customXml/item3.xml"/><Relationship Id="rId3" Type="http://schemas.openxmlformats.org/officeDocument/2006/relationships/slideMaster" Target="slideMasters/slideMaster2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7" Type="http://schemas.openxmlformats.org/officeDocument/2006/relationships/presProps" Target="presProps.xml"/><Relationship Id="rId12" Type="http://schemas.openxmlformats.org/officeDocument/2006/relationships/slide" Target="slides/slide8.xml"/><Relationship Id="rId25" Type="http://schemas.openxmlformats.org/officeDocument/2006/relationships/customXml" Target="../customXml/item2.xml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6" Type="http://schemas.openxmlformats.org/officeDocument/2006/relationships/handoutMaster" Target="handoutMasters/handout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4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23" Type="http://schemas.openxmlformats.org/officeDocument/2006/relationships/font" Target="fonts/font4.fntdata"/><Relationship Id="rId15" Type="http://schemas.openxmlformats.org/officeDocument/2006/relationships/slide" Target="slides/slide11.xml"/><Relationship Id="rId19" Type="http://schemas.openxmlformats.org/officeDocument/2006/relationships/tableStyles" Target="tableStyles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22" Type="http://schemas.openxmlformats.org/officeDocument/2006/relationships/font" Target="fonts/font3.fntdata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C9B17E-EBA4-4BA6-BFBF-CFC4EA0BE6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146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../media/image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2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image" Target="../media/image2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Click to edit Master text style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Second level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Third level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Fourth level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Fifth level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1151890" y="1365885"/>
            <a:ext cx="6343015" cy="7969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1151890" y="2314575"/>
            <a:ext cx="9429115" cy="16478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1151890" y="4104640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70" y="2009774"/>
            <a:ext cx="8619066" cy="4848225"/>
          </a:xfrm>
          <a:prstGeom prst="rect">
            <a:avLst/>
          </a:prstGeom>
        </p:spPr>
      </p:pic>
      <p:cxnSp>
        <p:nvCxnSpPr>
          <p:cNvPr id="20" name="直接连接符 19"/>
          <p:cNvCxnSpPr/>
          <p:nvPr userDrawn="1">
            <p:custDataLst>
              <p:tags r:id="rId5"/>
            </p:custDataLst>
          </p:nvPr>
        </p:nvCxnSpPr>
        <p:spPr>
          <a:xfrm>
            <a:off x="10600690" y="1176655"/>
            <a:ext cx="9874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6"/>
            </p:custDataLst>
          </p:nvPr>
        </p:nvCxnSpPr>
        <p:spPr>
          <a:xfrm>
            <a:off x="-1270" y="1593215"/>
            <a:ext cx="12193270" cy="0"/>
          </a:xfrm>
          <a:prstGeom prst="line">
            <a:avLst/>
          </a:prstGeom>
          <a:ln w="3175">
            <a:solidFill>
              <a:schemeClr val="lt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362700" y="531495"/>
            <a:ext cx="533273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1073785" y="1535430"/>
            <a:ext cx="5628640" cy="1141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1073785" y="2767965"/>
            <a:ext cx="8561705" cy="2929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 err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330" y="234315"/>
            <a:ext cx="10968990" cy="786130"/>
          </a:xfrm>
          <a:prstGeom prst="rect">
            <a:avLst/>
          </a:prstGeom>
          <a:noFill/>
        </p:spPr>
        <p:txBody>
          <a:bodyPr wrap="square" lIns="36195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705601" y="-1"/>
            <a:ext cx="5486399" cy="30860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978337"/>
            <a:ext cx="10452735" cy="5879663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5038090" y="4172585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12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796415" y="1999615"/>
            <a:ext cx="8939530" cy="15182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2" Type="http://schemas.openxmlformats.org/officeDocument/2006/relationships/theme" Target="../theme/theme2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image" Target="../media/image3.png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 cstate="print">
            <a:alphaModFix amt="56000"/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1"/>
          <a:stretch>
            <a:fillRect/>
          </a:stretch>
        </p:blipFill>
        <p:spPr>
          <a:xfrm>
            <a:off x="1392001" y="360000"/>
            <a:ext cx="10800000" cy="6498000"/>
          </a:xfrm>
          <a:custGeom>
            <a:avLst/>
            <a:gdLst>
              <a:gd name="connsiteX0" fmla="*/ 0 w 7124699"/>
              <a:gd name="connsiteY0" fmla="*/ 0 h 4095750"/>
              <a:gd name="connsiteX1" fmla="*/ 7124699 w 7124699"/>
              <a:gd name="connsiteY1" fmla="*/ 0 h 4095750"/>
              <a:gd name="connsiteX2" fmla="*/ 7124699 w 7124699"/>
              <a:gd name="connsiteY2" fmla="*/ 4095750 h 4095750"/>
              <a:gd name="connsiteX3" fmla="*/ 0 w 7124699"/>
              <a:gd name="connsiteY3" fmla="*/ 4095750 h 409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24699" h="4095750">
                <a:moveTo>
                  <a:pt x="0" y="0"/>
                </a:moveTo>
                <a:lnTo>
                  <a:pt x="7124699" y="0"/>
                </a:lnTo>
                <a:lnTo>
                  <a:pt x="7124699" y="4095750"/>
                </a:lnTo>
                <a:lnTo>
                  <a:pt x="0" y="4095750"/>
                </a:lnTo>
                <a:close/>
              </a:path>
            </a:pathLst>
          </a:custGeom>
        </p:spPr>
      </p:pic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 txBox="1"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6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1.xml"/><Relationship Id="rId3" Type="http://schemas.openxmlformats.org/officeDocument/2006/relationships/image" Target="../media/image4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4.xml"/><Relationship Id="rId3" Type="http://schemas.openxmlformats.org/officeDocument/2006/relationships/image" Target="../media/image5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0.xml"/><Relationship Id="rId3" Type="http://schemas.openxmlformats.org/officeDocument/2006/relationships/image" Target="../media/image6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3.xml"/><Relationship Id="rId3" Type="http://schemas.openxmlformats.org/officeDocument/2006/relationships/image" Target="../media/image7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6.xml"/><Relationship Id="rId3" Type="http://schemas.openxmlformats.org/officeDocument/2006/relationships/image" Target="../media/image8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1151890" y="1365885"/>
            <a:ext cx="6343015" cy="796925"/>
          </a:xfrm>
        </p:spPr>
        <p:txBody>
          <a:bodyPr/>
          <a:p>
            <a:pPr mar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GB" altLang="zh-CN" sz="3200" dirty="0"/>
              <a:t>Day 4</a:t>
            </a:r>
            <a:endParaRPr lang="en-GB" altLang="zh-CN" sz="3200" dirty="0"/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1151890" y="2314575"/>
            <a:ext cx="9429115" cy="1647825"/>
          </a:xfrm>
        </p:spPr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4800"/>
              <a:t>Node js</a:t>
            </a:r>
            <a:endParaRPr altLang="en-US" sz="4800"/>
          </a:p>
        </p:txBody>
      </p:sp>
      <p:sp>
        <p:nvSpPr>
          <p:cNvPr id="5" name="文本占位符 5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/>
          <a:p>
            <a:r>
              <a:rPr lang="en-GB" altLang="en-US"/>
              <a:t>shimaa ismail</a:t>
            </a:r>
            <a:endParaRPr lang="en-GB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 sz="4000">
                <a:latin typeface="Cascadia Code" panose="020B0609020000020004" charset="0"/>
                <a:cs typeface="Cascadia Code" panose="020B0609020000020004" charset="0"/>
              </a:rPr>
              <a:t>content</a:t>
            </a:r>
            <a:endParaRPr lang="en-GB" altLang="en-US" sz="4000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GB" altLang="en-US"/>
          </a:p>
          <a:p>
            <a:r>
              <a:rPr lang="en-GB" altLang="en-US" sz="3200"/>
              <a:t>views</a:t>
            </a:r>
            <a:endParaRPr lang="en-GB" altLang="en-US" sz="3200"/>
          </a:p>
          <a:p>
            <a:r>
              <a:rPr lang="en-GB" altLang="en-US" sz="3200"/>
              <a:t>Template Engine</a:t>
            </a:r>
            <a:endParaRPr lang="en-GB" altLang="en-US" sz="3200"/>
          </a:p>
          <a:p>
            <a:r>
              <a:rPr lang="en-GB" altLang="en-US" sz="3200"/>
              <a:t>cors</a:t>
            </a:r>
            <a:endParaRPr lang="en-GB" altLang="en-US" sz="3200"/>
          </a:p>
          <a:p>
            <a:r>
              <a:rPr lang="en-GB" altLang="en-US" sz="3200"/>
              <a:t>serve static file</a:t>
            </a:r>
            <a:endParaRPr lang="en-GB" altLang="en-US" sz="3200"/>
          </a:p>
          <a:p>
            <a:r>
              <a:rPr lang="en-GB" altLang="en-US" sz="3200"/>
              <a:t>multer</a:t>
            </a:r>
            <a:endParaRPr lang="en-GB" altLang="en-US" sz="3200"/>
          </a:p>
          <a:p>
            <a:pPr marL="0" indent="0">
              <a:buNone/>
            </a:pPr>
            <a:endParaRPr lang="en-GB" altLang="en-US" sz="32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T</a:t>
            </a:r>
            <a:r>
              <a:rPr lang="en-US" altLang="en-GB"/>
              <a:t>emplate </a:t>
            </a:r>
            <a:r>
              <a:rPr lang="en-GB" altLang="en-US"/>
              <a:t>E</a:t>
            </a:r>
            <a:r>
              <a:rPr lang="en-US" altLang="en-GB"/>
              <a:t>ngine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/>
              <a:t> </a:t>
            </a:r>
            <a:r>
              <a:rPr lang="en-US" altLang="en-GB" sz="2400"/>
              <a:t>enables you to </a:t>
            </a:r>
            <a:r>
              <a:rPr lang="en-US" altLang="en-GB" sz="2400">
                <a:solidFill>
                  <a:srgbClr val="FFFF00"/>
                </a:solidFill>
              </a:rPr>
              <a:t>use static template files </a:t>
            </a:r>
            <a:r>
              <a:rPr lang="en-US" altLang="en-GB" sz="2400"/>
              <a:t>in your application. At runtime, the template engine </a:t>
            </a:r>
            <a:r>
              <a:rPr lang="en-US" altLang="en-GB" sz="2400">
                <a:solidFill>
                  <a:srgbClr val="FFFF00"/>
                </a:solidFill>
              </a:rPr>
              <a:t>replaces variables in a template file with actual values</a:t>
            </a:r>
            <a:r>
              <a:rPr lang="en-US" altLang="en-GB" sz="2400"/>
              <a:t>, and transforms the template into an HTML</a:t>
            </a:r>
            <a:r>
              <a:rPr lang="en-US" altLang="en-GB" sz="2400">
                <a:solidFill>
                  <a:srgbClr val="FFFF00"/>
                </a:solidFill>
              </a:rPr>
              <a:t> file sent to the client</a:t>
            </a:r>
            <a:r>
              <a:rPr lang="en-US" altLang="en-GB" sz="2400"/>
              <a:t>. This approach makes it easier to design an HTML page.</a:t>
            </a:r>
            <a:endParaRPr lang="en-US" altLang="en-GB" sz="2400"/>
          </a:p>
          <a:p>
            <a:endParaRPr lang="en-US" altLang="en-GB" sz="2400"/>
          </a:p>
          <a:p>
            <a:endParaRPr lang="en-US" altLang="en-GB" sz="2400"/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853440" y="3086100"/>
          <a:ext cx="10393680" cy="1947545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236595"/>
                <a:gridCol w="4038600"/>
                <a:gridCol w="3118485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en-GB" sz="2000"/>
                        <a:t>EJS</a:t>
                      </a:r>
                      <a:endParaRPr lang="en-US" altLang="en-GB" sz="2000"/>
                    </a:p>
                    <a:p>
                      <a:pPr algn="ctr">
                        <a:lnSpc>
                          <a:spcPts val="1500"/>
                        </a:lnSpc>
                      </a:pPr>
                      <a:endParaRPr lang="en-US" altLang="en-GB" sz="2000"/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GB" altLang="en-US" sz="2000"/>
                        <a:t>pug</a:t>
                      </a:r>
                      <a:endParaRPr lang="en-GB" altLang="en-US" sz="2000"/>
                    </a:p>
                  </a:txBody>
                  <a:tcPr marL="122237" marR="122237" marT="76517" marB="76517" anchor="ctr" anchorCtr="0"/>
                </a:tc>
                <a:tc>
                  <a:txBody>
                    <a:bodyPr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en-GB" sz="2000"/>
                        <a:t>handlebars</a:t>
                      </a:r>
                      <a:endParaRPr lang="en-US" altLang="en-GB" sz="2000"/>
                    </a:p>
                  </a:txBody>
                  <a:tcPr marL="122237" marR="122237" marT="76517" marB="76517" anchor="ctr" anchorCtr="0"/>
                </a:tc>
              </a:tr>
              <a:tr h="102489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2000">
                          <a:sym typeface="+mn-ea"/>
                        </a:rPr>
                        <a:t>HTML-like with &lt;% %&gt; tags</a:t>
                      </a:r>
                      <a:endParaRPr lang="en-US" altLang="zh-CN" sz="2000">
                        <a:sym typeface="+mn-ea"/>
                      </a:endParaRPr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en-GB" sz="2000"/>
                        <a:t>Indentation-based, no closing tags</a:t>
                      </a:r>
                      <a:endParaRPr lang="en-US" altLang="en-GB" sz="2000"/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altLang="en-GB" sz="2000"/>
                    </a:p>
                  </a:txBody>
                  <a:tcPr marL="122237" marR="122237" marT="76517" marB="76517" anchor="ctr" anchorCtr="0"/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en-GB" sz="2000"/>
                        <a:t>&lt;h1&gt;{{title}}&lt;/h1&gt;</a:t>
                      </a:r>
                      <a:endParaRPr lang="en-US" altLang="en-GB" sz="2000"/>
                    </a:p>
                  </a:txBody>
                  <a:tcPr marL="122237" marR="0" marT="76517" marB="76517" anchor="ctr" anchorCtr="0"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CORS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 sz="2400"/>
              <a:t>CORS </a:t>
            </a:r>
            <a:r>
              <a:rPr lang="en-US" altLang="en-GB" sz="2400">
                <a:solidFill>
                  <a:srgbClr val="FFFF00"/>
                </a:solidFill>
              </a:rPr>
              <a:t>(Cross-Origin Resource Sharing)</a:t>
            </a:r>
            <a:r>
              <a:rPr lang="en-US" altLang="en-GB" sz="2400"/>
              <a:t> is a security </a:t>
            </a:r>
            <a:r>
              <a:rPr lang="en-US" altLang="en-GB" sz="2400">
                <a:solidFill>
                  <a:srgbClr val="FFFF00"/>
                </a:solidFill>
              </a:rPr>
              <a:t>mechanism that blocks web pages from making requests to a different origin (domain, protocol, or port)</a:t>
            </a:r>
            <a:r>
              <a:rPr lang="en-US" altLang="en-GB" sz="2400"/>
              <a:t> than the one that served the page</a:t>
            </a:r>
            <a:endParaRPr lang="en-US" altLang="en-GB" sz="2400"/>
          </a:p>
          <a:p>
            <a:endParaRPr lang="en-US" altLang="en-GB" sz="2400"/>
          </a:p>
          <a:p>
            <a:r>
              <a:rPr lang="en-US" altLang="en-GB" sz="2400"/>
              <a:t>Common Scenario</a:t>
            </a:r>
            <a:endParaRPr lang="en-US" altLang="en-GB" sz="2400"/>
          </a:p>
          <a:p>
            <a:pPr lvl="1"/>
            <a:r>
              <a:rPr lang="en-US" altLang="en-GB" sz="2130">
                <a:solidFill>
                  <a:srgbClr val="FFFF00"/>
                </a:solidFill>
              </a:rPr>
              <a:t>Frontend: http://localhost:3000</a:t>
            </a:r>
            <a:endParaRPr lang="en-US" altLang="en-GB" sz="2130">
              <a:solidFill>
                <a:srgbClr val="FFFF00"/>
              </a:solidFill>
            </a:endParaRPr>
          </a:p>
          <a:p>
            <a:pPr lvl="1"/>
            <a:r>
              <a:rPr lang="en-US" altLang="en-GB" sz="2130">
                <a:solidFill>
                  <a:srgbClr val="FFFF00"/>
                </a:solidFill>
              </a:rPr>
              <a:t>Backend API: http://localhost:5000</a:t>
            </a:r>
            <a:endParaRPr lang="en-US" altLang="en-GB" sz="2130">
              <a:solidFill>
                <a:srgbClr val="FFFF00"/>
              </a:solidFill>
            </a:endParaRPr>
          </a:p>
          <a:p>
            <a:pPr marL="457200" lvl="1" indent="0">
              <a:buNone/>
            </a:pPr>
            <a:endParaRPr lang="en-US" altLang="en-GB" sz="2130">
              <a:solidFill>
                <a:srgbClr val="FFFF00"/>
              </a:solidFill>
            </a:endParaRPr>
          </a:p>
          <a:p>
            <a:r>
              <a:rPr lang="en-US" altLang="en-GB" sz="2400"/>
              <a:t>When your frontend tries to call the backend, the browser blocks it with a CORS error.</a:t>
            </a:r>
            <a:endParaRPr lang="en-US" altLang="en-GB" sz="24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altLang="en-GB">
                <a:latin typeface="+mn-ea"/>
                <a:cs typeface="+mn-ea"/>
                <a:sym typeface="+mn-ea"/>
              </a:rPr>
              <a:t>Enable Cross-Origin Resource Sharing</a:t>
            </a:r>
            <a:r>
              <a:rPr lang="en-GB" altLang="en-US">
                <a:sym typeface="+mn-ea"/>
              </a:rPr>
              <a:t> </a:t>
            </a:r>
            <a:endParaRPr lang="en-GB" altLang="en-US"/>
          </a:p>
        </p:txBody>
      </p:sp>
      <p:sp>
        <p:nvSpPr>
          <p:cNvPr id="3" name="Content Placeholder 2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GB" altLang="en-US"/>
          </a:p>
          <a:p>
            <a:pPr marL="0" indent="0">
              <a:buNone/>
            </a:pPr>
            <a:r>
              <a:rPr lang="en-GB" altLang="en-US" sz="2800"/>
              <a:t> install cors</a:t>
            </a:r>
            <a:endParaRPr lang="en-GB" altLang="en-US" sz="2800"/>
          </a:p>
          <a:p>
            <a:pPr lvl="1"/>
            <a:r>
              <a:rPr lang="en-GB" altLang="en-US" sz="2840">
                <a:solidFill>
                  <a:srgbClr val="FFFF00"/>
                </a:solidFill>
              </a:rPr>
              <a:t>npm i cors</a:t>
            </a:r>
            <a:endParaRPr lang="en-GB" altLang="en-US" sz="2840">
              <a:solidFill>
                <a:srgbClr val="FFFF00"/>
              </a:solidFill>
            </a:endParaRPr>
          </a:p>
          <a:p>
            <a:br>
              <a:rPr lang="en-US" altLang="en-GB"/>
            </a:br>
            <a:br>
              <a:rPr lang="en-US" altLang="en-GB"/>
            </a:br>
            <a:endParaRPr lang="en-US" altLang="en-GB"/>
          </a:p>
        </p:txBody>
      </p:sp>
      <p:pic>
        <p:nvPicPr>
          <p:cNvPr id="5" name="Picture 4" descr="cors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640" y="1420495"/>
            <a:ext cx="5491480" cy="51257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serve static file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 sz="2800"/>
              <a:t>ExpressJS provides </a:t>
            </a:r>
            <a:r>
              <a:rPr lang="en-US" altLang="en-GB" sz="2800">
                <a:solidFill>
                  <a:srgbClr val="FFFF00"/>
                </a:solidFill>
              </a:rPr>
              <a:t>built-in middleware</a:t>
            </a:r>
            <a:r>
              <a:rPr lang="en-GB" altLang="en-US" sz="2800"/>
              <a:t> to </a:t>
            </a:r>
            <a:r>
              <a:rPr lang="en-US" altLang="en-GB" sz="2800">
                <a:solidFill>
                  <a:srgbClr val="FFFF00"/>
                </a:solidFill>
              </a:rPr>
              <a:t>serve static assets</a:t>
            </a:r>
            <a:r>
              <a:rPr lang="en-US" altLang="en-GB" sz="2800"/>
              <a:t> efficiently, making it easy to </a:t>
            </a:r>
            <a:r>
              <a:rPr lang="en-US" altLang="en-GB" sz="2800">
                <a:solidFill>
                  <a:srgbClr val="FFFF00"/>
                </a:solidFill>
              </a:rPr>
              <a:t>deliver files like HTML, CSS, JavaScript, and images to clients.</a:t>
            </a:r>
            <a:endParaRPr lang="en-US" altLang="en-GB" sz="2800">
              <a:solidFill>
                <a:srgbClr val="FFFF00"/>
              </a:solidFill>
            </a:endParaRPr>
          </a:p>
          <a:p>
            <a:endParaRPr lang="en-US" altLang="en-GB" sz="2400"/>
          </a:p>
          <a:p>
            <a:r>
              <a:rPr lang="en-GB" altLang="en-US" sz="2400">
                <a:solidFill>
                  <a:srgbClr val="FFFF00"/>
                </a:solidFill>
              </a:rPr>
              <a:t>http://localhost:3000/images/imgName || file name</a:t>
            </a:r>
            <a:endParaRPr lang="en-GB" altLang="en-US" sz="2400">
              <a:solidFill>
                <a:srgbClr val="FFFF00"/>
              </a:solidFill>
            </a:endParaRPr>
          </a:p>
        </p:txBody>
      </p:sp>
      <p:pic>
        <p:nvPicPr>
          <p:cNvPr id="4" name="Picture 3" descr="stat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245" y="3658235"/>
            <a:ext cx="7204710" cy="22161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Multer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GB" sz="2400"/>
              <a:t>Multer is an npm package commonly used in Node.js applications for </a:t>
            </a:r>
            <a:r>
              <a:rPr lang="en-US" altLang="en-GB" sz="2400">
                <a:solidFill>
                  <a:srgbClr val="FFFF00"/>
                </a:solidFill>
              </a:rPr>
              <a:t>handling  file uploads.</a:t>
            </a:r>
            <a:endParaRPr lang="en-US" altLang="en-GB" sz="2400">
              <a:solidFill>
                <a:srgbClr val="FFFF00"/>
              </a:solidFill>
            </a:endParaRPr>
          </a:p>
          <a:p>
            <a:endParaRPr lang="en-US" altLang="en-GB" sz="2400">
              <a:solidFill>
                <a:srgbClr val="FFFF00"/>
              </a:solidFill>
            </a:endParaRPr>
          </a:p>
          <a:p>
            <a:r>
              <a:rPr lang="en-US" altLang="en-GB" sz="2400"/>
              <a:t>Features of npm multer</a:t>
            </a:r>
            <a:r>
              <a:rPr lang="en-GB" altLang="en-US" sz="2400"/>
              <a:t> ::</a:t>
            </a:r>
            <a:endParaRPr lang="en-US" altLang="en-GB" sz="2400"/>
          </a:p>
          <a:p>
            <a:pPr lvl="1"/>
            <a:r>
              <a:rPr lang="en-US" altLang="en-GB" sz="2130"/>
              <a:t>File Uploads: Allows uploading files from client-side forms to the server.</a:t>
            </a:r>
            <a:endParaRPr lang="en-US" altLang="en-GB" sz="2130"/>
          </a:p>
          <a:p>
            <a:pPr lvl="1"/>
            <a:r>
              <a:rPr lang="en-US" altLang="en-GB" sz="2130"/>
              <a:t>Middleware: Integrates seamlessly with Express.js middleware, making it easy to handle file uploads within routes.</a:t>
            </a:r>
            <a:endParaRPr lang="en-US" altLang="en-GB" sz="2130"/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r>
              <a:rPr lang="en-US" altLang="en-GB"/>
              <a:t>npm install multer</a:t>
            </a:r>
            <a:endParaRPr lang="en-US" altLang="en-GB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multer config</a:t>
            </a:r>
            <a:endParaRPr lang="en-GB" altLang="en-US"/>
          </a:p>
        </p:txBody>
      </p:sp>
      <p:pic>
        <p:nvPicPr>
          <p:cNvPr id="4" name="Content Placeholder 3" descr="multer1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74875" y="1301750"/>
            <a:ext cx="7367905" cy="4873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uploadRoute</a:t>
            </a:r>
            <a:endParaRPr lang="en-GB" altLang="en-US"/>
          </a:p>
        </p:txBody>
      </p:sp>
      <p:pic>
        <p:nvPicPr>
          <p:cNvPr id="4" name="Content Placeholder 3" descr="multer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6180" y="1191895"/>
            <a:ext cx="9526905" cy="4873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server.js</a:t>
            </a:r>
            <a:endParaRPr lang="en-GB" altLang="en-US"/>
          </a:p>
        </p:txBody>
      </p:sp>
      <p:pic>
        <p:nvPicPr>
          <p:cNvPr id="4" name="Content Placeholder 3" descr="multer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8540" y="1804670"/>
            <a:ext cx="10153650" cy="38671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1796415" y="1999615"/>
            <a:ext cx="8939530" cy="1518285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GB" altLang="en-US" sz="6000"/>
              <a:t>THANK YOU</a:t>
            </a:r>
            <a:endParaRPr lang="en-GB" altLang="en-US" sz="6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57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20233457"/>
</p:tagLst>
</file>

<file path=ppt/tags/tag74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7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57_1*b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Add description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57_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Your title here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汇报人：稻小壳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0.75&quot;,&quot;top&quot;:&quot;54.85&quot;,&quot;width&quot;:&quot;554.35&quot;,&quot;height&quot;:&quot;329.9&quot;}"/>
  <p:tag name="KSO_WM_SLIDE_ID" val="custom2023345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7"/>
  <p:tag name="KSO_WM_SLIDE_LAYOUT" val="a_b_f"/>
  <p:tag name="KSO_WM_SLIDE_LAYOUT_CNT" val="1_1_1"/>
  <p:tag name="KSO_WM_SLIDE_THEME_ID" val="3321307"/>
  <p:tag name="KSO_WM_SLIDE_THEME_NAME" val="Z_20233457_Green Technology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TABLE_ENDDRAG_ORIGIN_RECT" val="818*153"/>
  <p:tag name="TABLE_ENDDRAG_RECT" val="67*243*818*153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57_1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THANK YOU"/>
</p:tagLst>
</file>

<file path=ppt/tags/tag108.xml><?xml version="1.0" encoding="utf-8"?>
<p:tagLst xmlns:p="http://schemas.openxmlformats.org/presentationml/2006/main">
  <p:tag name="KSO_WM_SPECIAL_SOURCE" val="bdnull"/>
  <p:tag name="KSO_WM_SLIDE_CONTENT_AREA" val="{&quot;left&quot;:&quot;137.8&quot;,&quot;top&quot;:&quot;51.6&quot;,&quot;width&quot;:&quot;714.2&quot;,&quot;height&quot;:&quot;367.25&quot;}"/>
  <p:tag name="KSO_WM_SLIDE_ID" val="custom20233457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3457"/>
  <p:tag name="KSO_WM_SLIDE_LAYOUT" val="a_f"/>
  <p:tag name="KSO_WM_SLIDE_LAYOUT_CNT" val="1_1"/>
  <p:tag name="KSO_WM_SLIDE_THEME_ID" val="3321307"/>
  <p:tag name="KSO_WM_SLIDE_THEME_NAME" val="Z_20233457_Green Technolog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4">
      <a:dk1>
        <a:srgbClr val="000000"/>
      </a:dk1>
      <a:lt1>
        <a:srgbClr val="FFFFFF"/>
      </a:lt1>
      <a:dk2>
        <a:srgbClr val="003E28"/>
      </a:dk2>
      <a:lt2>
        <a:srgbClr val="ECFEF8"/>
      </a:lt2>
      <a:accent1>
        <a:srgbClr val="47FFBC"/>
      </a:accent1>
      <a:accent2>
        <a:srgbClr val="51E8C9"/>
      </a:accent2>
      <a:accent3>
        <a:srgbClr val="5AD2D6"/>
      </a:accent3>
      <a:accent4>
        <a:srgbClr val="64BBE3"/>
      </a:accent4>
      <a:accent5>
        <a:srgbClr val="6DA5F0"/>
      </a:accent5>
      <a:accent6>
        <a:srgbClr val="778EFD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5303da4859f7fb6205292a9a253e8484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14178f852c0080faadb1e3533221e417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CC038EB-3F3D-41AF-BF4A-CB87248F645F}"/>
</file>

<file path=customXml/itemProps2.xml><?xml version="1.0" encoding="utf-8"?>
<ds:datastoreItem xmlns:ds="http://schemas.openxmlformats.org/officeDocument/2006/customXml" ds:itemID="{3D4B3F39-12B8-4763-899F-7ED78DD76716}"/>
</file>

<file path=customXml/itemProps3.xml><?xml version="1.0" encoding="utf-8"?>
<ds:datastoreItem xmlns:ds="http://schemas.openxmlformats.org/officeDocument/2006/customXml" ds:itemID="{410F2FF6-7825-48FA-BC24-291F9C582BF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</Words>
  <Application>WPS Presentation</Application>
  <PresentationFormat/>
  <Paragraphs>77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等线</vt:lpstr>
      <vt:lpstr>Cascadia Code</vt:lpstr>
      <vt:lpstr>Lato</vt:lpstr>
      <vt:lpstr>Manrope ExtraBold</vt:lpstr>
      <vt:lpstr>Microsoft YaHei</vt:lpstr>
      <vt:lpstr>Arial Unicode MS</vt:lpstr>
      <vt:lpstr>Office Theme</vt:lpstr>
      <vt:lpstr>1_Office Theme</vt:lpstr>
      <vt:lpstr>Node js</vt:lpstr>
      <vt:lpstr>content</vt:lpstr>
      <vt:lpstr>Template Engine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shimaa ismail</cp:lastModifiedBy>
  <cp:revision>80</cp:revision>
  <dcterms:created xsi:type="dcterms:W3CDTF">2015-10-17T07:33:00Z</dcterms:created>
  <dcterms:modified xsi:type="dcterms:W3CDTF">2026-04-01T11:44:31Z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2057-12.2.0.23196</vt:lpwstr>
  </property>
  <property fmtid="{D5CDD505-2E9C-101B-9397-08002B2CF9AE}" pid="3" name="ICV">
    <vt:lpwstr>723201727791428DB2CB6B704128EEF3_12</vt:lpwstr>
  </property>
  <property fmtid="{D5CDD505-2E9C-101B-9397-08002B2CF9AE}" pid="4" name="ContentTypeId">
    <vt:lpwstr>0x010100E569843BE9C8A54687BECE1C962241DE</vt:lpwstr>
  </property>
</Properties>
</file>