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2" r:id="rId2"/>
    <p:sldId id="279" r:id="rId3"/>
    <p:sldId id="257" r:id="rId4"/>
    <p:sldId id="258" r:id="rId5"/>
    <p:sldId id="259" r:id="rId6"/>
    <p:sldId id="260" r:id="rId7"/>
    <p:sldId id="280" r:id="rId8"/>
    <p:sldId id="298" r:id="rId9"/>
    <p:sldId id="300" r:id="rId10"/>
    <p:sldId id="301" r:id="rId11"/>
    <p:sldId id="302" r:id="rId12"/>
    <p:sldId id="303" r:id="rId13"/>
    <p:sldId id="299" r:id="rId14"/>
    <p:sldId id="304" r:id="rId15"/>
    <p:sldId id="305" r:id="rId16"/>
    <p:sldId id="281" r:id="rId17"/>
    <p:sldId id="261" r:id="rId18"/>
    <p:sldId id="297" r:id="rId19"/>
    <p:sldId id="27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9034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4037136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135FAE-47C0-4BC8-935F-45FDBB12D6AD}"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5202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135FAE-47C0-4BC8-935F-45FDBB12D6AD}"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2008598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135FAE-47C0-4BC8-935F-45FDBB12D6AD}" type="datetimeFigureOut">
              <a:rPr lang="en-US" smtClean="0"/>
              <a:t>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2359936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135FAE-47C0-4BC8-935F-45FDBB12D6AD}" type="datetimeFigureOut">
              <a:rPr lang="en-US" smtClean="0"/>
              <a:t>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221853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0135FAE-47C0-4BC8-935F-45FDBB12D6AD}" type="datetimeFigureOut">
              <a:rPr lang="en-US" smtClean="0"/>
              <a:t>2/8/2026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590228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0135FAE-47C0-4BC8-935F-45FDBB12D6AD}" type="datetimeFigureOut">
              <a:rPr lang="en-US" smtClean="0"/>
              <a:t>2/8/2026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D412674-96B2-4886-8558-ED5FB3F6CE70}" type="slidenum">
              <a:rPr lang="en-US" smtClean="0"/>
              <a:t>‹#›</a:t>
            </a:fld>
            <a:endParaRPr lang="en-US"/>
          </a:p>
        </p:txBody>
      </p:sp>
    </p:spTree>
    <p:extLst>
      <p:ext uri="{BB962C8B-B14F-4D97-AF65-F5344CB8AC3E}">
        <p14:creationId xmlns:p14="http://schemas.microsoft.com/office/powerpoint/2010/main" val="1680242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135FAE-47C0-4BC8-935F-45FDBB12D6AD}"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3011090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2360809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50729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0135FAE-47C0-4BC8-935F-45FDBB12D6AD}" type="datetimeFigureOut">
              <a:rPr lang="en-US" smtClean="0"/>
              <a:t>2/8/2026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D412674-96B2-4886-8558-ED5FB3F6CE70}"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56446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speckyboy.com/getting-started-css-flexbox/"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a:xfrm>
            <a:off x="769175" y="1680348"/>
            <a:ext cx="5125722" cy="2413220"/>
          </a:xfrm>
        </p:spPr>
        <p:txBody>
          <a:bodyPr/>
          <a:lstStyle/>
          <a:p>
            <a:r>
              <a:rPr lang="en-US" dirty="0">
                <a:latin typeface="Aptos Display" panose="020B0004020202020204" pitchFamily="34" charset="0"/>
              </a:rPr>
              <a:t>Responsive Web Design</a:t>
            </a:r>
          </a:p>
        </p:txBody>
      </p:sp>
      <p:sp>
        <p:nvSpPr>
          <p:cNvPr id="3" name="Subtitle 2">
            <a:extLst>
              <a:ext uri="{FF2B5EF4-FFF2-40B4-BE49-F238E27FC236}">
                <a16:creationId xmlns:a16="http://schemas.microsoft.com/office/drawing/2014/main" id="{D2AE19C9-1B2B-4E7A-BCA9-FB1BB13632EE}"/>
              </a:ext>
            </a:extLst>
          </p:cNvPr>
          <p:cNvSpPr>
            <a:spLocks noGrp="1"/>
          </p:cNvSpPr>
          <p:nvPr>
            <p:ph type="subTitle" idx="1"/>
          </p:nvPr>
        </p:nvSpPr>
        <p:spPr>
          <a:xfrm>
            <a:off x="769175" y="4757279"/>
            <a:ext cx="3679338" cy="1143000"/>
          </a:xfrm>
        </p:spPr>
        <p:txBody>
          <a:bodyPr/>
          <a:lstStyle/>
          <a:p>
            <a:r>
              <a:rPr lang="en-US" b="1" dirty="0" err="1">
                <a:solidFill>
                  <a:schemeClr val="accent1">
                    <a:lumMod val="75000"/>
                  </a:schemeClr>
                </a:solidFill>
                <a:latin typeface="Forte" panose="03060902040502070203" pitchFamily="66" charset="0"/>
              </a:rPr>
              <a:t>Eng</a:t>
            </a:r>
            <a:r>
              <a:rPr lang="en-US" b="1" dirty="0">
                <a:solidFill>
                  <a:schemeClr val="accent1">
                    <a:lumMod val="75000"/>
                  </a:schemeClr>
                </a:solidFill>
                <a:latin typeface="Forte" panose="03060902040502070203" pitchFamily="66" charset="0"/>
              </a:rPr>
              <a:t>/</a:t>
            </a:r>
            <a:r>
              <a:rPr lang="en-US" b="1" dirty="0" err="1">
                <a:solidFill>
                  <a:schemeClr val="accent1">
                    <a:lumMod val="75000"/>
                  </a:schemeClr>
                </a:solidFill>
                <a:latin typeface="Forte" panose="03060902040502070203" pitchFamily="66" charset="0"/>
              </a:rPr>
              <a:t>Ryhab</a:t>
            </a:r>
            <a:r>
              <a:rPr lang="en-US" b="1" dirty="0">
                <a:solidFill>
                  <a:schemeClr val="accent1">
                    <a:lumMod val="75000"/>
                  </a:schemeClr>
                </a:solidFill>
                <a:latin typeface="Forte" panose="03060902040502070203" pitchFamily="66" charset="0"/>
              </a:rPr>
              <a:t> </a:t>
            </a:r>
            <a:r>
              <a:rPr lang="en-US" b="1" dirty="0" err="1">
                <a:solidFill>
                  <a:schemeClr val="accent1">
                    <a:lumMod val="75000"/>
                  </a:schemeClr>
                </a:solidFill>
                <a:latin typeface="Forte" panose="03060902040502070203" pitchFamily="66" charset="0"/>
              </a:rPr>
              <a:t>farouq</a:t>
            </a:r>
            <a:endParaRPr lang="en-US" b="1" dirty="0">
              <a:solidFill>
                <a:schemeClr val="accent1">
                  <a:lumMod val="75000"/>
                </a:schemeClr>
              </a:solidFill>
              <a:latin typeface="Forte" panose="03060902040502070203" pitchFamily="66" charset="0"/>
            </a:endParaRPr>
          </a:p>
        </p:txBody>
      </p:sp>
      <p:pic>
        <p:nvPicPr>
          <p:cNvPr id="2052" name="Picture 4" descr="Principles of Responsive Web Design and its Impact on UX">
            <a:extLst>
              <a:ext uri="{FF2B5EF4-FFF2-40B4-BE49-F238E27FC236}">
                <a16:creationId xmlns:a16="http://schemas.microsoft.com/office/drawing/2014/main" id="{299FBA11-1950-4F20-E270-F1CDFADD12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7104" y="0"/>
            <a:ext cx="5894895" cy="63630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6256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dirty="0"/>
              <a:t>Grid System</a:t>
            </a:r>
          </a:p>
        </p:txBody>
      </p:sp>
    </p:spTree>
    <p:extLst>
      <p:ext uri="{BB962C8B-B14F-4D97-AF65-F5344CB8AC3E}">
        <p14:creationId xmlns:p14="http://schemas.microsoft.com/office/powerpoint/2010/main" val="2513449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47CC-A4C2-4CFE-B3B0-1C4C08319F23}"/>
              </a:ext>
            </a:extLst>
          </p:cNvPr>
          <p:cNvSpPr>
            <a:spLocks noGrp="1"/>
          </p:cNvSpPr>
          <p:nvPr>
            <p:ph type="title"/>
          </p:nvPr>
        </p:nvSpPr>
        <p:spPr/>
        <p:txBody>
          <a:bodyPr/>
          <a:lstStyle/>
          <a:p>
            <a:r>
              <a:rPr lang="en-US" dirty="0"/>
              <a:t>Grid System CSS</a:t>
            </a:r>
          </a:p>
        </p:txBody>
      </p:sp>
      <p:sp>
        <p:nvSpPr>
          <p:cNvPr id="3" name="Content Placeholder 2">
            <a:extLst>
              <a:ext uri="{FF2B5EF4-FFF2-40B4-BE49-F238E27FC236}">
                <a16:creationId xmlns:a16="http://schemas.microsoft.com/office/drawing/2014/main" id="{18A56360-8745-4178-815D-A3C9EB562C0B}"/>
              </a:ext>
            </a:extLst>
          </p:cNvPr>
          <p:cNvSpPr>
            <a:spLocks noGrp="1"/>
          </p:cNvSpPr>
          <p:nvPr>
            <p:ph idx="1"/>
          </p:nvPr>
        </p:nvSpPr>
        <p:spPr/>
        <p:txBody>
          <a:bodyPr/>
          <a:lstStyle/>
          <a:p>
            <a:r>
              <a:rPr lang="en-US" sz="2400" dirty="0"/>
              <a:t>Two dimensional layout model .</a:t>
            </a:r>
          </a:p>
          <a:p>
            <a:r>
              <a:rPr lang="en-US" sz="2000" b="0" i="0" dirty="0">
                <a:solidFill>
                  <a:srgbClr val="454545"/>
                </a:solidFill>
                <a:effectLst/>
                <a:latin typeface="nunito" panose="020B0604020202020204" pitchFamily="2" charset="0"/>
              </a:rPr>
              <a:t>CSS Grid will allow you to manage layout according to both </a:t>
            </a:r>
            <a:r>
              <a:rPr lang="en-US" sz="2000" b="0" i="1" dirty="0">
                <a:solidFill>
                  <a:srgbClr val="454545"/>
                </a:solidFill>
                <a:effectLst/>
                <a:latin typeface="nunito" panose="020B0604020202020204" pitchFamily="2" charset="0"/>
              </a:rPr>
              <a:t>columns</a:t>
            </a:r>
            <a:r>
              <a:rPr lang="en-US" sz="2000" b="0" i="0" dirty="0">
                <a:solidFill>
                  <a:srgbClr val="454545"/>
                </a:solidFill>
                <a:effectLst/>
                <a:latin typeface="nunito" panose="020B0604020202020204" pitchFamily="2" charset="0"/>
              </a:rPr>
              <a:t> and </a:t>
            </a:r>
            <a:r>
              <a:rPr lang="en-US" sz="2000" b="0" i="1" dirty="0">
                <a:solidFill>
                  <a:srgbClr val="454545"/>
                </a:solidFill>
                <a:effectLst/>
                <a:latin typeface="nunito" panose="020B0604020202020204" pitchFamily="2" charset="0"/>
              </a:rPr>
              <a:t>rows</a:t>
            </a:r>
            <a:r>
              <a:rPr lang="en-US" sz="2000" b="0" i="0" dirty="0">
                <a:solidFill>
                  <a:srgbClr val="454545"/>
                </a:solidFill>
                <a:effectLst/>
                <a:latin typeface="nunito" panose="020B0604020202020204" pitchFamily="2" charset="0"/>
              </a:rPr>
              <a:t>.</a:t>
            </a:r>
            <a:endParaRPr lang="en-US" sz="2400" b="0" i="0" dirty="0">
              <a:solidFill>
                <a:srgbClr val="454545"/>
              </a:solidFill>
              <a:effectLst/>
              <a:latin typeface="nunito" panose="020B0604020202020204" pitchFamily="2" charset="0"/>
            </a:endParaRPr>
          </a:p>
          <a:p>
            <a:r>
              <a:rPr lang="en-US" sz="2000" b="1" i="0" u="none" strike="noStrike" dirty="0">
                <a:solidFill>
                  <a:schemeClr val="accent2">
                    <a:lumMod val="75000"/>
                  </a:schemeClr>
                </a:solidFill>
                <a:effectLst/>
                <a:latin typeface="nunito" pitchFamily="2" charset="0"/>
                <a:hlinkClick r:id="rId2">
                  <a:extLst>
                    <a:ext uri="{A12FA001-AC4F-418D-AE19-62706E023703}">
                      <ahyp:hlinkClr xmlns:ahyp="http://schemas.microsoft.com/office/drawing/2018/hyperlinkcolor" val="tx"/>
                    </a:ext>
                  </a:extLst>
                </a:hlinkClick>
              </a:rPr>
              <a:t>Flexbox</a:t>
            </a:r>
            <a:r>
              <a:rPr lang="en-US" sz="2000" b="0" i="0" dirty="0">
                <a:solidFill>
                  <a:srgbClr val="454545"/>
                </a:solidFill>
                <a:effectLst/>
                <a:latin typeface="nunito" pitchFamily="2" charset="0"/>
              </a:rPr>
              <a:t>, by comparison, is really just meant for columns (1-D, if you will). Using CSS Grid, designers will be able to achieve layouts that were downright difficult before. In fact, some of these things were on our wish lists since the days of table-based layouts.</a:t>
            </a:r>
            <a:endParaRPr lang="en-US" sz="2400" dirty="0"/>
          </a:p>
        </p:txBody>
      </p:sp>
    </p:spTree>
    <p:extLst>
      <p:ext uri="{BB962C8B-B14F-4D97-AF65-F5344CB8AC3E}">
        <p14:creationId xmlns:p14="http://schemas.microsoft.com/office/powerpoint/2010/main" val="1291721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89660-D79C-48F0-AF78-207DF3E1D093}"/>
              </a:ext>
            </a:extLst>
          </p:cNvPr>
          <p:cNvSpPr>
            <a:spLocks noGrp="1"/>
          </p:cNvSpPr>
          <p:nvPr>
            <p:ph type="title"/>
          </p:nvPr>
        </p:nvSpPr>
        <p:spPr/>
        <p:txBody>
          <a:bodyPr/>
          <a:lstStyle/>
          <a:p>
            <a:r>
              <a:rPr lang="en-US" dirty="0"/>
              <a:t>2-D Layout</a:t>
            </a:r>
          </a:p>
        </p:txBody>
      </p:sp>
      <p:pic>
        <p:nvPicPr>
          <p:cNvPr id="2050" name="Picture 2" descr="A Guide to CSS Grid: Mastering Layouts With Grid Properties">
            <a:extLst>
              <a:ext uri="{FF2B5EF4-FFF2-40B4-BE49-F238E27FC236}">
                <a16:creationId xmlns:a16="http://schemas.microsoft.com/office/drawing/2014/main" id="{0919C8CE-B6C7-F46E-2DDE-912C5C43A4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6320" y="1845734"/>
            <a:ext cx="10119360" cy="4282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4735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9C639-5EC8-4D86-9F1A-17C9D28F2948}"/>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9EFC769-3D8B-41B2-890A-4D015D967EFC}"/>
              </a:ext>
            </a:extLst>
          </p:cNvPr>
          <p:cNvSpPr>
            <a:spLocks noGrp="1"/>
          </p:cNvSpPr>
          <p:nvPr>
            <p:ph idx="1"/>
          </p:nvPr>
        </p:nvSpPr>
        <p:spPr/>
        <p:txBody>
          <a:bodyPr/>
          <a:lstStyle/>
          <a:p>
            <a:pPr>
              <a:buFont typeface="Wingdings" panose="05000000000000000000" pitchFamily="2" charset="2"/>
              <a:buChar char="Ø"/>
            </a:pPr>
            <a:r>
              <a:rPr lang="en-US" dirty="0"/>
              <a:t>Grid container</a:t>
            </a:r>
          </a:p>
          <a:p>
            <a:pPr>
              <a:buFont typeface="Wingdings" panose="05000000000000000000" pitchFamily="2" charset="2"/>
              <a:buChar char="Ø"/>
            </a:pPr>
            <a:r>
              <a:rPr lang="en-US" dirty="0"/>
              <a:t>Grid items</a:t>
            </a:r>
          </a:p>
          <a:p>
            <a:pPr marL="0" indent="0" algn="ctr">
              <a:buNone/>
            </a:pPr>
            <a:r>
              <a:rPr lang="en-US" sz="2400" dirty="0">
                <a:solidFill>
                  <a:schemeClr val="accent2"/>
                </a:solidFill>
              </a:rPr>
              <a:t>                                 &lt;div class=‘container’&gt;</a:t>
            </a:r>
          </a:p>
          <a:p>
            <a:pPr marL="0" indent="0" algn="ctr">
              <a:buNone/>
            </a:pPr>
            <a:r>
              <a:rPr lang="en-US" sz="2400" dirty="0">
                <a:solidFill>
                  <a:schemeClr val="accent2"/>
                </a:solidFill>
              </a:rPr>
              <a:t>                                             &lt;div&gt; item 1 &lt;/div&gt;</a:t>
            </a:r>
          </a:p>
          <a:p>
            <a:pPr marL="0" indent="0" algn="ctr">
              <a:buNone/>
            </a:pPr>
            <a:r>
              <a:rPr lang="en-US" sz="2400" dirty="0">
                <a:solidFill>
                  <a:schemeClr val="accent2"/>
                </a:solidFill>
              </a:rPr>
              <a:t>                                               &lt;div&gt; item 2 &lt;/div&gt;</a:t>
            </a:r>
          </a:p>
          <a:p>
            <a:pPr marL="0" indent="0" algn="ctr">
              <a:buNone/>
            </a:pPr>
            <a:r>
              <a:rPr lang="en-US" sz="2400" dirty="0">
                <a:solidFill>
                  <a:schemeClr val="accent2"/>
                </a:solidFill>
              </a:rPr>
              <a:t>                                               &lt;div&gt; item 3 &lt;/div&gt;</a:t>
            </a:r>
          </a:p>
          <a:p>
            <a:pPr marL="0" indent="0" algn="ctr">
              <a:buNone/>
            </a:pPr>
            <a:r>
              <a:rPr lang="en-US" sz="2400" dirty="0">
                <a:solidFill>
                  <a:schemeClr val="accent2"/>
                </a:solidFill>
              </a:rPr>
              <a:t>  &lt;/div&gt;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961946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Two Ways to implement Grid in CSS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sz="2800" dirty="0" err="1"/>
              <a:t>Way_one</a:t>
            </a:r>
            <a:endParaRPr lang="en-US" sz="2800" dirty="0"/>
          </a:p>
          <a:p>
            <a:pPr>
              <a:buFont typeface="Wingdings" panose="05000000000000000000" pitchFamily="2" charset="2"/>
              <a:buChar char="§"/>
            </a:pPr>
            <a:r>
              <a:rPr lang="en-US" dirty="0"/>
              <a:t>Grid-template-columns</a:t>
            </a:r>
          </a:p>
          <a:p>
            <a:pPr>
              <a:buFont typeface="Wingdings" panose="05000000000000000000" pitchFamily="2" charset="2"/>
              <a:buChar char="§"/>
            </a:pPr>
            <a:r>
              <a:rPr lang="en-US" dirty="0"/>
              <a:t>Grid-template-rows</a:t>
            </a:r>
          </a:p>
          <a:p>
            <a:pPr>
              <a:buFont typeface="Wingdings" panose="05000000000000000000" pitchFamily="2" charset="2"/>
              <a:buChar char="§"/>
            </a:pPr>
            <a:r>
              <a:rPr lang="en-US" dirty="0"/>
              <a:t>Grid-column : start/end</a:t>
            </a:r>
          </a:p>
          <a:p>
            <a:pPr>
              <a:buFont typeface="Wingdings" panose="05000000000000000000" pitchFamily="2" charset="2"/>
              <a:buChar char="§"/>
            </a:pPr>
            <a:r>
              <a:rPr lang="en-US" dirty="0"/>
              <a:t>Grid-row : start/end</a:t>
            </a:r>
          </a:p>
        </p:txBody>
      </p:sp>
    </p:spTree>
    <p:extLst>
      <p:ext uri="{BB962C8B-B14F-4D97-AF65-F5344CB8AC3E}">
        <p14:creationId xmlns:p14="http://schemas.microsoft.com/office/powerpoint/2010/main" val="2193228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Two Ways to implement Grid in CSS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sz="2800" dirty="0" err="1"/>
              <a:t>Way_two</a:t>
            </a:r>
            <a:endParaRPr lang="en-US" sz="2800" dirty="0"/>
          </a:p>
          <a:p>
            <a:pPr>
              <a:buFont typeface="Wingdings" panose="05000000000000000000" pitchFamily="2" charset="2"/>
              <a:buChar char="§"/>
            </a:pPr>
            <a:r>
              <a:rPr lang="en-US" dirty="0"/>
              <a:t>Grid-template-areas</a:t>
            </a:r>
          </a:p>
          <a:p>
            <a:pPr>
              <a:buFont typeface="Wingdings" panose="05000000000000000000" pitchFamily="2" charset="2"/>
              <a:buChar char="§"/>
            </a:pPr>
            <a:r>
              <a:rPr lang="en-US" dirty="0"/>
              <a:t>Grid-area</a:t>
            </a:r>
          </a:p>
        </p:txBody>
      </p:sp>
    </p:spTree>
    <p:extLst>
      <p:ext uri="{BB962C8B-B14F-4D97-AF65-F5344CB8AC3E}">
        <p14:creationId xmlns:p14="http://schemas.microsoft.com/office/powerpoint/2010/main" val="4120035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98098-31BA-F9FE-636C-4DC5FC666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6B7BC9-FF2D-D19C-F8CB-D5ACCC4982FA}"/>
              </a:ext>
            </a:extLst>
          </p:cNvPr>
          <p:cNvSpPr>
            <a:spLocks noGrp="1"/>
          </p:cNvSpPr>
          <p:nvPr>
            <p:ph type="title"/>
          </p:nvPr>
        </p:nvSpPr>
        <p:spPr/>
        <p:txBody>
          <a:bodyPr/>
          <a:lstStyle/>
          <a:p>
            <a:r>
              <a:rPr lang="en-US" dirty="0"/>
              <a:t>Grid Container Properties</a:t>
            </a:r>
          </a:p>
        </p:txBody>
      </p:sp>
      <p:sp>
        <p:nvSpPr>
          <p:cNvPr id="3" name="Content Placeholder 2">
            <a:extLst>
              <a:ext uri="{FF2B5EF4-FFF2-40B4-BE49-F238E27FC236}">
                <a16:creationId xmlns:a16="http://schemas.microsoft.com/office/drawing/2014/main" id="{8688EA2B-16BD-3FA7-3AAA-7818E8EABCC3}"/>
              </a:ext>
            </a:extLst>
          </p:cNvPr>
          <p:cNvSpPr>
            <a:spLocks noGrp="1"/>
          </p:cNvSpPr>
          <p:nvPr>
            <p:ph idx="1"/>
          </p:nvPr>
        </p:nvSpPr>
        <p:spPr/>
        <p:txBody>
          <a:bodyPr>
            <a:normAutofit lnSpcReduction="10000"/>
          </a:bodyPr>
          <a:lstStyle/>
          <a:p>
            <a:pPr>
              <a:buFont typeface="Wingdings" panose="05000000000000000000" pitchFamily="2" charset="2"/>
              <a:buChar char="Ø"/>
            </a:pPr>
            <a:r>
              <a:rPr lang="en-US" sz="2800" dirty="0"/>
              <a:t>Justify-Content</a:t>
            </a:r>
          </a:p>
          <a:p>
            <a:pPr>
              <a:buFont typeface="Wingdings" panose="05000000000000000000" pitchFamily="2" charset="2"/>
              <a:buChar char="Ø"/>
            </a:pPr>
            <a:r>
              <a:rPr lang="en-US" sz="2800" dirty="0"/>
              <a:t>Justify-Items</a:t>
            </a:r>
          </a:p>
          <a:p>
            <a:pPr>
              <a:buFont typeface="Wingdings" panose="05000000000000000000" pitchFamily="2" charset="2"/>
              <a:buChar char="Ø"/>
            </a:pPr>
            <a:r>
              <a:rPr lang="en-US" sz="2800" dirty="0"/>
              <a:t>Align-Content</a:t>
            </a:r>
          </a:p>
          <a:p>
            <a:pPr>
              <a:buFont typeface="Wingdings" panose="05000000000000000000" pitchFamily="2" charset="2"/>
              <a:buChar char="Ø"/>
            </a:pPr>
            <a:r>
              <a:rPr lang="en-US" sz="2800" dirty="0"/>
              <a:t>Align-Items</a:t>
            </a:r>
          </a:p>
          <a:p>
            <a:pPr>
              <a:buFont typeface="Wingdings" panose="05000000000000000000" pitchFamily="2" charset="2"/>
              <a:buChar char="Ø"/>
            </a:pPr>
            <a:r>
              <a:rPr lang="en-US" sz="2800" dirty="0"/>
              <a:t>Place-Content</a:t>
            </a:r>
          </a:p>
          <a:p>
            <a:pPr>
              <a:buFont typeface="Wingdings" panose="05000000000000000000" pitchFamily="2" charset="2"/>
              <a:buChar char="Ø"/>
            </a:pPr>
            <a:r>
              <a:rPr lang="en-US" sz="2800" dirty="0"/>
              <a:t>Place-Items</a:t>
            </a:r>
          </a:p>
          <a:p>
            <a:pPr>
              <a:buFont typeface="Wingdings" panose="05000000000000000000" pitchFamily="2" charset="2"/>
              <a:buChar char="Ø"/>
            </a:pPr>
            <a:r>
              <a:rPr lang="en-US" sz="2800" dirty="0"/>
              <a:t>Gap</a:t>
            </a:r>
            <a:br>
              <a:rPr lang="en-US" sz="2800" dirty="0"/>
            </a:br>
            <a:endParaRPr lang="en-US" sz="2800" dirty="0"/>
          </a:p>
        </p:txBody>
      </p:sp>
    </p:spTree>
    <p:extLst>
      <p:ext uri="{BB962C8B-B14F-4D97-AF65-F5344CB8AC3E}">
        <p14:creationId xmlns:p14="http://schemas.microsoft.com/office/powerpoint/2010/main" val="3607498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FB64A-9F65-CE55-F513-46372F5824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251A70-3DCC-28FC-3974-6C6D06A630CE}"/>
              </a:ext>
            </a:extLst>
          </p:cNvPr>
          <p:cNvSpPr>
            <a:spLocks noGrp="1"/>
          </p:cNvSpPr>
          <p:nvPr>
            <p:ph type="title"/>
          </p:nvPr>
        </p:nvSpPr>
        <p:spPr/>
        <p:txBody>
          <a:bodyPr/>
          <a:lstStyle/>
          <a:p>
            <a:r>
              <a:rPr lang="en-US" dirty="0"/>
              <a:t>Justify-Content</a:t>
            </a:r>
          </a:p>
        </p:txBody>
      </p:sp>
      <p:sp>
        <p:nvSpPr>
          <p:cNvPr id="3" name="Content Placeholder 2">
            <a:extLst>
              <a:ext uri="{FF2B5EF4-FFF2-40B4-BE49-F238E27FC236}">
                <a16:creationId xmlns:a16="http://schemas.microsoft.com/office/drawing/2014/main" id="{13D838EF-E250-945D-F510-E910915D0A5C}"/>
              </a:ext>
            </a:extLst>
          </p:cNvPr>
          <p:cNvSpPr>
            <a:spLocks noGrp="1"/>
          </p:cNvSpPr>
          <p:nvPr>
            <p:ph idx="1"/>
          </p:nvPr>
        </p:nvSpPr>
        <p:spPr/>
        <p:txBody>
          <a:bodyPr>
            <a:normAutofit/>
          </a:bodyPr>
          <a:lstStyle/>
          <a:p>
            <a:pPr marL="0" indent="0">
              <a:buNone/>
            </a:pPr>
            <a:r>
              <a:rPr lang="en-US" dirty="0"/>
              <a:t>            </a:t>
            </a:r>
            <a:r>
              <a:rPr lang="en-US" dirty="0">
                <a:solidFill>
                  <a:schemeClr val="accent2">
                    <a:lumMod val="75000"/>
                  </a:schemeClr>
                </a:solidFill>
              </a:rPr>
              <a:t>start</a:t>
            </a:r>
            <a:r>
              <a:rPr lang="en-US" dirty="0"/>
              <a:t> | end | center | stretch | space-around | space-between | space-evenly</a:t>
            </a:r>
            <a:br>
              <a:rPr lang="en-US" sz="2800" dirty="0"/>
            </a:br>
            <a:endParaRPr lang="en-US" sz="2800" dirty="0"/>
          </a:p>
        </p:txBody>
      </p:sp>
      <p:pic>
        <p:nvPicPr>
          <p:cNvPr id="5" name="Picture 4">
            <a:extLst>
              <a:ext uri="{FF2B5EF4-FFF2-40B4-BE49-F238E27FC236}">
                <a16:creationId xmlns:a16="http://schemas.microsoft.com/office/drawing/2014/main" id="{3E527DC0-4095-87ED-9641-33A9C936C7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1767" y="2411896"/>
            <a:ext cx="6463913" cy="3565572"/>
          </a:xfrm>
          <a:prstGeom prst="rect">
            <a:avLst/>
          </a:prstGeom>
        </p:spPr>
      </p:pic>
    </p:spTree>
    <p:extLst>
      <p:ext uri="{BB962C8B-B14F-4D97-AF65-F5344CB8AC3E}">
        <p14:creationId xmlns:p14="http://schemas.microsoft.com/office/powerpoint/2010/main" val="1514571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BF199-E339-CB1F-2F71-8D820BDE2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42862-F0B7-2825-CB74-14E37E1A8254}"/>
              </a:ext>
            </a:extLst>
          </p:cNvPr>
          <p:cNvSpPr>
            <a:spLocks noGrp="1"/>
          </p:cNvSpPr>
          <p:nvPr>
            <p:ph type="title"/>
          </p:nvPr>
        </p:nvSpPr>
        <p:spPr/>
        <p:txBody>
          <a:bodyPr/>
          <a:lstStyle/>
          <a:p>
            <a:r>
              <a:rPr lang="en-US" dirty="0"/>
              <a:t>Justify-Items</a:t>
            </a:r>
          </a:p>
        </p:txBody>
      </p:sp>
      <p:sp>
        <p:nvSpPr>
          <p:cNvPr id="3" name="Content Placeholder 2">
            <a:extLst>
              <a:ext uri="{FF2B5EF4-FFF2-40B4-BE49-F238E27FC236}">
                <a16:creationId xmlns:a16="http://schemas.microsoft.com/office/drawing/2014/main" id="{F06DB213-5E18-8910-F00A-157821E522D4}"/>
              </a:ext>
            </a:extLst>
          </p:cNvPr>
          <p:cNvSpPr>
            <a:spLocks noGrp="1"/>
          </p:cNvSpPr>
          <p:nvPr>
            <p:ph idx="1"/>
          </p:nvPr>
        </p:nvSpPr>
        <p:spPr/>
        <p:txBody>
          <a:bodyPr>
            <a:normAutofit/>
          </a:bodyPr>
          <a:lstStyle/>
          <a:p>
            <a:pPr marL="0" indent="0">
              <a:buNone/>
            </a:pPr>
            <a:r>
              <a:rPr lang="en-US" dirty="0"/>
              <a:t>                                                                 start | end | center | </a:t>
            </a:r>
            <a:r>
              <a:rPr lang="en-US" dirty="0">
                <a:solidFill>
                  <a:schemeClr val="accent2">
                    <a:lumMod val="75000"/>
                  </a:schemeClr>
                </a:solidFill>
              </a:rPr>
              <a:t>stretch</a:t>
            </a:r>
            <a:br>
              <a:rPr lang="en-US" sz="2800" dirty="0"/>
            </a:br>
            <a:endParaRPr lang="en-US" sz="2800" dirty="0"/>
          </a:p>
        </p:txBody>
      </p:sp>
      <p:pic>
        <p:nvPicPr>
          <p:cNvPr id="6" name="Picture 5">
            <a:extLst>
              <a:ext uri="{FF2B5EF4-FFF2-40B4-BE49-F238E27FC236}">
                <a16:creationId xmlns:a16="http://schemas.microsoft.com/office/drawing/2014/main" id="{9D9C3B7A-7DCC-0EE0-0716-C33D2EC460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164" y="2701123"/>
            <a:ext cx="10331516" cy="3010563"/>
          </a:xfrm>
          <a:prstGeom prst="rect">
            <a:avLst/>
          </a:prstGeom>
        </p:spPr>
      </p:pic>
    </p:spTree>
    <p:extLst>
      <p:ext uri="{BB962C8B-B14F-4D97-AF65-F5344CB8AC3E}">
        <p14:creationId xmlns:p14="http://schemas.microsoft.com/office/powerpoint/2010/main" val="821009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E01CA-EBC9-6BB4-9E53-4E325AF7E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7A844-96D0-7D8C-7841-99F8F10854CD}"/>
              </a:ext>
            </a:extLst>
          </p:cNvPr>
          <p:cNvSpPr>
            <a:spLocks noGrp="1"/>
          </p:cNvSpPr>
          <p:nvPr>
            <p:ph type="title"/>
          </p:nvPr>
        </p:nvSpPr>
        <p:spPr/>
        <p:txBody>
          <a:bodyPr/>
          <a:lstStyle/>
          <a:p>
            <a:r>
              <a:rPr lang="en-US" dirty="0"/>
              <a:t>Align-Content</a:t>
            </a:r>
          </a:p>
        </p:txBody>
      </p:sp>
      <p:sp>
        <p:nvSpPr>
          <p:cNvPr id="3" name="Content Placeholder 2">
            <a:extLst>
              <a:ext uri="{FF2B5EF4-FFF2-40B4-BE49-F238E27FC236}">
                <a16:creationId xmlns:a16="http://schemas.microsoft.com/office/drawing/2014/main" id="{103E60EC-04B2-3A52-3664-1B82D98FC7E8}"/>
              </a:ext>
            </a:extLst>
          </p:cNvPr>
          <p:cNvSpPr>
            <a:spLocks noGrp="1"/>
          </p:cNvSpPr>
          <p:nvPr>
            <p:ph idx="1"/>
          </p:nvPr>
        </p:nvSpPr>
        <p:spPr/>
        <p:txBody>
          <a:bodyPr>
            <a:normAutofit/>
          </a:bodyPr>
          <a:lstStyle/>
          <a:p>
            <a:pPr marL="0" indent="0">
              <a:buNone/>
            </a:pPr>
            <a:r>
              <a:rPr lang="en-US" dirty="0"/>
              <a:t>            </a:t>
            </a:r>
            <a:r>
              <a:rPr lang="en-US" dirty="0">
                <a:solidFill>
                  <a:schemeClr val="accent2">
                    <a:lumMod val="75000"/>
                  </a:schemeClr>
                </a:solidFill>
              </a:rPr>
              <a:t>start</a:t>
            </a:r>
            <a:r>
              <a:rPr lang="en-US" dirty="0"/>
              <a:t> | end | center | stretch | space-around | space-between | space-evenly</a:t>
            </a:r>
            <a:br>
              <a:rPr lang="en-US" sz="2800" dirty="0"/>
            </a:br>
            <a:endParaRPr lang="en-US" sz="2800" dirty="0"/>
          </a:p>
        </p:txBody>
      </p:sp>
      <p:pic>
        <p:nvPicPr>
          <p:cNvPr id="6" name="Picture 5">
            <a:extLst>
              <a:ext uri="{FF2B5EF4-FFF2-40B4-BE49-F238E27FC236}">
                <a16:creationId xmlns:a16="http://schemas.microsoft.com/office/drawing/2014/main" id="{236EF295-E5B4-A651-68ED-A88FE9E132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0296" y="2478156"/>
            <a:ext cx="6244424" cy="3763451"/>
          </a:xfrm>
          <a:prstGeom prst="rect">
            <a:avLst/>
          </a:prstGeom>
        </p:spPr>
      </p:pic>
    </p:spTree>
    <p:extLst>
      <p:ext uri="{BB962C8B-B14F-4D97-AF65-F5344CB8AC3E}">
        <p14:creationId xmlns:p14="http://schemas.microsoft.com/office/powerpoint/2010/main" val="2915940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A1CFA-9525-9B1F-721A-98B5D637A4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A4E04-E9C8-157C-BB64-75E0FB24E0FE}"/>
              </a:ext>
            </a:extLst>
          </p:cNvPr>
          <p:cNvSpPr>
            <a:spLocks noGrp="1"/>
          </p:cNvSpPr>
          <p:nvPr>
            <p:ph type="title"/>
          </p:nvPr>
        </p:nvSpPr>
        <p:spPr/>
        <p:txBody>
          <a:bodyPr/>
          <a:lstStyle/>
          <a:p>
            <a:r>
              <a:rPr lang="en-US" dirty="0"/>
              <a:t>Align-Items</a:t>
            </a:r>
          </a:p>
        </p:txBody>
      </p:sp>
      <p:sp>
        <p:nvSpPr>
          <p:cNvPr id="3" name="Content Placeholder 2">
            <a:extLst>
              <a:ext uri="{FF2B5EF4-FFF2-40B4-BE49-F238E27FC236}">
                <a16:creationId xmlns:a16="http://schemas.microsoft.com/office/drawing/2014/main" id="{65A47E4D-48C3-FA5E-B97F-5F805812AC78}"/>
              </a:ext>
            </a:extLst>
          </p:cNvPr>
          <p:cNvSpPr>
            <a:spLocks noGrp="1"/>
          </p:cNvSpPr>
          <p:nvPr>
            <p:ph idx="1"/>
          </p:nvPr>
        </p:nvSpPr>
        <p:spPr/>
        <p:txBody>
          <a:bodyPr>
            <a:normAutofit/>
          </a:bodyPr>
          <a:lstStyle/>
          <a:p>
            <a:pPr marL="0" indent="0">
              <a:buNone/>
            </a:pPr>
            <a:r>
              <a:rPr lang="en-US" dirty="0"/>
              <a:t>                                                          start | end | center | </a:t>
            </a:r>
            <a:r>
              <a:rPr lang="en-US" dirty="0">
                <a:solidFill>
                  <a:schemeClr val="accent2">
                    <a:lumMod val="75000"/>
                  </a:schemeClr>
                </a:solidFill>
              </a:rPr>
              <a:t>stretch</a:t>
            </a:r>
            <a:br>
              <a:rPr lang="en-US" sz="2800" dirty="0"/>
            </a:br>
            <a:endParaRPr lang="en-US" sz="2800" dirty="0"/>
          </a:p>
        </p:txBody>
      </p:sp>
      <p:pic>
        <p:nvPicPr>
          <p:cNvPr id="5" name="Picture 4">
            <a:extLst>
              <a:ext uri="{FF2B5EF4-FFF2-40B4-BE49-F238E27FC236}">
                <a16:creationId xmlns:a16="http://schemas.microsoft.com/office/drawing/2014/main" id="{FC9FC0A8-D88F-C3E5-824A-21AFC17797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80" y="2520526"/>
            <a:ext cx="10058400" cy="3348568"/>
          </a:xfrm>
          <a:prstGeom prst="rect">
            <a:avLst/>
          </a:prstGeom>
        </p:spPr>
      </p:pic>
    </p:spTree>
    <p:extLst>
      <p:ext uri="{BB962C8B-B14F-4D97-AF65-F5344CB8AC3E}">
        <p14:creationId xmlns:p14="http://schemas.microsoft.com/office/powerpoint/2010/main" val="154918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73C25-8466-50BC-7408-C9928C88F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37BEC-F4DE-FF54-48F1-4733C9378029}"/>
              </a:ext>
            </a:extLst>
          </p:cNvPr>
          <p:cNvSpPr>
            <a:spLocks noGrp="1"/>
          </p:cNvSpPr>
          <p:nvPr>
            <p:ph type="title"/>
          </p:nvPr>
        </p:nvSpPr>
        <p:spPr/>
        <p:txBody>
          <a:bodyPr/>
          <a:lstStyle/>
          <a:p>
            <a:r>
              <a:rPr lang="en-US" dirty="0"/>
              <a:t>Grid Items Properties</a:t>
            </a:r>
          </a:p>
        </p:txBody>
      </p:sp>
      <p:sp>
        <p:nvSpPr>
          <p:cNvPr id="3" name="Content Placeholder 2">
            <a:extLst>
              <a:ext uri="{FF2B5EF4-FFF2-40B4-BE49-F238E27FC236}">
                <a16:creationId xmlns:a16="http://schemas.microsoft.com/office/drawing/2014/main" id="{463838B0-F478-8C9A-E99A-22986C286F43}"/>
              </a:ext>
            </a:extLst>
          </p:cNvPr>
          <p:cNvSpPr>
            <a:spLocks noGrp="1"/>
          </p:cNvSpPr>
          <p:nvPr>
            <p:ph idx="1"/>
          </p:nvPr>
        </p:nvSpPr>
        <p:spPr/>
        <p:txBody>
          <a:bodyPr>
            <a:normAutofit/>
          </a:bodyPr>
          <a:lstStyle/>
          <a:p>
            <a:pPr>
              <a:buFont typeface="Wingdings" panose="05000000000000000000" pitchFamily="2" charset="2"/>
              <a:buChar char="Ø"/>
            </a:pPr>
            <a:r>
              <a:rPr lang="en-US" sz="2800" dirty="0"/>
              <a:t>Justify-Self</a:t>
            </a:r>
          </a:p>
          <a:p>
            <a:pPr>
              <a:buFont typeface="Wingdings" panose="05000000000000000000" pitchFamily="2" charset="2"/>
              <a:buChar char="Ø"/>
            </a:pPr>
            <a:r>
              <a:rPr lang="en-US" sz="2800" dirty="0"/>
              <a:t>Align-Self</a:t>
            </a:r>
          </a:p>
          <a:p>
            <a:pPr>
              <a:buFont typeface="Wingdings" panose="05000000000000000000" pitchFamily="2" charset="2"/>
              <a:buChar char="Ø"/>
            </a:pPr>
            <a:r>
              <a:rPr lang="en-US" sz="2800" dirty="0"/>
              <a:t>Place-Self</a:t>
            </a:r>
          </a:p>
          <a:p>
            <a:pPr marL="0" indent="0">
              <a:buNone/>
            </a:pPr>
            <a:br>
              <a:rPr lang="en-US" sz="2800" dirty="0"/>
            </a:br>
            <a:endParaRPr lang="en-US" sz="2800" dirty="0"/>
          </a:p>
        </p:txBody>
      </p:sp>
    </p:spTree>
    <p:extLst>
      <p:ext uri="{BB962C8B-B14F-4D97-AF65-F5344CB8AC3E}">
        <p14:creationId xmlns:p14="http://schemas.microsoft.com/office/powerpoint/2010/main" val="1852086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B466D-7D14-D684-7E3A-745D18A9D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D26A07-9BEB-A69B-9FEB-86176AD4EFD1}"/>
              </a:ext>
            </a:extLst>
          </p:cNvPr>
          <p:cNvSpPr>
            <a:spLocks noGrp="1"/>
          </p:cNvSpPr>
          <p:nvPr>
            <p:ph type="title"/>
          </p:nvPr>
        </p:nvSpPr>
        <p:spPr/>
        <p:txBody>
          <a:bodyPr/>
          <a:lstStyle/>
          <a:p>
            <a:r>
              <a:rPr lang="en-US" dirty="0"/>
              <a:t>Justify-Self</a:t>
            </a:r>
          </a:p>
        </p:txBody>
      </p:sp>
      <p:sp>
        <p:nvSpPr>
          <p:cNvPr id="3" name="Content Placeholder 2">
            <a:extLst>
              <a:ext uri="{FF2B5EF4-FFF2-40B4-BE49-F238E27FC236}">
                <a16:creationId xmlns:a16="http://schemas.microsoft.com/office/drawing/2014/main" id="{FE4EB8D1-2574-B7CC-9982-F8C971913BFB}"/>
              </a:ext>
            </a:extLst>
          </p:cNvPr>
          <p:cNvSpPr>
            <a:spLocks noGrp="1"/>
          </p:cNvSpPr>
          <p:nvPr>
            <p:ph idx="1"/>
          </p:nvPr>
        </p:nvSpPr>
        <p:spPr/>
        <p:txBody>
          <a:bodyPr>
            <a:normAutofit/>
          </a:bodyPr>
          <a:lstStyle/>
          <a:p>
            <a:pPr marL="0" indent="0">
              <a:buNone/>
            </a:pPr>
            <a:r>
              <a:rPr lang="en-US" dirty="0"/>
              <a:t>                                                            start | end | center | </a:t>
            </a:r>
            <a:r>
              <a:rPr lang="en-US" dirty="0">
                <a:solidFill>
                  <a:schemeClr val="accent2">
                    <a:lumMod val="75000"/>
                  </a:schemeClr>
                </a:solidFill>
              </a:rPr>
              <a:t>stretch</a:t>
            </a:r>
            <a:br>
              <a:rPr lang="en-US" sz="2800" dirty="0"/>
            </a:br>
            <a:endParaRPr lang="en-US" sz="2800" dirty="0"/>
          </a:p>
        </p:txBody>
      </p:sp>
      <p:pic>
        <p:nvPicPr>
          <p:cNvPr id="6" name="Picture 5">
            <a:extLst>
              <a:ext uri="{FF2B5EF4-FFF2-40B4-BE49-F238E27FC236}">
                <a16:creationId xmlns:a16="http://schemas.microsoft.com/office/drawing/2014/main" id="{D7EDA3A2-B1CF-74FE-F2A8-6E6998F560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2816" y="2269269"/>
            <a:ext cx="9747327" cy="3940814"/>
          </a:xfrm>
          <a:prstGeom prst="rect">
            <a:avLst/>
          </a:prstGeom>
        </p:spPr>
      </p:pic>
    </p:spTree>
    <p:extLst>
      <p:ext uri="{BB962C8B-B14F-4D97-AF65-F5344CB8AC3E}">
        <p14:creationId xmlns:p14="http://schemas.microsoft.com/office/powerpoint/2010/main" val="3096556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F1957-1191-C322-8874-98747A0AA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33282-7324-7BCE-A893-7161B295DE72}"/>
              </a:ext>
            </a:extLst>
          </p:cNvPr>
          <p:cNvSpPr>
            <a:spLocks noGrp="1"/>
          </p:cNvSpPr>
          <p:nvPr>
            <p:ph type="title"/>
          </p:nvPr>
        </p:nvSpPr>
        <p:spPr/>
        <p:txBody>
          <a:bodyPr/>
          <a:lstStyle/>
          <a:p>
            <a:r>
              <a:rPr lang="en-US" dirty="0"/>
              <a:t>Align-Self</a:t>
            </a:r>
          </a:p>
        </p:txBody>
      </p:sp>
      <p:sp>
        <p:nvSpPr>
          <p:cNvPr id="3" name="Content Placeholder 2">
            <a:extLst>
              <a:ext uri="{FF2B5EF4-FFF2-40B4-BE49-F238E27FC236}">
                <a16:creationId xmlns:a16="http://schemas.microsoft.com/office/drawing/2014/main" id="{599EFC6B-A818-48A3-1C37-C72D952B6DEE}"/>
              </a:ext>
            </a:extLst>
          </p:cNvPr>
          <p:cNvSpPr>
            <a:spLocks noGrp="1"/>
          </p:cNvSpPr>
          <p:nvPr>
            <p:ph idx="1"/>
          </p:nvPr>
        </p:nvSpPr>
        <p:spPr/>
        <p:txBody>
          <a:bodyPr>
            <a:normAutofit/>
          </a:bodyPr>
          <a:lstStyle/>
          <a:p>
            <a:pPr marL="0" indent="0">
              <a:buNone/>
            </a:pPr>
            <a:r>
              <a:rPr lang="en-US" dirty="0"/>
              <a:t>                                                            start | end | center | </a:t>
            </a:r>
            <a:r>
              <a:rPr lang="en-US" dirty="0">
                <a:solidFill>
                  <a:schemeClr val="accent2">
                    <a:lumMod val="75000"/>
                  </a:schemeClr>
                </a:solidFill>
              </a:rPr>
              <a:t>stretch</a:t>
            </a:r>
            <a:br>
              <a:rPr lang="en-US" sz="2800" dirty="0"/>
            </a:br>
            <a:endParaRPr lang="en-US" sz="2800" dirty="0"/>
          </a:p>
        </p:txBody>
      </p:sp>
      <p:pic>
        <p:nvPicPr>
          <p:cNvPr id="5" name="Picture 4">
            <a:extLst>
              <a:ext uri="{FF2B5EF4-FFF2-40B4-BE49-F238E27FC236}">
                <a16:creationId xmlns:a16="http://schemas.microsoft.com/office/drawing/2014/main" id="{A2617BD8-30A2-41C2-12A0-8AD4610854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4536" y="2519569"/>
            <a:ext cx="9743888" cy="3622972"/>
          </a:xfrm>
          <a:prstGeom prst="rect">
            <a:avLst/>
          </a:prstGeom>
        </p:spPr>
      </p:pic>
    </p:spTree>
    <p:extLst>
      <p:ext uri="{BB962C8B-B14F-4D97-AF65-F5344CB8AC3E}">
        <p14:creationId xmlns:p14="http://schemas.microsoft.com/office/powerpoint/2010/main" val="229843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dirty="0"/>
              <a:t>Media Queries</a:t>
            </a:r>
          </a:p>
        </p:txBody>
      </p:sp>
    </p:spTree>
    <p:extLst>
      <p:ext uri="{BB962C8B-B14F-4D97-AF65-F5344CB8AC3E}">
        <p14:creationId xmlns:p14="http://schemas.microsoft.com/office/powerpoint/2010/main" val="581809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71BF2-F31C-4EAA-94B9-A30B2D841A74}"/>
              </a:ext>
            </a:extLst>
          </p:cNvPr>
          <p:cNvSpPr>
            <a:spLocks noGrp="1"/>
          </p:cNvSpPr>
          <p:nvPr>
            <p:ph type="title"/>
          </p:nvPr>
        </p:nvSpPr>
        <p:spPr/>
        <p:txBody>
          <a:bodyPr/>
          <a:lstStyle/>
          <a:p>
            <a:r>
              <a:rPr lang="en-US" dirty="0"/>
              <a:t>Media Queries</a:t>
            </a:r>
          </a:p>
        </p:txBody>
      </p:sp>
      <p:sp>
        <p:nvSpPr>
          <p:cNvPr id="3" name="Content Placeholder 2">
            <a:extLst>
              <a:ext uri="{FF2B5EF4-FFF2-40B4-BE49-F238E27FC236}">
                <a16:creationId xmlns:a16="http://schemas.microsoft.com/office/drawing/2014/main" id="{9996B8A8-C96B-4F88-975B-47CCC17AE9A5}"/>
              </a:ext>
            </a:extLst>
          </p:cNvPr>
          <p:cNvSpPr>
            <a:spLocks noGrp="1"/>
          </p:cNvSpPr>
          <p:nvPr>
            <p:ph idx="1"/>
          </p:nvPr>
        </p:nvSpPr>
        <p:spPr>
          <a:xfrm>
            <a:off x="1097280" y="1845734"/>
            <a:ext cx="10058400" cy="4490302"/>
          </a:xfrm>
        </p:spPr>
        <p:txBody>
          <a:bodyPr/>
          <a:lstStyle/>
          <a:p>
            <a:pPr>
              <a:buFont typeface="Wingdings" panose="05000000000000000000" pitchFamily="2" charset="2"/>
              <a:buChar char="Ø"/>
            </a:pPr>
            <a:r>
              <a:rPr lang="en-US" sz="2400" dirty="0"/>
              <a:t>Tell the browser how to style an element at particular viewport dimensions</a:t>
            </a:r>
          </a:p>
          <a:p>
            <a:pPr>
              <a:buFont typeface="Wingdings" panose="05000000000000000000" pitchFamily="2" charset="2"/>
              <a:buChar char="Ø"/>
            </a:pPr>
            <a:r>
              <a:rPr lang="en-US" sz="2400" dirty="0"/>
              <a:t>Types : </a:t>
            </a:r>
          </a:p>
          <a:p>
            <a:pPr>
              <a:buFont typeface="Wingdings" panose="05000000000000000000" pitchFamily="2" charset="2"/>
              <a:buChar char="§"/>
            </a:pPr>
            <a:r>
              <a:rPr lang="en-US" sz="2400" dirty="0">
                <a:solidFill>
                  <a:schemeClr val="accent2">
                    <a:lumMod val="75000"/>
                  </a:schemeClr>
                </a:solidFill>
              </a:rPr>
              <a:t> all</a:t>
            </a:r>
          </a:p>
          <a:p>
            <a:pPr>
              <a:buFont typeface="Wingdings" panose="05000000000000000000" pitchFamily="2" charset="2"/>
              <a:buChar char="§"/>
            </a:pPr>
            <a:r>
              <a:rPr lang="en-US" sz="2400" dirty="0"/>
              <a:t>Screen</a:t>
            </a:r>
          </a:p>
          <a:p>
            <a:pPr>
              <a:buFont typeface="Wingdings" panose="05000000000000000000" pitchFamily="2" charset="2"/>
              <a:buChar char="§"/>
            </a:pPr>
            <a:r>
              <a:rPr lang="en-US" sz="2400" dirty="0"/>
              <a:t>Print</a:t>
            </a:r>
          </a:p>
          <a:p>
            <a:pPr>
              <a:buFont typeface="Wingdings" panose="05000000000000000000" pitchFamily="2" charset="2"/>
              <a:buChar char="§"/>
            </a:pPr>
            <a:r>
              <a:rPr lang="en-US" sz="2400" dirty="0"/>
              <a:t>Speech</a:t>
            </a:r>
          </a:p>
          <a:p>
            <a:pPr marL="0" indent="0">
              <a:buNone/>
            </a:pPr>
            <a:endParaRPr lang="en-US" sz="2400" dirty="0"/>
          </a:p>
          <a:p>
            <a:pPr>
              <a:buFont typeface="Wingdings" panose="05000000000000000000" pitchFamily="2" charset="2"/>
              <a:buChar char="Ø"/>
            </a:pPr>
            <a:endParaRPr lang="en-US" dirty="0"/>
          </a:p>
        </p:txBody>
      </p:sp>
      <p:pic>
        <p:nvPicPr>
          <p:cNvPr id="1026" name="Picture 2" descr="CSS Media Queries - DEV Community">
            <a:extLst>
              <a:ext uri="{FF2B5EF4-FFF2-40B4-BE49-F238E27FC236}">
                <a16:creationId xmlns:a16="http://schemas.microsoft.com/office/drawing/2014/main" id="{E8A31F18-5F0C-8C50-69B3-17C35E0A46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6945" y="2412148"/>
            <a:ext cx="7748735" cy="3357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8954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4ED0B-E758-F35E-F0CB-89AE7AB50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F37746-8BFA-FB53-EEBE-C10BD6D572B9}"/>
              </a:ext>
            </a:extLst>
          </p:cNvPr>
          <p:cNvSpPr>
            <a:spLocks noGrp="1"/>
          </p:cNvSpPr>
          <p:nvPr>
            <p:ph type="title"/>
          </p:nvPr>
        </p:nvSpPr>
        <p:spPr/>
        <p:txBody>
          <a:bodyPr/>
          <a:lstStyle/>
          <a:p>
            <a:r>
              <a:rPr lang="en-US" dirty="0" err="1"/>
              <a:t>Task_One</a:t>
            </a:r>
            <a:endParaRPr lang="en-US" dirty="0"/>
          </a:p>
        </p:txBody>
      </p:sp>
      <p:pic>
        <p:nvPicPr>
          <p:cNvPr id="2050" name="Picture 2" descr="How to Create a Professional Web Layout in Photoshop - Photoshop Tutorials">
            <a:extLst>
              <a:ext uri="{FF2B5EF4-FFF2-40B4-BE49-F238E27FC236}">
                <a16:creationId xmlns:a16="http://schemas.microsoft.com/office/drawing/2014/main" id="{EF1FF73E-1333-F574-6D96-8C40616A11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7204" y="1737360"/>
            <a:ext cx="9958476" cy="45209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6195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C1F88-32EB-4458-B1FC-E425BA6274C9}"/>
              </a:ext>
            </a:extLst>
          </p:cNvPr>
          <p:cNvSpPr>
            <a:spLocks noGrp="1"/>
          </p:cNvSpPr>
          <p:nvPr>
            <p:ph type="title"/>
          </p:nvPr>
        </p:nvSpPr>
        <p:spPr/>
        <p:txBody>
          <a:bodyPr/>
          <a:lstStyle/>
          <a:p>
            <a:r>
              <a:rPr lang="en-US" dirty="0" err="1"/>
              <a:t>Task_Two</a:t>
            </a:r>
            <a:endParaRPr lang="en-US" dirty="0"/>
          </a:p>
        </p:txBody>
      </p:sp>
      <p:pic>
        <p:nvPicPr>
          <p:cNvPr id="7" name="Content Placeholder 6">
            <a:extLst>
              <a:ext uri="{FF2B5EF4-FFF2-40B4-BE49-F238E27FC236}">
                <a16:creationId xmlns:a16="http://schemas.microsoft.com/office/drawing/2014/main" id="{F72A141D-555D-47D2-6E0A-471D1C1FF3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77655" y="1846263"/>
            <a:ext cx="9732723" cy="4022725"/>
          </a:xfrm>
        </p:spPr>
      </p:pic>
    </p:spTree>
    <p:extLst>
      <p:ext uri="{BB962C8B-B14F-4D97-AF65-F5344CB8AC3E}">
        <p14:creationId xmlns:p14="http://schemas.microsoft.com/office/powerpoint/2010/main" val="3190687946"/>
      </p:ext>
    </p:extLst>
  </p:cSld>
  <p:clrMapOvr>
    <a:masterClrMapping/>
  </p:clrMapOvr>
</p:sld>
</file>

<file path=ppt/theme/theme1.xml><?xml version="1.0" encoding="utf-8"?>
<a:theme xmlns:a="http://schemas.openxmlformats.org/drawingml/2006/main" name="Retrospect">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847</TotalTime>
  <Words>284</Words>
  <Application>Microsoft Office PowerPoint</Application>
  <PresentationFormat>Widescreen</PresentationFormat>
  <Paragraphs>61</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 Display</vt:lpstr>
      <vt:lpstr>Calibri</vt:lpstr>
      <vt:lpstr>Calibri Light</vt:lpstr>
      <vt:lpstr>Forte</vt:lpstr>
      <vt:lpstr>nunito</vt:lpstr>
      <vt:lpstr>Wingdings</vt:lpstr>
      <vt:lpstr>Retrospect</vt:lpstr>
      <vt:lpstr>Responsive Web Design</vt:lpstr>
      <vt:lpstr>Grid System</vt:lpstr>
      <vt:lpstr>Grid System CSS</vt:lpstr>
      <vt:lpstr>2-D Layout</vt:lpstr>
      <vt:lpstr>Terminology</vt:lpstr>
      <vt:lpstr>Two Ways to implement Grid in CSS</vt:lpstr>
      <vt:lpstr>Two Ways to implement Grid in CSS</vt:lpstr>
      <vt:lpstr>Grid Container Properties</vt:lpstr>
      <vt:lpstr>Justify-Content</vt:lpstr>
      <vt:lpstr>Justify-Items</vt:lpstr>
      <vt:lpstr>Align-Content</vt:lpstr>
      <vt:lpstr>Align-Items</vt:lpstr>
      <vt:lpstr>Grid Items Properties</vt:lpstr>
      <vt:lpstr>Justify-Self</vt:lpstr>
      <vt:lpstr>Align-Self</vt:lpstr>
      <vt:lpstr>Media Queries</vt:lpstr>
      <vt:lpstr>Media Queries</vt:lpstr>
      <vt:lpstr>Task_One</vt:lpstr>
      <vt:lpstr>Task_Two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Flexbox</dc:title>
  <dc:creator>Hp</dc:creator>
  <cp:lastModifiedBy>Ryhab Farouq</cp:lastModifiedBy>
  <cp:revision>10</cp:revision>
  <dcterms:created xsi:type="dcterms:W3CDTF">2022-04-25T07:27:39Z</dcterms:created>
  <dcterms:modified xsi:type="dcterms:W3CDTF">2026-02-08T10:45:58Z</dcterms:modified>
</cp:coreProperties>
</file>