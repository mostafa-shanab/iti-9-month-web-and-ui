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6"/>
  </p:notesMasterIdLst>
  <p:sldIdLst>
    <p:sldId id="256" r:id="rId2"/>
    <p:sldId id="260" r:id="rId3"/>
    <p:sldId id="262" r:id="rId4"/>
    <p:sldId id="338" r:id="rId5"/>
    <p:sldId id="339" r:id="rId6"/>
    <p:sldId id="340" r:id="rId7"/>
    <p:sldId id="297" r:id="rId8"/>
    <p:sldId id="298" r:id="rId9"/>
    <p:sldId id="300" r:id="rId10"/>
    <p:sldId id="301" r:id="rId11"/>
    <p:sldId id="302" r:id="rId12"/>
    <p:sldId id="303" r:id="rId13"/>
    <p:sldId id="341" r:id="rId14"/>
    <p:sldId id="343" r:id="rId15"/>
    <p:sldId id="306" r:id="rId16"/>
    <p:sldId id="305" r:id="rId17"/>
    <p:sldId id="307" r:id="rId18"/>
    <p:sldId id="309" r:id="rId19"/>
    <p:sldId id="311" r:id="rId20"/>
    <p:sldId id="312" r:id="rId21"/>
    <p:sldId id="313" r:id="rId22"/>
    <p:sldId id="314" r:id="rId23"/>
    <p:sldId id="345" r:id="rId24"/>
    <p:sldId id="344" r:id="rId25"/>
    <p:sldId id="310" r:id="rId26"/>
    <p:sldId id="315" r:id="rId27"/>
    <p:sldId id="347" r:id="rId28"/>
    <p:sldId id="346" r:id="rId29"/>
    <p:sldId id="316" r:id="rId30"/>
    <p:sldId id="348" r:id="rId31"/>
    <p:sldId id="318" r:id="rId32"/>
    <p:sldId id="349" r:id="rId33"/>
    <p:sldId id="319" r:id="rId34"/>
    <p:sldId id="350" r:id="rId35"/>
    <p:sldId id="320" r:id="rId36"/>
    <p:sldId id="351" r:id="rId37"/>
    <p:sldId id="321" r:id="rId38"/>
    <p:sldId id="322" r:id="rId39"/>
    <p:sldId id="323" r:id="rId40"/>
    <p:sldId id="324" r:id="rId41"/>
    <p:sldId id="327" r:id="rId42"/>
    <p:sldId id="334" r:id="rId43"/>
    <p:sldId id="333" r:id="rId44"/>
    <p:sldId id="335" r:id="rId45"/>
    <p:sldId id="336" r:id="rId46"/>
    <p:sldId id="337" r:id="rId47"/>
    <p:sldId id="326" r:id="rId48"/>
    <p:sldId id="325" r:id="rId49"/>
    <p:sldId id="328" r:id="rId50"/>
    <p:sldId id="329" r:id="rId51"/>
    <p:sldId id="330" r:id="rId52"/>
    <p:sldId id="331" r:id="rId53"/>
    <p:sldId id="332" r:id="rId54"/>
    <p:sldId id="342" r:id="rId55"/>
  </p:sldIdLst>
  <p:sldSz cx="9144000" cy="5143500" type="screen16x9"/>
  <p:notesSz cx="6858000" cy="9144000"/>
  <p:embeddedFontLst>
    <p:embeddedFont>
      <p:font typeface="Darker Grotesque" panose="020B0604020202020204" charset="0"/>
      <p:regular r:id="rId57"/>
      <p:bold r:id="rId58"/>
    </p:embeddedFont>
    <p:embeddedFont>
      <p:font typeface="Darker Grotesque Medium" panose="020B0604020202020204" charset="0"/>
      <p:regular r:id="rId59"/>
      <p:bold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  <p:embeddedFont>
      <p:font typeface="Open Sans" panose="020B0606030504020204" pitchFamily="3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FBE2C8-3060-474B-AAC7-C5488FA1555E}">
  <a:tblStyle styleId="{1EFBE2C8-3060-474B-AAC7-C5488FA155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D9631A-3F85-4705-8B59-A8106608A52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8:25:28.57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8:25:29.40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8:25:29.90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34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487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3408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817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722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56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50225a5c45_0_39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50225a5c45_0_39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491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141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374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8317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778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168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a7ce96a6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a7ce96a6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383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795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808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018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5267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5802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161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410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8974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24017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46961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1652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5612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2996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2187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4074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9028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4923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11814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7682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9781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45515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3226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2638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8087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7802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6528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1717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0987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9688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7190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1881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6296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5938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4499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9983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3406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13ce2af5b7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13ce2af5b7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1125" y="1417663"/>
            <a:ext cx="4150500" cy="18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1125" y="3341838"/>
            <a:ext cx="41505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76425" y="135875"/>
            <a:ext cx="8538875" cy="4740075"/>
            <a:chOff x="276425" y="135875"/>
            <a:chExt cx="8538875" cy="47400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8196000" y="135875"/>
              <a:ext cx="619300" cy="330925"/>
              <a:chOff x="5031250" y="135875"/>
              <a:chExt cx="619300" cy="3309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276425" y="4185388"/>
              <a:ext cx="284403" cy="690563"/>
              <a:chOff x="276425" y="4185388"/>
              <a:chExt cx="284403" cy="690563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7" name="Google Shape;27;p3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" name="Google Shape;29;p3"/>
          <p:cNvGrpSpPr/>
          <p:nvPr/>
        </p:nvGrpSpPr>
        <p:grpSpPr>
          <a:xfrm>
            <a:off x="285949" y="264091"/>
            <a:ext cx="8669681" cy="4789793"/>
            <a:chOff x="285949" y="264091"/>
            <a:chExt cx="8669681" cy="4789793"/>
          </a:xfrm>
        </p:grpSpPr>
        <p:grpSp>
          <p:nvGrpSpPr>
            <p:cNvPr id="30" name="Google Shape;30;p3"/>
            <p:cNvGrpSpPr/>
            <p:nvPr/>
          </p:nvGrpSpPr>
          <p:grpSpPr>
            <a:xfrm rot="5071527">
              <a:off x="501012" y="93311"/>
              <a:ext cx="284392" cy="690536"/>
              <a:chOff x="276425" y="4185388"/>
              <a:chExt cx="284403" cy="690563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-4116747">
              <a:off x="8378950" y="4539720"/>
              <a:ext cx="619343" cy="330948"/>
              <a:chOff x="5031250" y="135875"/>
              <a:chExt cx="619300" cy="3309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1128763" y="2658898"/>
            <a:ext cx="2928300" cy="11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5086893" y="2658898"/>
            <a:ext cx="2928300" cy="11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1128762" y="2308800"/>
            <a:ext cx="29283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4"/>
          </p:nvPr>
        </p:nvSpPr>
        <p:spPr>
          <a:xfrm>
            <a:off x="5086899" y="2308800"/>
            <a:ext cx="29283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59" name="Google Shape;59;p5"/>
          <p:cNvGrpSpPr/>
          <p:nvPr/>
        </p:nvGrpSpPr>
        <p:grpSpPr>
          <a:xfrm rot="-9969249">
            <a:off x="8236724" y="374036"/>
            <a:ext cx="619273" cy="330910"/>
            <a:chOff x="5031250" y="135875"/>
            <a:chExt cx="619300" cy="330925"/>
          </a:xfrm>
        </p:grpSpPr>
        <p:sp>
          <p:nvSpPr>
            <p:cNvPr id="60" name="Google Shape;60;p5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5"/>
          <p:cNvGrpSpPr/>
          <p:nvPr/>
        </p:nvGrpSpPr>
        <p:grpSpPr>
          <a:xfrm rot="-5082576">
            <a:off x="580185" y="4491069"/>
            <a:ext cx="284392" cy="690535"/>
            <a:chOff x="276425" y="4185388"/>
            <a:chExt cx="284403" cy="690563"/>
          </a:xfrm>
        </p:grpSpPr>
        <p:sp>
          <p:nvSpPr>
            <p:cNvPr id="64" name="Google Shape;64;p5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7" name="Google Shape;67;p5"/>
          <p:cNvCxnSpPr/>
          <p:nvPr/>
        </p:nvCxnSpPr>
        <p:spPr>
          <a:xfrm>
            <a:off x="4570500" y="483631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>
            <a:off x="150145" y="211917"/>
            <a:ext cx="8695880" cy="4789870"/>
            <a:chOff x="150145" y="211917"/>
            <a:chExt cx="8695880" cy="4789870"/>
          </a:xfrm>
        </p:grpSpPr>
        <p:grpSp>
          <p:nvGrpSpPr>
            <p:cNvPr id="71" name="Google Shape;71;p6"/>
            <p:cNvGrpSpPr/>
            <p:nvPr/>
          </p:nvGrpSpPr>
          <p:grpSpPr>
            <a:xfrm>
              <a:off x="8226725" y="4670863"/>
              <a:ext cx="619300" cy="330925"/>
              <a:chOff x="5031250" y="135875"/>
              <a:chExt cx="619300" cy="330925"/>
            </a:xfrm>
          </p:grpSpPr>
          <p:sp>
            <p:nvSpPr>
              <p:cNvPr id="72" name="Google Shape;72;p6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6"/>
            <p:cNvGrpSpPr/>
            <p:nvPr/>
          </p:nvGrpSpPr>
          <p:grpSpPr>
            <a:xfrm rot="5400000">
              <a:off x="353225" y="8838"/>
              <a:ext cx="284403" cy="690563"/>
              <a:chOff x="276425" y="4185388"/>
              <a:chExt cx="284403" cy="690563"/>
            </a:xfrm>
          </p:grpSpPr>
          <p:sp>
            <p:nvSpPr>
              <p:cNvPr id="76" name="Google Shape;76;p6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" name="Google Shape;79;p6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80" name="Google Shape;80;p6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6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878750" y="1289700"/>
            <a:ext cx="5386500" cy="25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00" name="Google Shape;100;p8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01" name="Google Shape;101;p8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8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" name="Google Shape;103;p8"/>
          <p:cNvGrpSpPr/>
          <p:nvPr/>
        </p:nvGrpSpPr>
        <p:grpSpPr>
          <a:xfrm>
            <a:off x="294371" y="141713"/>
            <a:ext cx="8240379" cy="4829479"/>
            <a:chOff x="294371" y="141713"/>
            <a:chExt cx="8240379" cy="4829479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7915450" y="141713"/>
              <a:ext cx="619300" cy="330925"/>
              <a:chOff x="5031250" y="135875"/>
              <a:chExt cx="619300" cy="330925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8"/>
            <p:cNvGrpSpPr/>
            <p:nvPr/>
          </p:nvGrpSpPr>
          <p:grpSpPr>
            <a:xfrm rot="-1970868">
              <a:off x="458916" y="4258716"/>
              <a:ext cx="284398" cy="690551"/>
              <a:chOff x="276425" y="4185388"/>
              <a:chExt cx="284403" cy="690563"/>
            </a:xfrm>
          </p:grpSpPr>
          <p:sp>
            <p:nvSpPr>
              <p:cNvPr id="109" name="Google Shape;109;p8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549400" y="127882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2549400" y="28487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5" name="Google Shape;115;p9"/>
          <p:cNvGrpSpPr/>
          <p:nvPr/>
        </p:nvGrpSpPr>
        <p:grpSpPr>
          <a:xfrm>
            <a:off x="211278" y="220206"/>
            <a:ext cx="8661690" cy="4820732"/>
            <a:chOff x="211278" y="220206"/>
            <a:chExt cx="8661690" cy="4820732"/>
          </a:xfrm>
        </p:grpSpPr>
        <p:grpSp>
          <p:nvGrpSpPr>
            <p:cNvPr id="116" name="Google Shape;116;p9"/>
            <p:cNvGrpSpPr/>
            <p:nvPr/>
          </p:nvGrpSpPr>
          <p:grpSpPr>
            <a:xfrm rot="-4513216">
              <a:off x="8324345" y="4533868"/>
              <a:ext cx="619291" cy="330920"/>
              <a:chOff x="5031250" y="135875"/>
              <a:chExt cx="619300" cy="330925"/>
            </a:xfrm>
          </p:grpSpPr>
          <p:sp>
            <p:nvSpPr>
              <p:cNvPr id="117" name="Google Shape;117;p9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 rot="811576">
              <a:off x="288095" y="243890"/>
              <a:ext cx="284414" cy="690589"/>
              <a:chOff x="276425" y="4185388"/>
              <a:chExt cx="284403" cy="690563"/>
            </a:xfrm>
          </p:grpSpPr>
          <p:sp>
            <p:nvSpPr>
              <p:cNvPr id="121" name="Google Shape;121;p9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" name="Google Shape;124;p9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25" name="Google Shape;125;p9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9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" name="Google Shape;132;p10"/>
          <p:cNvGrpSpPr/>
          <p:nvPr/>
        </p:nvGrpSpPr>
        <p:grpSpPr>
          <a:xfrm>
            <a:off x="328075" y="147253"/>
            <a:ext cx="8635431" cy="4787659"/>
            <a:chOff x="328075" y="147253"/>
            <a:chExt cx="8635431" cy="4787659"/>
          </a:xfrm>
        </p:grpSpPr>
        <p:grpSp>
          <p:nvGrpSpPr>
            <p:cNvPr id="133" name="Google Shape;133;p10"/>
            <p:cNvGrpSpPr/>
            <p:nvPr/>
          </p:nvGrpSpPr>
          <p:grpSpPr>
            <a:xfrm>
              <a:off x="328075" y="4603988"/>
              <a:ext cx="619300" cy="330925"/>
              <a:chOff x="5031250" y="135875"/>
              <a:chExt cx="619300" cy="330925"/>
            </a:xfrm>
          </p:grpSpPr>
          <p:sp>
            <p:nvSpPr>
              <p:cNvPr id="134" name="Google Shape;134;p10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0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0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10"/>
            <p:cNvGrpSpPr/>
            <p:nvPr/>
          </p:nvGrpSpPr>
          <p:grpSpPr>
            <a:xfrm rot="-3619827">
              <a:off x="8450899" y="96443"/>
              <a:ext cx="284405" cy="690567"/>
              <a:chOff x="276425" y="4185388"/>
              <a:chExt cx="284403" cy="690563"/>
            </a:xfrm>
          </p:grpSpPr>
          <p:sp>
            <p:nvSpPr>
              <p:cNvPr id="138" name="Google Shape;138;p10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0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0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 hasCustomPrompt="1"/>
          </p:nvPr>
        </p:nvSpPr>
        <p:spPr>
          <a:xfrm>
            <a:off x="1189390" y="1650050"/>
            <a:ext cx="6765300" cy="13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" name="Google Shape;143;p11"/>
          <p:cNvSpPr txBox="1">
            <a:spLocks noGrp="1"/>
          </p:cNvSpPr>
          <p:nvPr>
            <p:ph type="subTitle" idx="1"/>
          </p:nvPr>
        </p:nvSpPr>
        <p:spPr>
          <a:xfrm>
            <a:off x="1189350" y="2957650"/>
            <a:ext cx="67653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1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45" name="Google Shape;145;p11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1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" name="Google Shape;147;p11"/>
          <p:cNvGrpSpPr/>
          <p:nvPr/>
        </p:nvGrpSpPr>
        <p:grpSpPr>
          <a:xfrm>
            <a:off x="32616" y="307167"/>
            <a:ext cx="8926885" cy="4706689"/>
            <a:chOff x="32616" y="307167"/>
            <a:chExt cx="8926885" cy="4706689"/>
          </a:xfrm>
        </p:grpSpPr>
        <p:grpSp>
          <p:nvGrpSpPr>
            <p:cNvPr id="148" name="Google Shape;148;p11"/>
            <p:cNvGrpSpPr/>
            <p:nvPr/>
          </p:nvGrpSpPr>
          <p:grpSpPr>
            <a:xfrm rot="-7457161">
              <a:off x="8451932" y="4356605"/>
              <a:ext cx="284391" cy="690533"/>
              <a:chOff x="276425" y="4185388"/>
              <a:chExt cx="284403" cy="690563"/>
            </a:xfrm>
          </p:grpSpPr>
          <p:sp>
            <p:nvSpPr>
              <p:cNvPr id="149" name="Google Shape;149;p11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" name="Google Shape;152;p11"/>
            <p:cNvGrpSpPr/>
            <p:nvPr/>
          </p:nvGrpSpPr>
          <p:grpSpPr>
            <a:xfrm rot="-7078930">
              <a:off x="14371" y="492790"/>
              <a:ext cx="619304" cy="330927"/>
              <a:chOff x="5031250" y="135875"/>
              <a:chExt cx="619300" cy="330925"/>
            </a:xfrm>
          </p:grpSpPr>
          <p:sp>
            <p:nvSpPr>
              <p:cNvPr id="153" name="Google Shape;153;p11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1"/>
          </p:nvPr>
        </p:nvSpPr>
        <p:spPr>
          <a:xfrm>
            <a:off x="722375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subTitle" idx="2"/>
          </p:nvPr>
        </p:nvSpPr>
        <p:spPr>
          <a:xfrm>
            <a:off x="3451238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3"/>
          </p:nvPr>
        </p:nvSpPr>
        <p:spPr>
          <a:xfrm>
            <a:off x="6180126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4"/>
          </p:nvPr>
        </p:nvSpPr>
        <p:spPr>
          <a:xfrm>
            <a:off x="722375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subTitle" idx="5"/>
          </p:nvPr>
        </p:nvSpPr>
        <p:spPr>
          <a:xfrm>
            <a:off x="3451247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subTitle" idx="6"/>
          </p:nvPr>
        </p:nvSpPr>
        <p:spPr>
          <a:xfrm>
            <a:off x="6180122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220" name="Google Shape;220;p16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21" name="Google Shape;221;p16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16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3" name="Google Shape;223;p16"/>
          <p:cNvGrpSpPr/>
          <p:nvPr/>
        </p:nvGrpSpPr>
        <p:grpSpPr>
          <a:xfrm>
            <a:off x="273135" y="173920"/>
            <a:ext cx="7622917" cy="4923204"/>
            <a:chOff x="273135" y="173920"/>
            <a:chExt cx="7622917" cy="4923204"/>
          </a:xfrm>
        </p:grpSpPr>
        <p:grpSp>
          <p:nvGrpSpPr>
            <p:cNvPr id="224" name="Google Shape;224;p16"/>
            <p:cNvGrpSpPr/>
            <p:nvPr/>
          </p:nvGrpSpPr>
          <p:grpSpPr>
            <a:xfrm rot="2048007">
              <a:off x="442377" y="194231"/>
              <a:ext cx="284392" cy="690535"/>
              <a:chOff x="276425" y="4185388"/>
              <a:chExt cx="284403" cy="690563"/>
            </a:xfrm>
          </p:grpSpPr>
          <p:sp>
            <p:nvSpPr>
              <p:cNvPr id="225" name="Google Shape;225;p16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6"/>
            <p:cNvGrpSpPr/>
            <p:nvPr/>
          </p:nvGrpSpPr>
          <p:grpSpPr>
            <a:xfrm rot="-1724611">
              <a:off x="7235323" y="4637670"/>
              <a:ext cx="619313" cy="330932"/>
              <a:chOff x="5031250" y="135875"/>
              <a:chExt cx="619300" cy="330925"/>
            </a:xfrm>
          </p:grpSpPr>
          <p:sp>
            <p:nvSpPr>
              <p:cNvPr id="229" name="Google Shape;229;p16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 txBox="1">
            <a:spLocks noGrp="1"/>
          </p:cNvSpPr>
          <p:nvPr>
            <p:ph type="ctrTitle"/>
          </p:nvPr>
        </p:nvSpPr>
        <p:spPr>
          <a:xfrm>
            <a:off x="4910550" y="849513"/>
            <a:ext cx="3070200" cy="89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subTitle" idx="1"/>
          </p:nvPr>
        </p:nvSpPr>
        <p:spPr>
          <a:xfrm>
            <a:off x="4910550" y="1632463"/>
            <a:ext cx="30702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4910649" y="3334349"/>
            <a:ext cx="2529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Darker Grotesque"/>
                <a:ea typeface="Darker Grotesque"/>
                <a:cs typeface="Darker Grotesque"/>
                <a:sym typeface="Darker Grotesq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grpSp>
        <p:nvGrpSpPr>
          <p:cNvPr id="301" name="Google Shape;301;p20"/>
          <p:cNvGrpSpPr/>
          <p:nvPr/>
        </p:nvGrpSpPr>
        <p:grpSpPr>
          <a:xfrm>
            <a:off x="201664" y="252339"/>
            <a:ext cx="8700074" cy="4804662"/>
            <a:chOff x="201664" y="252339"/>
            <a:chExt cx="8700074" cy="4804662"/>
          </a:xfrm>
        </p:grpSpPr>
        <p:grpSp>
          <p:nvGrpSpPr>
            <p:cNvPr id="302" name="Google Shape;302;p20"/>
            <p:cNvGrpSpPr/>
            <p:nvPr/>
          </p:nvGrpSpPr>
          <p:grpSpPr>
            <a:xfrm rot="-6063156">
              <a:off x="8370359" y="422495"/>
              <a:ext cx="619267" cy="330908"/>
              <a:chOff x="5031250" y="135875"/>
              <a:chExt cx="619300" cy="330925"/>
            </a:xfrm>
          </p:grpSpPr>
          <p:sp>
            <p:nvSpPr>
              <p:cNvPr id="303" name="Google Shape;303;p20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0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" name="Google Shape;306;p20"/>
            <p:cNvGrpSpPr/>
            <p:nvPr/>
          </p:nvGrpSpPr>
          <p:grpSpPr>
            <a:xfrm rot="-2700000">
              <a:off x="404163" y="4367023"/>
              <a:ext cx="284400" cy="690556"/>
              <a:chOff x="276425" y="4185388"/>
              <a:chExt cx="284403" cy="690563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0" name="Google Shape;310;p20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311" name="Google Shape;311;p20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20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21"/>
          <p:cNvGrpSpPr/>
          <p:nvPr/>
        </p:nvGrpSpPr>
        <p:grpSpPr>
          <a:xfrm rot="-6063156">
            <a:off x="8370359" y="422495"/>
            <a:ext cx="619267" cy="330908"/>
            <a:chOff x="5031250" y="135875"/>
            <a:chExt cx="619300" cy="330925"/>
          </a:xfrm>
        </p:grpSpPr>
        <p:sp>
          <p:nvSpPr>
            <p:cNvPr id="315" name="Google Shape;315;p21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21"/>
          <p:cNvGrpSpPr/>
          <p:nvPr/>
        </p:nvGrpSpPr>
        <p:grpSpPr>
          <a:xfrm rot="-2700000">
            <a:off x="404163" y="4367023"/>
            <a:ext cx="284400" cy="690556"/>
            <a:chOff x="276425" y="4185388"/>
            <a:chExt cx="284403" cy="690563"/>
          </a:xfrm>
        </p:grpSpPr>
        <p:sp>
          <p:nvSpPr>
            <p:cNvPr id="319" name="Google Shape;319;p21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323" name="Google Shape;323;p21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1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5" name="Google Shape;325;p21"/>
          <p:cNvGrpSpPr/>
          <p:nvPr/>
        </p:nvGrpSpPr>
        <p:grpSpPr>
          <a:xfrm>
            <a:off x="7399488" y="128932"/>
            <a:ext cx="794694" cy="794618"/>
            <a:chOff x="276382" y="1174752"/>
            <a:chExt cx="895027" cy="894940"/>
          </a:xfrm>
        </p:grpSpPr>
        <p:grpSp>
          <p:nvGrpSpPr>
            <p:cNvPr id="326" name="Google Shape;326;p21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327" name="Google Shape;327;p21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9" name="Google Shape;329;p21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30" name="Google Shape;330;p21"/>
          <p:cNvGrpSpPr/>
          <p:nvPr/>
        </p:nvGrpSpPr>
        <p:grpSpPr>
          <a:xfrm>
            <a:off x="129253" y="3079528"/>
            <a:ext cx="834200" cy="794609"/>
            <a:chOff x="5694450" y="929325"/>
            <a:chExt cx="607000" cy="578150"/>
          </a:xfrm>
        </p:grpSpPr>
        <p:sp>
          <p:nvSpPr>
            <p:cNvPr id="331" name="Google Shape;331;p21"/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2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336" name="Google Shape;336;p22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2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8" name="Google Shape;338;p22"/>
          <p:cNvGrpSpPr/>
          <p:nvPr/>
        </p:nvGrpSpPr>
        <p:grpSpPr>
          <a:xfrm rot="-7078930">
            <a:off x="14371" y="492790"/>
            <a:ext cx="619304" cy="330927"/>
            <a:chOff x="5031250" y="135875"/>
            <a:chExt cx="619300" cy="330925"/>
          </a:xfrm>
        </p:grpSpPr>
        <p:sp>
          <p:nvSpPr>
            <p:cNvPr id="339" name="Google Shape;339;p22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22"/>
          <p:cNvGrpSpPr/>
          <p:nvPr/>
        </p:nvGrpSpPr>
        <p:grpSpPr>
          <a:xfrm rot="9796004">
            <a:off x="8647557" y="2986565"/>
            <a:ext cx="284387" cy="690523"/>
            <a:chOff x="276425" y="4185388"/>
            <a:chExt cx="284403" cy="690563"/>
          </a:xfrm>
        </p:grpSpPr>
        <p:sp>
          <p:nvSpPr>
            <p:cNvPr id="343" name="Google Shape;343;p22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1070645" y="248146"/>
            <a:ext cx="869658" cy="820223"/>
            <a:chOff x="283800" y="1696800"/>
            <a:chExt cx="1158000" cy="1092175"/>
          </a:xfrm>
        </p:grpSpPr>
        <p:sp>
          <p:nvSpPr>
            <p:cNvPr id="347" name="Google Shape;347;p22"/>
            <p:cNvSpPr/>
            <p:nvPr/>
          </p:nvSpPr>
          <p:spPr>
            <a:xfrm>
              <a:off x="283800" y="1799275"/>
              <a:ext cx="1158000" cy="989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424775" y="1696800"/>
              <a:ext cx="46200" cy="1587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1254627" y="1696800"/>
              <a:ext cx="46200" cy="1587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1101901" y="193751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1255353" y="193751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334638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88090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641543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94995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948448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1101901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1255353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334638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88090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641543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94995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948448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1101901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1255353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334638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488090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641543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4995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948448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1101901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1255353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34638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488090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641543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94995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 rot="-8100000">
              <a:off x="1143617" y="195565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 rot="-8100000">
              <a:off x="1297067" y="195565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 rot="-8100000">
              <a:off x="11436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 rot="-8100000">
              <a:off x="12970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 rot="-8100000">
              <a:off x="8367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 rot="-8100000">
              <a:off x="9901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 rot="-8100000">
              <a:off x="5298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 rot="-8100000">
              <a:off x="6832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 rot="-8100000">
              <a:off x="3763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22"/>
          <p:cNvGrpSpPr/>
          <p:nvPr/>
        </p:nvGrpSpPr>
        <p:grpSpPr>
          <a:xfrm>
            <a:off x="7753797" y="4204390"/>
            <a:ext cx="519461" cy="799222"/>
            <a:chOff x="3334313" y="1341356"/>
            <a:chExt cx="798434" cy="1228438"/>
          </a:xfrm>
        </p:grpSpPr>
        <p:sp>
          <p:nvSpPr>
            <p:cNvPr id="387" name="Google Shape;387;p22"/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  <p:sldLayoutId id="2147483666" r:id="rId11"/>
    <p:sldLayoutId id="2147483667" r:id="rId12"/>
    <p:sldLayoutId id="214748366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4" name="Google Shape;404;p26"/>
          <p:cNvCxnSpPr/>
          <p:nvPr/>
        </p:nvCxnSpPr>
        <p:spPr>
          <a:xfrm>
            <a:off x="4316975" y="3319625"/>
            <a:ext cx="4931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p26"/>
          <p:cNvSpPr txBox="1">
            <a:spLocks noGrp="1"/>
          </p:cNvSpPr>
          <p:nvPr>
            <p:ph type="ctrTitle"/>
          </p:nvPr>
        </p:nvSpPr>
        <p:spPr>
          <a:xfrm>
            <a:off x="4271125" y="749508"/>
            <a:ext cx="4752874" cy="2497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dirty="0"/>
              <a:t>Day 1: Foundations of Software Engineering</a:t>
            </a:r>
          </a:p>
        </p:txBody>
      </p:sp>
      <p:cxnSp>
        <p:nvCxnSpPr>
          <p:cNvPr id="407" name="Google Shape;407;p26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8" name="Google Shape;408;p26"/>
          <p:cNvGrpSpPr/>
          <p:nvPr/>
        </p:nvGrpSpPr>
        <p:grpSpPr>
          <a:xfrm>
            <a:off x="8196000" y="135875"/>
            <a:ext cx="619300" cy="330925"/>
            <a:chOff x="5031250" y="135875"/>
            <a:chExt cx="619300" cy="330925"/>
          </a:xfrm>
        </p:grpSpPr>
        <p:sp>
          <p:nvSpPr>
            <p:cNvPr id="409" name="Google Shape;409;p26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6"/>
          <p:cNvGrpSpPr/>
          <p:nvPr/>
        </p:nvGrpSpPr>
        <p:grpSpPr>
          <a:xfrm>
            <a:off x="276425" y="4185388"/>
            <a:ext cx="284403" cy="690563"/>
            <a:chOff x="276425" y="4185388"/>
            <a:chExt cx="284403" cy="690563"/>
          </a:xfrm>
        </p:grpSpPr>
        <p:sp>
          <p:nvSpPr>
            <p:cNvPr id="413" name="Google Shape;413;p26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6" name="Google Shape;416;p26"/>
          <p:cNvCxnSpPr/>
          <p:nvPr/>
        </p:nvCxnSpPr>
        <p:spPr>
          <a:xfrm>
            <a:off x="4570500" y="483631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7" name="Google Shape;417;p26"/>
          <p:cNvGrpSpPr/>
          <p:nvPr/>
        </p:nvGrpSpPr>
        <p:grpSpPr>
          <a:xfrm>
            <a:off x="469763" y="1146530"/>
            <a:ext cx="3536277" cy="2730514"/>
            <a:chOff x="276382" y="1146476"/>
            <a:chExt cx="3729464" cy="2879682"/>
          </a:xfrm>
        </p:grpSpPr>
        <p:sp>
          <p:nvSpPr>
            <p:cNvPr id="418" name="Google Shape;418;p26"/>
            <p:cNvSpPr/>
            <p:nvPr/>
          </p:nvSpPr>
          <p:spPr>
            <a:xfrm>
              <a:off x="1677049" y="1415140"/>
              <a:ext cx="1745661" cy="70"/>
            </a:xfrm>
            <a:custGeom>
              <a:avLst/>
              <a:gdLst/>
              <a:ahLst/>
              <a:cxnLst/>
              <a:rect l="l" t="t" r="r" b="b"/>
              <a:pathLst>
                <a:path w="25112" h="1" extrusionOk="0">
                  <a:moveTo>
                    <a:pt x="1" y="1"/>
                  </a:moveTo>
                  <a:lnTo>
                    <a:pt x="2511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 rot="10800000" flipH="1">
              <a:off x="1118149" y="1408500"/>
              <a:ext cx="2304654" cy="53950"/>
            </a:xfrm>
            <a:custGeom>
              <a:avLst/>
              <a:gdLst/>
              <a:ahLst/>
              <a:cxnLst/>
              <a:rect l="l" t="t" r="r" b="b"/>
              <a:pathLst>
                <a:path w="25112" h="1" fill="none" extrusionOk="0">
                  <a:moveTo>
                    <a:pt x="1" y="1"/>
                  </a:moveTo>
                  <a:lnTo>
                    <a:pt x="2511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2867248" y="2069520"/>
              <a:ext cx="760147" cy="1520348"/>
            </a:xfrm>
            <a:custGeom>
              <a:avLst/>
              <a:gdLst/>
              <a:ahLst/>
              <a:cxnLst/>
              <a:rect l="l" t="t" r="r" b="b"/>
              <a:pathLst>
                <a:path w="10935" h="21870" fill="none" extrusionOk="0">
                  <a:moveTo>
                    <a:pt x="0" y="21869"/>
                  </a:moveTo>
                  <a:lnTo>
                    <a:pt x="10935" y="21869"/>
                  </a:lnTo>
                  <a:lnTo>
                    <a:pt x="10935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484960" y="1975316"/>
              <a:ext cx="1228198" cy="1070327"/>
            </a:xfrm>
            <a:custGeom>
              <a:avLst/>
              <a:gdLst/>
              <a:ahLst/>
              <a:cxnLst/>
              <a:rect l="l" t="t" r="r" b="b"/>
              <a:pathLst>
                <a:path w="13091" h="11408" fill="none" extrusionOk="0">
                  <a:moveTo>
                    <a:pt x="1" y="0"/>
                  </a:moveTo>
                  <a:lnTo>
                    <a:pt x="1" y="11407"/>
                  </a:lnTo>
                  <a:lnTo>
                    <a:pt x="13090" y="1140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689115" y="2982532"/>
              <a:ext cx="122277" cy="122212"/>
            </a:xfrm>
            <a:custGeom>
              <a:avLst/>
              <a:gdLst/>
              <a:ahLst/>
              <a:cxnLst/>
              <a:rect l="l" t="t" r="r" b="b"/>
              <a:pathLst>
                <a:path w="1759" h="1758" extrusionOk="0">
                  <a:moveTo>
                    <a:pt x="879" y="0"/>
                  </a:moveTo>
                  <a:cubicBezTo>
                    <a:pt x="397" y="0"/>
                    <a:pt x="0" y="397"/>
                    <a:pt x="0" y="879"/>
                  </a:cubicBezTo>
                  <a:cubicBezTo>
                    <a:pt x="0" y="1370"/>
                    <a:pt x="397" y="1758"/>
                    <a:pt x="879" y="1758"/>
                  </a:cubicBezTo>
                  <a:cubicBezTo>
                    <a:pt x="1361" y="1758"/>
                    <a:pt x="1758" y="1370"/>
                    <a:pt x="1758" y="879"/>
                  </a:cubicBezTo>
                  <a:cubicBezTo>
                    <a:pt x="1758" y="397"/>
                    <a:pt x="1361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620450" y="1352086"/>
              <a:ext cx="121651" cy="122281"/>
            </a:xfrm>
            <a:custGeom>
              <a:avLst/>
              <a:gdLst/>
              <a:ahLst/>
              <a:cxnLst/>
              <a:rect l="l" t="t" r="r" b="b"/>
              <a:pathLst>
                <a:path w="1750" h="1759" extrusionOk="0">
                  <a:moveTo>
                    <a:pt x="870" y="1"/>
                  </a:moveTo>
                  <a:cubicBezTo>
                    <a:pt x="388" y="1"/>
                    <a:pt x="1" y="398"/>
                    <a:pt x="1" y="880"/>
                  </a:cubicBezTo>
                  <a:cubicBezTo>
                    <a:pt x="1" y="1371"/>
                    <a:pt x="388" y="1758"/>
                    <a:pt x="870" y="1758"/>
                  </a:cubicBezTo>
                  <a:cubicBezTo>
                    <a:pt x="1362" y="1758"/>
                    <a:pt x="1749" y="1371"/>
                    <a:pt x="1749" y="880"/>
                  </a:cubicBezTo>
                  <a:cubicBezTo>
                    <a:pt x="1749" y="398"/>
                    <a:pt x="1362" y="1"/>
                    <a:pt x="8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3564285" y="2868429"/>
              <a:ext cx="122277" cy="122281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1"/>
                  </a:moveTo>
                  <a:cubicBezTo>
                    <a:pt x="397" y="1"/>
                    <a:pt x="0" y="398"/>
                    <a:pt x="0" y="880"/>
                  </a:cubicBezTo>
                  <a:cubicBezTo>
                    <a:pt x="0" y="1371"/>
                    <a:pt x="397" y="1758"/>
                    <a:pt x="879" y="1758"/>
                  </a:cubicBezTo>
                  <a:cubicBezTo>
                    <a:pt x="1361" y="1758"/>
                    <a:pt x="1758" y="1371"/>
                    <a:pt x="1758" y="880"/>
                  </a:cubicBezTo>
                  <a:cubicBezTo>
                    <a:pt x="1758" y="398"/>
                    <a:pt x="1361" y="1"/>
                    <a:pt x="8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5" name="Google Shape;425;p26"/>
            <p:cNvGrpSpPr/>
            <p:nvPr/>
          </p:nvGrpSpPr>
          <p:grpSpPr>
            <a:xfrm>
              <a:off x="905779" y="2238401"/>
              <a:ext cx="2374402" cy="1787757"/>
              <a:chOff x="1209760" y="2377273"/>
              <a:chExt cx="2083174" cy="1568483"/>
            </a:xfrm>
          </p:grpSpPr>
          <p:sp>
            <p:nvSpPr>
              <p:cNvPr id="426" name="Google Shape;426;p26"/>
              <p:cNvSpPr/>
              <p:nvPr/>
            </p:nvSpPr>
            <p:spPr>
              <a:xfrm>
                <a:off x="2028856" y="3557172"/>
                <a:ext cx="445593" cy="347108"/>
              </a:xfrm>
              <a:custGeom>
                <a:avLst/>
                <a:gdLst/>
                <a:ahLst/>
                <a:cxnLst/>
                <a:rect l="l" t="t" r="r" b="b"/>
                <a:pathLst>
                  <a:path w="7306" h="5691" extrusionOk="0">
                    <a:moveTo>
                      <a:pt x="0" y="1"/>
                    </a:moveTo>
                    <a:lnTo>
                      <a:pt x="0" y="5690"/>
                    </a:lnTo>
                    <a:lnTo>
                      <a:pt x="7305" y="5690"/>
                    </a:lnTo>
                    <a:lnTo>
                      <a:pt x="7305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489887" y="3898426"/>
                <a:ext cx="1543108" cy="47330"/>
              </a:xfrm>
              <a:custGeom>
                <a:avLst/>
                <a:gdLst/>
                <a:ahLst/>
                <a:cxnLst/>
                <a:rect l="l" t="t" r="r" b="b"/>
                <a:pathLst>
                  <a:path w="25301" h="776" extrusionOk="0">
                    <a:moveTo>
                      <a:pt x="1" y="1"/>
                    </a:moveTo>
                    <a:lnTo>
                      <a:pt x="1" y="776"/>
                    </a:lnTo>
                    <a:lnTo>
                      <a:pt x="25300" y="776"/>
                    </a:lnTo>
                    <a:lnTo>
                      <a:pt x="25300" y="1"/>
                    </a:lnTo>
                    <a:close/>
                  </a:path>
                </a:pathLst>
              </a:custGeom>
              <a:solidFill>
                <a:srgbClr val="936EBE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1209760" y="2377273"/>
                <a:ext cx="2083174" cy="1254921"/>
              </a:xfrm>
              <a:custGeom>
                <a:avLst/>
                <a:gdLst/>
                <a:ahLst/>
                <a:cxnLst/>
                <a:rect l="l" t="t" r="r" b="b"/>
                <a:pathLst>
                  <a:path w="34156" h="20575" extrusionOk="0">
                    <a:moveTo>
                      <a:pt x="1135" y="1"/>
                    </a:moveTo>
                    <a:cubicBezTo>
                      <a:pt x="511" y="1"/>
                      <a:pt x="1" y="511"/>
                      <a:pt x="1" y="1135"/>
                    </a:cubicBezTo>
                    <a:lnTo>
                      <a:pt x="1" y="19440"/>
                    </a:lnTo>
                    <a:cubicBezTo>
                      <a:pt x="1" y="20064"/>
                      <a:pt x="511" y="20574"/>
                      <a:pt x="1135" y="20574"/>
                    </a:cubicBezTo>
                    <a:lnTo>
                      <a:pt x="33021" y="20574"/>
                    </a:lnTo>
                    <a:cubicBezTo>
                      <a:pt x="33654" y="20574"/>
                      <a:pt x="34155" y="20064"/>
                      <a:pt x="34155" y="19440"/>
                    </a:cubicBezTo>
                    <a:lnTo>
                      <a:pt x="34155" y="1135"/>
                    </a:lnTo>
                    <a:cubicBezTo>
                      <a:pt x="34155" y="511"/>
                      <a:pt x="33654" y="1"/>
                      <a:pt x="33021" y="1"/>
                    </a:cubicBezTo>
                    <a:close/>
                  </a:path>
                </a:pathLst>
              </a:custGeom>
              <a:solidFill>
                <a:srgbClr val="936EB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1316431" y="2487974"/>
                <a:ext cx="1870441" cy="939041"/>
              </a:xfrm>
              <a:custGeom>
                <a:avLst/>
                <a:gdLst/>
                <a:ahLst/>
                <a:cxnLst/>
                <a:rect l="l" t="t" r="r" b="b"/>
                <a:pathLst>
                  <a:path w="30668" h="15396" extrusionOk="0">
                    <a:moveTo>
                      <a:pt x="0" y="0"/>
                    </a:moveTo>
                    <a:lnTo>
                      <a:pt x="0" y="15395"/>
                    </a:lnTo>
                    <a:lnTo>
                      <a:pt x="30667" y="15395"/>
                    </a:lnTo>
                    <a:lnTo>
                      <a:pt x="30667" y="0"/>
                    </a:lnTo>
                    <a:close/>
                  </a:path>
                </a:pathLst>
              </a:custGeom>
              <a:solidFill>
                <a:srgbClr val="E489B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2190235" y="3479956"/>
                <a:ext cx="122834" cy="122290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2005" extrusionOk="0">
                    <a:moveTo>
                      <a:pt x="1002" y="1"/>
                    </a:moveTo>
                    <a:cubicBezTo>
                      <a:pt x="454" y="1"/>
                      <a:pt x="0" y="454"/>
                      <a:pt x="0" y="1002"/>
                    </a:cubicBezTo>
                    <a:cubicBezTo>
                      <a:pt x="0" y="1560"/>
                      <a:pt x="454" y="2004"/>
                      <a:pt x="1002" y="2004"/>
                    </a:cubicBezTo>
                    <a:cubicBezTo>
                      <a:pt x="1560" y="2004"/>
                      <a:pt x="2013" y="1560"/>
                      <a:pt x="2013" y="1002"/>
                    </a:cubicBezTo>
                    <a:cubicBezTo>
                      <a:pt x="2013" y="454"/>
                      <a:pt x="1560" y="1"/>
                      <a:pt x="10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1" name="Google Shape;431;p26"/>
            <p:cNvGrpSpPr/>
            <p:nvPr/>
          </p:nvGrpSpPr>
          <p:grpSpPr>
            <a:xfrm>
              <a:off x="3211245" y="1146476"/>
              <a:ext cx="794601" cy="1222664"/>
              <a:chOff x="3334313" y="1341356"/>
              <a:chExt cx="798434" cy="1228438"/>
            </a:xfrm>
          </p:grpSpPr>
          <p:sp>
            <p:nvSpPr>
              <p:cNvPr id="432" name="Google Shape;432;p26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rgbClr val="5FB0DA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rgbClr val="E489B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>
              <a:off x="276382" y="1174752"/>
              <a:ext cx="895027" cy="894940"/>
              <a:chOff x="276382" y="1174752"/>
              <a:chExt cx="895027" cy="894940"/>
            </a:xfrm>
          </p:grpSpPr>
          <p:grpSp>
            <p:nvGrpSpPr>
              <p:cNvPr id="440" name="Google Shape;440;p26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441" name="Google Shape;441;p26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26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43" name="Google Shape;443;p26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44" name="Google Shape;444;p26"/>
            <p:cNvGrpSpPr/>
            <p:nvPr/>
          </p:nvGrpSpPr>
          <p:grpSpPr>
            <a:xfrm>
              <a:off x="1195050" y="2449275"/>
              <a:ext cx="1713592" cy="857900"/>
              <a:chOff x="1195050" y="2449275"/>
              <a:chExt cx="1713592" cy="857900"/>
            </a:xfrm>
          </p:grpSpPr>
          <p:sp>
            <p:nvSpPr>
              <p:cNvPr id="445" name="Google Shape;445;p26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1359750" y="2811950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237974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258329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278684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1359750" y="2964325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237974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258329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278684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1359750" y="3116700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237974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258329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278684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6"/>
              <p:cNvSpPr/>
              <p:nvPr/>
            </p:nvSpPr>
            <p:spPr>
              <a:xfrm>
                <a:off x="1359750" y="3269075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237974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6"/>
              <p:cNvSpPr/>
              <p:nvPr/>
            </p:nvSpPr>
            <p:spPr>
              <a:xfrm>
                <a:off x="258329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278684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6"/>
              <p:cNvSpPr/>
              <p:nvPr/>
            </p:nvSpPr>
            <p:spPr>
              <a:xfrm>
                <a:off x="1236725" y="2796050"/>
                <a:ext cx="986700" cy="54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1236725" y="2948425"/>
                <a:ext cx="440400" cy="540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6"/>
              <p:cNvSpPr/>
              <p:nvPr/>
            </p:nvSpPr>
            <p:spPr>
              <a:xfrm>
                <a:off x="1236725" y="3100800"/>
                <a:ext cx="619200" cy="54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6"/>
              <p:cNvSpPr/>
              <p:nvPr/>
            </p:nvSpPr>
            <p:spPr>
              <a:xfrm>
                <a:off x="1236725" y="3253175"/>
                <a:ext cx="810300" cy="540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xfrm>
            <a:off x="1216926" y="2045867"/>
            <a:ext cx="3983662" cy="18054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 to Software Engineering</a:t>
            </a:r>
            <a:endParaRPr dirty="0"/>
          </a:p>
        </p:txBody>
      </p:sp>
      <p:sp>
        <p:nvSpPr>
          <p:cNvPr id="603" name="Google Shape;603;p30"/>
          <p:cNvSpPr txBox="1">
            <a:spLocks noGrp="1"/>
          </p:cNvSpPr>
          <p:nvPr>
            <p:ph type="title" idx="2"/>
          </p:nvPr>
        </p:nvSpPr>
        <p:spPr>
          <a:xfrm>
            <a:off x="1420245" y="1148175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604" name="Google Shape;604;p30"/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/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/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/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/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32" name="Google Shape;632;p30"/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/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/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 vs Engineering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660031" y="1447554"/>
            <a:ext cx="7904921" cy="7316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were asked to build an app in 2 days for fun, vs. a banking system for millions, what changes?</a:t>
            </a:r>
            <a:endParaRPr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8" name="Google Shape;710;p32">
            <a:extLst>
              <a:ext uri="{FF2B5EF4-FFF2-40B4-BE49-F238E27FC236}">
                <a16:creationId xmlns:a16="http://schemas.microsoft.com/office/drawing/2014/main" id="{18C23833-C2C2-4F5C-B4DA-35986FAC3B53}"/>
              </a:ext>
            </a:extLst>
          </p:cNvPr>
          <p:cNvSpPr txBox="1">
            <a:spLocks/>
          </p:cNvSpPr>
          <p:nvPr/>
        </p:nvSpPr>
        <p:spPr>
          <a:xfrm>
            <a:off x="660031" y="2375206"/>
            <a:ext cx="7904921" cy="4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companies bring a product to a user?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 vs Engineering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4D3454-620F-4C34-B850-3C80F7DC9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039035"/>
              </p:ext>
            </p:extLst>
          </p:nvPr>
        </p:nvGraphicFramePr>
        <p:xfrm>
          <a:off x="788638" y="1569734"/>
          <a:ext cx="7699200" cy="1645920"/>
        </p:xfrm>
        <a:graphic>
          <a:graphicData uri="http://schemas.openxmlformats.org/drawingml/2006/table">
            <a:tbl>
              <a:tblPr/>
              <a:tblGrid>
                <a:gridCol w="2566400">
                  <a:extLst>
                    <a:ext uri="{9D8B030D-6E8A-4147-A177-3AD203B41FA5}">
                      <a16:colId xmlns:a16="http://schemas.microsoft.com/office/drawing/2014/main" val="1201122399"/>
                    </a:ext>
                  </a:extLst>
                </a:gridCol>
                <a:gridCol w="2566400">
                  <a:extLst>
                    <a:ext uri="{9D8B030D-6E8A-4147-A177-3AD203B41FA5}">
                      <a16:colId xmlns:a16="http://schemas.microsoft.com/office/drawing/2014/main" val="2111948725"/>
                    </a:ext>
                  </a:extLst>
                </a:gridCol>
                <a:gridCol w="2566400">
                  <a:extLst>
                    <a:ext uri="{9D8B030D-6E8A-4147-A177-3AD203B41FA5}">
                      <a16:colId xmlns:a16="http://schemas.microsoft.com/office/drawing/2014/main" val="95860683"/>
                    </a:ext>
                  </a:extLst>
                </a:gridCol>
              </a:tblGrid>
              <a:tr h="242125">
                <a:tc>
                  <a:txBody>
                    <a:bodyPr/>
                    <a:lstStyle/>
                    <a:p>
                      <a:r>
                        <a:rPr lang="en-US" sz="120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Personal Project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Banking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582413"/>
                  </a:ext>
                </a:extLst>
              </a:tr>
              <a:tr h="398795">
                <a:tc>
                  <a:txBody>
                    <a:bodyPr/>
                    <a:lstStyle/>
                    <a:p>
                      <a:r>
                        <a:rPr lang="en-US" sz="1200" b="1" dirty="0"/>
                        <a:t>Purpose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Explore an idea, 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Handle real money and people’s trust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694526"/>
                  </a:ext>
                </a:extLst>
              </a:tr>
              <a:tr h="398795">
                <a:tc>
                  <a:txBody>
                    <a:bodyPr/>
                    <a:lstStyle/>
                    <a:p>
                      <a:r>
                        <a:rPr lang="en-US" sz="1200" b="1"/>
                        <a:t>Success metric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“It runs and looks cool!”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“It’s secure, reliable, compliant, and scalable.”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65539"/>
                  </a:ext>
                </a:extLst>
              </a:tr>
              <a:tr h="398795">
                <a:tc>
                  <a:txBody>
                    <a:bodyPr/>
                    <a:lstStyle/>
                    <a:p>
                      <a:r>
                        <a:rPr lang="en-US" sz="1200" b="1"/>
                        <a:t>Time horizon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Disposable prototype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Long-term maintenance and evolution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2565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8D74992-1443-403D-B336-E756CCF6C41A}"/>
              </a:ext>
            </a:extLst>
          </p:cNvPr>
          <p:cNvSpPr txBox="1"/>
          <p:nvPr/>
        </p:nvSpPr>
        <p:spPr>
          <a:xfrm>
            <a:off x="788637" y="1250848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Mindset &amp; Goal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1A486-44D2-4D63-9147-292E86529FB4}"/>
              </a:ext>
            </a:extLst>
          </p:cNvPr>
          <p:cNvSpPr txBox="1"/>
          <p:nvPr/>
        </p:nvSpPr>
        <p:spPr>
          <a:xfrm>
            <a:off x="722375" y="3226763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Architecture &amp; Design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F5A5FB-A51F-4644-984E-C65F1C8AA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913"/>
              </p:ext>
            </p:extLst>
          </p:nvPr>
        </p:nvGraphicFramePr>
        <p:xfrm>
          <a:off x="788637" y="3506720"/>
          <a:ext cx="7699374" cy="1097280"/>
        </p:xfrm>
        <a:graphic>
          <a:graphicData uri="http://schemas.openxmlformats.org/drawingml/2006/table">
            <a:tbl>
              <a:tblPr/>
              <a:tblGrid>
                <a:gridCol w="2566458">
                  <a:extLst>
                    <a:ext uri="{9D8B030D-6E8A-4147-A177-3AD203B41FA5}">
                      <a16:colId xmlns:a16="http://schemas.microsoft.com/office/drawing/2014/main" val="1657750984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3807136242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3181485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Architecture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Simple monolith; minimal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Modular microservices or layered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30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Data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“Good enough for a few users”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Horizontally scalable with load balancing, replication, and 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054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90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 vs Engineering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4D3454-620F-4C34-B850-3C80F7DC9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15435"/>
              </p:ext>
            </p:extLst>
          </p:nvPr>
        </p:nvGraphicFramePr>
        <p:xfrm>
          <a:off x="722201" y="1570313"/>
          <a:ext cx="7646436" cy="457200"/>
        </p:xfrm>
        <a:graphic>
          <a:graphicData uri="http://schemas.openxmlformats.org/drawingml/2006/table">
            <a:tbl>
              <a:tblPr/>
              <a:tblGrid>
                <a:gridCol w="2548812">
                  <a:extLst>
                    <a:ext uri="{9D8B030D-6E8A-4147-A177-3AD203B41FA5}">
                      <a16:colId xmlns:a16="http://schemas.microsoft.com/office/drawing/2014/main" val="1201122399"/>
                    </a:ext>
                  </a:extLst>
                </a:gridCol>
                <a:gridCol w="2548812">
                  <a:extLst>
                    <a:ext uri="{9D8B030D-6E8A-4147-A177-3AD203B41FA5}">
                      <a16:colId xmlns:a16="http://schemas.microsoft.com/office/drawing/2014/main" val="2111948725"/>
                    </a:ext>
                  </a:extLst>
                </a:gridCol>
                <a:gridCol w="2548812">
                  <a:extLst>
                    <a:ext uri="{9D8B030D-6E8A-4147-A177-3AD203B41FA5}">
                      <a16:colId xmlns:a16="http://schemas.microsoft.com/office/drawing/2014/main" val="95860683"/>
                    </a:ext>
                  </a:extLst>
                </a:gridCol>
              </a:tblGrid>
              <a:tr h="242125">
                <a:tc>
                  <a:txBody>
                    <a:bodyPr/>
                    <a:lstStyle/>
                    <a:p>
                      <a:r>
                        <a:rPr lang="en-US" sz="1200" b="1" dirty="0"/>
                        <a:t>Extensibility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“We’ll rewrite it later”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Designed for future integration, APIs, and compliance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58241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897FB5-863B-4B7A-884F-A64138155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366183"/>
              </p:ext>
            </p:extLst>
          </p:nvPr>
        </p:nvGraphicFramePr>
        <p:xfrm>
          <a:off x="695844" y="2296792"/>
          <a:ext cx="7699374" cy="527999"/>
        </p:xfrm>
        <a:graphic>
          <a:graphicData uri="http://schemas.openxmlformats.org/drawingml/2006/table">
            <a:tbl>
              <a:tblPr/>
              <a:tblGrid>
                <a:gridCol w="2566458">
                  <a:extLst>
                    <a:ext uri="{9D8B030D-6E8A-4147-A177-3AD203B41FA5}">
                      <a16:colId xmlns:a16="http://schemas.microsoft.com/office/drawing/2014/main" val="832758881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1882291636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4170444414"/>
                    </a:ext>
                  </a:extLst>
                </a:gridCol>
              </a:tblGrid>
              <a:tr h="527999">
                <a:tc>
                  <a:txBody>
                    <a:bodyPr/>
                    <a:lstStyle/>
                    <a:p>
                      <a:r>
                        <a:rPr lang="en-US" sz="1200" b="1" dirty="0"/>
                        <a:t>Testing for exploits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 or minimal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Full security audits, penetration testing, continuous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1309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A62812B-02BE-4E0A-B4E4-0BD3AE4A2E0D}"/>
              </a:ext>
            </a:extLst>
          </p:cNvPr>
          <p:cNvSpPr txBox="1"/>
          <p:nvPr/>
        </p:nvSpPr>
        <p:spPr>
          <a:xfrm>
            <a:off x="664265" y="1980604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Security &amp; Compliance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A63F8-7312-4D24-8D1D-6B6CE599249D}"/>
              </a:ext>
            </a:extLst>
          </p:cNvPr>
          <p:cNvSpPr txBox="1"/>
          <p:nvPr/>
        </p:nvSpPr>
        <p:spPr>
          <a:xfrm>
            <a:off x="664265" y="1246107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Architecture &amp; Design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9DF2A9-02F3-4620-A8BC-59504B41C8DB}"/>
              </a:ext>
            </a:extLst>
          </p:cNvPr>
          <p:cNvSpPr txBox="1"/>
          <p:nvPr/>
        </p:nvSpPr>
        <p:spPr>
          <a:xfrm>
            <a:off x="722313" y="2833202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Development Process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6B8C40-B651-4230-8120-BA884DD6F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418927"/>
              </p:ext>
            </p:extLst>
          </p:nvPr>
        </p:nvGraphicFramePr>
        <p:xfrm>
          <a:off x="722201" y="3140979"/>
          <a:ext cx="7699374" cy="1371600"/>
        </p:xfrm>
        <a:graphic>
          <a:graphicData uri="http://schemas.openxmlformats.org/drawingml/2006/table">
            <a:tbl>
              <a:tblPr/>
              <a:tblGrid>
                <a:gridCol w="2566458">
                  <a:extLst>
                    <a:ext uri="{9D8B030D-6E8A-4147-A177-3AD203B41FA5}">
                      <a16:colId xmlns:a16="http://schemas.microsoft.com/office/drawing/2014/main" val="909413941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361127446"/>
                    </a:ext>
                  </a:extLst>
                </a:gridCol>
                <a:gridCol w="2566458">
                  <a:extLst>
                    <a:ext uri="{9D8B030D-6E8A-4147-A177-3AD203B41FA5}">
                      <a16:colId xmlns:a16="http://schemas.microsoft.com/office/drawing/2014/main" val="170671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Team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One or two devs hacking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Dozens of engineers, QA, compliance officers, 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581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Testing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Manual “click around”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Unit, integration, regression, performance, and UAT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35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Deployment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Push to production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Staged environments (dev → QA → staging → prod)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23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40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 vs Engineering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2812B-02BE-4E0A-B4E4-0BD3AE4A2E0D}"/>
              </a:ext>
            </a:extLst>
          </p:cNvPr>
          <p:cNvSpPr txBox="1"/>
          <p:nvPr/>
        </p:nvSpPr>
        <p:spPr>
          <a:xfrm>
            <a:off x="722375" y="2133674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Ethics, Regulation &amp; Accountability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A63F8-7312-4D24-8D1D-6B6CE599249D}"/>
              </a:ext>
            </a:extLst>
          </p:cNvPr>
          <p:cNvSpPr txBox="1"/>
          <p:nvPr/>
        </p:nvSpPr>
        <p:spPr>
          <a:xfrm>
            <a:off x="722375" y="1622937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User Experience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AF931-A772-49B4-8C65-142E2641EF13}"/>
              </a:ext>
            </a:extLst>
          </p:cNvPr>
          <p:cNvSpPr txBox="1"/>
          <p:nvPr/>
        </p:nvSpPr>
        <p:spPr>
          <a:xfrm>
            <a:off x="722375" y="2905010"/>
            <a:ext cx="68379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Conclude: </a:t>
            </a:r>
            <a:r>
              <a:rPr lang="en-US" sz="1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That’s the shift from programming → engineering</a:t>
            </a:r>
            <a:endParaRPr lang="en-US" sz="1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48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 of Software Engineering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583098" y="1239078"/>
            <a:ext cx="7637099" cy="1239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sz="16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IEEE Definition:</a:t>
            </a:r>
            <a:br>
              <a:rPr lang="en-US" sz="16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6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</a:t>
            </a:r>
            <a:r>
              <a:rPr lang="en-US" sz="1600" b="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 is the application of a systematic, disciplined, quantifiable approach to the development, operation, and maintenance of software.”</a:t>
            </a:r>
            <a:endParaRPr lang="en-US" sz="16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4CEAA-9106-4757-897B-47487AA33B4C}"/>
              </a:ext>
            </a:extLst>
          </p:cNvPr>
          <p:cNvSpPr txBox="1"/>
          <p:nvPr/>
        </p:nvSpPr>
        <p:spPr>
          <a:xfrm>
            <a:off x="722375" y="2772814"/>
            <a:ext cx="769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principles:</a:t>
            </a:r>
          </a:p>
          <a:p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Systematic → structured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Disciplined → follows rules/methodologies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Quantifiable → measurable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Maintenance → not just coding, but evolution</a:t>
            </a:r>
          </a:p>
        </p:txBody>
      </p:sp>
    </p:spTree>
    <p:extLst>
      <p:ext uri="{BB962C8B-B14F-4D97-AF65-F5344CB8AC3E}">
        <p14:creationId xmlns:p14="http://schemas.microsoft.com/office/powerpoint/2010/main" val="30600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is SE important?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22375" y="1263650"/>
            <a:ext cx="7944787" cy="18680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planning </a:t>
            </a:r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---------------------------------&gt; Delays &amp; costs </a:t>
            </a:r>
          </a:p>
          <a:p>
            <a:pPr marL="15240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No documentation --------------------------&gt; difficult maintenance </a:t>
            </a:r>
          </a:p>
          <a:p>
            <a:pPr marL="15240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No testing ---------------------------------------&gt; bugs </a:t>
            </a:r>
          </a:p>
          <a:p>
            <a:pPr marL="15240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Lack of user focus ----------------------------&gt; product failure </a:t>
            </a:r>
          </a:p>
          <a:p>
            <a:pPr marL="152400" indent="0" algn="l"/>
            <a:b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</a:br>
            <a:endParaRPr lang="en-US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4F46201-E8E8-4E19-AC12-BE964A2E42AB}"/>
              </a:ext>
            </a:extLst>
          </p:cNvPr>
          <p:cNvSpPr txBox="1"/>
          <p:nvPr/>
        </p:nvSpPr>
        <p:spPr>
          <a:xfrm>
            <a:off x="863808" y="2834293"/>
            <a:ext cx="73563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Studies:</a:t>
            </a:r>
          </a:p>
          <a:p>
            <a:endParaRPr lang="en-US" sz="16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Ariane 5 rocket failure (1996):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Software error → $370M loss.</a:t>
            </a:r>
          </a:p>
          <a:p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Healthcare system bug: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Incorrect dosage → patient harm.</a:t>
            </a:r>
          </a:p>
        </p:txBody>
      </p:sp>
    </p:spTree>
    <p:extLst>
      <p:ext uri="{BB962C8B-B14F-4D97-AF65-F5344CB8AC3E}">
        <p14:creationId xmlns:p14="http://schemas.microsoft.com/office/powerpoint/2010/main" val="397547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Deliver what the customer really needs</a:t>
            </a:r>
            <a:endParaRPr dirty="0"/>
          </a:p>
        </p:txBody>
      </p:sp>
      <p:pic>
        <p:nvPicPr>
          <p:cNvPr id="19" name="3 Imagen" descr="software_engineering_explained.gif">
            <a:extLst>
              <a:ext uri="{FF2B5EF4-FFF2-40B4-BE49-F238E27FC236}">
                <a16:creationId xmlns:a16="http://schemas.microsoft.com/office/drawing/2014/main" id="{DB0B228D-C4D0-4818-BF76-4FD6BC533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967" y="1441241"/>
            <a:ext cx="5743473" cy="30599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2686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6"/>
          <p:cNvSpPr txBox="1">
            <a:spLocks noGrp="1"/>
          </p:cNvSpPr>
          <p:nvPr>
            <p:ph type="title"/>
          </p:nvPr>
        </p:nvSpPr>
        <p:spPr>
          <a:xfrm>
            <a:off x="1393455" y="2273350"/>
            <a:ext cx="6456575" cy="596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“Software engineering is not about writing code faster—it’s about building software that lasts.”</a:t>
            </a:r>
            <a:endParaRPr sz="1600" dirty="0"/>
          </a:p>
        </p:txBody>
      </p:sp>
      <p:grpSp>
        <p:nvGrpSpPr>
          <p:cNvPr id="1004" name="Google Shape;1004;p36"/>
          <p:cNvGrpSpPr/>
          <p:nvPr/>
        </p:nvGrpSpPr>
        <p:grpSpPr>
          <a:xfrm>
            <a:off x="6578663" y="3537417"/>
            <a:ext cx="821098" cy="821018"/>
            <a:chOff x="276382" y="1174752"/>
            <a:chExt cx="895027" cy="894940"/>
          </a:xfrm>
        </p:grpSpPr>
        <p:grpSp>
          <p:nvGrpSpPr>
            <p:cNvPr id="1005" name="Google Shape;1005;p36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1006" name="Google Shape;1006;p36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6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8" name="Google Shape;1008;p36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09" name="Google Shape;1009;p36"/>
          <p:cNvGrpSpPr/>
          <p:nvPr/>
        </p:nvGrpSpPr>
        <p:grpSpPr>
          <a:xfrm rot="-507535">
            <a:off x="1187603" y="683970"/>
            <a:ext cx="519443" cy="799194"/>
            <a:chOff x="3334313" y="1341356"/>
            <a:chExt cx="798434" cy="1228438"/>
          </a:xfrm>
        </p:grpSpPr>
        <p:sp>
          <p:nvSpPr>
            <p:cNvPr id="1010" name="Google Shape;1010;p36"/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79945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software hard?</a:t>
            </a:r>
            <a:endParaRPr dirty="0"/>
          </a:p>
        </p:txBody>
      </p:sp>
      <p:cxnSp>
        <p:nvCxnSpPr>
          <p:cNvPr id="658" name="Google Shape;658;p31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8" name="Google Shape;688;p31"/>
          <p:cNvGrpSpPr/>
          <p:nvPr/>
        </p:nvGrpSpPr>
        <p:grpSpPr>
          <a:xfrm>
            <a:off x="8127066" y="1050393"/>
            <a:ext cx="838995" cy="799177"/>
            <a:chOff x="5694450" y="929325"/>
            <a:chExt cx="607000" cy="578150"/>
          </a:xfrm>
        </p:grpSpPr>
        <p:sp>
          <p:nvSpPr>
            <p:cNvPr id="689" name="Google Shape;689;p31"/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E52E27D-FCFD-4761-BF43-E17F5260D36C}"/>
              </a:ext>
            </a:extLst>
          </p:cNvPr>
          <p:cNvSpPr txBox="1"/>
          <p:nvPr/>
        </p:nvSpPr>
        <p:spPr>
          <a:xfrm>
            <a:off x="722375" y="1466966"/>
            <a:ext cx="630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“Think of an app you use daily — what makes it hard to build or maintain?”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901E16-315D-4A5A-B9B5-C44AFAB6EAB1}"/>
              </a:ext>
            </a:extLst>
          </p:cNvPr>
          <p:cNvSpPr txBox="1"/>
          <p:nvPr/>
        </p:nvSpPr>
        <p:spPr>
          <a:xfrm>
            <a:off x="722375" y="2030929"/>
            <a:ext cx="6303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🧩 </a:t>
            </a:r>
            <a:r>
              <a:rPr lang="en-US" b="1" dirty="0"/>
              <a:t>Key Challenges in Modern Software Engineering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FA2E7C-9970-435E-86C6-0610B6F3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9508"/>
              </p:ext>
            </p:extLst>
          </p:nvPr>
        </p:nvGraphicFramePr>
        <p:xfrm>
          <a:off x="722375" y="2603981"/>
          <a:ext cx="7699200" cy="1944662"/>
        </p:xfrm>
        <a:graphic>
          <a:graphicData uri="http://schemas.openxmlformats.org/drawingml/2006/table">
            <a:tbl>
              <a:tblPr firstRow="1" bandRow="1">
                <a:tableStyleId>{1EFBE2C8-3060-474B-AAC7-C5488FA1555E}</a:tableStyleId>
              </a:tblPr>
              <a:tblGrid>
                <a:gridCol w="2566400">
                  <a:extLst>
                    <a:ext uri="{9D8B030D-6E8A-4147-A177-3AD203B41FA5}">
                      <a16:colId xmlns:a16="http://schemas.microsoft.com/office/drawing/2014/main" val="478056074"/>
                    </a:ext>
                  </a:extLst>
                </a:gridCol>
                <a:gridCol w="2566400">
                  <a:extLst>
                    <a:ext uri="{9D8B030D-6E8A-4147-A177-3AD203B41FA5}">
                      <a16:colId xmlns:a16="http://schemas.microsoft.com/office/drawing/2014/main" val="1145095948"/>
                    </a:ext>
                  </a:extLst>
                </a:gridCol>
                <a:gridCol w="2566400">
                  <a:extLst>
                    <a:ext uri="{9D8B030D-6E8A-4147-A177-3AD203B41FA5}">
                      <a16:colId xmlns:a16="http://schemas.microsoft.com/office/drawing/2014/main" val="764342629"/>
                    </a:ext>
                  </a:extLst>
                </a:gridCol>
              </a:tblGrid>
              <a:tr h="60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Challenge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61002"/>
                  </a:ext>
                </a:extLst>
              </a:tr>
              <a:tr h="606571">
                <a:tc>
                  <a:txBody>
                    <a:bodyPr/>
                    <a:lstStyle/>
                    <a:p>
                      <a:r>
                        <a:rPr lang="en-US" dirty="0"/>
                        <a:t>Systems today are large and interconnected.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Increasing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E-commerce with payment, delivery, AI, and Health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38887"/>
                  </a:ext>
                </a:extLst>
              </a:tr>
              <a:tr h="606571">
                <a:tc>
                  <a:txBody>
                    <a:bodyPr/>
                    <a:lstStyle/>
                    <a:p>
                      <a:r>
                        <a:rPr lang="en-US" dirty="0"/>
                        <a:t>User needs and business goals evolve quickly.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Rapidly Changing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Instpay</a:t>
                      </a:r>
                      <a:r>
                        <a:rPr lang="en-US" dirty="0"/>
                        <a:t> monthly required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38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457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software hard?</a:t>
            </a:r>
            <a:endParaRPr dirty="0"/>
          </a:p>
        </p:txBody>
      </p:sp>
      <p:cxnSp>
        <p:nvCxnSpPr>
          <p:cNvPr id="658" name="Google Shape;658;p31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308CE4-511D-4310-82ED-F8186E21B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42144"/>
              </p:ext>
            </p:extLst>
          </p:nvPr>
        </p:nvGraphicFramePr>
        <p:xfrm>
          <a:off x="722375" y="1209217"/>
          <a:ext cx="8009394" cy="3627120"/>
        </p:xfrm>
        <a:graphic>
          <a:graphicData uri="http://schemas.openxmlformats.org/drawingml/2006/table">
            <a:tbl>
              <a:tblPr firstRow="1" bandRow="1">
                <a:tableStyleId>{1EFBE2C8-3060-474B-AAC7-C5488FA1555E}</a:tableStyleId>
              </a:tblPr>
              <a:tblGrid>
                <a:gridCol w="2669798">
                  <a:extLst>
                    <a:ext uri="{9D8B030D-6E8A-4147-A177-3AD203B41FA5}">
                      <a16:colId xmlns:a16="http://schemas.microsoft.com/office/drawing/2014/main" val="2987337113"/>
                    </a:ext>
                  </a:extLst>
                </a:gridCol>
                <a:gridCol w="2669798">
                  <a:extLst>
                    <a:ext uri="{9D8B030D-6E8A-4147-A177-3AD203B41FA5}">
                      <a16:colId xmlns:a16="http://schemas.microsoft.com/office/drawing/2014/main" val="2838785800"/>
                    </a:ext>
                  </a:extLst>
                </a:gridCol>
                <a:gridCol w="2669798">
                  <a:extLst>
                    <a:ext uri="{9D8B030D-6E8A-4147-A177-3AD203B41FA5}">
                      <a16:colId xmlns:a16="http://schemas.microsoft.com/office/drawing/2014/main" val="3011002328"/>
                    </a:ext>
                  </a:extLst>
                </a:gridCol>
              </a:tblGrid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Protecting data and systems against cyber threats.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Security &amp;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Leaking user data: </a:t>
                      </a:r>
                      <a:r>
                        <a:rPr lang="en-US" dirty="0" err="1"/>
                        <a:t>Fawry</a:t>
                      </a:r>
                      <a:r>
                        <a:rPr lang="en-US" dirty="0"/>
                        <a:t>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034379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Systems must handle millions of users or transactions.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Scalability &amp;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Netflix or Amazon is handling global traffic.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930040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Limited resources, tight deadlines.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Time and Cost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Balancing features, speed, and quality.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11907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Most of a system’s life is spent in maintenance.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Maintenance &amp;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464619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Distributed teams and communication gaps.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Team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work, Different time zones, tools, and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637934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Tools, frameworks, and platforms evolve rapidly.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Technological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35437"/>
                  </a:ext>
                </a:extLst>
              </a:tr>
              <a:tr h="441040">
                <a:tc>
                  <a:txBody>
                    <a:bodyPr/>
                    <a:lstStyle/>
                    <a:p>
                      <a:r>
                        <a:rPr lang="en-US" dirty="0"/>
                        <a:t>Ensuring fairness, accessibility, and sustainability.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Ethical &amp; Social 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Facebook and US elections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7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792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>
            <a:spLocks noGrp="1"/>
          </p:cNvSpPr>
          <p:nvPr>
            <p:ph type="title"/>
          </p:nvPr>
        </p:nvSpPr>
        <p:spPr>
          <a:xfrm>
            <a:off x="722375" y="539499"/>
            <a:ext cx="7699200" cy="911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This Means “Software Engineering” Is Like a Science / Engineering Discipline</a:t>
            </a:r>
          </a:p>
        </p:txBody>
      </p:sp>
      <p:cxnSp>
        <p:nvCxnSpPr>
          <p:cNvPr id="658" name="Google Shape;658;p31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38E82D-DF64-446C-AFE4-595F3376DA96}"/>
              </a:ext>
            </a:extLst>
          </p:cNvPr>
          <p:cNvSpPr txBox="1"/>
          <p:nvPr/>
        </p:nvSpPr>
        <p:spPr>
          <a:xfrm>
            <a:off x="722375" y="1644939"/>
            <a:ext cx="7699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Predictability &amp; Repeatability</a:t>
            </a:r>
            <a:r>
              <a:rPr lang="en-US" dirty="0"/>
              <a:t>: SE uses scientific techniques to make software development more predictable (e.g., metrics, modeling, testing).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Trade-off Analysis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Engineers must constantly balance trade-offs (speed vs quality, security vs usability, short-term vs long-term cost) — which requires systematic thinking.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Empirical Methods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Research in SE (architecture, maintainability, quality) relies on experiments, controlled studies, and measurement.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Design Principles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Principles like </a:t>
            </a:r>
            <a:r>
              <a:rPr lang="en-US" i="1" dirty="0"/>
              <a:t>separation of concerns</a:t>
            </a:r>
            <a:r>
              <a:rPr lang="en-US" dirty="0"/>
              <a:t> or </a:t>
            </a:r>
            <a:r>
              <a:rPr lang="en-US" i="1" dirty="0"/>
              <a:t>modularity</a:t>
            </a:r>
            <a:r>
              <a:rPr lang="en-US" dirty="0"/>
              <a:t> come from scientific design thinking.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Management Science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Planning, estimation, resource allocation, and risk management are all engineering-management problems — not just coding.</a:t>
            </a:r>
          </a:p>
        </p:txBody>
      </p:sp>
    </p:spTree>
    <p:extLst>
      <p:ext uri="{BB962C8B-B14F-4D97-AF65-F5344CB8AC3E}">
        <p14:creationId xmlns:p14="http://schemas.microsoft.com/office/powerpoint/2010/main" val="205890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xfrm>
            <a:off x="458251" y="1806507"/>
            <a:ext cx="3941440" cy="18054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Software Development Life Cycle (SDLC)</a:t>
            </a:r>
            <a:endParaRPr dirty="0"/>
          </a:p>
        </p:txBody>
      </p:sp>
      <p:sp>
        <p:nvSpPr>
          <p:cNvPr id="603" name="Google Shape;603;p30"/>
          <p:cNvSpPr txBox="1">
            <a:spLocks noGrp="1"/>
          </p:cNvSpPr>
          <p:nvPr>
            <p:ph type="title" idx="2"/>
          </p:nvPr>
        </p:nvSpPr>
        <p:spPr>
          <a:xfrm>
            <a:off x="533575" y="967358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604" name="Google Shape;604;p30"/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/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/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/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/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32" name="Google Shape;632;p30"/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/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/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2096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Introduction to SDLC</a:t>
            </a:r>
            <a:endParaRPr dirty="0"/>
          </a:p>
        </p:txBody>
      </p:sp>
      <p:cxnSp>
        <p:nvCxnSpPr>
          <p:cNvPr id="658" name="Google Shape;658;p31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8" name="Google Shape;688;p31"/>
          <p:cNvGrpSpPr/>
          <p:nvPr/>
        </p:nvGrpSpPr>
        <p:grpSpPr>
          <a:xfrm>
            <a:off x="8127066" y="1050393"/>
            <a:ext cx="838995" cy="799177"/>
            <a:chOff x="5694450" y="929325"/>
            <a:chExt cx="607000" cy="578150"/>
          </a:xfrm>
        </p:grpSpPr>
        <p:sp>
          <p:nvSpPr>
            <p:cNvPr id="689" name="Google Shape;689;p31"/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C901E16-315D-4A5A-B9B5-C44AFAB6EAB1}"/>
              </a:ext>
            </a:extLst>
          </p:cNvPr>
          <p:cNvSpPr txBox="1"/>
          <p:nvPr/>
        </p:nvSpPr>
        <p:spPr>
          <a:xfrm>
            <a:off x="722375" y="1480237"/>
            <a:ext cx="6862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Software Development Life Cycle (SDLC) :</a:t>
            </a:r>
            <a:br>
              <a:rPr lang="en-US" sz="1800" dirty="0"/>
            </a:br>
            <a:r>
              <a:rPr lang="en-US" sz="1800" dirty="0"/>
              <a:t>It is a structured process that defines the steps involved in developing, delivering, and maintaining high-quality software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EF4E6-6926-4814-82F6-0EDBBBB387CE}"/>
              </a:ext>
            </a:extLst>
          </p:cNvPr>
          <p:cNvSpPr txBox="1"/>
          <p:nvPr/>
        </p:nvSpPr>
        <p:spPr>
          <a:xfrm>
            <a:off x="722375" y="2771604"/>
            <a:ext cx="6943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Purpose</a:t>
            </a:r>
          </a:p>
          <a:p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a </a:t>
            </a:r>
            <a:r>
              <a:rPr lang="en-US" sz="1600" b="1" dirty="0"/>
              <a:t>systematic approach</a:t>
            </a:r>
            <a:r>
              <a:rPr lang="en-US" sz="1600" dirty="0"/>
              <a:t> to software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Ensures </a:t>
            </a:r>
            <a:r>
              <a:rPr lang="en-US" sz="1600" b="1" dirty="0"/>
              <a:t>quality</a:t>
            </a:r>
            <a:r>
              <a:rPr lang="en-US" sz="1600" dirty="0"/>
              <a:t>, </a:t>
            </a:r>
            <a:r>
              <a:rPr lang="en-US" sz="1600" b="1" dirty="0"/>
              <a:t>predictability</a:t>
            </a:r>
            <a:r>
              <a:rPr lang="en-US" sz="1600" dirty="0"/>
              <a:t>, and </a:t>
            </a:r>
            <a:r>
              <a:rPr lang="en-US" sz="1600" b="1" dirty="0"/>
              <a:t>control</a:t>
            </a:r>
            <a:r>
              <a:rPr lang="en-US" sz="1600" dirty="0"/>
              <a:t> across the project lifecycle.</a:t>
            </a:r>
          </a:p>
        </p:txBody>
      </p:sp>
    </p:spTree>
    <p:extLst>
      <p:ext uri="{BB962C8B-B14F-4D97-AF65-F5344CB8AC3E}">
        <p14:creationId xmlns:p14="http://schemas.microsoft.com/office/powerpoint/2010/main" val="194414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99307" y="30968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SDLC cycle </a:t>
            </a:r>
            <a:endParaRPr dirty="0"/>
          </a:p>
        </p:txBody>
      </p:sp>
      <p:sp>
        <p:nvSpPr>
          <p:cNvPr id="74" name="Google Shape;74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5" name="Google Shape;75;p17"/>
          <p:cNvGrpSpPr/>
          <p:nvPr/>
        </p:nvGrpSpPr>
        <p:grpSpPr>
          <a:xfrm>
            <a:off x="485158" y="1052545"/>
            <a:ext cx="3289001" cy="3541291"/>
            <a:chOff x="452550" y="1084177"/>
            <a:chExt cx="3289001" cy="3541291"/>
          </a:xfrm>
        </p:grpSpPr>
        <p:sp>
          <p:nvSpPr>
            <p:cNvPr id="76" name="Google Shape;76;p17"/>
            <p:cNvSpPr/>
            <p:nvPr/>
          </p:nvSpPr>
          <p:spPr>
            <a:xfrm>
              <a:off x="611647" y="3269297"/>
              <a:ext cx="1487603" cy="1223617"/>
            </a:xfrm>
            <a:custGeom>
              <a:avLst/>
              <a:gdLst/>
              <a:ahLst/>
              <a:cxnLst/>
              <a:rect l="l" t="t" r="r" b="b"/>
              <a:pathLst>
                <a:path w="1231969" h="1013347" extrusionOk="0">
                  <a:moveTo>
                    <a:pt x="610257" y="123710"/>
                  </a:moveTo>
                  <a:lnTo>
                    <a:pt x="680361" y="78847"/>
                  </a:lnTo>
                  <a:cubicBezTo>
                    <a:pt x="697315" y="67989"/>
                    <a:pt x="690934" y="41795"/>
                    <a:pt x="670836" y="39985"/>
                  </a:cubicBezTo>
                  <a:lnTo>
                    <a:pt x="218589" y="76"/>
                  </a:lnTo>
                  <a:cubicBezTo>
                    <a:pt x="209540" y="-686"/>
                    <a:pt x="200968" y="4362"/>
                    <a:pt x="197348" y="12744"/>
                  </a:cubicBezTo>
                  <a:lnTo>
                    <a:pt x="1800" y="467277"/>
                  </a:lnTo>
                  <a:cubicBezTo>
                    <a:pt x="-6392" y="486422"/>
                    <a:pt x="15040" y="504615"/>
                    <a:pt x="32566" y="493375"/>
                  </a:cubicBezTo>
                  <a:lnTo>
                    <a:pt x="118767" y="438130"/>
                  </a:lnTo>
                  <a:cubicBezTo>
                    <a:pt x="377561" y="804652"/>
                    <a:pt x="788374" y="1006773"/>
                    <a:pt x="1209951" y="1013345"/>
                  </a:cubicBezTo>
                  <a:cubicBezTo>
                    <a:pt x="1222333" y="1013536"/>
                    <a:pt x="1232430" y="1003154"/>
                    <a:pt x="1231954" y="990676"/>
                  </a:cubicBezTo>
                  <a:cubicBezTo>
                    <a:pt x="1231477" y="977246"/>
                    <a:pt x="1230906" y="963815"/>
                    <a:pt x="1230335" y="950290"/>
                  </a:cubicBezTo>
                  <a:cubicBezTo>
                    <a:pt x="1222905" y="784079"/>
                    <a:pt x="1215476" y="617867"/>
                    <a:pt x="1207951" y="451656"/>
                  </a:cubicBezTo>
                  <a:cubicBezTo>
                    <a:pt x="1207474" y="440607"/>
                    <a:pt x="1198711" y="431463"/>
                    <a:pt x="1187567" y="430891"/>
                  </a:cubicBezTo>
                  <a:cubicBezTo>
                    <a:pt x="965539" y="418890"/>
                    <a:pt x="751703" y="311734"/>
                    <a:pt x="610162" y="1235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1824702" y="3336007"/>
              <a:ext cx="1694820" cy="1289461"/>
            </a:xfrm>
            <a:custGeom>
              <a:avLst/>
              <a:gdLst/>
              <a:ahLst/>
              <a:cxnLst/>
              <a:rect l="l" t="t" r="r" b="b"/>
              <a:pathLst>
                <a:path w="1403578" h="1067877" extrusionOk="0">
                  <a:moveTo>
                    <a:pt x="1392179" y="253096"/>
                  </a:moveTo>
                  <a:cubicBezTo>
                    <a:pt x="1376368" y="244714"/>
                    <a:pt x="1360556" y="236333"/>
                    <a:pt x="1344745" y="228141"/>
                  </a:cubicBezTo>
                  <a:cubicBezTo>
                    <a:pt x="1200250" y="152893"/>
                    <a:pt x="1055661" y="77741"/>
                    <a:pt x="911167" y="2494"/>
                  </a:cubicBezTo>
                  <a:cubicBezTo>
                    <a:pt x="901165" y="-2745"/>
                    <a:pt x="888688" y="493"/>
                    <a:pt x="882687" y="10114"/>
                  </a:cubicBezTo>
                  <a:cubicBezTo>
                    <a:pt x="823632" y="105554"/>
                    <a:pt x="742955" y="189565"/>
                    <a:pt x="642181" y="254144"/>
                  </a:cubicBezTo>
                  <a:cubicBezTo>
                    <a:pt x="536834" y="321676"/>
                    <a:pt x="421296" y="360348"/>
                    <a:pt x="304805" y="372445"/>
                  </a:cubicBezTo>
                  <a:lnTo>
                    <a:pt x="304138" y="360824"/>
                  </a:lnTo>
                  <a:lnTo>
                    <a:pt x="299566" y="277671"/>
                  </a:lnTo>
                  <a:cubicBezTo>
                    <a:pt x="298423" y="257573"/>
                    <a:pt x="272515" y="250239"/>
                    <a:pt x="261085" y="266813"/>
                  </a:cubicBezTo>
                  <a:lnTo>
                    <a:pt x="3720" y="640764"/>
                  </a:lnTo>
                  <a:cubicBezTo>
                    <a:pt x="-1424" y="648289"/>
                    <a:pt x="-1233" y="658290"/>
                    <a:pt x="4291" y="665529"/>
                  </a:cubicBezTo>
                  <a:lnTo>
                    <a:pt x="303662" y="1059483"/>
                  </a:lnTo>
                  <a:cubicBezTo>
                    <a:pt x="316235" y="1076056"/>
                    <a:pt x="342715" y="1066341"/>
                    <a:pt x="341572" y="1045577"/>
                  </a:cubicBezTo>
                  <a:lnTo>
                    <a:pt x="336523" y="953374"/>
                  </a:lnTo>
                  <a:cubicBezTo>
                    <a:pt x="551503" y="935944"/>
                    <a:pt x="765434" y="867173"/>
                    <a:pt x="959649" y="742681"/>
                  </a:cubicBezTo>
                  <a:cubicBezTo>
                    <a:pt x="1147387" y="622286"/>
                    <a:pt x="1295596" y="463504"/>
                    <a:pt x="1400656" y="283196"/>
                  </a:cubicBezTo>
                  <a:cubicBezTo>
                    <a:pt x="1406848" y="272527"/>
                    <a:pt x="1402847" y="258907"/>
                    <a:pt x="1391989" y="2530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" name="Google Shape;78;p17"/>
            <p:cNvGrpSpPr/>
            <p:nvPr/>
          </p:nvGrpSpPr>
          <p:grpSpPr>
            <a:xfrm>
              <a:off x="2849908" y="2004901"/>
              <a:ext cx="891643" cy="1735009"/>
              <a:chOff x="2693647" y="1890094"/>
              <a:chExt cx="737932" cy="1435909"/>
            </a:xfrm>
          </p:grpSpPr>
          <p:sp>
            <p:nvSpPr>
              <p:cNvPr id="79" name="Google Shape;79;p17"/>
              <p:cNvSpPr/>
              <p:nvPr/>
            </p:nvSpPr>
            <p:spPr>
              <a:xfrm>
                <a:off x="2742437" y="1890094"/>
                <a:ext cx="689142" cy="1291738"/>
              </a:xfrm>
              <a:custGeom>
                <a:avLst/>
                <a:gdLst/>
                <a:ahLst/>
                <a:cxnLst/>
                <a:rect l="l" t="t" r="r" b="b"/>
                <a:pathLst>
                  <a:path w="689142" h="1291738" extrusionOk="0">
                    <a:moveTo>
                      <a:pt x="260385" y="136059"/>
                    </a:moveTo>
                    <a:lnTo>
                      <a:pt x="10068" y="296555"/>
                    </a:lnTo>
                    <a:cubicBezTo>
                      <a:pt x="448" y="302746"/>
                      <a:pt x="-2886" y="315319"/>
                      <a:pt x="2734" y="325321"/>
                    </a:cubicBezTo>
                    <a:cubicBezTo>
                      <a:pt x="124464" y="542205"/>
                      <a:pt x="130750" y="795760"/>
                      <a:pt x="38072" y="1011025"/>
                    </a:cubicBezTo>
                    <a:cubicBezTo>
                      <a:pt x="33595" y="1021408"/>
                      <a:pt x="38072" y="1033504"/>
                      <a:pt x="48073" y="1038743"/>
                    </a:cubicBezTo>
                    <a:cubicBezTo>
                      <a:pt x="208474" y="1122277"/>
                      <a:pt x="368971" y="1205716"/>
                      <a:pt x="529372" y="1289251"/>
                    </a:cubicBezTo>
                    <a:cubicBezTo>
                      <a:pt x="540325" y="1294966"/>
                      <a:pt x="553851" y="1290489"/>
                      <a:pt x="559090" y="1279345"/>
                    </a:cubicBezTo>
                    <a:cubicBezTo>
                      <a:pt x="744541" y="885200"/>
                      <a:pt x="736921" y="410474"/>
                      <a:pt x="502225" y="10615"/>
                    </a:cubicBezTo>
                    <a:cubicBezTo>
                      <a:pt x="496034" y="42"/>
                      <a:pt x="482128" y="-3197"/>
                      <a:pt x="471745" y="3471"/>
                    </a:cubicBezTo>
                    <a:cubicBezTo>
                      <a:pt x="401641" y="48334"/>
                      <a:pt x="330109" y="91387"/>
                      <a:pt x="260385" y="136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7"/>
              <p:cNvSpPr/>
              <p:nvPr/>
            </p:nvSpPr>
            <p:spPr>
              <a:xfrm>
                <a:off x="2693647" y="2872483"/>
                <a:ext cx="725919" cy="453520"/>
              </a:xfrm>
              <a:custGeom>
                <a:avLst/>
                <a:gdLst/>
                <a:ahLst/>
                <a:cxnLst/>
                <a:rect l="l" t="t" r="r" b="b"/>
                <a:pathLst>
                  <a:path w="725919" h="453520" extrusionOk="0">
                    <a:moveTo>
                      <a:pt x="104864" y="40637"/>
                    </a:moveTo>
                    <a:lnTo>
                      <a:pt x="30855" y="2442"/>
                    </a:lnTo>
                    <a:cubicBezTo>
                      <a:pt x="12948" y="-6797"/>
                      <a:pt x="-6483" y="11872"/>
                      <a:pt x="2089" y="30160"/>
                    </a:cubicBezTo>
                    <a:lnTo>
                      <a:pt x="194399" y="441354"/>
                    </a:lnTo>
                    <a:cubicBezTo>
                      <a:pt x="198304" y="449641"/>
                      <a:pt x="206972" y="454498"/>
                      <a:pt x="216021" y="453355"/>
                    </a:cubicBezTo>
                    <a:lnTo>
                      <a:pt x="707320" y="394586"/>
                    </a:lnTo>
                    <a:cubicBezTo>
                      <a:pt x="727990" y="392110"/>
                      <a:pt x="732943" y="364392"/>
                      <a:pt x="714464" y="354867"/>
                    </a:cubicBezTo>
                    <a:lnTo>
                      <a:pt x="104864" y="406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17"/>
            <p:cNvGrpSpPr/>
            <p:nvPr/>
          </p:nvGrpSpPr>
          <p:grpSpPr>
            <a:xfrm>
              <a:off x="2043333" y="1204636"/>
              <a:ext cx="1512573" cy="1239728"/>
              <a:chOff x="2026118" y="1227788"/>
              <a:chExt cx="1251819" cy="1026010"/>
            </a:xfrm>
          </p:grpSpPr>
          <p:sp>
            <p:nvSpPr>
              <p:cNvPr id="82" name="Google Shape;82;p17"/>
              <p:cNvSpPr/>
              <p:nvPr/>
            </p:nvSpPr>
            <p:spPr>
              <a:xfrm>
                <a:off x="2026118" y="1227788"/>
                <a:ext cx="1156388" cy="901053"/>
              </a:xfrm>
              <a:custGeom>
                <a:avLst/>
                <a:gdLst/>
                <a:ahLst/>
                <a:cxnLst/>
                <a:rect l="l" t="t" r="r" b="b"/>
                <a:pathLst>
                  <a:path w="1156388" h="901053" extrusionOk="0">
                    <a:moveTo>
                      <a:pt x="46112" y="591481"/>
                    </a:moveTo>
                    <a:cubicBezTo>
                      <a:pt x="278808" y="592529"/>
                      <a:pt x="506550" y="698352"/>
                      <a:pt x="656283" y="892757"/>
                    </a:cubicBezTo>
                    <a:cubicBezTo>
                      <a:pt x="663141" y="901615"/>
                      <a:pt x="675714" y="903616"/>
                      <a:pt x="685144" y="897615"/>
                    </a:cubicBezTo>
                    <a:lnTo>
                      <a:pt x="997945" y="697114"/>
                    </a:lnTo>
                    <a:lnTo>
                      <a:pt x="1146345" y="601959"/>
                    </a:lnTo>
                    <a:cubicBezTo>
                      <a:pt x="1156727" y="595291"/>
                      <a:pt x="1159584" y="581194"/>
                      <a:pt x="1152441" y="571098"/>
                    </a:cubicBezTo>
                    <a:cubicBezTo>
                      <a:pt x="884693" y="194860"/>
                      <a:pt x="456163" y="-6689"/>
                      <a:pt x="21347" y="169"/>
                    </a:cubicBezTo>
                    <a:cubicBezTo>
                      <a:pt x="9250" y="360"/>
                      <a:pt x="-370" y="10647"/>
                      <a:pt x="11" y="22744"/>
                    </a:cubicBezTo>
                    <a:cubicBezTo>
                      <a:pt x="868" y="45794"/>
                      <a:pt x="1725" y="68749"/>
                      <a:pt x="2773" y="91705"/>
                    </a:cubicBezTo>
                    <a:cubicBezTo>
                      <a:pt x="10012" y="251344"/>
                      <a:pt x="17251" y="410983"/>
                      <a:pt x="24490" y="570622"/>
                    </a:cubicBezTo>
                    <a:cubicBezTo>
                      <a:pt x="24966" y="582147"/>
                      <a:pt x="34396" y="591386"/>
                      <a:pt x="45922" y="5914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7"/>
              <p:cNvSpPr/>
              <p:nvPr/>
            </p:nvSpPr>
            <p:spPr>
              <a:xfrm>
                <a:off x="2585978" y="1757785"/>
                <a:ext cx="691959" cy="496013"/>
              </a:xfrm>
              <a:custGeom>
                <a:avLst/>
                <a:gdLst/>
                <a:ahLst/>
                <a:cxnLst/>
                <a:rect l="l" t="t" r="r" b="b"/>
                <a:pathLst>
                  <a:path w="691959" h="496013" extrusionOk="0">
                    <a:moveTo>
                      <a:pt x="80136" y="370666"/>
                    </a:moveTo>
                    <a:lnTo>
                      <a:pt x="9841" y="415243"/>
                    </a:lnTo>
                    <a:cubicBezTo>
                      <a:pt x="-7209" y="426006"/>
                      <a:pt x="-827" y="452200"/>
                      <a:pt x="19175" y="454105"/>
                    </a:cubicBezTo>
                    <a:lnTo>
                      <a:pt x="471232" y="495919"/>
                    </a:lnTo>
                    <a:cubicBezTo>
                      <a:pt x="480281" y="496777"/>
                      <a:pt x="488853" y="491728"/>
                      <a:pt x="492568" y="483346"/>
                    </a:cubicBezTo>
                    <a:lnTo>
                      <a:pt x="690117" y="29671"/>
                    </a:lnTo>
                    <a:cubicBezTo>
                      <a:pt x="698403" y="10621"/>
                      <a:pt x="677067" y="-7763"/>
                      <a:pt x="659446" y="3382"/>
                    </a:cubicBezTo>
                    <a:lnTo>
                      <a:pt x="80231" y="3706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17"/>
            <p:cNvGrpSpPr/>
            <p:nvPr/>
          </p:nvGrpSpPr>
          <p:grpSpPr>
            <a:xfrm>
              <a:off x="665899" y="1084177"/>
              <a:ext cx="1664089" cy="1292764"/>
              <a:chOff x="886141" y="1128095"/>
              <a:chExt cx="1377215" cy="1069903"/>
            </a:xfrm>
          </p:grpSpPr>
          <p:sp>
            <p:nvSpPr>
              <p:cNvPr id="85" name="Google Shape;85;p17"/>
              <p:cNvSpPr/>
              <p:nvPr/>
            </p:nvSpPr>
            <p:spPr>
              <a:xfrm>
                <a:off x="886141" y="1232911"/>
                <a:ext cx="1091058" cy="965087"/>
              </a:xfrm>
              <a:custGeom>
                <a:avLst/>
                <a:gdLst/>
                <a:ahLst/>
                <a:cxnLst/>
                <a:rect l="l" t="t" r="r" b="b"/>
                <a:pathLst>
                  <a:path w="1091058" h="965087" extrusionOk="0">
                    <a:moveTo>
                      <a:pt x="495050" y="962597"/>
                    </a:moveTo>
                    <a:cubicBezTo>
                      <a:pt x="505051" y="967835"/>
                      <a:pt x="517624" y="964597"/>
                      <a:pt x="523530" y="954881"/>
                    </a:cubicBezTo>
                    <a:cubicBezTo>
                      <a:pt x="582680" y="858679"/>
                      <a:pt x="663833" y="773906"/>
                      <a:pt x="765274" y="708851"/>
                    </a:cubicBezTo>
                    <a:cubicBezTo>
                      <a:pt x="861572" y="647129"/>
                      <a:pt x="966347" y="609410"/>
                      <a:pt x="1072646" y="594170"/>
                    </a:cubicBezTo>
                    <a:cubicBezTo>
                      <a:pt x="1083695" y="592550"/>
                      <a:pt x="1091601" y="582740"/>
                      <a:pt x="1091029" y="571690"/>
                    </a:cubicBezTo>
                    <a:cubicBezTo>
                      <a:pt x="1082552" y="384334"/>
                      <a:pt x="1073979" y="197072"/>
                      <a:pt x="1065502" y="9716"/>
                    </a:cubicBezTo>
                    <a:cubicBezTo>
                      <a:pt x="1065312" y="6477"/>
                      <a:pt x="1065216" y="3239"/>
                      <a:pt x="1065026" y="0"/>
                    </a:cubicBezTo>
                    <a:cubicBezTo>
                      <a:pt x="852714" y="18478"/>
                      <a:pt x="641640" y="87154"/>
                      <a:pt x="449806" y="210122"/>
                    </a:cubicBezTo>
                    <a:cubicBezTo>
                      <a:pt x="258544" y="332804"/>
                      <a:pt x="108240" y="495300"/>
                      <a:pt x="2798" y="679799"/>
                    </a:cubicBezTo>
                    <a:cubicBezTo>
                      <a:pt x="-3203" y="690372"/>
                      <a:pt x="798" y="703898"/>
                      <a:pt x="11466" y="709708"/>
                    </a:cubicBezTo>
                    <a:cubicBezTo>
                      <a:pt x="49089" y="729996"/>
                      <a:pt x="86618" y="750189"/>
                      <a:pt x="124337" y="769811"/>
                    </a:cubicBezTo>
                    <a:cubicBezTo>
                      <a:pt x="247876" y="834104"/>
                      <a:pt x="371320" y="898303"/>
                      <a:pt x="494859" y="96259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7"/>
              <p:cNvSpPr/>
              <p:nvPr/>
            </p:nvSpPr>
            <p:spPr>
              <a:xfrm>
                <a:off x="1942308" y="1128095"/>
                <a:ext cx="321048" cy="811496"/>
              </a:xfrm>
              <a:custGeom>
                <a:avLst/>
                <a:gdLst/>
                <a:ahLst/>
                <a:cxnLst/>
                <a:rect l="l" t="t" r="r" b="b"/>
                <a:pathLst>
                  <a:path w="321048" h="811496" extrusionOk="0">
                    <a:moveTo>
                      <a:pt x="2382" y="707176"/>
                    </a:moveTo>
                    <a:lnTo>
                      <a:pt x="2667" y="790425"/>
                    </a:lnTo>
                    <a:cubicBezTo>
                      <a:pt x="2667" y="810523"/>
                      <a:pt x="28290" y="819190"/>
                      <a:pt x="40577" y="803188"/>
                    </a:cubicBezTo>
                    <a:lnTo>
                      <a:pt x="316707" y="442858"/>
                    </a:lnTo>
                    <a:cubicBezTo>
                      <a:pt x="322231" y="435619"/>
                      <a:pt x="322517" y="425617"/>
                      <a:pt x="317373" y="418093"/>
                    </a:cubicBezTo>
                    <a:lnTo>
                      <a:pt x="38577" y="9280"/>
                    </a:lnTo>
                    <a:cubicBezTo>
                      <a:pt x="26861" y="-7961"/>
                      <a:pt x="-95" y="421"/>
                      <a:pt x="0" y="21281"/>
                    </a:cubicBezTo>
                    <a:lnTo>
                      <a:pt x="2382" y="7071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17"/>
            <p:cNvGrpSpPr/>
            <p:nvPr/>
          </p:nvGrpSpPr>
          <p:grpSpPr>
            <a:xfrm>
              <a:off x="452550" y="1987605"/>
              <a:ext cx="904805" cy="1691130"/>
              <a:chOff x="452550" y="1987605"/>
              <a:chExt cx="904805" cy="1691130"/>
            </a:xfrm>
          </p:grpSpPr>
          <p:sp>
            <p:nvSpPr>
              <p:cNvPr id="88" name="Google Shape;88;p17"/>
              <p:cNvSpPr/>
              <p:nvPr/>
            </p:nvSpPr>
            <p:spPr>
              <a:xfrm>
                <a:off x="452550" y="2151686"/>
                <a:ext cx="816429" cy="1527049"/>
              </a:xfrm>
              <a:custGeom>
                <a:avLst/>
                <a:gdLst/>
                <a:ahLst/>
                <a:cxnLst/>
                <a:rect l="l" t="t" r="r" b="b"/>
                <a:pathLst>
                  <a:path w="676132" h="1264637" extrusionOk="0">
                    <a:moveTo>
                      <a:pt x="673821" y="941676"/>
                    </a:moveTo>
                    <a:cubicBezTo>
                      <a:pt x="562474" y="729840"/>
                      <a:pt x="558759" y="485619"/>
                      <a:pt x="647913" y="277117"/>
                    </a:cubicBezTo>
                    <a:cubicBezTo>
                      <a:pt x="652389" y="266734"/>
                      <a:pt x="647913" y="254638"/>
                      <a:pt x="637816" y="249399"/>
                    </a:cubicBezTo>
                    <a:cubicBezTo>
                      <a:pt x="480463" y="167579"/>
                      <a:pt x="323205" y="85664"/>
                      <a:pt x="165852" y="3844"/>
                    </a:cubicBezTo>
                    <a:cubicBezTo>
                      <a:pt x="148517" y="-5204"/>
                      <a:pt x="127181" y="2320"/>
                      <a:pt x="119180" y="20132"/>
                    </a:cubicBezTo>
                    <a:cubicBezTo>
                      <a:pt x="-53318" y="405799"/>
                      <a:pt x="-43317" y="864333"/>
                      <a:pt x="180330" y="1253810"/>
                    </a:cubicBezTo>
                    <a:cubicBezTo>
                      <a:pt x="186426" y="1264478"/>
                      <a:pt x="200333" y="1267812"/>
                      <a:pt x="210715" y="1261335"/>
                    </a:cubicBezTo>
                    <a:cubicBezTo>
                      <a:pt x="231099" y="1248571"/>
                      <a:pt x="251482" y="1235808"/>
                      <a:pt x="271675" y="1222854"/>
                    </a:cubicBezTo>
                    <a:lnTo>
                      <a:pt x="666201" y="969965"/>
                    </a:lnTo>
                    <a:cubicBezTo>
                      <a:pt x="675345" y="964060"/>
                      <a:pt x="678869" y="951296"/>
                      <a:pt x="673821" y="9416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7"/>
              <p:cNvSpPr/>
              <p:nvPr/>
            </p:nvSpPr>
            <p:spPr>
              <a:xfrm>
                <a:off x="477454" y="1987605"/>
                <a:ext cx="879902" cy="545704"/>
              </a:xfrm>
              <a:custGeom>
                <a:avLst/>
                <a:gdLst/>
                <a:ahLst/>
                <a:cxnLst/>
                <a:rect l="l" t="t" r="r" b="b"/>
                <a:pathLst>
                  <a:path w="728697" h="451929" extrusionOk="0">
                    <a:moveTo>
                      <a:pt x="623683" y="412053"/>
                    </a:moveTo>
                    <a:lnTo>
                      <a:pt x="697978" y="449581"/>
                    </a:lnTo>
                    <a:cubicBezTo>
                      <a:pt x="715981" y="458630"/>
                      <a:pt x="735221" y="439866"/>
                      <a:pt x="726553" y="421673"/>
                    </a:cubicBezTo>
                    <a:lnTo>
                      <a:pt x="531005" y="12003"/>
                    </a:lnTo>
                    <a:cubicBezTo>
                      <a:pt x="527100" y="3811"/>
                      <a:pt x="518337" y="-1047"/>
                      <a:pt x="509288" y="192"/>
                    </a:cubicBezTo>
                    <a:lnTo>
                      <a:pt x="18465" y="62866"/>
                    </a:lnTo>
                    <a:cubicBezTo>
                      <a:pt x="-2204" y="65533"/>
                      <a:pt x="-6967" y="93251"/>
                      <a:pt x="11607" y="102681"/>
                    </a:cubicBezTo>
                    <a:lnTo>
                      <a:pt x="623683" y="41205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0" name="Google Shape;90;p17"/>
          <p:cNvSpPr txBox="1"/>
          <p:nvPr/>
        </p:nvSpPr>
        <p:spPr>
          <a:xfrm>
            <a:off x="4542674" y="1581278"/>
            <a:ext cx="1636800" cy="680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 what the customer or user needs.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542674" y="1150200"/>
            <a:ext cx="1636800" cy="431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Requriments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816528" y="1581277"/>
            <a:ext cx="1921679" cy="76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Translate requirements into a technical blueprint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6816529" y="1150200"/>
            <a:ext cx="1636800" cy="4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522173" y="2714672"/>
            <a:ext cx="1636800" cy="74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 the software meets requirements and is defect-free</a:t>
            </a:r>
          </a:p>
        </p:txBody>
      </p:sp>
      <p:sp>
        <p:nvSpPr>
          <p:cNvPr id="95" name="Google Shape;95;p17"/>
          <p:cNvSpPr txBox="1"/>
          <p:nvPr/>
        </p:nvSpPr>
        <p:spPr>
          <a:xfrm>
            <a:off x="4535280" y="2342114"/>
            <a:ext cx="16368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6816529" y="2793303"/>
            <a:ext cx="184111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Convert the design into executable code</a:t>
            </a:r>
          </a:p>
        </p:txBody>
      </p:sp>
      <p:sp>
        <p:nvSpPr>
          <p:cNvPr id="97" name="Google Shape;97;p17"/>
          <p:cNvSpPr txBox="1"/>
          <p:nvPr/>
        </p:nvSpPr>
        <p:spPr>
          <a:xfrm>
            <a:off x="6816529" y="2362225"/>
            <a:ext cx="1636800" cy="4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Developing</a:t>
            </a:r>
          </a:p>
        </p:txBody>
      </p:sp>
      <p:sp>
        <p:nvSpPr>
          <p:cNvPr id="98" name="Google Shape;98;p17"/>
          <p:cNvSpPr txBox="1"/>
          <p:nvPr/>
        </p:nvSpPr>
        <p:spPr>
          <a:xfrm>
            <a:off x="4572000" y="4005328"/>
            <a:ext cx="163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Make the system available to users.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542674" y="3574250"/>
            <a:ext cx="1636800" cy="4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599583" y="3881104"/>
            <a:ext cx="2138624" cy="85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Ensure the continued usability and performance of the software.</a:t>
            </a:r>
          </a:p>
        </p:txBody>
      </p:sp>
      <p:sp>
        <p:nvSpPr>
          <p:cNvPr id="101" name="Google Shape;101;p17"/>
          <p:cNvSpPr txBox="1"/>
          <p:nvPr/>
        </p:nvSpPr>
        <p:spPr>
          <a:xfrm>
            <a:off x="6816529" y="3574250"/>
            <a:ext cx="1636800" cy="4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Maintance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" name="Google Shape;102;p17"/>
          <p:cNvCxnSpPr>
            <a:stCxn id="91" idx="3"/>
            <a:endCxn id="93" idx="1"/>
          </p:cNvCxnSpPr>
          <p:nvPr/>
        </p:nvCxnSpPr>
        <p:spPr>
          <a:xfrm>
            <a:off x="6179474" y="1365750"/>
            <a:ext cx="63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7"/>
          <p:cNvCxnSpPr>
            <a:stCxn id="93" idx="3"/>
            <a:endCxn id="97" idx="3"/>
          </p:cNvCxnSpPr>
          <p:nvPr/>
        </p:nvCxnSpPr>
        <p:spPr>
          <a:xfrm>
            <a:off x="8453329" y="1365750"/>
            <a:ext cx="600" cy="12120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7"/>
          <p:cNvCxnSpPr>
            <a:stCxn id="97" idx="1"/>
            <a:endCxn id="95" idx="3"/>
          </p:cNvCxnSpPr>
          <p:nvPr/>
        </p:nvCxnSpPr>
        <p:spPr>
          <a:xfrm flipH="1" flipV="1">
            <a:off x="6172080" y="2557664"/>
            <a:ext cx="644449" cy="201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7"/>
          <p:cNvCxnSpPr>
            <a:stCxn id="95" idx="1"/>
            <a:endCxn id="99" idx="1"/>
          </p:cNvCxnSpPr>
          <p:nvPr/>
        </p:nvCxnSpPr>
        <p:spPr>
          <a:xfrm rot="10800000" flipH="1" flipV="1">
            <a:off x="4535280" y="2557664"/>
            <a:ext cx="7394" cy="1232136"/>
          </a:xfrm>
          <a:prstGeom prst="bentConnector3">
            <a:avLst>
              <a:gd name="adj1" fmla="val -30916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7"/>
          <p:cNvCxnSpPr>
            <a:cxnSpLocks/>
            <a:stCxn id="99" idx="3"/>
            <a:endCxn id="2" idx="1"/>
          </p:cNvCxnSpPr>
          <p:nvPr/>
        </p:nvCxnSpPr>
        <p:spPr>
          <a:xfrm>
            <a:off x="6179474" y="3789800"/>
            <a:ext cx="73983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7"/>
          <p:cNvSpPr txBox="1"/>
          <p:nvPr/>
        </p:nvSpPr>
        <p:spPr>
          <a:xfrm>
            <a:off x="1268443" y="1520709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570119" y="1614650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42430" y="2662555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442612" y="3770887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1125948" y="3671255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99253" y="2623320"/>
            <a:ext cx="459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003D7-48D6-4E40-9565-58544BA830BD}"/>
              </a:ext>
            </a:extLst>
          </p:cNvPr>
          <p:cNvSpPr/>
          <p:nvPr/>
        </p:nvSpPr>
        <p:spPr>
          <a:xfrm>
            <a:off x="6919311" y="3605670"/>
            <a:ext cx="1431235" cy="3682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Requirements Phase (What to build?)</a:t>
            </a:r>
            <a:endParaRPr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831709"/>
            <a:ext cx="69375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what the customer or user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Gather requirements through interviews, surveys, and observation.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(what the system should do)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non-functional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(performance, usability, security)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Requirements Specification (SRS)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Approved requirements document.</a:t>
            </a:r>
          </a:p>
        </p:txBody>
      </p:sp>
      <p:sp>
        <p:nvSpPr>
          <p:cNvPr id="10" name="Google Shape;91;p17">
            <a:extLst>
              <a:ext uri="{FF2B5EF4-FFF2-40B4-BE49-F238E27FC236}">
                <a16:creationId xmlns:a16="http://schemas.microsoft.com/office/drawing/2014/main" id="{3D0B16BA-E4C6-43D4-8B24-9124E70A1303}"/>
              </a:ext>
            </a:extLst>
          </p:cNvPr>
          <p:cNvSpPr txBox="1"/>
          <p:nvPr/>
        </p:nvSpPr>
        <p:spPr>
          <a:xfrm>
            <a:off x="6841574" y="1316781"/>
            <a:ext cx="1636800" cy="431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Requriments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38143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Design Phase (How to build it?)</a:t>
            </a:r>
            <a:endParaRPr lang="en-US"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39" y="1831709"/>
            <a:ext cx="693759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Translate requirements into a technical blueprint.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system architecture (modules, databases, interfaces).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 diagrams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class, sequence, use case diagrams,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 on technologies and design patterns.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Document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(System &amp; Detailed Design).</a:t>
            </a:r>
          </a:p>
        </p:txBody>
      </p:sp>
      <p:sp>
        <p:nvSpPr>
          <p:cNvPr id="10" name="Google Shape;93;p17">
            <a:extLst>
              <a:ext uri="{FF2B5EF4-FFF2-40B4-BE49-F238E27FC236}">
                <a16:creationId xmlns:a16="http://schemas.microsoft.com/office/drawing/2014/main" id="{A69BE8F5-DE68-497B-8E5D-D9FAE6D59F3A}"/>
              </a:ext>
            </a:extLst>
          </p:cNvPr>
          <p:cNvSpPr txBox="1"/>
          <p:nvPr/>
        </p:nvSpPr>
        <p:spPr>
          <a:xfrm>
            <a:off x="6669346" y="1234949"/>
            <a:ext cx="1636800" cy="4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26242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Implementation / Coding Phase (Build it!)</a:t>
            </a:r>
            <a:endParaRPr lang="en-US"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838335"/>
            <a:ext cx="69375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the design into executable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write, integrate, and document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coding standards and version control (Git).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software modules.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95;p17">
            <a:extLst>
              <a:ext uri="{FF2B5EF4-FFF2-40B4-BE49-F238E27FC236}">
                <a16:creationId xmlns:a16="http://schemas.microsoft.com/office/drawing/2014/main" id="{6242A8FF-BE64-43A9-BB50-EE7FBC440B43}"/>
              </a:ext>
            </a:extLst>
          </p:cNvPr>
          <p:cNvSpPr txBox="1"/>
          <p:nvPr/>
        </p:nvSpPr>
        <p:spPr>
          <a:xfrm>
            <a:off x="6669346" y="1355615"/>
            <a:ext cx="16368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Developing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05005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Testing Phase (Does it work correctly?)</a:t>
            </a:r>
            <a:endParaRPr lang="en-US"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831709"/>
            <a:ext cx="69375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the software meets requirements and is defect-free.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Unit, Integration, System, and User Acceptance Testing (UAT)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automated testing tools and bug tracking systems.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 Tested software and test reports.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97;p17">
            <a:extLst>
              <a:ext uri="{FF2B5EF4-FFF2-40B4-BE49-F238E27FC236}">
                <a16:creationId xmlns:a16="http://schemas.microsoft.com/office/drawing/2014/main" id="{9CCF89D0-E92C-4552-A81F-1000C030FDE0}"/>
              </a:ext>
            </a:extLst>
          </p:cNvPr>
          <p:cNvSpPr txBox="1"/>
          <p:nvPr/>
        </p:nvSpPr>
        <p:spPr>
          <a:xfrm>
            <a:off x="7087769" y="1234949"/>
            <a:ext cx="1636800" cy="4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6335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 Deployment Phase (Deliver it!)</a:t>
            </a:r>
            <a:endParaRPr lang="en-US"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708599"/>
            <a:ext cx="693759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Make the system available to users.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to production servers or app stores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training or user manuals.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for any post-release issues.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 Tested software and test reports.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99;p17">
            <a:extLst>
              <a:ext uri="{FF2B5EF4-FFF2-40B4-BE49-F238E27FC236}">
                <a16:creationId xmlns:a16="http://schemas.microsoft.com/office/drawing/2014/main" id="{3FF6BD41-1047-49B0-833A-BDD30A48B19B}"/>
              </a:ext>
            </a:extLst>
          </p:cNvPr>
          <p:cNvSpPr txBox="1"/>
          <p:nvPr/>
        </p:nvSpPr>
        <p:spPr>
          <a:xfrm>
            <a:off x="6583397" y="1154750"/>
            <a:ext cx="1636800" cy="4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67174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 Phases Explained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39839" y="1234949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 Maintenance Phase (Keep it running and improving)</a:t>
            </a:r>
            <a:endParaRPr lang="en-US" b="0"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E3FBA5-1E78-4AE8-AA76-CE91782D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831709"/>
            <a:ext cx="693759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continued usability and performance of the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bugs, optimize performance, add new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 to new hardware, OS updates, or business changes.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Deliverable: Updated and stable software.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Google Shape;101;p17">
            <a:extLst>
              <a:ext uri="{FF2B5EF4-FFF2-40B4-BE49-F238E27FC236}">
                <a16:creationId xmlns:a16="http://schemas.microsoft.com/office/drawing/2014/main" id="{1BFB8ADA-C3F1-45D7-954B-8F58D7FD8BA3}"/>
              </a:ext>
            </a:extLst>
          </p:cNvPr>
          <p:cNvSpPr txBox="1"/>
          <p:nvPr/>
        </p:nvSpPr>
        <p:spPr>
          <a:xfrm>
            <a:off x="7401797" y="1277860"/>
            <a:ext cx="1636800" cy="4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Maintance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7CDBE-3EAD-4CA9-A09E-008BFDBA528E}"/>
              </a:ext>
            </a:extLst>
          </p:cNvPr>
          <p:cNvSpPr/>
          <p:nvPr/>
        </p:nvSpPr>
        <p:spPr>
          <a:xfrm>
            <a:off x="7504579" y="1309280"/>
            <a:ext cx="1431235" cy="3682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40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🌀 </a:t>
            </a:r>
            <a:r>
              <a:rPr lang="en-US" b="1" dirty="0"/>
              <a:t>SDLC</a:t>
            </a:r>
            <a:endParaRPr dirty="0"/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22375" y="1792230"/>
            <a:ext cx="8015999" cy="9237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Case Study: Library management system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3885497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xfrm>
            <a:off x="458251" y="1806507"/>
            <a:ext cx="3941440" cy="18054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Software Process Models</a:t>
            </a:r>
            <a:endParaRPr dirty="0"/>
          </a:p>
        </p:txBody>
      </p:sp>
      <p:sp>
        <p:nvSpPr>
          <p:cNvPr id="603" name="Google Shape;603;p30"/>
          <p:cNvSpPr txBox="1">
            <a:spLocks noGrp="1"/>
          </p:cNvSpPr>
          <p:nvPr>
            <p:ph type="title" idx="2"/>
          </p:nvPr>
        </p:nvSpPr>
        <p:spPr>
          <a:xfrm>
            <a:off x="533575" y="1457374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604" name="Google Shape;604;p30"/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/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/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/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/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32" name="Google Shape;632;p30"/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/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/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958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 Introduction to</a:t>
            </a:r>
            <a:r>
              <a:rPr lang="en-US" dirty="0"/>
              <a:t> Software Process Models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527347"/>
            <a:ext cx="72940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What is a Software Process Model?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Process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a structured framework that defines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SDLC phases are organized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executed to build software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3" y="2825085"/>
            <a:ext cx="72940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SDLC as the recipe ingredients,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cooking style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the order and method in which you use those ingredients.</a:t>
            </a:r>
          </a:p>
        </p:txBody>
      </p:sp>
      <p:grpSp>
        <p:nvGrpSpPr>
          <p:cNvPr id="16" name="Google Shape;12956;p62">
            <a:extLst>
              <a:ext uri="{FF2B5EF4-FFF2-40B4-BE49-F238E27FC236}">
                <a16:creationId xmlns:a16="http://schemas.microsoft.com/office/drawing/2014/main" id="{FA487985-D9EB-43A3-BD2C-D26444B4CD55}"/>
              </a:ext>
            </a:extLst>
          </p:cNvPr>
          <p:cNvGrpSpPr/>
          <p:nvPr/>
        </p:nvGrpSpPr>
        <p:grpSpPr>
          <a:xfrm>
            <a:off x="590073" y="689973"/>
            <a:ext cx="395474" cy="312491"/>
            <a:chOff x="3507658" y="3832256"/>
            <a:chExt cx="395474" cy="312491"/>
          </a:xfrm>
        </p:grpSpPr>
        <p:sp>
          <p:nvSpPr>
            <p:cNvPr id="17" name="Google Shape;12957;p62">
              <a:extLst>
                <a:ext uri="{FF2B5EF4-FFF2-40B4-BE49-F238E27FC236}">
                  <a16:creationId xmlns:a16="http://schemas.microsoft.com/office/drawing/2014/main" id="{0D2C43F0-12A1-401F-B794-59CB447ED79F}"/>
                </a:ext>
              </a:extLst>
            </p:cNvPr>
            <p:cNvSpPr/>
            <p:nvPr/>
          </p:nvSpPr>
          <p:spPr>
            <a:xfrm>
              <a:off x="3526655" y="3837680"/>
              <a:ext cx="355358" cy="301460"/>
            </a:xfrm>
            <a:custGeom>
              <a:avLst/>
              <a:gdLst/>
              <a:ahLst/>
              <a:cxnLst/>
              <a:rect l="l" t="t" r="r" b="b"/>
              <a:pathLst>
                <a:path w="13562" h="11505" extrusionOk="0">
                  <a:moveTo>
                    <a:pt x="8492" y="0"/>
                  </a:moveTo>
                  <a:cubicBezTo>
                    <a:pt x="7671" y="0"/>
                    <a:pt x="6875" y="612"/>
                    <a:pt x="6832" y="1578"/>
                  </a:cubicBezTo>
                  <a:lnTo>
                    <a:pt x="6827" y="1578"/>
                  </a:lnTo>
                  <a:cubicBezTo>
                    <a:pt x="6784" y="695"/>
                    <a:pt x="6059" y="3"/>
                    <a:pt x="5175" y="3"/>
                  </a:cubicBezTo>
                  <a:cubicBezTo>
                    <a:pt x="4940" y="3"/>
                    <a:pt x="4705" y="56"/>
                    <a:pt x="4494" y="152"/>
                  </a:cubicBezTo>
                  <a:cubicBezTo>
                    <a:pt x="4283" y="248"/>
                    <a:pt x="4095" y="387"/>
                    <a:pt x="3947" y="555"/>
                  </a:cubicBezTo>
                  <a:cubicBezTo>
                    <a:pt x="3811" y="525"/>
                    <a:pt x="3675" y="510"/>
                    <a:pt x="3540" y="510"/>
                  </a:cubicBezTo>
                  <a:cubicBezTo>
                    <a:pt x="2792" y="510"/>
                    <a:pt x="2102" y="969"/>
                    <a:pt x="1830" y="1693"/>
                  </a:cubicBezTo>
                  <a:cubicBezTo>
                    <a:pt x="1815" y="1741"/>
                    <a:pt x="1796" y="1789"/>
                    <a:pt x="1786" y="1837"/>
                  </a:cubicBezTo>
                  <a:cubicBezTo>
                    <a:pt x="1666" y="2250"/>
                    <a:pt x="1700" y="2696"/>
                    <a:pt x="1878" y="3090"/>
                  </a:cubicBezTo>
                  <a:lnTo>
                    <a:pt x="1834" y="3104"/>
                  </a:lnTo>
                  <a:cubicBezTo>
                    <a:pt x="884" y="3440"/>
                    <a:pt x="217" y="4290"/>
                    <a:pt x="111" y="5288"/>
                  </a:cubicBezTo>
                  <a:cubicBezTo>
                    <a:pt x="1" y="6287"/>
                    <a:pt x="481" y="7257"/>
                    <a:pt x="1340" y="7785"/>
                  </a:cubicBezTo>
                  <a:cubicBezTo>
                    <a:pt x="500" y="8997"/>
                    <a:pt x="1373" y="10646"/>
                    <a:pt x="2836" y="10646"/>
                  </a:cubicBezTo>
                  <a:cubicBezTo>
                    <a:pt x="2845" y="10646"/>
                    <a:pt x="2853" y="10646"/>
                    <a:pt x="2862" y="10645"/>
                  </a:cubicBezTo>
                  <a:cubicBezTo>
                    <a:pt x="3135" y="10641"/>
                    <a:pt x="3399" y="10578"/>
                    <a:pt x="3644" y="10458"/>
                  </a:cubicBezTo>
                  <a:cubicBezTo>
                    <a:pt x="3898" y="11094"/>
                    <a:pt x="4509" y="11503"/>
                    <a:pt x="5181" y="11503"/>
                  </a:cubicBezTo>
                  <a:cubicBezTo>
                    <a:pt x="5235" y="11503"/>
                    <a:pt x="5289" y="11500"/>
                    <a:pt x="5343" y="11495"/>
                  </a:cubicBezTo>
                  <a:cubicBezTo>
                    <a:pt x="6078" y="11418"/>
                    <a:pt x="6673" y="10871"/>
                    <a:pt x="6803" y="10141"/>
                  </a:cubicBezTo>
                  <a:cubicBezTo>
                    <a:pt x="6812" y="10093"/>
                    <a:pt x="6817" y="10045"/>
                    <a:pt x="6822" y="9997"/>
                  </a:cubicBezTo>
                  <a:cubicBezTo>
                    <a:pt x="6827" y="9969"/>
                    <a:pt x="6827" y="9940"/>
                    <a:pt x="6827" y="9911"/>
                  </a:cubicBezTo>
                  <a:cubicBezTo>
                    <a:pt x="6832" y="9940"/>
                    <a:pt x="6832" y="9964"/>
                    <a:pt x="6832" y="9988"/>
                  </a:cubicBezTo>
                  <a:cubicBezTo>
                    <a:pt x="6836" y="10026"/>
                    <a:pt x="6841" y="10060"/>
                    <a:pt x="6846" y="10093"/>
                  </a:cubicBezTo>
                  <a:cubicBezTo>
                    <a:pt x="6971" y="10900"/>
                    <a:pt x="7662" y="11500"/>
                    <a:pt x="8478" y="11505"/>
                  </a:cubicBezTo>
                  <a:cubicBezTo>
                    <a:pt x="8809" y="11505"/>
                    <a:pt x="9136" y="11404"/>
                    <a:pt x="9414" y="11212"/>
                  </a:cubicBezTo>
                  <a:cubicBezTo>
                    <a:pt x="9683" y="11025"/>
                    <a:pt x="9889" y="10765"/>
                    <a:pt x="10014" y="10463"/>
                  </a:cubicBezTo>
                  <a:cubicBezTo>
                    <a:pt x="10254" y="10578"/>
                    <a:pt x="10523" y="10645"/>
                    <a:pt x="10792" y="10645"/>
                  </a:cubicBezTo>
                  <a:cubicBezTo>
                    <a:pt x="10799" y="10646"/>
                    <a:pt x="10805" y="10646"/>
                    <a:pt x="10812" y="10646"/>
                  </a:cubicBezTo>
                  <a:cubicBezTo>
                    <a:pt x="11677" y="10646"/>
                    <a:pt x="12420" y="10039"/>
                    <a:pt x="12601" y="9196"/>
                  </a:cubicBezTo>
                  <a:cubicBezTo>
                    <a:pt x="12611" y="9157"/>
                    <a:pt x="12616" y="9119"/>
                    <a:pt x="12621" y="9081"/>
                  </a:cubicBezTo>
                  <a:cubicBezTo>
                    <a:pt x="12630" y="9013"/>
                    <a:pt x="12635" y="8951"/>
                    <a:pt x="12640" y="8884"/>
                  </a:cubicBezTo>
                  <a:cubicBezTo>
                    <a:pt x="12654" y="8490"/>
                    <a:pt x="12539" y="8106"/>
                    <a:pt x="12318" y="7785"/>
                  </a:cubicBezTo>
                  <a:cubicBezTo>
                    <a:pt x="12433" y="7713"/>
                    <a:pt x="12544" y="7636"/>
                    <a:pt x="12645" y="7545"/>
                  </a:cubicBezTo>
                  <a:cubicBezTo>
                    <a:pt x="12673" y="7521"/>
                    <a:pt x="12702" y="7492"/>
                    <a:pt x="12731" y="7468"/>
                  </a:cubicBezTo>
                  <a:cubicBezTo>
                    <a:pt x="12793" y="7410"/>
                    <a:pt x="12851" y="7353"/>
                    <a:pt x="12909" y="7285"/>
                  </a:cubicBezTo>
                  <a:cubicBezTo>
                    <a:pt x="13331" y="6810"/>
                    <a:pt x="13562" y="6200"/>
                    <a:pt x="13562" y="5567"/>
                  </a:cubicBezTo>
                  <a:cubicBezTo>
                    <a:pt x="13562" y="4444"/>
                    <a:pt x="12846" y="3445"/>
                    <a:pt x="11781" y="3090"/>
                  </a:cubicBezTo>
                  <a:cubicBezTo>
                    <a:pt x="11968" y="2677"/>
                    <a:pt x="11997" y="2211"/>
                    <a:pt x="11857" y="1779"/>
                  </a:cubicBezTo>
                  <a:cubicBezTo>
                    <a:pt x="11848" y="1751"/>
                    <a:pt x="11838" y="1722"/>
                    <a:pt x="11829" y="1693"/>
                  </a:cubicBezTo>
                  <a:cubicBezTo>
                    <a:pt x="11556" y="969"/>
                    <a:pt x="10862" y="510"/>
                    <a:pt x="10116" y="510"/>
                  </a:cubicBezTo>
                  <a:cubicBezTo>
                    <a:pt x="9982" y="510"/>
                    <a:pt x="9847" y="525"/>
                    <a:pt x="9712" y="555"/>
                  </a:cubicBezTo>
                  <a:cubicBezTo>
                    <a:pt x="9371" y="173"/>
                    <a:pt x="8928" y="0"/>
                    <a:pt x="8492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" name="Google Shape;12958;p62">
              <a:extLst>
                <a:ext uri="{FF2B5EF4-FFF2-40B4-BE49-F238E27FC236}">
                  <a16:creationId xmlns:a16="http://schemas.microsoft.com/office/drawing/2014/main" id="{496B0DFB-C64E-4529-9165-778355E59C01}"/>
                </a:ext>
              </a:extLst>
            </p:cNvPr>
            <p:cNvSpPr/>
            <p:nvPr/>
          </p:nvSpPr>
          <p:spPr>
            <a:xfrm>
              <a:off x="3526655" y="3918751"/>
              <a:ext cx="331593" cy="220389"/>
            </a:xfrm>
            <a:custGeom>
              <a:avLst/>
              <a:gdLst/>
              <a:ahLst/>
              <a:cxnLst/>
              <a:rect l="l" t="t" r="r" b="b"/>
              <a:pathLst>
                <a:path w="12655" h="8411" extrusionOk="0">
                  <a:moveTo>
                    <a:pt x="1882" y="1"/>
                  </a:moveTo>
                  <a:cubicBezTo>
                    <a:pt x="922" y="318"/>
                    <a:pt x="231" y="1167"/>
                    <a:pt x="116" y="2170"/>
                  </a:cubicBezTo>
                  <a:cubicBezTo>
                    <a:pt x="1" y="3178"/>
                    <a:pt x="481" y="4163"/>
                    <a:pt x="1340" y="4691"/>
                  </a:cubicBezTo>
                  <a:cubicBezTo>
                    <a:pt x="870" y="5372"/>
                    <a:pt x="922" y="6289"/>
                    <a:pt x="1460" y="6918"/>
                  </a:cubicBezTo>
                  <a:cubicBezTo>
                    <a:pt x="1817" y="7331"/>
                    <a:pt x="2327" y="7552"/>
                    <a:pt x="2847" y="7552"/>
                  </a:cubicBezTo>
                  <a:cubicBezTo>
                    <a:pt x="3117" y="7552"/>
                    <a:pt x="3390" y="7492"/>
                    <a:pt x="3644" y="7369"/>
                  </a:cubicBezTo>
                  <a:cubicBezTo>
                    <a:pt x="3896" y="7997"/>
                    <a:pt x="4507" y="8405"/>
                    <a:pt x="5173" y="8405"/>
                  </a:cubicBezTo>
                  <a:cubicBezTo>
                    <a:pt x="5229" y="8405"/>
                    <a:pt x="5286" y="8402"/>
                    <a:pt x="5343" y="8396"/>
                  </a:cubicBezTo>
                  <a:cubicBezTo>
                    <a:pt x="6078" y="8324"/>
                    <a:pt x="6673" y="7777"/>
                    <a:pt x="6808" y="7052"/>
                  </a:cubicBezTo>
                  <a:cubicBezTo>
                    <a:pt x="6817" y="7004"/>
                    <a:pt x="6822" y="6951"/>
                    <a:pt x="6827" y="6903"/>
                  </a:cubicBezTo>
                  <a:cubicBezTo>
                    <a:pt x="6827" y="6875"/>
                    <a:pt x="6832" y="6846"/>
                    <a:pt x="6832" y="6822"/>
                  </a:cubicBezTo>
                  <a:cubicBezTo>
                    <a:pt x="6832" y="6846"/>
                    <a:pt x="6832" y="6870"/>
                    <a:pt x="6836" y="6899"/>
                  </a:cubicBezTo>
                  <a:cubicBezTo>
                    <a:pt x="6836" y="6932"/>
                    <a:pt x="6841" y="6966"/>
                    <a:pt x="6851" y="7004"/>
                  </a:cubicBezTo>
                  <a:cubicBezTo>
                    <a:pt x="6976" y="7811"/>
                    <a:pt x="7667" y="8406"/>
                    <a:pt x="8483" y="8411"/>
                  </a:cubicBezTo>
                  <a:cubicBezTo>
                    <a:pt x="8819" y="8411"/>
                    <a:pt x="9145" y="8310"/>
                    <a:pt x="9419" y="8118"/>
                  </a:cubicBezTo>
                  <a:cubicBezTo>
                    <a:pt x="9688" y="7931"/>
                    <a:pt x="9899" y="7671"/>
                    <a:pt x="10019" y="7369"/>
                  </a:cubicBezTo>
                  <a:cubicBezTo>
                    <a:pt x="10264" y="7484"/>
                    <a:pt x="10528" y="7551"/>
                    <a:pt x="10801" y="7551"/>
                  </a:cubicBezTo>
                  <a:cubicBezTo>
                    <a:pt x="10808" y="7552"/>
                    <a:pt x="10815" y="7552"/>
                    <a:pt x="10822" y="7552"/>
                  </a:cubicBezTo>
                  <a:cubicBezTo>
                    <a:pt x="11682" y="7552"/>
                    <a:pt x="12430" y="6945"/>
                    <a:pt x="12611" y="6097"/>
                  </a:cubicBezTo>
                  <a:cubicBezTo>
                    <a:pt x="12616" y="6063"/>
                    <a:pt x="12625" y="6025"/>
                    <a:pt x="12630" y="5987"/>
                  </a:cubicBezTo>
                  <a:cubicBezTo>
                    <a:pt x="12640" y="5919"/>
                    <a:pt x="12645" y="5857"/>
                    <a:pt x="12645" y="5790"/>
                  </a:cubicBezTo>
                  <a:cubicBezTo>
                    <a:pt x="12654" y="5545"/>
                    <a:pt x="12611" y="5305"/>
                    <a:pt x="12525" y="5079"/>
                  </a:cubicBezTo>
                  <a:cubicBezTo>
                    <a:pt x="12252" y="5796"/>
                    <a:pt x="11567" y="6265"/>
                    <a:pt x="10803" y="6265"/>
                  </a:cubicBezTo>
                  <a:cubicBezTo>
                    <a:pt x="10800" y="6265"/>
                    <a:pt x="10796" y="6265"/>
                    <a:pt x="10792" y="6265"/>
                  </a:cubicBezTo>
                  <a:cubicBezTo>
                    <a:pt x="10561" y="6260"/>
                    <a:pt x="10336" y="6217"/>
                    <a:pt x="10125" y="6131"/>
                  </a:cubicBezTo>
                  <a:cubicBezTo>
                    <a:pt x="10108" y="6123"/>
                    <a:pt x="10091" y="6119"/>
                    <a:pt x="10074" y="6119"/>
                  </a:cubicBezTo>
                  <a:cubicBezTo>
                    <a:pt x="10029" y="6119"/>
                    <a:pt x="9987" y="6146"/>
                    <a:pt x="9966" y="6188"/>
                  </a:cubicBezTo>
                  <a:cubicBezTo>
                    <a:pt x="9837" y="6447"/>
                    <a:pt x="9649" y="6663"/>
                    <a:pt x="9414" y="6827"/>
                  </a:cubicBezTo>
                  <a:cubicBezTo>
                    <a:pt x="9140" y="7019"/>
                    <a:pt x="8814" y="7119"/>
                    <a:pt x="8478" y="7119"/>
                  </a:cubicBezTo>
                  <a:cubicBezTo>
                    <a:pt x="7662" y="7115"/>
                    <a:pt x="6971" y="6519"/>
                    <a:pt x="6846" y="5713"/>
                  </a:cubicBezTo>
                  <a:cubicBezTo>
                    <a:pt x="6836" y="5651"/>
                    <a:pt x="6832" y="5593"/>
                    <a:pt x="6832" y="5531"/>
                  </a:cubicBezTo>
                  <a:cubicBezTo>
                    <a:pt x="6827" y="5607"/>
                    <a:pt x="6817" y="5684"/>
                    <a:pt x="6803" y="5761"/>
                  </a:cubicBezTo>
                  <a:cubicBezTo>
                    <a:pt x="6678" y="6452"/>
                    <a:pt x="6136" y="6990"/>
                    <a:pt x="5439" y="7100"/>
                  </a:cubicBezTo>
                  <a:cubicBezTo>
                    <a:pt x="5352" y="7114"/>
                    <a:pt x="5265" y="7121"/>
                    <a:pt x="5178" y="7121"/>
                  </a:cubicBezTo>
                  <a:cubicBezTo>
                    <a:pt x="4580" y="7121"/>
                    <a:pt x="4019" y="6796"/>
                    <a:pt x="3726" y="6255"/>
                  </a:cubicBezTo>
                  <a:cubicBezTo>
                    <a:pt x="3677" y="6161"/>
                    <a:pt x="3573" y="6101"/>
                    <a:pt x="3466" y="6101"/>
                  </a:cubicBezTo>
                  <a:cubicBezTo>
                    <a:pt x="3458" y="6101"/>
                    <a:pt x="3450" y="6101"/>
                    <a:pt x="3443" y="6102"/>
                  </a:cubicBezTo>
                  <a:cubicBezTo>
                    <a:pt x="3377" y="6107"/>
                    <a:pt x="3316" y="6110"/>
                    <a:pt x="3257" y="6110"/>
                  </a:cubicBezTo>
                  <a:cubicBezTo>
                    <a:pt x="2209" y="6110"/>
                    <a:pt x="2292" y="5283"/>
                    <a:pt x="2310" y="4892"/>
                  </a:cubicBezTo>
                  <a:cubicBezTo>
                    <a:pt x="2314" y="4767"/>
                    <a:pt x="2262" y="4647"/>
                    <a:pt x="2156" y="4571"/>
                  </a:cubicBezTo>
                  <a:cubicBezTo>
                    <a:pt x="1513" y="4095"/>
                    <a:pt x="1210" y="3332"/>
                    <a:pt x="1210" y="2473"/>
                  </a:cubicBezTo>
                  <a:cubicBezTo>
                    <a:pt x="1210" y="1940"/>
                    <a:pt x="1369" y="1422"/>
                    <a:pt x="1676" y="985"/>
                  </a:cubicBezTo>
                  <a:cubicBezTo>
                    <a:pt x="1815" y="802"/>
                    <a:pt x="1964" y="630"/>
                    <a:pt x="2132" y="471"/>
                  </a:cubicBezTo>
                  <a:cubicBezTo>
                    <a:pt x="2257" y="351"/>
                    <a:pt x="1983" y="159"/>
                    <a:pt x="1892" y="15"/>
                  </a:cubicBezTo>
                  <a:lnTo>
                    <a:pt x="1882" y="1"/>
                  </a:ln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Google Shape;12959;p62">
              <a:extLst>
                <a:ext uri="{FF2B5EF4-FFF2-40B4-BE49-F238E27FC236}">
                  <a16:creationId xmlns:a16="http://schemas.microsoft.com/office/drawing/2014/main" id="{83FC914D-F5AB-4D92-9B03-31ECFD1AEE11}"/>
                </a:ext>
              </a:extLst>
            </p:cNvPr>
            <p:cNvSpPr/>
            <p:nvPr/>
          </p:nvSpPr>
          <p:spPr>
            <a:xfrm>
              <a:off x="3507658" y="3832256"/>
              <a:ext cx="395474" cy="312491"/>
            </a:xfrm>
            <a:custGeom>
              <a:avLst/>
              <a:gdLst/>
              <a:ahLst/>
              <a:cxnLst/>
              <a:rect l="l" t="t" r="r" b="b"/>
              <a:pathLst>
                <a:path w="15093" h="11926" extrusionOk="0">
                  <a:moveTo>
                    <a:pt x="5894" y="0"/>
                  </a:moveTo>
                  <a:cubicBezTo>
                    <a:pt x="5434" y="0"/>
                    <a:pt x="4970" y="169"/>
                    <a:pt x="4604" y="522"/>
                  </a:cubicBezTo>
                  <a:lnTo>
                    <a:pt x="4595" y="532"/>
                  </a:lnTo>
                  <a:lnTo>
                    <a:pt x="4580" y="532"/>
                  </a:lnTo>
                  <a:cubicBezTo>
                    <a:pt x="4472" y="515"/>
                    <a:pt x="4365" y="507"/>
                    <a:pt x="4260" y="507"/>
                  </a:cubicBezTo>
                  <a:cubicBezTo>
                    <a:pt x="2923" y="507"/>
                    <a:pt x="1901" y="1818"/>
                    <a:pt x="2315" y="3153"/>
                  </a:cubicBezTo>
                  <a:lnTo>
                    <a:pt x="2324" y="3177"/>
                  </a:lnTo>
                  <a:lnTo>
                    <a:pt x="2300" y="3187"/>
                  </a:lnTo>
                  <a:cubicBezTo>
                    <a:pt x="308" y="4051"/>
                    <a:pt x="1" y="6753"/>
                    <a:pt x="1753" y="8040"/>
                  </a:cubicBezTo>
                  <a:lnTo>
                    <a:pt x="1772" y="8054"/>
                  </a:lnTo>
                  <a:lnTo>
                    <a:pt x="1763" y="8073"/>
                  </a:lnTo>
                  <a:cubicBezTo>
                    <a:pt x="1364" y="8827"/>
                    <a:pt x="1465" y="9700"/>
                    <a:pt x="2031" y="10353"/>
                  </a:cubicBezTo>
                  <a:cubicBezTo>
                    <a:pt x="2418" y="10815"/>
                    <a:pt x="2982" y="11067"/>
                    <a:pt x="3560" y="11067"/>
                  </a:cubicBezTo>
                  <a:cubicBezTo>
                    <a:pt x="3786" y="11067"/>
                    <a:pt x="4014" y="11028"/>
                    <a:pt x="4235" y="10948"/>
                  </a:cubicBezTo>
                  <a:lnTo>
                    <a:pt x="4259" y="10939"/>
                  </a:lnTo>
                  <a:lnTo>
                    <a:pt x="4268" y="10958"/>
                  </a:lnTo>
                  <a:cubicBezTo>
                    <a:pt x="4393" y="11179"/>
                    <a:pt x="4561" y="11371"/>
                    <a:pt x="4758" y="11529"/>
                  </a:cubicBezTo>
                  <a:cubicBezTo>
                    <a:pt x="4801" y="11563"/>
                    <a:pt x="4846" y="11577"/>
                    <a:pt x="4888" y="11577"/>
                  </a:cubicBezTo>
                  <a:cubicBezTo>
                    <a:pt x="5062" y="11577"/>
                    <a:pt x="5195" y="11332"/>
                    <a:pt x="5017" y="11193"/>
                  </a:cubicBezTo>
                  <a:cubicBezTo>
                    <a:pt x="4816" y="11035"/>
                    <a:pt x="4657" y="10828"/>
                    <a:pt x="4556" y="10588"/>
                  </a:cubicBezTo>
                  <a:cubicBezTo>
                    <a:pt x="4525" y="10505"/>
                    <a:pt x="4446" y="10455"/>
                    <a:pt x="4363" y="10455"/>
                  </a:cubicBezTo>
                  <a:cubicBezTo>
                    <a:pt x="4332" y="10455"/>
                    <a:pt x="4299" y="10462"/>
                    <a:pt x="4268" y="10478"/>
                  </a:cubicBezTo>
                  <a:cubicBezTo>
                    <a:pt x="4037" y="10589"/>
                    <a:pt x="3799" y="10640"/>
                    <a:pt x="3568" y="10640"/>
                  </a:cubicBezTo>
                  <a:cubicBezTo>
                    <a:pt x="2661" y="10640"/>
                    <a:pt x="1855" y="9857"/>
                    <a:pt x="1955" y="8851"/>
                  </a:cubicBezTo>
                  <a:cubicBezTo>
                    <a:pt x="2041" y="8030"/>
                    <a:pt x="2737" y="7406"/>
                    <a:pt x="3563" y="7406"/>
                  </a:cubicBezTo>
                  <a:cubicBezTo>
                    <a:pt x="3822" y="7387"/>
                    <a:pt x="3822" y="7007"/>
                    <a:pt x="3563" y="6988"/>
                  </a:cubicBezTo>
                  <a:cubicBezTo>
                    <a:pt x="2972" y="6988"/>
                    <a:pt x="2415" y="7243"/>
                    <a:pt x="2027" y="7684"/>
                  </a:cubicBezTo>
                  <a:lnTo>
                    <a:pt x="2012" y="7704"/>
                  </a:lnTo>
                  <a:lnTo>
                    <a:pt x="1993" y="7689"/>
                  </a:lnTo>
                  <a:cubicBezTo>
                    <a:pt x="510" y="6590"/>
                    <a:pt x="779" y="4300"/>
                    <a:pt x="2473" y="3571"/>
                  </a:cubicBezTo>
                  <a:lnTo>
                    <a:pt x="2492" y="3561"/>
                  </a:lnTo>
                  <a:lnTo>
                    <a:pt x="2507" y="3580"/>
                  </a:lnTo>
                  <a:cubicBezTo>
                    <a:pt x="2876" y="4199"/>
                    <a:pt x="3539" y="4579"/>
                    <a:pt x="4259" y="4583"/>
                  </a:cubicBezTo>
                  <a:cubicBezTo>
                    <a:pt x="4518" y="4564"/>
                    <a:pt x="4518" y="4180"/>
                    <a:pt x="4259" y="4161"/>
                  </a:cubicBezTo>
                  <a:cubicBezTo>
                    <a:pt x="3356" y="4151"/>
                    <a:pt x="2636" y="3403"/>
                    <a:pt x="2660" y="2500"/>
                  </a:cubicBezTo>
                  <a:cubicBezTo>
                    <a:pt x="2688" y="1624"/>
                    <a:pt x="3404" y="933"/>
                    <a:pt x="4271" y="933"/>
                  </a:cubicBezTo>
                  <a:cubicBezTo>
                    <a:pt x="4297" y="933"/>
                    <a:pt x="4324" y="934"/>
                    <a:pt x="4350" y="935"/>
                  </a:cubicBezTo>
                  <a:cubicBezTo>
                    <a:pt x="4883" y="959"/>
                    <a:pt x="5368" y="1252"/>
                    <a:pt x="5641" y="1713"/>
                  </a:cubicBezTo>
                  <a:cubicBezTo>
                    <a:pt x="5687" y="1783"/>
                    <a:pt x="5750" y="1812"/>
                    <a:pt x="5813" y="1812"/>
                  </a:cubicBezTo>
                  <a:cubicBezTo>
                    <a:pt x="5956" y="1812"/>
                    <a:pt x="6095" y="1660"/>
                    <a:pt x="6001" y="1497"/>
                  </a:cubicBezTo>
                  <a:cubicBezTo>
                    <a:pt x="5795" y="1151"/>
                    <a:pt x="5488" y="873"/>
                    <a:pt x="5123" y="700"/>
                  </a:cubicBezTo>
                  <a:lnTo>
                    <a:pt x="5075" y="681"/>
                  </a:lnTo>
                  <a:lnTo>
                    <a:pt x="5118" y="652"/>
                  </a:lnTo>
                  <a:cubicBezTo>
                    <a:pt x="5364" y="496"/>
                    <a:pt x="5630" y="424"/>
                    <a:pt x="5890" y="424"/>
                  </a:cubicBezTo>
                  <a:cubicBezTo>
                    <a:pt x="6641" y="424"/>
                    <a:pt x="7336" y="1021"/>
                    <a:pt x="7336" y="1866"/>
                  </a:cubicBezTo>
                  <a:lnTo>
                    <a:pt x="7336" y="4934"/>
                  </a:lnTo>
                  <a:lnTo>
                    <a:pt x="7307" y="4934"/>
                  </a:lnTo>
                  <a:cubicBezTo>
                    <a:pt x="6880" y="4915"/>
                    <a:pt x="6587" y="4756"/>
                    <a:pt x="6390" y="4439"/>
                  </a:cubicBezTo>
                  <a:cubicBezTo>
                    <a:pt x="6345" y="4366"/>
                    <a:pt x="6280" y="4336"/>
                    <a:pt x="6215" y="4336"/>
                  </a:cubicBezTo>
                  <a:cubicBezTo>
                    <a:pt x="6069" y="4336"/>
                    <a:pt x="5927" y="4493"/>
                    <a:pt x="6030" y="4660"/>
                  </a:cubicBezTo>
                  <a:cubicBezTo>
                    <a:pt x="6304" y="5102"/>
                    <a:pt x="6731" y="5337"/>
                    <a:pt x="7307" y="5351"/>
                  </a:cubicBezTo>
                  <a:lnTo>
                    <a:pt x="7331" y="5351"/>
                  </a:lnTo>
                  <a:lnTo>
                    <a:pt x="7331" y="8553"/>
                  </a:lnTo>
                  <a:lnTo>
                    <a:pt x="7288" y="8510"/>
                  </a:lnTo>
                  <a:cubicBezTo>
                    <a:pt x="7009" y="8241"/>
                    <a:pt x="6640" y="8097"/>
                    <a:pt x="6256" y="8097"/>
                  </a:cubicBezTo>
                  <a:lnTo>
                    <a:pt x="4950" y="8097"/>
                  </a:lnTo>
                  <a:cubicBezTo>
                    <a:pt x="4691" y="8116"/>
                    <a:pt x="4691" y="8496"/>
                    <a:pt x="4950" y="8515"/>
                  </a:cubicBezTo>
                  <a:lnTo>
                    <a:pt x="6256" y="8515"/>
                  </a:lnTo>
                  <a:cubicBezTo>
                    <a:pt x="6851" y="8515"/>
                    <a:pt x="7336" y="9000"/>
                    <a:pt x="7336" y="9595"/>
                  </a:cubicBezTo>
                  <a:lnTo>
                    <a:pt x="7336" y="10060"/>
                  </a:lnTo>
                  <a:cubicBezTo>
                    <a:pt x="7336" y="10870"/>
                    <a:pt x="6677" y="11504"/>
                    <a:pt x="5899" y="11504"/>
                  </a:cubicBezTo>
                  <a:cubicBezTo>
                    <a:pt x="5823" y="11504"/>
                    <a:pt x="5747" y="11498"/>
                    <a:pt x="5670" y="11486"/>
                  </a:cubicBezTo>
                  <a:cubicBezTo>
                    <a:pt x="5663" y="11484"/>
                    <a:pt x="5657" y="11482"/>
                    <a:pt x="5651" y="11482"/>
                  </a:cubicBezTo>
                  <a:cubicBezTo>
                    <a:pt x="5646" y="11482"/>
                    <a:pt x="5641" y="11484"/>
                    <a:pt x="5636" y="11486"/>
                  </a:cubicBezTo>
                  <a:cubicBezTo>
                    <a:pt x="5629" y="11485"/>
                    <a:pt x="5621" y="11485"/>
                    <a:pt x="5614" y="11485"/>
                  </a:cubicBezTo>
                  <a:cubicBezTo>
                    <a:pt x="5352" y="11485"/>
                    <a:pt x="5327" y="11885"/>
                    <a:pt x="5603" y="11904"/>
                  </a:cubicBezTo>
                  <a:cubicBezTo>
                    <a:pt x="5699" y="11919"/>
                    <a:pt x="5795" y="11926"/>
                    <a:pt x="5890" y="11926"/>
                  </a:cubicBezTo>
                  <a:cubicBezTo>
                    <a:pt x="6560" y="11926"/>
                    <a:pt x="7187" y="11565"/>
                    <a:pt x="7523" y="10968"/>
                  </a:cubicBezTo>
                  <a:lnTo>
                    <a:pt x="7547" y="10924"/>
                  </a:lnTo>
                  <a:lnTo>
                    <a:pt x="7571" y="10968"/>
                  </a:lnTo>
                  <a:cubicBezTo>
                    <a:pt x="7903" y="11565"/>
                    <a:pt x="8533" y="11926"/>
                    <a:pt x="9204" y="11926"/>
                  </a:cubicBezTo>
                  <a:cubicBezTo>
                    <a:pt x="9299" y="11926"/>
                    <a:pt x="9395" y="11919"/>
                    <a:pt x="9491" y="11904"/>
                  </a:cubicBezTo>
                  <a:cubicBezTo>
                    <a:pt x="9756" y="11863"/>
                    <a:pt x="9708" y="11483"/>
                    <a:pt x="9463" y="11483"/>
                  </a:cubicBezTo>
                  <a:cubicBezTo>
                    <a:pt x="9451" y="11483"/>
                    <a:pt x="9438" y="11484"/>
                    <a:pt x="9424" y="11486"/>
                  </a:cubicBezTo>
                  <a:cubicBezTo>
                    <a:pt x="9345" y="11499"/>
                    <a:pt x="9266" y="11505"/>
                    <a:pt x="9188" y="11505"/>
                  </a:cubicBezTo>
                  <a:cubicBezTo>
                    <a:pt x="8412" y="11505"/>
                    <a:pt x="7753" y="10873"/>
                    <a:pt x="7753" y="10065"/>
                  </a:cubicBezTo>
                  <a:lnTo>
                    <a:pt x="7753" y="8217"/>
                  </a:lnTo>
                  <a:cubicBezTo>
                    <a:pt x="7753" y="7622"/>
                    <a:pt x="8238" y="7137"/>
                    <a:pt x="8833" y="7137"/>
                  </a:cubicBezTo>
                  <a:lnTo>
                    <a:pt x="10725" y="7137"/>
                  </a:lnTo>
                  <a:cubicBezTo>
                    <a:pt x="10732" y="7138"/>
                    <a:pt x="10740" y="7138"/>
                    <a:pt x="10747" y="7138"/>
                  </a:cubicBezTo>
                  <a:cubicBezTo>
                    <a:pt x="11020" y="7138"/>
                    <a:pt x="11020" y="6719"/>
                    <a:pt x="10747" y="6719"/>
                  </a:cubicBezTo>
                  <a:cubicBezTo>
                    <a:pt x="10740" y="6719"/>
                    <a:pt x="10732" y="6719"/>
                    <a:pt x="10725" y="6719"/>
                  </a:cubicBezTo>
                  <a:lnTo>
                    <a:pt x="8833" y="6719"/>
                  </a:lnTo>
                  <a:cubicBezTo>
                    <a:pt x="8449" y="6719"/>
                    <a:pt x="8080" y="6863"/>
                    <a:pt x="7806" y="7132"/>
                  </a:cubicBezTo>
                  <a:lnTo>
                    <a:pt x="7758" y="7175"/>
                  </a:lnTo>
                  <a:lnTo>
                    <a:pt x="7758" y="6311"/>
                  </a:lnTo>
                  <a:lnTo>
                    <a:pt x="7782" y="6311"/>
                  </a:lnTo>
                  <a:cubicBezTo>
                    <a:pt x="8675" y="6273"/>
                    <a:pt x="9376" y="5539"/>
                    <a:pt x="9371" y="4646"/>
                  </a:cubicBezTo>
                  <a:cubicBezTo>
                    <a:pt x="9383" y="4495"/>
                    <a:pt x="9273" y="4419"/>
                    <a:pt x="9162" y="4419"/>
                  </a:cubicBezTo>
                  <a:cubicBezTo>
                    <a:pt x="9052" y="4419"/>
                    <a:pt x="8941" y="4495"/>
                    <a:pt x="8953" y="4646"/>
                  </a:cubicBezTo>
                  <a:cubicBezTo>
                    <a:pt x="8953" y="5303"/>
                    <a:pt x="8445" y="5846"/>
                    <a:pt x="7787" y="5889"/>
                  </a:cubicBezTo>
                  <a:lnTo>
                    <a:pt x="7758" y="5889"/>
                  </a:lnTo>
                  <a:lnTo>
                    <a:pt x="7758" y="1866"/>
                  </a:lnTo>
                  <a:cubicBezTo>
                    <a:pt x="7758" y="1022"/>
                    <a:pt x="8451" y="426"/>
                    <a:pt x="9200" y="426"/>
                  </a:cubicBezTo>
                  <a:cubicBezTo>
                    <a:pt x="9461" y="426"/>
                    <a:pt x="9728" y="498"/>
                    <a:pt x="9976" y="657"/>
                  </a:cubicBezTo>
                  <a:lnTo>
                    <a:pt x="10019" y="681"/>
                  </a:lnTo>
                  <a:lnTo>
                    <a:pt x="9971" y="705"/>
                  </a:lnTo>
                  <a:cubicBezTo>
                    <a:pt x="9606" y="873"/>
                    <a:pt x="9299" y="1151"/>
                    <a:pt x="9093" y="1497"/>
                  </a:cubicBezTo>
                  <a:cubicBezTo>
                    <a:pt x="8999" y="1660"/>
                    <a:pt x="9138" y="1812"/>
                    <a:pt x="9281" y="1812"/>
                  </a:cubicBezTo>
                  <a:cubicBezTo>
                    <a:pt x="9344" y="1812"/>
                    <a:pt x="9407" y="1783"/>
                    <a:pt x="9453" y="1713"/>
                  </a:cubicBezTo>
                  <a:cubicBezTo>
                    <a:pt x="9767" y="1193"/>
                    <a:pt x="10301" y="935"/>
                    <a:pt x="10834" y="935"/>
                  </a:cubicBezTo>
                  <a:cubicBezTo>
                    <a:pt x="11385" y="935"/>
                    <a:pt x="11934" y="1210"/>
                    <a:pt x="12242" y="1756"/>
                  </a:cubicBezTo>
                  <a:cubicBezTo>
                    <a:pt x="12851" y="2831"/>
                    <a:pt x="12074" y="4166"/>
                    <a:pt x="10835" y="4166"/>
                  </a:cubicBezTo>
                  <a:cubicBezTo>
                    <a:pt x="10828" y="4165"/>
                    <a:pt x="10820" y="4165"/>
                    <a:pt x="10813" y="4165"/>
                  </a:cubicBezTo>
                  <a:cubicBezTo>
                    <a:pt x="10540" y="4165"/>
                    <a:pt x="10540" y="4584"/>
                    <a:pt x="10813" y="4584"/>
                  </a:cubicBezTo>
                  <a:cubicBezTo>
                    <a:pt x="10820" y="4584"/>
                    <a:pt x="10828" y="4584"/>
                    <a:pt x="10835" y="4583"/>
                  </a:cubicBezTo>
                  <a:cubicBezTo>
                    <a:pt x="11555" y="4583"/>
                    <a:pt x="12222" y="4204"/>
                    <a:pt x="12587" y="3585"/>
                  </a:cubicBezTo>
                  <a:lnTo>
                    <a:pt x="12602" y="3566"/>
                  </a:lnTo>
                  <a:lnTo>
                    <a:pt x="12621" y="3575"/>
                  </a:lnTo>
                  <a:cubicBezTo>
                    <a:pt x="14315" y="4305"/>
                    <a:pt x="14584" y="6595"/>
                    <a:pt x="13101" y="7694"/>
                  </a:cubicBezTo>
                  <a:lnTo>
                    <a:pt x="13082" y="7708"/>
                  </a:lnTo>
                  <a:lnTo>
                    <a:pt x="13067" y="7689"/>
                  </a:lnTo>
                  <a:cubicBezTo>
                    <a:pt x="12678" y="7247"/>
                    <a:pt x="12122" y="6993"/>
                    <a:pt x="11531" y="6993"/>
                  </a:cubicBezTo>
                  <a:cubicBezTo>
                    <a:pt x="11524" y="6992"/>
                    <a:pt x="11516" y="6992"/>
                    <a:pt x="11509" y="6992"/>
                  </a:cubicBezTo>
                  <a:cubicBezTo>
                    <a:pt x="11236" y="6992"/>
                    <a:pt x="11236" y="7412"/>
                    <a:pt x="11509" y="7412"/>
                  </a:cubicBezTo>
                  <a:cubicBezTo>
                    <a:pt x="11516" y="7412"/>
                    <a:pt x="11524" y="7411"/>
                    <a:pt x="11531" y="7411"/>
                  </a:cubicBezTo>
                  <a:cubicBezTo>
                    <a:pt x="12299" y="7411"/>
                    <a:pt x="12962" y="7953"/>
                    <a:pt x="13115" y="8707"/>
                  </a:cubicBezTo>
                  <a:cubicBezTo>
                    <a:pt x="13245" y="9307"/>
                    <a:pt x="13014" y="9931"/>
                    <a:pt x="12520" y="10300"/>
                  </a:cubicBezTo>
                  <a:cubicBezTo>
                    <a:pt x="12231" y="10529"/>
                    <a:pt x="11882" y="10645"/>
                    <a:pt x="11529" y="10645"/>
                  </a:cubicBezTo>
                  <a:cubicBezTo>
                    <a:pt x="11290" y="10645"/>
                    <a:pt x="11049" y="10592"/>
                    <a:pt x="10826" y="10483"/>
                  </a:cubicBezTo>
                  <a:cubicBezTo>
                    <a:pt x="10795" y="10468"/>
                    <a:pt x="10763" y="10461"/>
                    <a:pt x="10732" y="10461"/>
                  </a:cubicBezTo>
                  <a:cubicBezTo>
                    <a:pt x="10648" y="10461"/>
                    <a:pt x="10569" y="10510"/>
                    <a:pt x="10538" y="10593"/>
                  </a:cubicBezTo>
                  <a:cubicBezTo>
                    <a:pt x="10442" y="10833"/>
                    <a:pt x="10283" y="11044"/>
                    <a:pt x="10077" y="11198"/>
                  </a:cubicBezTo>
                  <a:cubicBezTo>
                    <a:pt x="9899" y="11337"/>
                    <a:pt x="10032" y="11582"/>
                    <a:pt x="10206" y="11582"/>
                  </a:cubicBezTo>
                  <a:cubicBezTo>
                    <a:pt x="10248" y="11582"/>
                    <a:pt x="10293" y="11568"/>
                    <a:pt x="10336" y="11534"/>
                  </a:cubicBezTo>
                  <a:cubicBezTo>
                    <a:pt x="10538" y="11380"/>
                    <a:pt x="10701" y="11184"/>
                    <a:pt x="10826" y="10963"/>
                  </a:cubicBezTo>
                  <a:lnTo>
                    <a:pt x="10835" y="10944"/>
                  </a:lnTo>
                  <a:lnTo>
                    <a:pt x="10859" y="10953"/>
                  </a:lnTo>
                  <a:cubicBezTo>
                    <a:pt x="11077" y="11030"/>
                    <a:pt x="11304" y="11068"/>
                    <a:pt x="11529" y="11068"/>
                  </a:cubicBezTo>
                  <a:cubicBezTo>
                    <a:pt x="11963" y="11068"/>
                    <a:pt x="12393" y="10927"/>
                    <a:pt x="12750" y="10656"/>
                  </a:cubicBezTo>
                  <a:cubicBezTo>
                    <a:pt x="13302" y="10252"/>
                    <a:pt x="13610" y="9600"/>
                    <a:pt x="13566" y="8918"/>
                  </a:cubicBezTo>
                  <a:cubicBezTo>
                    <a:pt x="13552" y="8625"/>
                    <a:pt x="13470" y="8337"/>
                    <a:pt x="13331" y="8078"/>
                  </a:cubicBezTo>
                  <a:lnTo>
                    <a:pt x="13322" y="8059"/>
                  </a:lnTo>
                  <a:lnTo>
                    <a:pt x="13341" y="8044"/>
                  </a:lnTo>
                  <a:cubicBezTo>
                    <a:pt x="15093" y="6758"/>
                    <a:pt x="14786" y="4055"/>
                    <a:pt x="12794" y="3191"/>
                  </a:cubicBezTo>
                  <a:lnTo>
                    <a:pt x="12798" y="3187"/>
                  </a:lnTo>
                  <a:lnTo>
                    <a:pt x="12779" y="3177"/>
                  </a:lnTo>
                  <a:lnTo>
                    <a:pt x="12784" y="3153"/>
                  </a:lnTo>
                  <a:cubicBezTo>
                    <a:pt x="13198" y="1818"/>
                    <a:pt x="12180" y="507"/>
                    <a:pt x="10839" y="507"/>
                  </a:cubicBezTo>
                  <a:cubicBezTo>
                    <a:pt x="10734" y="507"/>
                    <a:pt x="10627" y="515"/>
                    <a:pt x="10518" y="532"/>
                  </a:cubicBezTo>
                  <a:lnTo>
                    <a:pt x="10509" y="532"/>
                  </a:lnTo>
                  <a:lnTo>
                    <a:pt x="10499" y="522"/>
                  </a:lnTo>
                  <a:cubicBezTo>
                    <a:pt x="10132" y="169"/>
                    <a:pt x="9667" y="0"/>
                    <a:pt x="9206" y="0"/>
                  </a:cubicBezTo>
                  <a:cubicBezTo>
                    <a:pt x="8559" y="0"/>
                    <a:pt x="7921" y="334"/>
                    <a:pt x="7576" y="959"/>
                  </a:cubicBezTo>
                  <a:lnTo>
                    <a:pt x="7552" y="1002"/>
                  </a:lnTo>
                  <a:lnTo>
                    <a:pt x="7528" y="959"/>
                  </a:lnTo>
                  <a:cubicBezTo>
                    <a:pt x="7180" y="334"/>
                    <a:pt x="6541" y="0"/>
                    <a:pt x="589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49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1️⃣ Waterfall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744752"/>
            <a:ext cx="808814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Sequential, one phase after another (like a waterfall).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→ Design → Implementation → Testing → Deployment →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understand and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Rigid: No going back to previous phases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best when requirements are clear and stable.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 Banking systems, government, or defense projects.</a:t>
            </a:r>
          </a:p>
        </p:txBody>
      </p:sp>
    </p:spTree>
    <p:extLst>
      <p:ext uri="{BB962C8B-B14F-4D97-AF65-F5344CB8AC3E}">
        <p14:creationId xmlns:p14="http://schemas.microsoft.com/office/powerpoint/2010/main" val="2044207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1️⃣ Waterfall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89" y="2074638"/>
            <a:ext cx="808814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 vs Disadvantage?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What type of projects?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26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2️⃣ V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621642"/>
            <a:ext cx="808814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extends the Waterfall model by directly mapping development phases to corresponding testing phases.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the left side of the “V” you have verification phases (requirements → system design → architecture → module design → coding)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on the right side, you have validation/testing phases (unit tests → integration tests → system tests → acceptance tests)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emphasizes early test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Rigid: No going back to previous phases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best when requirements are clear and stable.</a:t>
            </a:r>
          </a:p>
        </p:txBody>
      </p:sp>
    </p:spTree>
    <p:extLst>
      <p:ext uri="{BB962C8B-B14F-4D97-AF65-F5344CB8AC3E}">
        <p14:creationId xmlns:p14="http://schemas.microsoft.com/office/powerpoint/2010/main" val="1063581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3️⃣ Iterative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621642"/>
            <a:ext cx="808814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Build the system in successive versions — each iteration improves on the previous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cycle includes planning, design, implementation, and testing of a subset of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Feedback-driven; allows gradual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to manage risk than the Waterfall.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partial versions available for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 Medium-sized applications where requirements evolve slowly.</a:t>
            </a:r>
          </a:p>
        </p:txBody>
      </p:sp>
    </p:spTree>
    <p:extLst>
      <p:ext uri="{BB962C8B-B14F-4D97-AF65-F5344CB8AC3E}">
        <p14:creationId xmlns:p14="http://schemas.microsoft.com/office/powerpoint/2010/main" val="2265628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3️⃣ Iterative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840447"/>
            <a:ext cx="80881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iteration structure?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What type of projects?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When not to use it?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Tips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520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4️⃣ Incremental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669254"/>
            <a:ext cx="808814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is developed and delivered in increments (small functional parts).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increment adds a working portion of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cycle includes planning, design, implementation, and testing of a subset of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delivery of usable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testing and risk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 at each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 Web or mobile apps, where early versions can go live with basic features</a:t>
            </a:r>
          </a:p>
        </p:txBody>
      </p:sp>
    </p:spTree>
    <p:extLst>
      <p:ext uri="{BB962C8B-B14F-4D97-AF65-F5344CB8AC3E}">
        <p14:creationId xmlns:p14="http://schemas.microsoft.com/office/powerpoint/2010/main" val="2739721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4️⃣ Incremental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963558"/>
            <a:ext cx="808814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 vs Disadvantage?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What type of projects?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Increment vs iterative?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255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5️⃣ Agile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937814"/>
            <a:ext cx="80881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EG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software in short, iterative cycles (sprints) with constant user collaboration. </a:t>
            </a:r>
            <a:r>
              <a:rPr lang="ar-EG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Increment + Iterative)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Emphasizes adaptability, customer feedback, and team collaboration.</a:t>
            </a:r>
            <a:endParaRPr kumimoji="0" lang="ar-EG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software delivered every few weeks.</a:t>
            </a:r>
            <a:endParaRPr kumimoji="0" lang="ar-EG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 Startups, mobile apps, dynamic web apps.</a:t>
            </a:r>
          </a:p>
        </p:txBody>
      </p:sp>
    </p:spTree>
    <p:extLst>
      <p:ext uri="{BB962C8B-B14F-4D97-AF65-F5344CB8AC3E}">
        <p14:creationId xmlns:p14="http://schemas.microsoft.com/office/powerpoint/2010/main" val="4276114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5️⃣ Agile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2086669"/>
            <a:ext cx="80881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What type of projects?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and Why Not?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938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4" y="539500"/>
            <a:ext cx="8143577" cy="613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🚀 </a:t>
            </a:r>
            <a:r>
              <a:rPr lang="en-US" b="1" dirty="0"/>
              <a:t>Major Software Process Models </a:t>
            </a:r>
            <a:endParaRPr dirty="0"/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D346C083-34C5-4C94-901B-107616A9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205332"/>
            <a:ext cx="72940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6️⃣ DevOps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5F87342-0DB5-4629-AE12-C8802B237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4" y="1744752"/>
            <a:ext cx="80881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Extends Agile by integrating development and operations — continuous delivery and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of testing, integration, and deployment (CI/CD).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speed and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 Startups, mobile apps, dynamic web apps.</a:t>
            </a:r>
          </a:p>
        </p:txBody>
      </p:sp>
    </p:spTree>
    <p:extLst>
      <p:ext uri="{BB962C8B-B14F-4D97-AF65-F5344CB8AC3E}">
        <p14:creationId xmlns:p14="http://schemas.microsoft.com/office/powerpoint/2010/main" val="3547816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xfrm>
            <a:off x="458251" y="1806507"/>
            <a:ext cx="3941440" cy="18054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Agile in Action</a:t>
            </a:r>
            <a:endParaRPr dirty="0"/>
          </a:p>
        </p:txBody>
      </p:sp>
      <p:sp>
        <p:nvSpPr>
          <p:cNvPr id="603" name="Google Shape;603;p30"/>
          <p:cNvSpPr txBox="1">
            <a:spLocks noGrp="1"/>
          </p:cNvSpPr>
          <p:nvPr>
            <p:ph type="title" idx="2"/>
          </p:nvPr>
        </p:nvSpPr>
        <p:spPr>
          <a:xfrm>
            <a:off x="533575" y="1993224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604" name="Google Shape;604;p30"/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/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/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/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/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32" name="Google Shape;632;p30"/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/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/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203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Agile in Action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660030" y="1225471"/>
            <a:ext cx="7904921" cy="4740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Agile focuses on iterative delivery, customer feedback, and adaptability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8" name="Google Shape;710;p32">
            <a:extLst>
              <a:ext uri="{FF2B5EF4-FFF2-40B4-BE49-F238E27FC236}">
                <a16:creationId xmlns:a16="http://schemas.microsoft.com/office/drawing/2014/main" id="{18C23833-C2C2-4F5C-B4DA-35986FAC3B53}"/>
              </a:ext>
            </a:extLst>
          </p:cNvPr>
          <p:cNvSpPr txBox="1">
            <a:spLocks/>
          </p:cNvSpPr>
          <p:nvPr/>
        </p:nvSpPr>
        <p:spPr>
          <a:xfrm>
            <a:off x="722374" y="2311710"/>
            <a:ext cx="7904921" cy="110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collaboration over contract negotiation.</a:t>
            </a:r>
            <a:endParaRPr lang="ar-EG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Responding to change over following a plan.</a:t>
            </a:r>
            <a:endParaRPr lang="ar-EG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/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Working software over comprehensive documentation.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DCE3DD-193E-46BC-B961-CA43CA70DB42}"/>
              </a:ext>
            </a:extLst>
          </p:cNvPr>
          <p:cNvSpPr txBox="1"/>
          <p:nvPr/>
        </p:nvSpPr>
        <p:spPr>
          <a:xfrm>
            <a:off x="722374" y="1812753"/>
            <a:ext cx="4575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“You don’t need a big plan, you need a flexible one.”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3E25F-5F7D-4105-A74D-66A420E00B1E}"/>
              </a:ext>
            </a:extLst>
          </p:cNvPr>
          <p:cNvSpPr txBox="1"/>
          <p:nvPr/>
        </p:nvSpPr>
        <p:spPr>
          <a:xfrm>
            <a:off x="722374" y="3610764"/>
            <a:ext cx="7043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Example: A startup building a food delivery app — customers keep changing their preferences (add online payment, track delivery, etc.).</a:t>
            </a:r>
            <a:br>
              <a:rPr lang="en-US" sz="1600" dirty="0"/>
            </a:br>
            <a:r>
              <a:rPr lang="en-US" sz="1600" dirty="0"/>
              <a:t>Agile helps the team adapt fast.</a:t>
            </a:r>
          </a:p>
        </p:txBody>
      </p:sp>
    </p:spTree>
    <p:extLst>
      <p:ext uri="{BB962C8B-B14F-4D97-AF65-F5344CB8AC3E}">
        <p14:creationId xmlns:p14="http://schemas.microsoft.com/office/powerpoint/2010/main" val="924806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Agile Workflow Overview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764414" y="1221846"/>
            <a:ext cx="7904921" cy="6591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Backlog → Sprint Planning → Development → Testing → Review → Deployment → Feedback → Next Sprint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8" name="Google Shape;710;p32">
            <a:extLst>
              <a:ext uri="{FF2B5EF4-FFF2-40B4-BE49-F238E27FC236}">
                <a16:creationId xmlns:a16="http://schemas.microsoft.com/office/drawing/2014/main" id="{18C23833-C2C2-4F5C-B4DA-35986FAC3B53}"/>
              </a:ext>
            </a:extLst>
          </p:cNvPr>
          <p:cNvSpPr txBox="1">
            <a:spLocks/>
          </p:cNvSpPr>
          <p:nvPr/>
        </p:nvSpPr>
        <p:spPr>
          <a:xfrm>
            <a:off x="764414" y="1862806"/>
            <a:ext cx="3505068" cy="45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dirty="0"/>
              <a:t>Understanding User Stories</a:t>
            </a:r>
            <a:endParaRPr lang="en-US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6FA93-CF33-4B24-A658-C7336E43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14" y="2295676"/>
            <a:ext cx="818746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[user], I want [feature] so that [benefit].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 want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my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that I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 when my food will arrive.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acceptance criteria below: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sees live delivery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refreshes every 10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84343-BF72-43AC-A734-A07495DBFE6F}"/>
              </a:ext>
            </a:extLst>
          </p:cNvPr>
          <p:cNvSpPr/>
          <p:nvPr/>
        </p:nvSpPr>
        <p:spPr>
          <a:xfrm>
            <a:off x="671400" y="2325240"/>
            <a:ext cx="8412480" cy="2377440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E524C3-EC29-4A7A-8949-459EB4BEBC6D}"/>
                  </a:ext>
                </a:extLst>
              </p14:cNvPr>
              <p14:cNvContentPartPr/>
              <p14:nvPr/>
            </p14:nvContentPartPr>
            <p14:xfrm>
              <a:off x="7891341" y="170255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E524C3-EC29-4A7A-8949-459EB4BEBC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2701" y="16939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6357FD-76A1-4821-AE41-E5E5BAB48FDC}"/>
                  </a:ext>
                </a:extLst>
              </p14:cNvPr>
              <p14:cNvContentPartPr/>
              <p14:nvPr/>
            </p14:nvContentPartPr>
            <p14:xfrm>
              <a:off x="4035381" y="233867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6357FD-76A1-4821-AE41-E5E5BAB48F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6381" y="23296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B6B3EB-F2AB-4E92-9C9A-6CE594B8E9BF}"/>
                  </a:ext>
                </a:extLst>
              </p14:cNvPr>
              <p14:cNvContentPartPr/>
              <p14:nvPr/>
            </p14:nvContentPartPr>
            <p14:xfrm>
              <a:off x="3458661" y="2358475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B6B3EB-F2AB-4E92-9C9A-6CE594B8E9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9661" y="234983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3497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Agile Workflow Overview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EA8E55-C610-4B9D-ADDD-753748AE8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78" y="1017483"/>
            <a:ext cx="7757044" cy="34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10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Sprint Execution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AE18EB5F-6C8E-4699-B167-3F034F1E8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65" y="1435341"/>
            <a:ext cx="710002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pick tasks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Do → In Progress → Testing → Done.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stand-up (15 min)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reviewed before moving to “Testing”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953C83-C5EB-46A9-BFA3-6ED785D40BF0}"/>
              </a:ext>
            </a:extLst>
          </p:cNvPr>
          <p:cNvSpPr txBox="1"/>
          <p:nvPr/>
        </p:nvSpPr>
        <p:spPr>
          <a:xfrm>
            <a:off x="551622" y="3205031"/>
            <a:ext cx="45753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Agile Testing &amp; Deployment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0275A1C-D910-4517-9AB4-731459DEB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26" y="3474201"/>
            <a:ext cx="92036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happens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sprint (not after all development).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Integration (CI) and Continuous Deployment (CD) — each increment is potentially deployable.</a:t>
            </a:r>
          </a:p>
        </p:txBody>
      </p:sp>
    </p:spTree>
    <p:extLst>
      <p:ext uri="{BB962C8B-B14F-4D97-AF65-F5344CB8AC3E}">
        <p14:creationId xmlns:p14="http://schemas.microsoft.com/office/powerpoint/2010/main" val="2128368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Sprint Review &amp; Retrospective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53C5B9C-7C50-4FC2-B47C-38B140FAD129}"/>
              </a:ext>
            </a:extLst>
          </p:cNvPr>
          <p:cNvSpPr txBox="1"/>
          <p:nvPr/>
        </p:nvSpPr>
        <p:spPr>
          <a:xfrm>
            <a:off x="722375" y="1643293"/>
            <a:ext cx="74978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Review: show progress to the Product Owner.</a:t>
            </a:r>
          </a:p>
          <a:p>
            <a:r>
              <a:rPr lang="en-US" sz="1600" dirty="0"/>
              <a:t>Retrospective: team reflects — what went well, what to improve.</a:t>
            </a:r>
          </a:p>
          <a:p>
            <a:endParaRPr lang="en-US" sz="1600" dirty="0"/>
          </a:p>
          <a:p>
            <a:r>
              <a:rPr lang="en-US" sz="1600" dirty="0"/>
              <a:t>Example questions:</a:t>
            </a:r>
          </a:p>
          <a:p>
            <a:r>
              <a:rPr lang="en-US" sz="1600" dirty="0"/>
              <a:t>What slowed us down? What helped us deliver faster?</a:t>
            </a:r>
          </a:p>
        </p:txBody>
      </p:sp>
    </p:spTree>
    <p:extLst>
      <p:ext uri="{BB962C8B-B14F-4D97-AF65-F5344CB8AC3E}">
        <p14:creationId xmlns:p14="http://schemas.microsoft.com/office/powerpoint/2010/main" val="4725839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08E1590-3CB9-48D0-A296-BA068A26A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285750"/>
            <a:ext cx="69532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9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499"/>
            <a:ext cx="7699200" cy="679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4 Agile Values (Agile Manifesto)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36" y="2026098"/>
            <a:ext cx="77267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 and Interactions over Processes and Tools: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value individuals and interactions over processes and tools.”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People build software, not tools.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teamwork, communication, and collaboration matter more than strict adherence to procedures or software tools.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Agile teams hold daily stand-up meetings to discuss progress and blockers.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6DD75-F665-438F-B91E-A16396587A2B}"/>
              </a:ext>
            </a:extLst>
          </p:cNvPr>
          <p:cNvSpPr txBox="1"/>
          <p:nvPr/>
        </p:nvSpPr>
        <p:spPr>
          <a:xfrm>
            <a:off x="935936" y="1378466"/>
            <a:ext cx="7629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Agile Manifesto</a:t>
            </a:r>
            <a:r>
              <a:rPr lang="en-US" sz="1600" dirty="0"/>
              <a:t> defines how teams should approach software development — emphasizing </a:t>
            </a:r>
            <a:r>
              <a:rPr lang="en-US" sz="1600" b="1" dirty="0"/>
              <a:t>people, collaboration, and adaptability</a:t>
            </a:r>
            <a:r>
              <a:rPr lang="en-US" sz="1600" dirty="0"/>
              <a:t> over rigid processes.</a:t>
            </a:r>
          </a:p>
        </p:txBody>
      </p:sp>
    </p:spTree>
    <p:extLst>
      <p:ext uri="{BB962C8B-B14F-4D97-AF65-F5344CB8AC3E}">
        <p14:creationId xmlns:p14="http://schemas.microsoft.com/office/powerpoint/2010/main" val="137700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499"/>
            <a:ext cx="7699200" cy="679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4 Agile Values (Agile Manifesto)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36" y="1615326"/>
            <a:ext cx="77267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Working Software over Comprehensive Documentation: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value working software over comprehensive documentation.”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Delivering a working product is more valuable than spending too much time on paperwork.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is still important — but it shouldn’t delay delivering usable software.\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A functional prototype or MVP shown to the client provides more value than a 100-page specification document.</a:t>
            </a:r>
          </a:p>
        </p:txBody>
      </p:sp>
    </p:spTree>
    <p:extLst>
      <p:ext uri="{BB962C8B-B14F-4D97-AF65-F5344CB8AC3E}">
        <p14:creationId xmlns:p14="http://schemas.microsoft.com/office/powerpoint/2010/main" val="1526336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499"/>
            <a:ext cx="7699200" cy="679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4 Agile Values (Agile Manifesto)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627825"/>
            <a:ext cx="77267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Customer Collaboration over Contract Negotiation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value customer collaboration over contract negotiation.”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Agile teams work with the customer, not just for the customer. Frequent feedback ensures the final product truly meets the customer’s needs, even if those needs change.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Example: The customer participates in sprint reviews and helps prioritize features, instead of waiting until the end to evaluate the system.</a:t>
            </a:r>
          </a:p>
        </p:txBody>
      </p:sp>
    </p:spTree>
    <p:extLst>
      <p:ext uri="{BB962C8B-B14F-4D97-AF65-F5344CB8AC3E}">
        <p14:creationId xmlns:p14="http://schemas.microsoft.com/office/powerpoint/2010/main" val="2271465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499"/>
            <a:ext cx="7699200" cy="679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4 Agile Values (Agile Manifesto)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5" y="1673094"/>
            <a:ext cx="772670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Responding to Change over Following a Plan: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value responding to change over following a plan.”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 Plans are useful, but flexibility is more important.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teams adjust their plans as requirements evolve or new challenges appear.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If market trends shift, the team can re-prioritize the product backlog to add new features quickly.</a:t>
            </a:r>
          </a:p>
        </p:txBody>
      </p:sp>
    </p:spTree>
    <p:extLst>
      <p:ext uri="{BB962C8B-B14F-4D97-AF65-F5344CB8AC3E}">
        <p14:creationId xmlns:p14="http://schemas.microsoft.com/office/powerpoint/2010/main" val="316168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14337D5-8BA2-4EDA-B0FF-A6C73C2A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788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641965"/>
            <a:ext cx="83409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“Our highest priority is to satisfy the customer through early and continuous delivery of valuable software.”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working software frequently so customers see progress and give feedback early.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3165536"/>
            <a:ext cx="77267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 Welcome Changing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“Welcome changing requirements, even late in development.”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teams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embrace change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flexibility leads to better alignment with business needs.</a:t>
            </a:r>
          </a:p>
        </p:txBody>
      </p:sp>
    </p:spTree>
    <p:extLst>
      <p:ext uri="{BB962C8B-B14F-4D97-AF65-F5344CB8AC3E}">
        <p14:creationId xmlns:p14="http://schemas.microsoft.com/office/powerpoint/2010/main" val="3734577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641966"/>
            <a:ext cx="83409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Deliver Working Software Frequently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“Deliver working software frequently, from a couple of weeks to a couple of months.”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iterations (sprints) keep momentum and enable early testing and adaptation.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3165536"/>
            <a:ext cx="77267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Business People and Developers Work Together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“Business people and developers must work together daily throughout the project.”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collaboration ensures the product fits real business goals.</a:t>
            </a:r>
          </a:p>
        </p:txBody>
      </p:sp>
    </p:spTree>
    <p:extLst>
      <p:ext uri="{BB962C8B-B14F-4D97-AF65-F5344CB8AC3E}">
        <p14:creationId xmlns:p14="http://schemas.microsoft.com/office/powerpoint/2010/main" val="3492506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641967"/>
            <a:ext cx="83409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Build Projects Around Motivated Individuals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“Give them the environment and support they need, and trust them to get the job done.”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Empowered, self-organizing teams are the heart of Agile success.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3165536"/>
            <a:ext cx="77267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Face-to-Face Conversation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most efficient and effective method of conveying information is face-to-face conversation.”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communication (meetings, stand-ups, video calls) reduces misunderstanding.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661849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888188"/>
            <a:ext cx="83409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Working Software is the Primary Measure of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“Working software is the primary measure of progress.”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Delivering real, usable functionality matters more than documents or plans.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2919316"/>
            <a:ext cx="77267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Sustainable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“Agile processes promote sustainable development. The sponsors, developers, and users should be able to maintain a constant pace indefinitely.”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should avoid burnout — consistent delivery matters more than speed spikes.</a:t>
            </a:r>
          </a:p>
        </p:txBody>
      </p:sp>
    </p:spTree>
    <p:extLst>
      <p:ext uri="{BB962C8B-B14F-4D97-AF65-F5344CB8AC3E}">
        <p14:creationId xmlns:p14="http://schemas.microsoft.com/office/powerpoint/2010/main" val="3045814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888188"/>
            <a:ext cx="83409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Continuous Attention to Technical Excellence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“Continuous attention to technical excellence and good design enhances agility.”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code, refactoring, and good design make change easier and faster.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3165536"/>
            <a:ext cx="77267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Simplicity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“Simplicity — the art of maximizing the amount of work not done — is essential.”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only on features that deliver real value; avoid over-engineering.</a:t>
            </a:r>
          </a:p>
        </p:txBody>
      </p:sp>
    </p:spTree>
    <p:extLst>
      <p:ext uri="{BB962C8B-B14F-4D97-AF65-F5344CB8AC3E}">
        <p14:creationId xmlns:p14="http://schemas.microsoft.com/office/powerpoint/2010/main" val="11668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⚡ The 12 Principles of Agile Software Development</a:t>
            </a:r>
          </a:p>
        </p:txBody>
      </p: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A4B6515-6BDD-4AAD-ABEF-609599CA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1765078"/>
            <a:ext cx="834094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11. Self-Organizing Teams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best architectures, requirements, and designs emerge from self-organizing teams.”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decide how to do the work — autonomy boosts creativity and accountability.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9E84A-06AC-48D1-879B-229D84798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" y="3042426"/>
            <a:ext cx="772670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12. Reflect and Adjust Regularly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“At regular intervals, the team reflects on how to become more effective, then tunes and adjusts its behavior accordingly.”</a:t>
            </a: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improvement — through retrospectives — ensures the team learns and grows.</a:t>
            </a:r>
          </a:p>
        </p:txBody>
      </p:sp>
    </p:spTree>
    <p:extLst>
      <p:ext uri="{BB962C8B-B14F-4D97-AF65-F5344CB8AC3E}">
        <p14:creationId xmlns:p14="http://schemas.microsoft.com/office/powerpoint/2010/main" val="3375023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45"/>
          <p:cNvSpPr txBox="1">
            <a:spLocks noGrp="1"/>
          </p:cNvSpPr>
          <p:nvPr>
            <p:ph type="ctrTitle"/>
          </p:nvPr>
        </p:nvSpPr>
        <p:spPr>
          <a:xfrm>
            <a:off x="4910550" y="849513"/>
            <a:ext cx="3070200" cy="89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363" name="Google Shape;1363;p45"/>
          <p:cNvSpPr txBox="1">
            <a:spLocks noGrp="1"/>
          </p:cNvSpPr>
          <p:nvPr>
            <p:ph type="subTitle" idx="1"/>
          </p:nvPr>
        </p:nvSpPr>
        <p:spPr>
          <a:xfrm>
            <a:off x="4910550" y="1632463"/>
            <a:ext cx="30702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364" name="Google Shape;1364;p45"/>
          <p:cNvSpPr txBox="1">
            <a:spLocks noGrp="1"/>
          </p:cNvSpPr>
          <p:nvPr>
            <p:ph type="subTitle" idx="4294967295"/>
          </p:nvPr>
        </p:nvSpPr>
        <p:spPr>
          <a:xfrm>
            <a:off x="4910550" y="3969381"/>
            <a:ext cx="2529300" cy="3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Please keep this slide for attribution</a:t>
            </a:r>
            <a:endParaRPr sz="1000"/>
          </a:p>
        </p:txBody>
      </p:sp>
      <p:grpSp>
        <p:nvGrpSpPr>
          <p:cNvPr id="1399" name="Google Shape;1399;p45"/>
          <p:cNvGrpSpPr/>
          <p:nvPr/>
        </p:nvGrpSpPr>
        <p:grpSpPr>
          <a:xfrm>
            <a:off x="978225" y="1047663"/>
            <a:ext cx="2955759" cy="3015056"/>
            <a:chOff x="978225" y="1047663"/>
            <a:chExt cx="2955759" cy="3015056"/>
          </a:xfrm>
        </p:grpSpPr>
        <p:grpSp>
          <p:nvGrpSpPr>
            <p:cNvPr id="1400" name="Google Shape;1400;p45"/>
            <p:cNvGrpSpPr/>
            <p:nvPr/>
          </p:nvGrpSpPr>
          <p:grpSpPr>
            <a:xfrm>
              <a:off x="1730941" y="3173354"/>
              <a:ext cx="1929389" cy="889365"/>
              <a:chOff x="1357431" y="3124637"/>
              <a:chExt cx="1777420" cy="819313"/>
            </a:xfrm>
          </p:grpSpPr>
          <p:sp>
            <p:nvSpPr>
              <p:cNvPr id="1401" name="Google Shape;1401;p45"/>
              <p:cNvSpPr/>
              <p:nvPr/>
            </p:nvSpPr>
            <p:spPr>
              <a:xfrm rot="-5400000" flipH="1">
                <a:off x="2807102" y="3557025"/>
                <a:ext cx="391200" cy="264299"/>
              </a:xfrm>
              <a:custGeom>
                <a:avLst/>
                <a:gdLst/>
                <a:ahLst/>
                <a:cxnLst/>
                <a:rect l="l" t="t" r="r" b="b"/>
                <a:pathLst>
                  <a:path w="10935" h="21870" fill="none" extrusionOk="0">
                    <a:moveTo>
                      <a:pt x="0" y="21869"/>
                    </a:moveTo>
                    <a:lnTo>
                      <a:pt x="10935" y="21869"/>
                    </a:lnTo>
                    <a:lnTo>
                      <a:pt x="10935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5"/>
              <p:cNvSpPr/>
              <p:nvPr/>
            </p:nvSpPr>
            <p:spPr>
              <a:xfrm rot="5400000">
                <a:off x="1737532" y="2744536"/>
                <a:ext cx="760147" cy="1520348"/>
              </a:xfrm>
              <a:custGeom>
                <a:avLst/>
                <a:gdLst/>
                <a:ahLst/>
                <a:cxnLst/>
                <a:rect l="l" t="t" r="r" b="b"/>
                <a:pathLst>
                  <a:path w="10935" h="21870" fill="none" extrusionOk="0">
                    <a:moveTo>
                      <a:pt x="0" y="21869"/>
                    </a:moveTo>
                    <a:lnTo>
                      <a:pt x="10935" y="21869"/>
                    </a:lnTo>
                    <a:lnTo>
                      <a:pt x="10935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5"/>
              <p:cNvSpPr/>
              <p:nvPr/>
            </p:nvSpPr>
            <p:spPr>
              <a:xfrm rot="5400000">
                <a:off x="1956590" y="3821671"/>
                <a:ext cx="122277" cy="122281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759" extrusionOk="0">
                    <a:moveTo>
                      <a:pt x="879" y="1"/>
                    </a:moveTo>
                    <a:cubicBezTo>
                      <a:pt x="397" y="1"/>
                      <a:pt x="0" y="398"/>
                      <a:pt x="0" y="880"/>
                    </a:cubicBezTo>
                    <a:cubicBezTo>
                      <a:pt x="0" y="1371"/>
                      <a:pt x="397" y="1758"/>
                      <a:pt x="879" y="1758"/>
                    </a:cubicBezTo>
                    <a:cubicBezTo>
                      <a:pt x="1361" y="1758"/>
                      <a:pt x="1758" y="1371"/>
                      <a:pt x="1758" y="880"/>
                    </a:cubicBezTo>
                    <a:cubicBezTo>
                      <a:pt x="1758" y="398"/>
                      <a:pt x="1361" y="1"/>
                      <a:pt x="8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04" name="Google Shape;1404;p45"/>
            <p:cNvCxnSpPr/>
            <p:nvPr/>
          </p:nvCxnSpPr>
          <p:spPr>
            <a:xfrm>
              <a:off x="2967680" y="1533380"/>
              <a:ext cx="68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05" name="Google Shape;1405;p45"/>
            <p:cNvSpPr/>
            <p:nvPr/>
          </p:nvSpPr>
          <p:spPr>
            <a:xfrm rot="5400000" flipH="1">
              <a:off x="1816919" y="1183846"/>
              <a:ext cx="695439" cy="1390932"/>
            </a:xfrm>
            <a:custGeom>
              <a:avLst/>
              <a:gdLst/>
              <a:ahLst/>
              <a:cxnLst/>
              <a:rect l="l" t="t" r="r" b="b"/>
              <a:pathLst>
                <a:path w="10935" h="21870" fill="none" extrusionOk="0">
                  <a:moveTo>
                    <a:pt x="0" y="21869"/>
                  </a:moveTo>
                  <a:lnTo>
                    <a:pt x="10935" y="21869"/>
                  </a:lnTo>
                  <a:lnTo>
                    <a:pt x="10935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5"/>
            <p:cNvSpPr/>
            <p:nvPr/>
          </p:nvSpPr>
          <p:spPr>
            <a:xfrm rot="5400000" flipH="1">
              <a:off x="2017325" y="1477446"/>
              <a:ext cx="111868" cy="111872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1"/>
                  </a:moveTo>
                  <a:cubicBezTo>
                    <a:pt x="397" y="1"/>
                    <a:pt x="0" y="398"/>
                    <a:pt x="0" y="880"/>
                  </a:cubicBezTo>
                  <a:cubicBezTo>
                    <a:pt x="0" y="1371"/>
                    <a:pt x="397" y="1758"/>
                    <a:pt x="879" y="1758"/>
                  </a:cubicBezTo>
                  <a:cubicBezTo>
                    <a:pt x="1361" y="1758"/>
                    <a:pt x="1758" y="1371"/>
                    <a:pt x="1758" y="880"/>
                  </a:cubicBezTo>
                  <a:cubicBezTo>
                    <a:pt x="1758" y="398"/>
                    <a:pt x="1361" y="1"/>
                    <a:pt x="8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5"/>
            <p:cNvSpPr/>
            <p:nvPr/>
          </p:nvSpPr>
          <p:spPr>
            <a:xfrm>
              <a:off x="978225" y="1883458"/>
              <a:ext cx="1592220" cy="1880466"/>
            </a:xfrm>
            <a:custGeom>
              <a:avLst/>
              <a:gdLst/>
              <a:ahLst/>
              <a:cxnLst/>
              <a:rect l="l" t="t" r="r" b="b"/>
              <a:pathLst>
                <a:path w="17853" h="21085" extrusionOk="0">
                  <a:moveTo>
                    <a:pt x="0" y="0"/>
                  </a:moveTo>
                  <a:lnTo>
                    <a:pt x="0" y="21085"/>
                  </a:lnTo>
                  <a:lnTo>
                    <a:pt x="17852" y="21085"/>
                  </a:lnTo>
                  <a:lnTo>
                    <a:pt x="1785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5"/>
            <p:cNvSpPr/>
            <p:nvPr/>
          </p:nvSpPr>
          <p:spPr>
            <a:xfrm>
              <a:off x="978225" y="1883458"/>
              <a:ext cx="1592220" cy="531097"/>
            </a:xfrm>
            <a:custGeom>
              <a:avLst/>
              <a:gdLst/>
              <a:ahLst/>
              <a:cxnLst/>
              <a:rect l="l" t="t" r="r" b="b"/>
              <a:pathLst>
                <a:path w="17853" h="5955" extrusionOk="0">
                  <a:moveTo>
                    <a:pt x="0" y="0"/>
                  </a:moveTo>
                  <a:lnTo>
                    <a:pt x="0" y="5954"/>
                  </a:lnTo>
                  <a:lnTo>
                    <a:pt x="17852" y="5954"/>
                  </a:lnTo>
                  <a:lnTo>
                    <a:pt x="1785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5"/>
            <p:cNvSpPr/>
            <p:nvPr/>
          </p:nvSpPr>
          <p:spPr>
            <a:xfrm>
              <a:off x="1456888" y="2055409"/>
              <a:ext cx="165349" cy="22831"/>
            </a:xfrm>
            <a:custGeom>
              <a:avLst/>
              <a:gdLst/>
              <a:ahLst/>
              <a:cxnLst/>
              <a:rect l="l" t="t" r="r" b="b"/>
              <a:pathLst>
                <a:path w="1854" h="256" extrusionOk="0">
                  <a:moveTo>
                    <a:pt x="1" y="0"/>
                  </a:moveTo>
                  <a:lnTo>
                    <a:pt x="1" y="255"/>
                  </a:lnTo>
                  <a:lnTo>
                    <a:pt x="1853" y="255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5"/>
            <p:cNvSpPr/>
            <p:nvPr/>
          </p:nvSpPr>
          <p:spPr>
            <a:xfrm>
              <a:off x="1456888" y="2096702"/>
              <a:ext cx="359148" cy="24526"/>
            </a:xfrm>
            <a:custGeom>
              <a:avLst/>
              <a:gdLst/>
              <a:ahLst/>
              <a:cxnLst/>
              <a:rect l="l" t="t" r="r" b="b"/>
              <a:pathLst>
                <a:path w="4027" h="275" extrusionOk="0">
                  <a:moveTo>
                    <a:pt x="4027" y="0"/>
                  </a:moveTo>
                  <a:lnTo>
                    <a:pt x="1" y="10"/>
                  </a:lnTo>
                  <a:lnTo>
                    <a:pt x="1" y="274"/>
                  </a:lnTo>
                  <a:lnTo>
                    <a:pt x="4027" y="265"/>
                  </a:lnTo>
                  <a:lnTo>
                    <a:pt x="40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5"/>
            <p:cNvSpPr/>
            <p:nvPr/>
          </p:nvSpPr>
          <p:spPr>
            <a:xfrm>
              <a:off x="1456888" y="2138798"/>
              <a:ext cx="359148" cy="24526"/>
            </a:xfrm>
            <a:custGeom>
              <a:avLst/>
              <a:gdLst/>
              <a:ahLst/>
              <a:cxnLst/>
              <a:rect l="l" t="t" r="r" b="b"/>
              <a:pathLst>
                <a:path w="4027" h="275" extrusionOk="0">
                  <a:moveTo>
                    <a:pt x="4027" y="1"/>
                  </a:moveTo>
                  <a:lnTo>
                    <a:pt x="1" y="20"/>
                  </a:lnTo>
                  <a:lnTo>
                    <a:pt x="1" y="275"/>
                  </a:lnTo>
                  <a:lnTo>
                    <a:pt x="4027" y="265"/>
                  </a:lnTo>
                  <a:lnTo>
                    <a:pt x="4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5"/>
            <p:cNvSpPr/>
            <p:nvPr/>
          </p:nvSpPr>
          <p:spPr>
            <a:xfrm>
              <a:off x="1123153" y="2001451"/>
              <a:ext cx="220911" cy="220911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" y="0"/>
                  </a:moveTo>
                  <a:lnTo>
                    <a:pt x="1" y="2476"/>
                  </a:lnTo>
                  <a:lnTo>
                    <a:pt x="2477" y="2476"/>
                  </a:lnTo>
                  <a:lnTo>
                    <a:pt x="2477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3" name="Google Shape;1413;p45"/>
            <p:cNvGrpSpPr/>
            <p:nvPr/>
          </p:nvGrpSpPr>
          <p:grpSpPr>
            <a:xfrm>
              <a:off x="3265525" y="1536602"/>
              <a:ext cx="668459" cy="2104729"/>
              <a:chOff x="3228339" y="1616804"/>
              <a:chExt cx="615807" cy="1938949"/>
            </a:xfrm>
          </p:grpSpPr>
          <p:sp>
            <p:nvSpPr>
              <p:cNvPr id="1414" name="Google Shape;1414;p45"/>
              <p:cNvSpPr/>
              <p:nvPr/>
            </p:nvSpPr>
            <p:spPr>
              <a:xfrm>
                <a:off x="3228339" y="1616804"/>
                <a:ext cx="549010" cy="970668"/>
              </a:xfrm>
              <a:custGeom>
                <a:avLst/>
                <a:gdLst/>
                <a:ahLst/>
                <a:cxnLst/>
                <a:rect l="l" t="t" r="r" b="b"/>
                <a:pathLst>
                  <a:path w="6682" h="11814" fill="none" extrusionOk="0">
                    <a:moveTo>
                      <a:pt x="4319" y="1"/>
                    </a:moveTo>
                    <a:lnTo>
                      <a:pt x="4319" y="1929"/>
                    </a:lnTo>
                    <a:cubicBezTo>
                      <a:pt x="4319" y="2949"/>
                      <a:pt x="3488" y="3781"/>
                      <a:pt x="2467" y="3781"/>
                    </a:cubicBezTo>
                    <a:lnTo>
                      <a:pt x="1522" y="3781"/>
                    </a:lnTo>
                    <a:cubicBezTo>
                      <a:pt x="681" y="3781"/>
                      <a:pt x="0" y="4461"/>
                      <a:pt x="0" y="5302"/>
                    </a:cubicBezTo>
                    <a:lnTo>
                      <a:pt x="0" y="5302"/>
                    </a:lnTo>
                    <a:cubicBezTo>
                      <a:pt x="0" y="6144"/>
                      <a:pt x="681" y="6824"/>
                      <a:pt x="1522" y="6824"/>
                    </a:cubicBezTo>
                    <a:lnTo>
                      <a:pt x="5331" y="6824"/>
                    </a:lnTo>
                    <a:cubicBezTo>
                      <a:pt x="6077" y="6824"/>
                      <a:pt x="6682" y="7429"/>
                      <a:pt x="6682" y="8175"/>
                    </a:cubicBezTo>
                    <a:lnTo>
                      <a:pt x="6682" y="8175"/>
                    </a:lnTo>
                    <a:cubicBezTo>
                      <a:pt x="6682" y="8922"/>
                      <a:pt x="6077" y="9527"/>
                      <a:pt x="5331" y="9527"/>
                    </a:cubicBezTo>
                    <a:lnTo>
                      <a:pt x="5331" y="9527"/>
                    </a:lnTo>
                    <a:cubicBezTo>
                      <a:pt x="4660" y="9527"/>
                      <a:pt x="4121" y="10066"/>
                      <a:pt x="4121" y="10737"/>
                    </a:cubicBezTo>
                    <a:lnTo>
                      <a:pt x="4121" y="1181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5"/>
              <p:cNvSpPr/>
              <p:nvPr/>
            </p:nvSpPr>
            <p:spPr>
              <a:xfrm>
                <a:off x="3305982" y="2556328"/>
                <a:ext cx="538164" cy="999425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12164" extrusionOk="0">
                    <a:moveTo>
                      <a:pt x="3270" y="1"/>
                    </a:moveTo>
                    <a:cubicBezTo>
                      <a:pt x="1456" y="1"/>
                      <a:pt x="0" y="1466"/>
                      <a:pt x="0" y="3280"/>
                    </a:cubicBezTo>
                    <a:lnTo>
                      <a:pt x="0" y="8894"/>
                    </a:lnTo>
                    <a:cubicBezTo>
                      <a:pt x="0" y="10708"/>
                      <a:pt x="1456" y="12164"/>
                      <a:pt x="3270" y="12164"/>
                    </a:cubicBezTo>
                    <a:lnTo>
                      <a:pt x="3280" y="12164"/>
                    </a:lnTo>
                    <a:cubicBezTo>
                      <a:pt x="5085" y="12164"/>
                      <a:pt x="6550" y="10708"/>
                      <a:pt x="6550" y="8894"/>
                    </a:cubicBezTo>
                    <a:lnTo>
                      <a:pt x="6550" y="3280"/>
                    </a:lnTo>
                    <a:cubicBezTo>
                      <a:pt x="6550" y="1466"/>
                      <a:pt x="5085" y="1"/>
                      <a:pt x="32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5"/>
              <p:cNvSpPr/>
              <p:nvPr/>
            </p:nvSpPr>
            <p:spPr>
              <a:xfrm>
                <a:off x="3497748" y="2701591"/>
                <a:ext cx="153808" cy="153808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1872" extrusionOk="0">
                    <a:moveTo>
                      <a:pt x="936" y="0"/>
                    </a:moveTo>
                    <a:cubicBezTo>
                      <a:pt x="426" y="0"/>
                      <a:pt x="1" y="416"/>
                      <a:pt x="1" y="936"/>
                    </a:cubicBezTo>
                    <a:cubicBezTo>
                      <a:pt x="1" y="1456"/>
                      <a:pt x="426" y="1871"/>
                      <a:pt x="936" y="1871"/>
                    </a:cubicBezTo>
                    <a:cubicBezTo>
                      <a:pt x="1456" y="1871"/>
                      <a:pt x="1872" y="1456"/>
                      <a:pt x="1872" y="936"/>
                    </a:cubicBezTo>
                    <a:cubicBezTo>
                      <a:pt x="1872" y="416"/>
                      <a:pt x="1456" y="0"/>
                      <a:pt x="9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7" name="Google Shape;1417;p45"/>
            <p:cNvGrpSpPr/>
            <p:nvPr/>
          </p:nvGrpSpPr>
          <p:grpSpPr>
            <a:xfrm>
              <a:off x="1200473" y="2674101"/>
              <a:ext cx="1131747" cy="788666"/>
              <a:chOff x="7734601" y="1755675"/>
              <a:chExt cx="733472" cy="511125"/>
            </a:xfrm>
          </p:grpSpPr>
          <p:sp>
            <p:nvSpPr>
              <p:cNvPr id="1418" name="Google Shape;1418;p45"/>
              <p:cNvSpPr/>
              <p:nvPr/>
            </p:nvSpPr>
            <p:spPr>
              <a:xfrm>
                <a:off x="7818273" y="1771575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5"/>
              <p:cNvSpPr/>
              <p:nvPr/>
            </p:nvSpPr>
            <p:spPr>
              <a:xfrm>
                <a:off x="7818273" y="1923950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5"/>
              <p:cNvSpPr/>
              <p:nvPr/>
            </p:nvSpPr>
            <p:spPr>
              <a:xfrm>
                <a:off x="7818273" y="2076325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5"/>
              <p:cNvSpPr/>
              <p:nvPr/>
            </p:nvSpPr>
            <p:spPr>
              <a:xfrm>
                <a:off x="7818273" y="2228700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5"/>
              <p:cNvSpPr/>
              <p:nvPr/>
            </p:nvSpPr>
            <p:spPr>
              <a:xfrm>
                <a:off x="7734601" y="1755675"/>
                <a:ext cx="671100" cy="54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5"/>
              <p:cNvSpPr/>
              <p:nvPr/>
            </p:nvSpPr>
            <p:spPr>
              <a:xfrm>
                <a:off x="7734601" y="1908050"/>
                <a:ext cx="299400" cy="540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5"/>
              <p:cNvSpPr/>
              <p:nvPr/>
            </p:nvSpPr>
            <p:spPr>
              <a:xfrm>
                <a:off x="7734601" y="2060425"/>
                <a:ext cx="421200" cy="54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5"/>
              <p:cNvSpPr/>
              <p:nvPr/>
            </p:nvSpPr>
            <p:spPr>
              <a:xfrm>
                <a:off x="7734601" y="2212800"/>
                <a:ext cx="551100" cy="540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6" name="Google Shape;1426;p45"/>
            <p:cNvGrpSpPr/>
            <p:nvPr/>
          </p:nvGrpSpPr>
          <p:grpSpPr>
            <a:xfrm>
              <a:off x="2261306" y="1047663"/>
              <a:ext cx="971552" cy="971458"/>
              <a:chOff x="276382" y="1174752"/>
              <a:chExt cx="895027" cy="894940"/>
            </a:xfrm>
          </p:grpSpPr>
          <p:grpSp>
            <p:nvGrpSpPr>
              <p:cNvPr id="1427" name="Google Shape;1427;p45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1428" name="Google Shape;1428;p45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9" name="Google Shape;1429;p45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30" name="Google Shape;1430;p45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lient Time Tracker Software Pitch Deck by Slidesgo">
  <a:themeElements>
    <a:clrScheme name="Simple Light">
      <a:dk1>
        <a:srgbClr val="383838"/>
      </a:dk1>
      <a:lt1>
        <a:srgbClr val="FFFFFF"/>
      </a:lt1>
      <a:dk2>
        <a:srgbClr val="F1E287"/>
      </a:dk2>
      <a:lt2>
        <a:srgbClr val="6CE2CB"/>
      </a:lt2>
      <a:accent1>
        <a:srgbClr val="5FB0DA"/>
      </a:accent1>
      <a:accent2>
        <a:srgbClr val="946EBE"/>
      </a:accent2>
      <a:accent3>
        <a:srgbClr val="E589BF"/>
      </a:accent3>
      <a:accent4>
        <a:srgbClr val="FFFFFF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</TotalTime>
  <Words>2869</Words>
  <Application>Microsoft Office PowerPoint</Application>
  <PresentationFormat>On-screen Show (16:9)</PresentationFormat>
  <Paragraphs>417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Darker Grotesque Medium</vt:lpstr>
      <vt:lpstr>Montserrat</vt:lpstr>
      <vt:lpstr>Darker Grotesque</vt:lpstr>
      <vt:lpstr>Arial</vt:lpstr>
      <vt:lpstr>Open Sans</vt:lpstr>
      <vt:lpstr>Client Time Tracker Software Pitch Deck by Slidesgo</vt:lpstr>
      <vt:lpstr>Day 1: Foundations of Software Engineering</vt:lpstr>
      <vt:lpstr>Introduction to Software Engineering</vt:lpstr>
      <vt:lpstr>Programming vs Engineering</vt:lpstr>
      <vt:lpstr>Programming vs Engineering</vt:lpstr>
      <vt:lpstr>Programming vs Engineering</vt:lpstr>
      <vt:lpstr>Programming vs Engineering</vt:lpstr>
      <vt:lpstr>Definition of Software Engineering</vt:lpstr>
      <vt:lpstr>Why is SE important?</vt:lpstr>
      <vt:lpstr>Deliver what the customer really needs</vt:lpstr>
      <vt:lpstr>“Software engineering is not about writing code faster—it’s about building software that lasts.”</vt:lpstr>
      <vt:lpstr>What makes software hard?</vt:lpstr>
      <vt:lpstr>What makes software hard?</vt:lpstr>
      <vt:lpstr>Why This Means “Software Engineering” Is Like a Science / Engineering Discipline</vt:lpstr>
      <vt:lpstr>Software Development Life Cycle (SDLC)</vt:lpstr>
      <vt:lpstr>Introduction to SDLC</vt:lpstr>
      <vt:lpstr>SDLC cycle </vt:lpstr>
      <vt:lpstr>🌀 SDLC Phases Explained</vt:lpstr>
      <vt:lpstr>🌀 SDLC Phases Explained</vt:lpstr>
      <vt:lpstr>🌀 SDLC Phases Explained</vt:lpstr>
      <vt:lpstr>🌀 SDLC Phases Explained</vt:lpstr>
      <vt:lpstr>🌀 SDLC Phases Explained</vt:lpstr>
      <vt:lpstr>🌀 SDLC Phases Explained</vt:lpstr>
      <vt:lpstr>🌀 SDLC</vt:lpstr>
      <vt:lpstr>Software Process Models</vt:lpstr>
      <vt:lpstr>  Introduction to Software Process Models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🚀 Major Software Process Models </vt:lpstr>
      <vt:lpstr>Agile in Action</vt:lpstr>
      <vt:lpstr>Agile in Action</vt:lpstr>
      <vt:lpstr>Agile Workflow Overview</vt:lpstr>
      <vt:lpstr>Agile Workflow Overview</vt:lpstr>
      <vt:lpstr>Sprint Execution</vt:lpstr>
      <vt:lpstr>Sprint Review &amp; Retrospective</vt:lpstr>
      <vt:lpstr>PowerPoint Presentation</vt:lpstr>
      <vt:lpstr>The 4 Agile Values (Agile Manifesto)</vt:lpstr>
      <vt:lpstr>The 4 Agile Values (Agile Manifesto)</vt:lpstr>
      <vt:lpstr>The 4 Agile Values (Agile Manifesto)</vt:lpstr>
      <vt:lpstr>The 4 Agile Values (Agile Manifesto)</vt:lpstr>
      <vt:lpstr>PowerPoint Presentation</vt:lpstr>
      <vt:lpstr>⚡ The 12 Principles of Agile Software Development</vt:lpstr>
      <vt:lpstr>⚡ The 12 Principles of Agile Software Development</vt:lpstr>
      <vt:lpstr>⚡ The 12 Principles of Agile Software Development</vt:lpstr>
      <vt:lpstr>⚡ The 12 Principles of Agile Software Development</vt:lpstr>
      <vt:lpstr>⚡ The 12 Principles of Agile Software Development</vt:lpstr>
      <vt:lpstr>⚡ The 12 Principles of Agile Software Development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Time Tracker Software Pitch Deck</dc:title>
  <cp:lastModifiedBy>Shimaa  Hamdy Mohamed</cp:lastModifiedBy>
  <cp:revision>92</cp:revision>
  <dcterms:modified xsi:type="dcterms:W3CDTF">2025-11-20T07:07:46Z</dcterms:modified>
</cp:coreProperties>
</file>