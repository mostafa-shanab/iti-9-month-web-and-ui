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60" r:id="rId3"/>
    <p:sldId id="262" r:id="rId4"/>
    <p:sldId id="527" r:id="rId5"/>
    <p:sldId id="528" r:id="rId6"/>
    <p:sldId id="529" r:id="rId7"/>
    <p:sldId id="542" r:id="rId8"/>
    <p:sldId id="530" r:id="rId9"/>
    <p:sldId id="512" r:id="rId10"/>
    <p:sldId id="533" r:id="rId11"/>
    <p:sldId id="531" r:id="rId12"/>
    <p:sldId id="534" r:id="rId13"/>
    <p:sldId id="535" r:id="rId14"/>
    <p:sldId id="536" r:id="rId15"/>
    <p:sldId id="537" r:id="rId16"/>
    <p:sldId id="539" r:id="rId17"/>
    <p:sldId id="540" r:id="rId18"/>
    <p:sldId id="54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yhab Farouq" initials="RF" lastIdx="1" clrIdx="0">
    <p:extLst>
      <p:ext uri="{19B8F6BF-5375-455C-9EA6-DF929625EA0E}">
        <p15:presenceInfo xmlns:p15="http://schemas.microsoft.com/office/powerpoint/2012/main" userId="c51782cf290555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475B"/>
    <a:srgbClr val="3FB27F"/>
    <a:srgbClr val="34495E"/>
    <a:srgbClr val="00101E"/>
    <a:srgbClr val="41B883"/>
    <a:srgbClr val="0547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27T06:15:47.971" idx="1">
    <p:pos x="7680" y="0"/>
    <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163272-CDFC-4E55-A450-BAF4E2A376E3}"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479E1-E211-4985-BB7A-E0204BF2E8BA}" type="slidenum">
              <a:rPr lang="en-US" smtClean="0"/>
              <a:t>‹#›</a:t>
            </a:fld>
            <a:endParaRPr lang="en-US"/>
          </a:p>
        </p:txBody>
      </p:sp>
    </p:spTree>
    <p:extLst>
      <p:ext uri="{BB962C8B-B14F-4D97-AF65-F5344CB8AC3E}">
        <p14:creationId xmlns:p14="http://schemas.microsoft.com/office/powerpoint/2010/main" val="3271431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1BA30AC7-F799-4000-ABAA-8C93C2606285}"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2</a:t>
            </a:fld>
            <a:endParaRPr kumimoji="0" lang="en-US"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1930105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873" y="157387"/>
            <a:ext cx="4457435" cy="472859"/>
          </a:xfrm>
          <a:prstGeom prst="rect">
            <a:avLst/>
          </a:prstGeom>
        </p:spPr>
        <p:txBody>
          <a:bodyPr wrap="square" lIns="0" tIns="0" rIns="0" bIns="0">
            <a:spAutoFit/>
          </a:bodyPr>
          <a:lstStyle>
            <a:lvl1pPr>
              <a:defRPr sz="3002" b="1" i="0">
                <a:solidFill>
                  <a:srgbClr val="FAFBFB"/>
                </a:solidFill>
                <a:latin typeface="Calibri"/>
                <a:cs typeface="Calibri"/>
              </a:defRPr>
            </a:lvl1pPr>
          </a:lstStyle>
          <a:p>
            <a:endParaRPr/>
          </a:p>
        </p:txBody>
      </p:sp>
      <p:sp>
        <p:nvSpPr>
          <p:cNvPr id="3" name="Holder 3"/>
          <p:cNvSpPr>
            <a:spLocks noGrp="1"/>
          </p:cNvSpPr>
          <p:nvPr>
            <p:ph type="subTitle" idx="4"/>
          </p:nvPr>
        </p:nvSpPr>
        <p:spPr>
          <a:xfrm>
            <a:off x="4024449" y="4139451"/>
            <a:ext cx="4092754" cy="1234516"/>
          </a:xfrm>
          <a:prstGeom prst="rect">
            <a:avLst/>
          </a:prstGeom>
        </p:spPr>
        <p:txBody>
          <a:bodyPr wrap="square" lIns="0" tIns="0" rIns="0" bIns="0">
            <a:spAutoFit/>
          </a:bodyPr>
          <a:lstStyle>
            <a:lvl1pPr>
              <a:defRPr sz="80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53524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200696"/>
          </a:xfrm>
        </p:spPr>
        <p:txBody>
          <a:bodyPr lIns="0" tIns="0" rIns="0" bIns="0"/>
          <a:lstStyle>
            <a:lvl1pPr>
              <a:defRPr sz="1304" b="0" i="0">
                <a:solidFill>
                  <a:srgbClr val="44444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02585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sz="half" idx="2"/>
          </p:nvPr>
        </p:nvSpPr>
        <p:spPr>
          <a:xfrm>
            <a:off x="953545" y="2001466"/>
            <a:ext cx="4600689" cy="214674"/>
          </a:xfrm>
          <a:prstGeom prst="rect">
            <a:avLst/>
          </a:prstGeom>
        </p:spPr>
        <p:txBody>
          <a:bodyPr wrap="square" lIns="0" tIns="0" rIns="0" bIns="0">
            <a:spAutoFit/>
          </a:bodyPr>
          <a:lstStyle>
            <a:lvl1pPr>
              <a:defRPr sz="1395" b="0" i="0">
                <a:solidFill>
                  <a:srgbClr val="444444"/>
                </a:solidFill>
                <a:latin typeface="Arial"/>
                <a:cs typeface="Arial"/>
              </a:defRPr>
            </a:lvl1pPr>
          </a:lstStyle>
          <a:p>
            <a:endParaRPr/>
          </a:p>
        </p:txBody>
      </p:sp>
      <p:sp>
        <p:nvSpPr>
          <p:cNvPr id="4" name="Holder 4"/>
          <p:cNvSpPr>
            <a:spLocks noGrp="1"/>
          </p:cNvSpPr>
          <p:nvPr>
            <p:ph sz="half" idx="3"/>
          </p:nvPr>
        </p:nvSpPr>
        <p:spPr>
          <a:xfrm>
            <a:off x="6605181" y="1373205"/>
            <a:ext cx="4912999" cy="261290"/>
          </a:xfrm>
          <a:prstGeom prst="rect">
            <a:avLst/>
          </a:prstGeom>
        </p:spPr>
        <p:txBody>
          <a:bodyPr wrap="square" lIns="0" tIns="0" rIns="0" bIns="0">
            <a:spAutoFit/>
          </a:bodyPr>
          <a:lstStyle>
            <a:lvl1pPr>
              <a:defRPr sz="1698" b="1" i="0">
                <a:solidFill>
                  <a:srgbClr val="444444"/>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69992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365873" y="178023"/>
            <a:ext cx="6704830" cy="461986"/>
          </a:xfrm>
        </p:spPr>
        <p:txBody>
          <a:bodyPr lIns="0" tIns="0" rIns="0" bIns="0"/>
          <a:lstStyle>
            <a:lvl1pPr>
              <a:defRPr sz="3002" b="1" i="0">
                <a:solidFill>
                  <a:srgbClr val="FAFBF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95765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96784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7F7F7"/>
          </a:solidFill>
        </p:spPr>
        <p:txBody>
          <a:bodyPr wrap="square" lIns="0" tIns="0" rIns="0" bIns="0" rtlCol="0"/>
          <a:lstStyle/>
          <a:p>
            <a:endParaRPr sz="1092"/>
          </a:p>
        </p:txBody>
      </p:sp>
      <p:sp>
        <p:nvSpPr>
          <p:cNvPr id="2" name="Holder 2"/>
          <p:cNvSpPr>
            <a:spLocks noGrp="1"/>
          </p:cNvSpPr>
          <p:nvPr>
            <p:ph type="title"/>
          </p:nvPr>
        </p:nvSpPr>
        <p:spPr>
          <a:xfrm>
            <a:off x="365873" y="178023"/>
            <a:ext cx="6704830" cy="761747"/>
          </a:xfrm>
          <a:prstGeom prst="rect">
            <a:avLst/>
          </a:prstGeom>
        </p:spPr>
        <p:txBody>
          <a:bodyPr wrap="square" lIns="0" tIns="0" rIns="0" bIns="0">
            <a:spAutoFit/>
          </a:bodyPr>
          <a:lstStyle>
            <a:lvl1pPr>
              <a:defRPr sz="4950" b="1" i="0">
                <a:solidFill>
                  <a:srgbClr val="FAFBFB"/>
                </a:solidFill>
                <a:latin typeface="Calibri"/>
                <a:cs typeface="Calibri"/>
              </a:defRPr>
            </a:lvl1pPr>
          </a:lstStyle>
          <a:p>
            <a:endParaRPr/>
          </a:p>
        </p:txBody>
      </p:sp>
      <p:sp>
        <p:nvSpPr>
          <p:cNvPr id="3" name="Holder 3"/>
          <p:cNvSpPr>
            <a:spLocks noGrp="1"/>
          </p:cNvSpPr>
          <p:nvPr>
            <p:ph type="body" idx="1"/>
          </p:nvPr>
        </p:nvSpPr>
        <p:spPr>
          <a:xfrm>
            <a:off x="5756193" y="1796924"/>
            <a:ext cx="5755964" cy="330860"/>
          </a:xfrm>
          <a:prstGeom prst="rect">
            <a:avLst/>
          </a:prstGeom>
        </p:spPr>
        <p:txBody>
          <a:bodyPr wrap="square" lIns="0" tIns="0" rIns="0" bIns="0">
            <a:spAutoFit/>
          </a:bodyPr>
          <a:lstStyle>
            <a:lvl1pPr>
              <a:defRPr sz="2150" b="0" i="0">
                <a:solidFill>
                  <a:srgbClr val="444444"/>
                </a:solidFill>
                <a:latin typeface="Arial"/>
                <a:cs typeface="Arial"/>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6/22/2026</a:t>
            </a:fld>
            <a:endParaRPr lang="en-US"/>
          </a:p>
        </p:txBody>
      </p:sp>
      <p:sp>
        <p:nvSpPr>
          <p:cNvPr id="6" name="Holder 6"/>
          <p:cNvSpPr>
            <a:spLocks noGrp="1"/>
          </p:cNvSpPr>
          <p:nvPr>
            <p:ph type="sldNum" sz="quarter" idx="7"/>
          </p:nvPr>
        </p:nvSpPr>
        <p:spPr>
          <a:xfrm>
            <a:off x="8778241"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867492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object 9"/>
          <p:cNvPicPr/>
          <p:nvPr/>
        </p:nvPicPr>
        <p:blipFill>
          <a:blip r:embed="rId2" cstate="print"/>
          <a:stretch>
            <a:fillRect/>
          </a:stretch>
        </p:blipFill>
        <p:spPr>
          <a:xfrm>
            <a:off x="3499101" y="6345317"/>
            <a:ext cx="253982" cy="253982"/>
          </a:xfrm>
          <a:prstGeom prst="rect">
            <a:avLst/>
          </a:prstGeom>
        </p:spPr>
      </p:pic>
      <p:grpSp>
        <p:nvGrpSpPr>
          <p:cNvPr id="12" name="object 12"/>
          <p:cNvGrpSpPr/>
          <p:nvPr/>
        </p:nvGrpSpPr>
        <p:grpSpPr>
          <a:xfrm rot="11257215">
            <a:off x="1041913" y="5872548"/>
            <a:ext cx="634586" cy="317678"/>
            <a:chOff x="4909132" y="1558300"/>
            <a:chExt cx="1046480" cy="523875"/>
          </a:xfrm>
          <a:solidFill>
            <a:srgbClr val="00B050"/>
          </a:solidFill>
        </p:grpSpPr>
        <p:sp>
          <p:nvSpPr>
            <p:cNvPr id="13" name="object 13"/>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grpFill/>
            <a:ln w="31412">
              <a:solidFill>
                <a:srgbClr val="00B050"/>
              </a:solidFill>
            </a:ln>
          </p:spPr>
          <p:txBody>
            <a:bodyPr wrap="square" lIns="0" tIns="0" rIns="0" bIns="0" rtlCol="0"/>
            <a:lstStyle/>
            <a:p>
              <a:pPr defTabSz="554492"/>
              <a:endParaRPr sz="1092" kern="0" dirty="0">
                <a:solidFill>
                  <a:sysClr val="windowText" lastClr="000000"/>
                </a:solidFill>
              </a:endParaRPr>
            </a:p>
          </p:txBody>
        </p:sp>
        <p:sp>
          <p:nvSpPr>
            <p:cNvPr id="14" name="object 14"/>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grpFill/>
            <a:ln>
              <a:solidFill>
                <a:srgbClr val="00B050"/>
              </a:solidFill>
            </a:ln>
          </p:spPr>
          <p:txBody>
            <a:bodyPr wrap="square" lIns="0" tIns="0" rIns="0" bIns="0" rtlCol="0"/>
            <a:lstStyle/>
            <a:p>
              <a:pPr defTabSz="554492"/>
              <a:endParaRPr sz="1092" kern="0">
                <a:solidFill>
                  <a:sysClr val="windowText" lastClr="000000"/>
                </a:solidFill>
              </a:endParaRPr>
            </a:p>
          </p:txBody>
        </p:sp>
      </p:grpSp>
      <p:grpSp>
        <p:nvGrpSpPr>
          <p:cNvPr id="16" name="object 16"/>
          <p:cNvGrpSpPr/>
          <p:nvPr/>
        </p:nvGrpSpPr>
        <p:grpSpPr>
          <a:xfrm>
            <a:off x="2105706" y="5740350"/>
            <a:ext cx="598005" cy="480176"/>
            <a:chOff x="4299574" y="9269727"/>
            <a:chExt cx="986155" cy="791845"/>
          </a:xfrm>
          <a:solidFill>
            <a:srgbClr val="00B050"/>
          </a:solidFill>
        </p:grpSpPr>
        <p:sp>
          <p:nvSpPr>
            <p:cNvPr id="17" name="object 17"/>
            <p:cNvSpPr/>
            <p:nvPr/>
          </p:nvSpPr>
          <p:spPr>
            <a:xfrm>
              <a:off x="4359693" y="9285434"/>
              <a:ext cx="910590" cy="660400"/>
            </a:xfrm>
            <a:custGeom>
              <a:avLst/>
              <a:gdLst/>
              <a:ahLst/>
              <a:cxnLst/>
              <a:rect l="l" t="t" r="r" b="b"/>
              <a:pathLst>
                <a:path w="910589" h="660400">
                  <a:moveTo>
                    <a:pt x="910277" y="0"/>
                  </a:moveTo>
                  <a:lnTo>
                    <a:pt x="854187" y="9696"/>
                  </a:lnTo>
                  <a:lnTo>
                    <a:pt x="799695" y="20888"/>
                  </a:lnTo>
                  <a:lnTo>
                    <a:pt x="746802" y="33576"/>
                  </a:lnTo>
                  <a:lnTo>
                    <a:pt x="695506" y="47759"/>
                  </a:lnTo>
                  <a:lnTo>
                    <a:pt x="645808" y="63438"/>
                  </a:lnTo>
                  <a:lnTo>
                    <a:pt x="597708" y="80613"/>
                  </a:lnTo>
                  <a:lnTo>
                    <a:pt x="551207" y="99283"/>
                  </a:lnTo>
                  <a:lnTo>
                    <a:pt x="506303" y="119449"/>
                  </a:lnTo>
                  <a:lnTo>
                    <a:pt x="462997" y="141111"/>
                  </a:lnTo>
                  <a:lnTo>
                    <a:pt x="421289" y="164269"/>
                  </a:lnTo>
                  <a:lnTo>
                    <a:pt x="381179" y="188922"/>
                  </a:lnTo>
                  <a:lnTo>
                    <a:pt x="342667" y="215071"/>
                  </a:lnTo>
                  <a:lnTo>
                    <a:pt x="305753" y="242716"/>
                  </a:lnTo>
                  <a:lnTo>
                    <a:pt x="270437" y="271856"/>
                  </a:lnTo>
                  <a:lnTo>
                    <a:pt x="236720" y="302492"/>
                  </a:lnTo>
                  <a:lnTo>
                    <a:pt x="204600" y="334624"/>
                  </a:lnTo>
                  <a:lnTo>
                    <a:pt x="174078" y="368251"/>
                  </a:lnTo>
                  <a:lnTo>
                    <a:pt x="145154" y="403374"/>
                  </a:lnTo>
                  <a:lnTo>
                    <a:pt x="117828" y="439993"/>
                  </a:lnTo>
                  <a:lnTo>
                    <a:pt x="92100" y="478107"/>
                  </a:lnTo>
                  <a:lnTo>
                    <a:pt x="67970" y="517717"/>
                  </a:lnTo>
                  <a:lnTo>
                    <a:pt x="45438" y="558823"/>
                  </a:lnTo>
                  <a:lnTo>
                    <a:pt x="24503" y="601425"/>
                  </a:lnTo>
                  <a:lnTo>
                    <a:pt x="5167" y="645522"/>
                  </a:lnTo>
                  <a:lnTo>
                    <a:pt x="0" y="660387"/>
                  </a:lnTo>
                </a:path>
              </a:pathLst>
            </a:custGeom>
            <a:grpFill/>
            <a:ln w="31412">
              <a:solidFill>
                <a:srgbClr val="00B050"/>
              </a:solidFill>
            </a:ln>
          </p:spPr>
          <p:txBody>
            <a:bodyPr wrap="square" lIns="0" tIns="0" rIns="0" bIns="0" rtlCol="0"/>
            <a:lstStyle/>
            <a:p>
              <a:pPr defTabSz="554492"/>
              <a:endParaRPr sz="1092" kern="0">
                <a:solidFill>
                  <a:sysClr val="windowText" lastClr="000000"/>
                </a:solidFill>
              </a:endParaRPr>
            </a:p>
          </p:txBody>
        </p:sp>
        <p:sp>
          <p:nvSpPr>
            <p:cNvPr id="18" name="object 18"/>
            <p:cNvSpPr/>
            <p:nvPr/>
          </p:nvSpPr>
          <p:spPr>
            <a:xfrm>
              <a:off x="4299574" y="9908293"/>
              <a:ext cx="130810" cy="153670"/>
            </a:xfrm>
            <a:custGeom>
              <a:avLst/>
              <a:gdLst/>
              <a:ahLst/>
              <a:cxnLst/>
              <a:rect l="l" t="t" r="r" b="b"/>
              <a:pathLst>
                <a:path w="130810" h="153670">
                  <a:moveTo>
                    <a:pt x="0" y="0"/>
                  </a:moveTo>
                  <a:lnTo>
                    <a:pt x="19890" y="153244"/>
                  </a:lnTo>
                  <a:lnTo>
                    <a:pt x="130552" y="45386"/>
                  </a:lnTo>
                  <a:lnTo>
                    <a:pt x="0" y="0"/>
                  </a:lnTo>
                  <a:close/>
                </a:path>
              </a:pathLst>
            </a:custGeom>
            <a:grpFill/>
            <a:ln>
              <a:solidFill>
                <a:srgbClr val="00B050"/>
              </a:solidFill>
            </a:ln>
          </p:spPr>
          <p:txBody>
            <a:bodyPr wrap="square" lIns="0" tIns="0" rIns="0" bIns="0" rtlCol="0"/>
            <a:lstStyle/>
            <a:p>
              <a:pPr defTabSz="554492"/>
              <a:endParaRPr sz="1092" kern="0">
                <a:solidFill>
                  <a:sysClr val="windowText" lastClr="000000"/>
                </a:solidFill>
              </a:endParaRPr>
            </a:p>
          </p:txBody>
        </p:sp>
      </p:grpSp>
      <p:sp>
        <p:nvSpPr>
          <p:cNvPr id="19" name="TextBox 18">
            <a:extLst>
              <a:ext uri="{FF2B5EF4-FFF2-40B4-BE49-F238E27FC236}">
                <a16:creationId xmlns:a16="http://schemas.microsoft.com/office/drawing/2014/main" id="{0AB0E323-8E81-39A3-CB84-00178B746F60}"/>
              </a:ext>
            </a:extLst>
          </p:cNvPr>
          <p:cNvSpPr txBox="1"/>
          <p:nvPr/>
        </p:nvSpPr>
        <p:spPr>
          <a:xfrm>
            <a:off x="745120" y="6230900"/>
            <a:ext cx="2753981" cy="461665"/>
          </a:xfrm>
          <a:prstGeom prst="rect">
            <a:avLst/>
          </a:prstGeom>
          <a:noFill/>
        </p:spPr>
        <p:txBody>
          <a:bodyPr wrap="square" rtlCol="0">
            <a:spAutoFit/>
          </a:bodyPr>
          <a:lstStyle/>
          <a:p>
            <a:pPr defTabSz="554492"/>
            <a:r>
              <a:rPr lang="en-US" sz="2400" b="1" kern="0" dirty="0">
                <a:solidFill>
                  <a:srgbClr val="00B050"/>
                </a:solidFill>
                <a:latin typeface="Ink Free" panose="03080402000500000000" pitchFamily="66" charset="0"/>
              </a:rPr>
              <a:t>Eng / Ryhab Farouq</a:t>
            </a:r>
          </a:p>
        </p:txBody>
      </p:sp>
      <p:sp>
        <p:nvSpPr>
          <p:cNvPr id="27" name="object 8">
            <a:extLst>
              <a:ext uri="{FF2B5EF4-FFF2-40B4-BE49-F238E27FC236}">
                <a16:creationId xmlns:a16="http://schemas.microsoft.com/office/drawing/2014/main" id="{DF70DBDC-A53C-3148-203A-0147F6172EB9}"/>
              </a:ext>
            </a:extLst>
          </p:cNvPr>
          <p:cNvSpPr txBox="1">
            <a:spLocks/>
          </p:cNvSpPr>
          <p:nvPr/>
        </p:nvSpPr>
        <p:spPr>
          <a:xfrm>
            <a:off x="387038" y="1181206"/>
            <a:ext cx="5708962" cy="2853701"/>
          </a:xfrm>
          <a:prstGeom prst="rect">
            <a:avLst/>
          </a:prstGeom>
          <a:ln>
            <a:noFill/>
          </a:ln>
          <a:effectLst>
            <a:outerShdw blurRad="225425" dist="50800" dir="5220000" algn="ctr">
              <a:srgbClr val="000000">
                <a:alpha val="33000"/>
              </a:srgbClr>
            </a:outerShdw>
            <a:softEdge rad="12700"/>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vert="horz" wrap="square" lIns="0" tIns="9242" rIns="0" bIns="0" rtlCol="0">
            <a:spAutoFit/>
          </a:bodyPr>
          <a:lstStyle>
            <a:lvl1pPr>
              <a:defRPr sz="4950" b="1" i="0">
                <a:solidFill>
                  <a:srgbClr val="FAFBFB"/>
                </a:solidFill>
                <a:latin typeface="Calibri"/>
                <a:ea typeface="+mj-ea"/>
                <a:cs typeface="Calibri"/>
              </a:defRPr>
            </a:lvl1pPr>
          </a:lstStyle>
          <a:p>
            <a:pPr marL="7701" defTabSz="554492">
              <a:spcBef>
                <a:spcPts val="73"/>
              </a:spcBef>
            </a:pPr>
            <a:endParaRPr lang="en-US" sz="8800" kern="0" spc="-15" dirty="0">
              <a:solidFill>
                <a:srgbClr val="33475B"/>
              </a:solidFill>
              <a:effectLst>
                <a:outerShdw blurRad="38100" dist="38100" dir="2700000" algn="tl">
                  <a:srgbClr val="000000">
                    <a:alpha val="43137"/>
                  </a:srgbClr>
                </a:outerShdw>
              </a:effectLst>
              <a:latin typeface="Brush Script MT" panose="03060802040406070304" pitchFamily="66" charset="0"/>
            </a:endParaRPr>
          </a:p>
          <a:p>
            <a:pPr marL="7701" defTabSz="554492">
              <a:spcBef>
                <a:spcPts val="73"/>
              </a:spcBef>
            </a:pPr>
            <a:r>
              <a:rPr lang="en-US" sz="8800" kern="0" spc="-15" dirty="0">
                <a:solidFill>
                  <a:srgbClr val="33475B"/>
                </a:solidFill>
                <a:effectLst>
                  <a:outerShdw blurRad="38100" dist="38100" dir="2700000" algn="tl">
                    <a:srgbClr val="000000">
                      <a:alpha val="43137"/>
                    </a:srgbClr>
                  </a:outerShdw>
                </a:effectLst>
                <a:latin typeface="Brush Script MT" panose="03060802040406070304" pitchFamily="66" charset="0"/>
              </a:rPr>
              <a:t>    </a:t>
            </a:r>
            <a:r>
              <a:rPr lang="en-US" sz="9600" kern="0" spc="-15" dirty="0">
                <a:solidFill>
                  <a:srgbClr val="33475B"/>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VUEJS</a:t>
            </a:r>
            <a:endParaRPr lang="en-US" sz="9600" kern="0" dirty="0">
              <a:solidFill>
                <a:srgbClr val="33475B"/>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pic>
        <p:nvPicPr>
          <p:cNvPr id="1026" name="Picture 2" descr="Using SVG and Vue.js: A complete guide - LogRocket Blog">
            <a:extLst>
              <a:ext uri="{FF2B5EF4-FFF2-40B4-BE49-F238E27FC236}">
                <a16:creationId xmlns:a16="http://schemas.microsoft.com/office/drawing/2014/main" id="{387A8FD3-FB9D-CC12-2365-F046D1846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2203" y="93186"/>
            <a:ext cx="7357270" cy="7165452"/>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pic>
        <p:nvPicPr>
          <p:cNvPr id="1028" name="Picture 4" descr="Editable SVG Icon Systems — Vue.js">
            <a:extLst>
              <a:ext uri="{FF2B5EF4-FFF2-40B4-BE49-F238E27FC236}">
                <a16:creationId xmlns:a16="http://schemas.microsoft.com/office/drawing/2014/main" id="{AD0F9AA5-3035-AE01-7F41-17FA919F8D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174557"/>
            <a:ext cx="655103" cy="6829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bject 5">
            <a:extLst>
              <a:ext uri="{FF2B5EF4-FFF2-40B4-BE49-F238E27FC236}">
                <a16:creationId xmlns:a16="http://schemas.microsoft.com/office/drawing/2014/main" id="{4A92AAAE-5E6D-3108-B49F-AB8875941804}"/>
              </a:ext>
            </a:extLst>
          </p:cNvPr>
          <p:cNvSpPr/>
          <p:nvPr/>
        </p:nvSpPr>
        <p:spPr>
          <a:xfrm>
            <a:off x="391120" y="118252"/>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4495E"/>
          </a:solidFill>
          <a:ln>
            <a:solidFill>
              <a:srgbClr val="34495E"/>
            </a:solidFill>
          </a:ln>
        </p:spPr>
        <p:txBody>
          <a:bodyPr wrap="square" lIns="0" tIns="0" rIns="0" bIns="0" rtlCol="0"/>
          <a:lstStyle/>
          <a:p>
            <a:pPr defTabSz="554492"/>
            <a:endParaRPr sz="1092" kern="0">
              <a:solidFill>
                <a:sysClr val="windowText" lastClr="000000"/>
              </a:solidFill>
            </a:endParaRPr>
          </a:p>
        </p:txBody>
      </p:sp>
      <p:sp>
        <p:nvSpPr>
          <p:cNvPr id="24" name="object 6">
            <a:extLst>
              <a:ext uri="{FF2B5EF4-FFF2-40B4-BE49-F238E27FC236}">
                <a16:creationId xmlns:a16="http://schemas.microsoft.com/office/drawing/2014/main" id="{C6B0E1A6-40B6-F47F-4EA6-6C84A9C72A54}"/>
              </a:ext>
            </a:extLst>
          </p:cNvPr>
          <p:cNvSpPr txBox="1"/>
          <p:nvPr/>
        </p:nvSpPr>
        <p:spPr>
          <a:xfrm rot="19993440">
            <a:off x="633712" y="420258"/>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Directives</a:t>
            </a:r>
            <a:endParaRPr sz="2001" kern="0" dirty="0">
              <a:solidFill>
                <a:sysClr val="windowText" lastClr="000000"/>
              </a:solidFill>
              <a:latin typeface="Arial"/>
              <a:cs typeface="Arial"/>
            </a:endParaRPr>
          </a:p>
        </p:txBody>
      </p:sp>
      <p:sp>
        <p:nvSpPr>
          <p:cNvPr id="25" name="object 11">
            <a:extLst>
              <a:ext uri="{FF2B5EF4-FFF2-40B4-BE49-F238E27FC236}">
                <a16:creationId xmlns:a16="http://schemas.microsoft.com/office/drawing/2014/main" id="{C75D59DC-600A-569A-CA9A-D8F40D5F5F55}"/>
              </a:ext>
            </a:extLst>
          </p:cNvPr>
          <p:cNvSpPr/>
          <p:nvPr/>
        </p:nvSpPr>
        <p:spPr>
          <a:xfrm>
            <a:off x="1577561" y="350716"/>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41B883"/>
          </a:solidFill>
          <a:ln>
            <a:solidFill>
              <a:srgbClr val="41B883"/>
            </a:solidFill>
          </a:ln>
        </p:spPr>
        <p:txBody>
          <a:bodyPr wrap="square" lIns="0" tIns="0" rIns="0" bIns="0" rtlCol="0"/>
          <a:lstStyle/>
          <a:p>
            <a:pPr defTabSz="554492"/>
            <a:endParaRPr sz="1092" kern="0">
              <a:solidFill>
                <a:sysClr val="windowText" lastClr="000000"/>
              </a:solidFill>
            </a:endParaRPr>
          </a:p>
        </p:txBody>
      </p:sp>
      <p:sp>
        <p:nvSpPr>
          <p:cNvPr id="27" name="object 5">
            <a:extLst>
              <a:ext uri="{FF2B5EF4-FFF2-40B4-BE49-F238E27FC236}">
                <a16:creationId xmlns:a16="http://schemas.microsoft.com/office/drawing/2014/main" id="{34EFC3F3-8C54-3D9D-D444-AD841559EA28}"/>
              </a:ext>
            </a:extLst>
          </p:cNvPr>
          <p:cNvSpPr/>
          <p:nvPr/>
        </p:nvSpPr>
        <p:spPr>
          <a:xfrm>
            <a:off x="2356263" y="861116"/>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4495E"/>
          </a:solidFill>
          <a:ln>
            <a:solidFill>
              <a:srgbClr val="34495E"/>
            </a:solidFill>
          </a:ln>
        </p:spPr>
        <p:txBody>
          <a:bodyPr wrap="square" lIns="0" tIns="0" rIns="0" bIns="0" rtlCol="0"/>
          <a:lstStyle/>
          <a:p>
            <a:pPr defTabSz="554492"/>
            <a:endParaRPr sz="1092" kern="0" dirty="0">
              <a:solidFill>
                <a:sysClr val="windowText" lastClr="000000"/>
              </a:solidFill>
            </a:endParaRPr>
          </a:p>
        </p:txBody>
      </p:sp>
      <p:sp>
        <p:nvSpPr>
          <p:cNvPr id="29" name="object 6">
            <a:extLst>
              <a:ext uri="{FF2B5EF4-FFF2-40B4-BE49-F238E27FC236}">
                <a16:creationId xmlns:a16="http://schemas.microsoft.com/office/drawing/2014/main" id="{350588D4-281E-94BE-C909-93E9CD807337}"/>
              </a:ext>
            </a:extLst>
          </p:cNvPr>
          <p:cNvSpPr txBox="1"/>
          <p:nvPr/>
        </p:nvSpPr>
        <p:spPr>
          <a:xfrm rot="19993440">
            <a:off x="2447312" y="1346886"/>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Event Handling</a:t>
            </a:r>
            <a:endParaRPr sz="2001" kern="0" dirty="0">
              <a:solidFill>
                <a:sysClr val="windowText" lastClr="000000"/>
              </a:solidFill>
              <a:latin typeface="Arial"/>
              <a:cs typeface="Arial"/>
            </a:endParaRPr>
          </a:p>
        </p:txBody>
      </p:sp>
      <p:sp>
        <p:nvSpPr>
          <p:cNvPr id="32" name="TextBox 31">
            <a:extLst>
              <a:ext uri="{FF2B5EF4-FFF2-40B4-BE49-F238E27FC236}">
                <a16:creationId xmlns:a16="http://schemas.microsoft.com/office/drawing/2014/main" id="{A7B542EE-E5FB-0AAE-C3CB-9BD9FA3E114D}"/>
              </a:ext>
            </a:extLst>
          </p:cNvPr>
          <p:cNvSpPr txBox="1"/>
          <p:nvPr/>
        </p:nvSpPr>
        <p:spPr>
          <a:xfrm rot="20508270" flipH="1">
            <a:off x="405765" y="3143151"/>
            <a:ext cx="2777275" cy="558936"/>
          </a:xfrm>
          <a:prstGeom prst="rect">
            <a:avLst/>
          </a:prstGeom>
          <a:noFill/>
        </p:spPr>
        <p:txBody>
          <a:bodyPr wrap="square" rtlCol="0">
            <a:spAutoFit/>
          </a:bodyPr>
          <a:lstStyle/>
          <a:p>
            <a:pPr algn="ctr" defTabSz="554492"/>
            <a:r>
              <a:rPr lang="en-US" sz="1940" b="1" kern="0" dirty="0">
                <a:solidFill>
                  <a:srgbClr val="00B050"/>
                </a:solidFill>
                <a:latin typeface="Arial" panose="020B0604020202020204" pitchFamily="34" charset="0"/>
                <a:cs typeface="Arial" panose="020B0604020202020204" pitchFamily="34" charset="0"/>
              </a:rPr>
              <a:t>LECTURE ONE</a:t>
            </a:r>
            <a:endParaRPr lang="en-US" sz="1940" kern="0" dirty="0">
              <a:solidFill>
                <a:srgbClr val="00B050"/>
              </a:solidFill>
              <a:latin typeface="Arial" panose="020B0604020202020204" pitchFamily="34" charset="0"/>
              <a:cs typeface="Arial" panose="020B0604020202020204" pitchFamily="34" charset="0"/>
            </a:endParaRPr>
          </a:p>
          <a:p>
            <a:pPr defTabSz="554492"/>
            <a:endParaRPr lang="en-US" sz="1092" kern="0" dirty="0">
              <a:solidFill>
                <a:sysClr val="windowText" lastClr="000000"/>
              </a:solidFill>
            </a:endParaRPr>
          </a:p>
        </p:txBody>
      </p:sp>
      <p:grpSp>
        <p:nvGrpSpPr>
          <p:cNvPr id="33" name="object 12">
            <a:extLst>
              <a:ext uri="{FF2B5EF4-FFF2-40B4-BE49-F238E27FC236}">
                <a16:creationId xmlns:a16="http://schemas.microsoft.com/office/drawing/2014/main" id="{96A1F89F-A782-28E9-A618-8A653D27CC32}"/>
              </a:ext>
            </a:extLst>
          </p:cNvPr>
          <p:cNvGrpSpPr/>
          <p:nvPr/>
        </p:nvGrpSpPr>
        <p:grpSpPr>
          <a:xfrm rot="7393496">
            <a:off x="1586535" y="3486926"/>
            <a:ext cx="634586" cy="317678"/>
            <a:chOff x="4909132" y="1558300"/>
            <a:chExt cx="1046480" cy="523875"/>
          </a:xfrm>
          <a:solidFill>
            <a:srgbClr val="34495E"/>
          </a:solidFill>
        </p:grpSpPr>
        <p:sp>
          <p:nvSpPr>
            <p:cNvPr id="34" name="object 13">
              <a:extLst>
                <a:ext uri="{FF2B5EF4-FFF2-40B4-BE49-F238E27FC236}">
                  <a16:creationId xmlns:a16="http://schemas.microsoft.com/office/drawing/2014/main" id="{766883AC-88AD-B6E3-1153-DBEE5F9A2802}"/>
                </a:ext>
              </a:extLst>
            </p:cNvPr>
            <p:cNvSpPr/>
            <p:nvPr/>
          </p:nvSpPr>
          <p:spPr>
            <a:xfrm>
              <a:off x="4977133" y="1660204"/>
              <a:ext cx="962660" cy="406400"/>
            </a:xfrm>
            <a:custGeom>
              <a:avLst/>
              <a:gdLst/>
              <a:ahLst/>
              <a:cxnLst/>
              <a:rect l="l" t="t" r="r" b="b"/>
              <a:pathLst>
                <a:path w="962660" h="406400">
                  <a:moveTo>
                    <a:pt x="962213" y="406163"/>
                  </a:moveTo>
                  <a:lnTo>
                    <a:pt x="903116" y="404020"/>
                  </a:lnTo>
                  <a:lnTo>
                    <a:pt x="845520" y="400380"/>
                  </a:lnTo>
                  <a:lnTo>
                    <a:pt x="789425" y="395242"/>
                  </a:lnTo>
                  <a:lnTo>
                    <a:pt x="734830" y="388606"/>
                  </a:lnTo>
                  <a:lnTo>
                    <a:pt x="681736" y="380473"/>
                  </a:lnTo>
                  <a:lnTo>
                    <a:pt x="630143" y="370842"/>
                  </a:lnTo>
                  <a:lnTo>
                    <a:pt x="580050" y="359714"/>
                  </a:lnTo>
                  <a:lnTo>
                    <a:pt x="531457" y="347088"/>
                  </a:lnTo>
                  <a:lnTo>
                    <a:pt x="484366" y="332965"/>
                  </a:lnTo>
                  <a:lnTo>
                    <a:pt x="438775" y="317344"/>
                  </a:lnTo>
                  <a:lnTo>
                    <a:pt x="394684" y="300226"/>
                  </a:lnTo>
                  <a:lnTo>
                    <a:pt x="352095" y="281610"/>
                  </a:lnTo>
                  <a:lnTo>
                    <a:pt x="311006" y="261496"/>
                  </a:lnTo>
                  <a:lnTo>
                    <a:pt x="271417" y="239885"/>
                  </a:lnTo>
                  <a:lnTo>
                    <a:pt x="233329" y="216777"/>
                  </a:lnTo>
                  <a:lnTo>
                    <a:pt x="196742" y="192171"/>
                  </a:lnTo>
                  <a:lnTo>
                    <a:pt x="161656" y="166067"/>
                  </a:lnTo>
                  <a:lnTo>
                    <a:pt x="128070" y="138466"/>
                  </a:lnTo>
                  <a:lnTo>
                    <a:pt x="95984" y="109367"/>
                  </a:lnTo>
                  <a:lnTo>
                    <a:pt x="65400" y="78771"/>
                  </a:lnTo>
                  <a:lnTo>
                    <a:pt x="36316" y="46678"/>
                  </a:lnTo>
                  <a:lnTo>
                    <a:pt x="8732" y="13086"/>
                  </a:lnTo>
                  <a:lnTo>
                    <a:pt x="0" y="0"/>
                  </a:lnTo>
                </a:path>
              </a:pathLst>
            </a:custGeom>
            <a:grpFill/>
            <a:ln w="31412">
              <a:solidFill>
                <a:srgbClr val="34495E"/>
              </a:solidFill>
            </a:ln>
          </p:spPr>
          <p:txBody>
            <a:bodyPr wrap="square" lIns="0" tIns="0" rIns="0" bIns="0" rtlCol="0"/>
            <a:lstStyle/>
            <a:p>
              <a:pPr defTabSz="554492"/>
              <a:endParaRPr sz="1092" kern="0">
                <a:solidFill>
                  <a:sysClr val="windowText" lastClr="000000"/>
                </a:solidFill>
              </a:endParaRPr>
            </a:p>
          </p:txBody>
        </p:sp>
        <p:sp>
          <p:nvSpPr>
            <p:cNvPr id="35" name="object 14">
              <a:extLst>
                <a:ext uri="{FF2B5EF4-FFF2-40B4-BE49-F238E27FC236}">
                  <a16:creationId xmlns:a16="http://schemas.microsoft.com/office/drawing/2014/main" id="{D9DF7EBA-6844-4ECA-5B09-77AB22C43712}"/>
                </a:ext>
              </a:extLst>
            </p:cNvPr>
            <p:cNvSpPr/>
            <p:nvPr/>
          </p:nvSpPr>
          <p:spPr>
            <a:xfrm>
              <a:off x="4909132" y="1558300"/>
              <a:ext cx="134620" cy="153670"/>
            </a:xfrm>
            <a:custGeom>
              <a:avLst/>
              <a:gdLst/>
              <a:ahLst/>
              <a:cxnLst/>
              <a:rect l="l" t="t" r="r" b="b"/>
              <a:pathLst>
                <a:path w="134620" h="153669">
                  <a:moveTo>
                    <a:pt x="0" y="0"/>
                  </a:moveTo>
                  <a:lnTo>
                    <a:pt x="19235" y="153328"/>
                  </a:lnTo>
                  <a:lnTo>
                    <a:pt x="134203" y="76609"/>
                  </a:lnTo>
                  <a:lnTo>
                    <a:pt x="0" y="0"/>
                  </a:lnTo>
                  <a:close/>
                </a:path>
              </a:pathLst>
            </a:custGeom>
            <a:grpFill/>
            <a:ln>
              <a:solidFill>
                <a:srgbClr val="34495E"/>
              </a:solidFill>
            </a:ln>
          </p:spPr>
          <p:txBody>
            <a:bodyPr wrap="square" lIns="0" tIns="0" rIns="0" bIns="0" rtlCol="0"/>
            <a:lstStyle/>
            <a:p>
              <a:pPr defTabSz="554492"/>
              <a:endParaRPr sz="1400" kern="0" dirty="0">
                <a:solidFill>
                  <a:sysClr val="windowText" lastClr="000000"/>
                </a:solidFill>
              </a:endParaRPr>
            </a:p>
          </p:txBody>
        </p:sp>
      </p:grpSp>
      <p:pic>
        <p:nvPicPr>
          <p:cNvPr id="2052" name="Picture 4">
            <a:extLst>
              <a:ext uri="{FF2B5EF4-FFF2-40B4-BE49-F238E27FC236}">
                <a16:creationId xmlns:a16="http://schemas.microsoft.com/office/drawing/2014/main" id="{D78B2C60-6E7D-E59C-86FD-36DD301B3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7407" y="591891"/>
            <a:ext cx="5271105" cy="519837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sp>
        <p:nvSpPr>
          <p:cNvPr id="2" name="object 6">
            <a:extLst>
              <a:ext uri="{FF2B5EF4-FFF2-40B4-BE49-F238E27FC236}">
                <a16:creationId xmlns:a16="http://schemas.microsoft.com/office/drawing/2014/main" id="{04E21B86-D281-8603-67F8-4998F78FD71A}"/>
              </a:ext>
            </a:extLst>
          </p:cNvPr>
          <p:cNvSpPr txBox="1"/>
          <p:nvPr/>
        </p:nvSpPr>
        <p:spPr>
          <a:xfrm rot="19993440">
            <a:off x="1726950" y="472437"/>
            <a:ext cx="2968981"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Methods </a:t>
            </a:r>
            <a:endParaRPr sz="2001" kern="0" dirty="0">
              <a:solidFill>
                <a:sysClr val="windowText" lastClr="000000"/>
              </a:solidFill>
              <a:latin typeface="Arial"/>
              <a:cs typeface="Arial"/>
            </a:endParaRPr>
          </a:p>
        </p:txBody>
      </p:sp>
      <p:sp>
        <p:nvSpPr>
          <p:cNvPr id="3" name="object 11">
            <a:extLst>
              <a:ext uri="{FF2B5EF4-FFF2-40B4-BE49-F238E27FC236}">
                <a16:creationId xmlns:a16="http://schemas.microsoft.com/office/drawing/2014/main" id="{A35F7AD6-C490-5292-C565-FC5F3C3EB46E}"/>
              </a:ext>
            </a:extLst>
          </p:cNvPr>
          <p:cNvSpPr/>
          <p:nvPr/>
        </p:nvSpPr>
        <p:spPr>
          <a:xfrm>
            <a:off x="2939501" y="1654603"/>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41B883"/>
          </a:solidFill>
          <a:ln>
            <a:solidFill>
              <a:srgbClr val="41B883"/>
            </a:solidFill>
          </a:ln>
        </p:spPr>
        <p:txBody>
          <a:bodyPr wrap="square" lIns="0" tIns="0" rIns="0" bIns="0" rtlCol="0"/>
          <a:lstStyle/>
          <a:p>
            <a:pPr defTabSz="554492"/>
            <a:endParaRPr sz="1092" kern="0">
              <a:solidFill>
                <a:sysClr val="windowText" lastClr="000000"/>
              </a:solidFill>
            </a:endParaRPr>
          </a:p>
        </p:txBody>
      </p:sp>
      <p:sp>
        <p:nvSpPr>
          <p:cNvPr id="4" name="object 6">
            <a:extLst>
              <a:ext uri="{FF2B5EF4-FFF2-40B4-BE49-F238E27FC236}">
                <a16:creationId xmlns:a16="http://schemas.microsoft.com/office/drawing/2014/main" id="{E54F66F6-9255-44A2-13EB-71CE22D59AF9}"/>
              </a:ext>
            </a:extLst>
          </p:cNvPr>
          <p:cNvSpPr txBox="1"/>
          <p:nvPr/>
        </p:nvSpPr>
        <p:spPr>
          <a:xfrm>
            <a:off x="3223384" y="2121498"/>
            <a:ext cx="2968981"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Form Handling </a:t>
            </a:r>
            <a:endParaRPr sz="2001" kern="0" dirty="0">
              <a:solidFill>
                <a:sysClr val="windowText" lastClr="000000"/>
              </a:solidFill>
              <a:latin typeface="Arial"/>
              <a:cs typeface="Arial"/>
            </a:endParaRPr>
          </a:p>
        </p:txBody>
      </p:sp>
      <p:sp>
        <p:nvSpPr>
          <p:cNvPr id="5" name="object 5">
            <a:extLst>
              <a:ext uri="{FF2B5EF4-FFF2-40B4-BE49-F238E27FC236}">
                <a16:creationId xmlns:a16="http://schemas.microsoft.com/office/drawing/2014/main" id="{D1373CF3-116F-8E13-5117-26A902854F21}"/>
              </a:ext>
            </a:extLst>
          </p:cNvPr>
          <p:cNvSpPr/>
          <p:nvPr/>
        </p:nvSpPr>
        <p:spPr>
          <a:xfrm>
            <a:off x="3044876" y="2464887"/>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4495E"/>
          </a:solidFill>
          <a:ln>
            <a:solidFill>
              <a:srgbClr val="34495E"/>
            </a:solidFill>
          </a:ln>
        </p:spPr>
        <p:txBody>
          <a:bodyPr wrap="square" lIns="0" tIns="0" rIns="0" bIns="0" rtlCol="0"/>
          <a:lstStyle/>
          <a:p>
            <a:pPr defTabSz="554492"/>
            <a:endParaRPr sz="1092" kern="0" dirty="0">
              <a:solidFill>
                <a:sysClr val="windowText" lastClr="000000"/>
              </a:solidFill>
            </a:endParaRPr>
          </a:p>
        </p:txBody>
      </p:sp>
      <p:sp>
        <p:nvSpPr>
          <p:cNvPr id="6" name="object 6">
            <a:extLst>
              <a:ext uri="{FF2B5EF4-FFF2-40B4-BE49-F238E27FC236}">
                <a16:creationId xmlns:a16="http://schemas.microsoft.com/office/drawing/2014/main" id="{A796AB4C-EF40-D49B-E24C-513734F0ED17}"/>
              </a:ext>
            </a:extLst>
          </p:cNvPr>
          <p:cNvSpPr txBox="1"/>
          <p:nvPr/>
        </p:nvSpPr>
        <p:spPr>
          <a:xfrm rot="1142245">
            <a:off x="3784037" y="3036879"/>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Modifiers</a:t>
            </a:r>
            <a:endParaRPr sz="2001" kern="0" dirty="0">
              <a:solidFill>
                <a:sysClr val="windowText" lastClr="000000"/>
              </a:solidFill>
              <a:latin typeface="Arial"/>
              <a:cs typeface="Arial"/>
            </a:endParaRPr>
          </a:p>
        </p:txBody>
      </p:sp>
      <p:sp>
        <p:nvSpPr>
          <p:cNvPr id="7" name="object 11">
            <a:extLst>
              <a:ext uri="{FF2B5EF4-FFF2-40B4-BE49-F238E27FC236}">
                <a16:creationId xmlns:a16="http://schemas.microsoft.com/office/drawing/2014/main" id="{84775CF3-D8E6-DA25-304C-CFD92360E2B2}"/>
              </a:ext>
            </a:extLst>
          </p:cNvPr>
          <p:cNvSpPr/>
          <p:nvPr/>
        </p:nvSpPr>
        <p:spPr>
          <a:xfrm>
            <a:off x="2690208" y="3268182"/>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41B883"/>
          </a:solidFill>
          <a:ln>
            <a:solidFill>
              <a:srgbClr val="41B883"/>
            </a:solidFill>
          </a:ln>
        </p:spPr>
        <p:txBody>
          <a:bodyPr wrap="square" lIns="0" tIns="0" rIns="0" bIns="0" rtlCol="0"/>
          <a:lstStyle/>
          <a:p>
            <a:pPr defTabSz="554492"/>
            <a:endParaRPr sz="1092" kern="0">
              <a:solidFill>
                <a:sysClr val="windowText" lastClr="000000"/>
              </a:solidFill>
            </a:endParaRPr>
          </a:p>
        </p:txBody>
      </p:sp>
      <p:sp>
        <p:nvSpPr>
          <p:cNvPr id="8" name="object 6">
            <a:extLst>
              <a:ext uri="{FF2B5EF4-FFF2-40B4-BE49-F238E27FC236}">
                <a16:creationId xmlns:a16="http://schemas.microsoft.com/office/drawing/2014/main" id="{9049D36C-82F2-DDC3-A283-60202159D9DC}"/>
              </a:ext>
            </a:extLst>
          </p:cNvPr>
          <p:cNvSpPr txBox="1"/>
          <p:nvPr/>
        </p:nvSpPr>
        <p:spPr>
          <a:xfrm rot="1379255">
            <a:off x="3438753" y="3729729"/>
            <a:ext cx="1829229" cy="623197"/>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Computed Properties </a:t>
            </a:r>
            <a:endParaRPr sz="2001" kern="0" dirty="0">
              <a:solidFill>
                <a:sysClr val="windowText" lastClr="000000"/>
              </a:solidFill>
              <a:latin typeface="Arial"/>
              <a:cs typeface="Arial"/>
            </a:endParaRPr>
          </a:p>
        </p:txBody>
      </p:sp>
      <p:sp>
        <p:nvSpPr>
          <p:cNvPr id="9" name="object 5">
            <a:extLst>
              <a:ext uri="{FF2B5EF4-FFF2-40B4-BE49-F238E27FC236}">
                <a16:creationId xmlns:a16="http://schemas.microsoft.com/office/drawing/2014/main" id="{2F0DE67A-5F24-5FDC-7324-C43E02889923}"/>
              </a:ext>
            </a:extLst>
          </p:cNvPr>
          <p:cNvSpPr/>
          <p:nvPr/>
        </p:nvSpPr>
        <p:spPr>
          <a:xfrm rot="3459134">
            <a:off x="2175160" y="4058114"/>
            <a:ext cx="2075113" cy="2075113"/>
          </a:xfrm>
          <a:custGeom>
            <a:avLst/>
            <a:gdLst/>
            <a:ahLst/>
            <a:cxnLst/>
            <a:rect l="l" t="t" r="r" b="b"/>
            <a:pathLst>
              <a:path w="3422015" h="3422015">
                <a:moveTo>
                  <a:pt x="1732983" y="0"/>
                </a:moveTo>
                <a:lnTo>
                  <a:pt x="1688457" y="0"/>
                </a:lnTo>
                <a:lnTo>
                  <a:pt x="1643943" y="1151"/>
                </a:lnTo>
                <a:lnTo>
                  <a:pt x="1599466" y="3454"/>
                </a:lnTo>
                <a:lnTo>
                  <a:pt x="1555049" y="6909"/>
                </a:lnTo>
                <a:lnTo>
                  <a:pt x="1510717" y="11516"/>
                </a:lnTo>
                <a:lnTo>
                  <a:pt x="1466494" y="17274"/>
                </a:lnTo>
                <a:lnTo>
                  <a:pt x="1422405" y="24184"/>
                </a:lnTo>
                <a:lnTo>
                  <a:pt x="1378473" y="32245"/>
                </a:lnTo>
                <a:lnTo>
                  <a:pt x="1334723" y="41458"/>
                </a:lnTo>
                <a:lnTo>
                  <a:pt x="1291180" y="51823"/>
                </a:lnTo>
                <a:lnTo>
                  <a:pt x="1247867" y="63339"/>
                </a:lnTo>
                <a:lnTo>
                  <a:pt x="1204808" y="76007"/>
                </a:lnTo>
                <a:lnTo>
                  <a:pt x="1162029" y="89826"/>
                </a:lnTo>
                <a:lnTo>
                  <a:pt x="1119552" y="104797"/>
                </a:lnTo>
                <a:lnTo>
                  <a:pt x="1077403" y="120920"/>
                </a:lnTo>
                <a:lnTo>
                  <a:pt x="1035606" y="138194"/>
                </a:lnTo>
                <a:lnTo>
                  <a:pt x="994185" y="156620"/>
                </a:lnTo>
                <a:lnTo>
                  <a:pt x="953164" y="176198"/>
                </a:lnTo>
                <a:lnTo>
                  <a:pt x="912567" y="196927"/>
                </a:lnTo>
                <a:lnTo>
                  <a:pt x="872419" y="218808"/>
                </a:lnTo>
                <a:lnTo>
                  <a:pt x="832744" y="241840"/>
                </a:lnTo>
                <a:lnTo>
                  <a:pt x="793567" y="266025"/>
                </a:lnTo>
                <a:lnTo>
                  <a:pt x="754911" y="291360"/>
                </a:lnTo>
                <a:lnTo>
                  <a:pt x="716800" y="317848"/>
                </a:lnTo>
                <a:lnTo>
                  <a:pt x="679260" y="345487"/>
                </a:lnTo>
                <a:lnTo>
                  <a:pt x="642314" y="374277"/>
                </a:lnTo>
                <a:lnTo>
                  <a:pt x="605986" y="404219"/>
                </a:lnTo>
                <a:lnTo>
                  <a:pt x="570301" y="435313"/>
                </a:lnTo>
                <a:lnTo>
                  <a:pt x="535283" y="467559"/>
                </a:lnTo>
                <a:lnTo>
                  <a:pt x="500957" y="500956"/>
                </a:lnTo>
                <a:lnTo>
                  <a:pt x="467559" y="535282"/>
                </a:lnTo>
                <a:lnTo>
                  <a:pt x="435314" y="570300"/>
                </a:lnTo>
                <a:lnTo>
                  <a:pt x="404220" y="605985"/>
                </a:lnTo>
                <a:lnTo>
                  <a:pt x="374278" y="642313"/>
                </a:lnTo>
                <a:lnTo>
                  <a:pt x="345487" y="679259"/>
                </a:lnTo>
                <a:lnTo>
                  <a:pt x="317848" y="716800"/>
                </a:lnTo>
                <a:lnTo>
                  <a:pt x="291361" y="754910"/>
                </a:lnTo>
                <a:lnTo>
                  <a:pt x="266025" y="793566"/>
                </a:lnTo>
                <a:lnTo>
                  <a:pt x="241841" y="832744"/>
                </a:lnTo>
                <a:lnTo>
                  <a:pt x="218808" y="872419"/>
                </a:lnTo>
                <a:lnTo>
                  <a:pt x="196927" y="912567"/>
                </a:lnTo>
                <a:lnTo>
                  <a:pt x="176198" y="953164"/>
                </a:lnTo>
                <a:lnTo>
                  <a:pt x="156621" y="994185"/>
                </a:lnTo>
                <a:lnTo>
                  <a:pt x="138195" y="1035606"/>
                </a:lnTo>
                <a:lnTo>
                  <a:pt x="120920" y="1077403"/>
                </a:lnTo>
                <a:lnTo>
                  <a:pt x="104797" y="1119552"/>
                </a:lnTo>
                <a:lnTo>
                  <a:pt x="89826" y="1162028"/>
                </a:lnTo>
                <a:lnTo>
                  <a:pt x="76007" y="1204808"/>
                </a:lnTo>
                <a:lnTo>
                  <a:pt x="63339" y="1247867"/>
                </a:lnTo>
                <a:lnTo>
                  <a:pt x="51823" y="1291180"/>
                </a:lnTo>
                <a:lnTo>
                  <a:pt x="41458" y="1334723"/>
                </a:lnTo>
                <a:lnTo>
                  <a:pt x="32245" y="1378473"/>
                </a:lnTo>
                <a:lnTo>
                  <a:pt x="24184"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4" y="1999035"/>
                </a:lnTo>
                <a:lnTo>
                  <a:pt x="32245" y="2042967"/>
                </a:lnTo>
                <a:lnTo>
                  <a:pt x="41458" y="2086716"/>
                </a:lnTo>
                <a:lnTo>
                  <a:pt x="51823" y="2130260"/>
                </a:lnTo>
                <a:lnTo>
                  <a:pt x="63339" y="2173573"/>
                </a:lnTo>
                <a:lnTo>
                  <a:pt x="76007" y="2216632"/>
                </a:lnTo>
                <a:lnTo>
                  <a:pt x="89826" y="2259411"/>
                </a:lnTo>
                <a:lnTo>
                  <a:pt x="104797" y="2301888"/>
                </a:lnTo>
                <a:lnTo>
                  <a:pt x="120920" y="2344037"/>
                </a:lnTo>
                <a:lnTo>
                  <a:pt x="138195" y="2385834"/>
                </a:lnTo>
                <a:lnTo>
                  <a:pt x="156621" y="2427255"/>
                </a:lnTo>
                <a:lnTo>
                  <a:pt x="176198" y="2468276"/>
                </a:lnTo>
                <a:lnTo>
                  <a:pt x="196927" y="2508873"/>
                </a:lnTo>
                <a:lnTo>
                  <a:pt x="218808" y="2549021"/>
                </a:lnTo>
                <a:lnTo>
                  <a:pt x="241841" y="2588696"/>
                </a:lnTo>
                <a:lnTo>
                  <a:pt x="266025" y="2627874"/>
                </a:lnTo>
                <a:lnTo>
                  <a:pt x="291361" y="2666530"/>
                </a:lnTo>
                <a:lnTo>
                  <a:pt x="317848" y="2704640"/>
                </a:lnTo>
                <a:lnTo>
                  <a:pt x="345487" y="2742181"/>
                </a:lnTo>
                <a:lnTo>
                  <a:pt x="374278" y="2779127"/>
                </a:lnTo>
                <a:lnTo>
                  <a:pt x="404220" y="2815455"/>
                </a:lnTo>
                <a:lnTo>
                  <a:pt x="435314" y="2851140"/>
                </a:lnTo>
                <a:lnTo>
                  <a:pt x="467559" y="2886157"/>
                </a:lnTo>
                <a:lnTo>
                  <a:pt x="500957" y="2920484"/>
                </a:lnTo>
                <a:lnTo>
                  <a:pt x="535283" y="2953881"/>
                </a:lnTo>
                <a:lnTo>
                  <a:pt x="570301" y="2986127"/>
                </a:lnTo>
                <a:lnTo>
                  <a:pt x="605986" y="3017221"/>
                </a:lnTo>
                <a:lnTo>
                  <a:pt x="642314" y="3047163"/>
                </a:lnTo>
                <a:lnTo>
                  <a:pt x="679260" y="3075953"/>
                </a:lnTo>
                <a:lnTo>
                  <a:pt x="716800" y="3103592"/>
                </a:lnTo>
                <a:lnTo>
                  <a:pt x="754911" y="3130080"/>
                </a:lnTo>
                <a:lnTo>
                  <a:pt x="793567" y="3155415"/>
                </a:lnTo>
                <a:lnTo>
                  <a:pt x="832744" y="3179599"/>
                </a:lnTo>
                <a:lnTo>
                  <a:pt x="872419" y="3202632"/>
                </a:lnTo>
                <a:lnTo>
                  <a:pt x="912567" y="3224513"/>
                </a:lnTo>
                <a:lnTo>
                  <a:pt x="953164" y="3245242"/>
                </a:lnTo>
                <a:lnTo>
                  <a:pt x="994185" y="3264820"/>
                </a:lnTo>
                <a:lnTo>
                  <a:pt x="1035606" y="3283246"/>
                </a:lnTo>
                <a:lnTo>
                  <a:pt x="1077403" y="3300520"/>
                </a:lnTo>
                <a:lnTo>
                  <a:pt x="1119552" y="3316643"/>
                </a:lnTo>
                <a:lnTo>
                  <a:pt x="1162029" y="3331614"/>
                </a:lnTo>
                <a:lnTo>
                  <a:pt x="1204808" y="3345433"/>
                </a:lnTo>
                <a:lnTo>
                  <a:pt x="1247867" y="3358101"/>
                </a:lnTo>
                <a:lnTo>
                  <a:pt x="1291180" y="3369617"/>
                </a:lnTo>
                <a:lnTo>
                  <a:pt x="1334723" y="3379982"/>
                </a:lnTo>
                <a:lnTo>
                  <a:pt x="1378473" y="3389195"/>
                </a:lnTo>
                <a:lnTo>
                  <a:pt x="1422405" y="3397256"/>
                </a:lnTo>
                <a:lnTo>
                  <a:pt x="1466494" y="3404166"/>
                </a:lnTo>
                <a:lnTo>
                  <a:pt x="1510717" y="3409924"/>
                </a:lnTo>
                <a:lnTo>
                  <a:pt x="1555049" y="3414531"/>
                </a:lnTo>
                <a:lnTo>
                  <a:pt x="1599466" y="3417986"/>
                </a:lnTo>
                <a:lnTo>
                  <a:pt x="1643943" y="3420289"/>
                </a:lnTo>
                <a:lnTo>
                  <a:pt x="1688457" y="3421440"/>
                </a:lnTo>
                <a:lnTo>
                  <a:pt x="1732983" y="3421440"/>
                </a:lnTo>
                <a:lnTo>
                  <a:pt x="1777497" y="3420289"/>
                </a:lnTo>
                <a:lnTo>
                  <a:pt x="1821974" y="3417986"/>
                </a:lnTo>
                <a:lnTo>
                  <a:pt x="1866391" y="3414531"/>
                </a:lnTo>
                <a:lnTo>
                  <a:pt x="1910723" y="3409924"/>
                </a:lnTo>
                <a:lnTo>
                  <a:pt x="1954945" y="3404166"/>
                </a:lnTo>
                <a:lnTo>
                  <a:pt x="1999035" y="3397256"/>
                </a:lnTo>
                <a:lnTo>
                  <a:pt x="2042967" y="3389195"/>
                </a:lnTo>
                <a:lnTo>
                  <a:pt x="2086716" y="3379982"/>
                </a:lnTo>
                <a:lnTo>
                  <a:pt x="2130260" y="3369617"/>
                </a:lnTo>
                <a:lnTo>
                  <a:pt x="2173573" y="3358101"/>
                </a:lnTo>
                <a:lnTo>
                  <a:pt x="2216632" y="3345433"/>
                </a:lnTo>
                <a:lnTo>
                  <a:pt x="2259411" y="3331614"/>
                </a:lnTo>
                <a:lnTo>
                  <a:pt x="2301888" y="3316643"/>
                </a:lnTo>
                <a:lnTo>
                  <a:pt x="2344037" y="3300520"/>
                </a:lnTo>
                <a:lnTo>
                  <a:pt x="2385834" y="3283246"/>
                </a:lnTo>
                <a:lnTo>
                  <a:pt x="2427255" y="3264820"/>
                </a:lnTo>
                <a:lnTo>
                  <a:pt x="2468276" y="3245242"/>
                </a:lnTo>
                <a:lnTo>
                  <a:pt x="2508873" y="3224513"/>
                </a:lnTo>
                <a:lnTo>
                  <a:pt x="2549021" y="3202632"/>
                </a:lnTo>
                <a:lnTo>
                  <a:pt x="2588696" y="3179599"/>
                </a:lnTo>
                <a:lnTo>
                  <a:pt x="2627873" y="3155415"/>
                </a:lnTo>
                <a:lnTo>
                  <a:pt x="2666529" y="3130080"/>
                </a:lnTo>
                <a:lnTo>
                  <a:pt x="2704640" y="3103592"/>
                </a:lnTo>
                <a:lnTo>
                  <a:pt x="2742180" y="3075953"/>
                </a:lnTo>
                <a:lnTo>
                  <a:pt x="2779127" y="3047163"/>
                </a:lnTo>
                <a:lnTo>
                  <a:pt x="2815454" y="3017221"/>
                </a:lnTo>
                <a:lnTo>
                  <a:pt x="2851139" y="2986127"/>
                </a:lnTo>
                <a:lnTo>
                  <a:pt x="2886157" y="2953881"/>
                </a:lnTo>
                <a:lnTo>
                  <a:pt x="2920484" y="2920484"/>
                </a:lnTo>
                <a:lnTo>
                  <a:pt x="2953881" y="2886157"/>
                </a:lnTo>
                <a:lnTo>
                  <a:pt x="2986127" y="2851140"/>
                </a:lnTo>
                <a:lnTo>
                  <a:pt x="3017220" y="2815455"/>
                </a:lnTo>
                <a:lnTo>
                  <a:pt x="3047163" y="2779127"/>
                </a:lnTo>
                <a:lnTo>
                  <a:pt x="3075953" y="2742181"/>
                </a:lnTo>
                <a:lnTo>
                  <a:pt x="3103592" y="2704640"/>
                </a:lnTo>
                <a:lnTo>
                  <a:pt x="3130080" y="2666530"/>
                </a:lnTo>
                <a:lnTo>
                  <a:pt x="3155415" y="2627874"/>
                </a:lnTo>
                <a:lnTo>
                  <a:pt x="3179600" y="2588696"/>
                </a:lnTo>
                <a:lnTo>
                  <a:pt x="3202632" y="2549021"/>
                </a:lnTo>
                <a:lnTo>
                  <a:pt x="3224513" y="2508873"/>
                </a:lnTo>
                <a:lnTo>
                  <a:pt x="3245242" y="2468276"/>
                </a:lnTo>
                <a:lnTo>
                  <a:pt x="3264820" y="2427255"/>
                </a:lnTo>
                <a:lnTo>
                  <a:pt x="3283246" y="2385834"/>
                </a:lnTo>
                <a:lnTo>
                  <a:pt x="3300520" y="2344037"/>
                </a:lnTo>
                <a:lnTo>
                  <a:pt x="3316643" y="2301888"/>
                </a:lnTo>
                <a:lnTo>
                  <a:pt x="3331614" y="2259411"/>
                </a:lnTo>
                <a:lnTo>
                  <a:pt x="3345434" y="2216632"/>
                </a:lnTo>
                <a:lnTo>
                  <a:pt x="3358102" y="2173573"/>
                </a:lnTo>
                <a:lnTo>
                  <a:pt x="3369618" y="2130260"/>
                </a:lnTo>
                <a:lnTo>
                  <a:pt x="3379982" y="2086716"/>
                </a:lnTo>
                <a:lnTo>
                  <a:pt x="3389195" y="2042967"/>
                </a:lnTo>
                <a:lnTo>
                  <a:pt x="3397257" y="1999035"/>
                </a:lnTo>
                <a:lnTo>
                  <a:pt x="3404167" y="1954946"/>
                </a:lnTo>
                <a:lnTo>
                  <a:pt x="3409925" y="1910723"/>
                </a:lnTo>
                <a:lnTo>
                  <a:pt x="3414531" y="1866391"/>
                </a:lnTo>
                <a:lnTo>
                  <a:pt x="3417986" y="1821974"/>
                </a:lnTo>
                <a:lnTo>
                  <a:pt x="3420289" y="1777497"/>
                </a:lnTo>
                <a:lnTo>
                  <a:pt x="3421441" y="1732983"/>
                </a:lnTo>
                <a:lnTo>
                  <a:pt x="3421441" y="1688457"/>
                </a:lnTo>
                <a:lnTo>
                  <a:pt x="3420289" y="1643943"/>
                </a:lnTo>
                <a:lnTo>
                  <a:pt x="3417986" y="1599466"/>
                </a:lnTo>
                <a:lnTo>
                  <a:pt x="3414531" y="1555049"/>
                </a:lnTo>
                <a:lnTo>
                  <a:pt x="3409925" y="1510717"/>
                </a:lnTo>
                <a:lnTo>
                  <a:pt x="3404167" y="1466494"/>
                </a:lnTo>
                <a:lnTo>
                  <a:pt x="3397257" y="1422405"/>
                </a:lnTo>
                <a:lnTo>
                  <a:pt x="3389195" y="1378473"/>
                </a:lnTo>
                <a:lnTo>
                  <a:pt x="3379982" y="1334723"/>
                </a:lnTo>
                <a:lnTo>
                  <a:pt x="3369618" y="1291180"/>
                </a:lnTo>
                <a:lnTo>
                  <a:pt x="3358102" y="1247867"/>
                </a:lnTo>
                <a:lnTo>
                  <a:pt x="3345434" y="1204808"/>
                </a:lnTo>
                <a:lnTo>
                  <a:pt x="3331614" y="1162028"/>
                </a:lnTo>
                <a:lnTo>
                  <a:pt x="3316643" y="1119552"/>
                </a:lnTo>
                <a:lnTo>
                  <a:pt x="3300520" y="1077403"/>
                </a:lnTo>
                <a:lnTo>
                  <a:pt x="3283246" y="1035606"/>
                </a:lnTo>
                <a:lnTo>
                  <a:pt x="3264820" y="994185"/>
                </a:lnTo>
                <a:lnTo>
                  <a:pt x="3245242" y="953164"/>
                </a:lnTo>
                <a:lnTo>
                  <a:pt x="3224513" y="912567"/>
                </a:lnTo>
                <a:lnTo>
                  <a:pt x="3202632" y="872419"/>
                </a:lnTo>
                <a:lnTo>
                  <a:pt x="3179600" y="832744"/>
                </a:lnTo>
                <a:lnTo>
                  <a:pt x="3155415" y="793566"/>
                </a:lnTo>
                <a:lnTo>
                  <a:pt x="3130080" y="754910"/>
                </a:lnTo>
                <a:lnTo>
                  <a:pt x="3103592" y="716800"/>
                </a:lnTo>
                <a:lnTo>
                  <a:pt x="3075953" y="679259"/>
                </a:lnTo>
                <a:lnTo>
                  <a:pt x="3047163" y="642313"/>
                </a:lnTo>
                <a:lnTo>
                  <a:pt x="3017220" y="605985"/>
                </a:lnTo>
                <a:lnTo>
                  <a:pt x="2986127" y="570300"/>
                </a:lnTo>
                <a:lnTo>
                  <a:pt x="2953881" y="535282"/>
                </a:lnTo>
                <a:lnTo>
                  <a:pt x="2920484" y="500956"/>
                </a:lnTo>
                <a:lnTo>
                  <a:pt x="2886157" y="467559"/>
                </a:lnTo>
                <a:lnTo>
                  <a:pt x="2851139" y="435313"/>
                </a:lnTo>
                <a:lnTo>
                  <a:pt x="2815454" y="404219"/>
                </a:lnTo>
                <a:lnTo>
                  <a:pt x="2779127" y="374277"/>
                </a:lnTo>
                <a:lnTo>
                  <a:pt x="2742180" y="345487"/>
                </a:lnTo>
                <a:lnTo>
                  <a:pt x="2704640" y="317848"/>
                </a:lnTo>
                <a:lnTo>
                  <a:pt x="2666529" y="291360"/>
                </a:lnTo>
                <a:lnTo>
                  <a:pt x="2627873" y="266025"/>
                </a:lnTo>
                <a:lnTo>
                  <a:pt x="2588696" y="241840"/>
                </a:lnTo>
                <a:lnTo>
                  <a:pt x="2549021" y="218808"/>
                </a:lnTo>
                <a:lnTo>
                  <a:pt x="2508873" y="196927"/>
                </a:lnTo>
                <a:lnTo>
                  <a:pt x="2468276" y="176198"/>
                </a:lnTo>
                <a:lnTo>
                  <a:pt x="2427255" y="156620"/>
                </a:lnTo>
                <a:lnTo>
                  <a:pt x="2385834" y="138194"/>
                </a:lnTo>
                <a:lnTo>
                  <a:pt x="2344037" y="120920"/>
                </a:lnTo>
                <a:lnTo>
                  <a:pt x="2301888" y="104797"/>
                </a:lnTo>
                <a:lnTo>
                  <a:pt x="2259411" y="89826"/>
                </a:lnTo>
                <a:lnTo>
                  <a:pt x="2216632" y="76007"/>
                </a:lnTo>
                <a:lnTo>
                  <a:pt x="2173573" y="63339"/>
                </a:lnTo>
                <a:lnTo>
                  <a:pt x="2130260" y="51823"/>
                </a:lnTo>
                <a:lnTo>
                  <a:pt x="2086716" y="41458"/>
                </a:lnTo>
                <a:lnTo>
                  <a:pt x="2042967" y="32245"/>
                </a:lnTo>
                <a:lnTo>
                  <a:pt x="1999035" y="24184"/>
                </a:lnTo>
                <a:lnTo>
                  <a:pt x="1954945" y="17274"/>
                </a:lnTo>
                <a:lnTo>
                  <a:pt x="1910723" y="11516"/>
                </a:lnTo>
                <a:lnTo>
                  <a:pt x="1866391" y="6909"/>
                </a:lnTo>
                <a:lnTo>
                  <a:pt x="1821974" y="3454"/>
                </a:lnTo>
                <a:lnTo>
                  <a:pt x="1777497" y="1151"/>
                </a:lnTo>
                <a:lnTo>
                  <a:pt x="1732983" y="0"/>
                </a:lnTo>
                <a:close/>
              </a:path>
            </a:pathLst>
          </a:custGeom>
          <a:solidFill>
            <a:srgbClr val="34495E"/>
          </a:solidFill>
          <a:ln>
            <a:solidFill>
              <a:srgbClr val="34495E"/>
            </a:solidFill>
          </a:ln>
        </p:spPr>
        <p:txBody>
          <a:bodyPr wrap="square" lIns="0" tIns="0" rIns="0" bIns="0" rtlCol="0"/>
          <a:lstStyle/>
          <a:p>
            <a:pPr defTabSz="554492"/>
            <a:endParaRPr sz="1092" kern="0" dirty="0">
              <a:solidFill>
                <a:sysClr val="windowText" lastClr="000000"/>
              </a:solidFill>
            </a:endParaRPr>
          </a:p>
        </p:txBody>
      </p:sp>
      <p:sp>
        <p:nvSpPr>
          <p:cNvPr id="10" name="object 6">
            <a:extLst>
              <a:ext uri="{FF2B5EF4-FFF2-40B4-BE49-F238E27FC236}">
                <a16:creationId xmlns:a16="http://schemas.microsoft.com/office/drawing/2014/main" id="{7EB8E8D0-8FDE-07E9-A292-BCA1D923964C}"/>
              </a:ext>
            </a:extLst>
          </p:cNvPr>
          <p:cNvSpPr txBox="1"/>
          <p:nvPr/>
        </p:nvSpPr>
        <p:spPr>
          <a:xfrm rot="1852574">
            <a:off x="2944185" y="4746459"/>
            <a:ext cx="194077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Watchers</a:t>
            </a:r>
            <a:endParaRPr sz="2001" kern="0" dirty="0">
              <a:solidFill>
                <a:sysClr val="windowText" lastClr="000000"/>
              </a:solidFill>
              <a:latin typeface="Arial"/>
              <a:cs typeface="Arial"/>
            </a:endParaRPr>
          </a:p>
        </p:txBody>
      </p:sp>
      <p:sp>
        <p:nvSpPr>
          <p:cNvPr id="11" name="object 11">
            <a:extLst>
              <a:ext uri="{FF2B5EF4-FFF2-40B4-BE49-F238E27FC236}">
                <a16:creationId xmlns:a16="http://schemas.microsoft.com/office/drawing/2014/main" id="{24B87048-E809-5FCC-1975-ABAC611B0966}"/>
              </a:ext>
            </a:extLst>
          </p:cNvPr>
          <p:cNvSpPr/>
          <p:nvPr/>
        </p:nvSpPr>
        <p:spPr>
          <a:xfrm rot="1571601">
            <a:off x="1267069" y="4511533"/>
            <a:ext cx="2075113" cy="2075113"/>
          </a:xfrm>
          <a:custGeom>
            <a:avLst/>
            <a:gdLst/>
            <a:ahLst/>
            <a:cxnLst/>
            <a:rect l="l" t="t" r="r" b="b"/>
            <a:pathLst>
              <a:path w="3422015" h="3422015">
                <a:moveTo>
                  <a:pt x="1732977" y="0"/>
                </a:moveTo>
                <a:lnTo>
                  <a:pt x="1688452" y="0"/>
                </a:lnTo>
                <a:lnTo>
                  <a:pt x="1643938" y="1151"/>
                </a:lnTo>
                <a:lnTo>
                  <a:pt x="1599460" y="3454"/>
                </a:lnTo>
                <a:lnTo>
                  <a:pt x="1555044" y="6909"/>
                </a:lnTo>
                <a:lnTo>
                  <a:pt x="1510712" y="11516"/>
                </a:lnTo>
                <a:lnTo>
                  <a:pt x="1466489" y="17274"/>
                </a:lnTo>
                <a:lnTo>
                  <a:pt x="1422400" y="24184"/>
                </a:lnTo>
                <a:lnTo>
                  <a:pt x="1378468" y="32245"/>
                </a:lnTo>
                <a:lnTo>
                  <a:pt x="1334718" y="41458"/>
                </a:lnTo>
                <a:lnTo>
                  <a:pt x="1291175" y="51823"/>
                </a:lnTo>
                <a:lnTo>
                  <a:pt x="1247862" y="63339"/>
                </a:lnTo>
                <a:lnTo>
                  <a:pt x="1204803" y="76007"/>
                </a:lnTo>
                <a:lnTo>
                  <a:pt x="1162024" y="89826"/>
                </a:lnTo>
                <a:lnTo>
                  <a:pt x="1119547" y="104797"/>
                </a:lnTo>
                <a:lnTo>
                  <a:pt x="1077398" y="120920"/>
                </a:lnTo>
                <a:lnTo>
                  <a:pt x="1035601" y="138194"/>
                </a:lnTo>
                <a:lnTo>
                  <a:pt x="994180" y="156620"/>
                </a:lnTo>
                <a:lnTo>
                  <a:pt x="953159" y="176198"/>
                </a:lnTo>
                <a:lnTo>
                  <a:pt x="912562" y="196927"/>
                </a:lnTo>
                <a:lnTo>
                  <a:pt x="872414" y="218808"/>
                </a:lnTo>
                <a:lnTo>
                  <a:pt x="832739" y="241840"/>
                </a:lnTo>
                <a:lnTo>
                  <a:pt x="793561" y="266025"/>
                </a:lnTo>
                <a:lnTo>
                  <a:pt x="754905" y="291360"/>
                </a:lnTo>
                <a:lnTo>
                  <a:pt x="716795" y="317848"/>
                </a:lnTo>
                <a:lnTo>
                  <a:pt x="679254" y="345487"/>
                </a:lnTo>
                <a:lnTo>
                  <a:pt x="642308" y="374277"/>
                </a:lnTo>
                <a:lnTo>
                  <a:pt x="605980" y="404219"/>
                </a:lnTo>
                <a:lnTo>
                  <a:pt x="570295" y="435313"/>
                </a:lnTo>
                <a:lnTo>
                  <a:pt x="535277" y="467559"/>
                </a:lnTo>
                <a:lnTo>
                  <a:pt x="500950" y="500956"/>
                </a:lnTo>
                <a:lnTo>
                  <a:pt x="467554" y="535282"/>
                </a:lnTo>
                <a:lnTo>
                  <a:pt x="435308" y="570300"/>
                </a:lnTo>
                <a:lnTo>
                  <a:pt x="404215" y="605985"/>
                </a:lnTo>
                <a:lnTo>
                  <a:pt x="374273" y="642313"/>
                </a:lnTo>
                <a:lnTo>
                  <a:pt x="345483" y="679259"/>
                </a:lnTo>
                <a:lnTo>
                  <a:pt x="317844" y="716800"/>
                </a:lnTo>
                <a:lnTo>
                  <a:pt x="291357" y="754910"/>
                </a:lnTo>
                <a:lnTo>
                  <a:pt x="266022" y="793566"/>
                </a:lnTo>
                <a:lnTo>
                  <a:pt x="241838" y="832744"/>
                </a:lnTo>
                <a:lnTo>
                  <a:pt x="218806" y="872419"/>
                </a:lnTo>
                <a:lnTo>
                  <a:pt x="196925" y="912567"/>
                </a:lnTo>
                <a:lnTo>
                  <a:pt x="176196" y="953164"/>
                </a:lnTo>
                <a:lnTo>
                  <a:pt x="156619" y="994185"/>
                </a:lnTo>
                <a:lnTo>
                  <a:pt x="138193" y="1035606"/>
                </a:lnTo>
                <a:lnTo>
                  <a:pt x="120919" y="1077403"/>
                </a:lnTo>
                <a:lnTo>
                  <a:pt x="104796" y="1119552"/>
                </a:lnTo>
                <a:lnTo>
                  <a:pt x="89825" y="1162028"/>
                </a:lnTo>
                <a:lnTo>
                  <a:pt x="76006" y="1204808"/>
                </a:lnTo>
                <a:lnTo>
                  <a:pt x="63338" y="1247867"/>
                </a:lnTo>
                <a:lnTo>
                  <a:pt x="51822" y="1291180"/>
                </a:lnTo>
                <a:lnTo>
                  <a:pt x="41457" y="1334723"/>
                </a:lnTo>
                <a:lnTo>
                  <a:pt x="32245" y="1378473"/>
                </a:lnTo>
                <a:lnTo>
                  <a:pt x="24183" y="1422405"/>
                </a:lnTo>
                <a:lnTo>
                  <a:pt x="17274" y="1466494"/>
                </a:lnTo>
                <a:lnTo>
                  <a:pt x="11516" y="1510717"/>
                </a:lnTo>
                <a:lnTo>
                  <a:pt x="6909" y="1555049"/>
                </a:lnTo>
                <a:lnTo>
                  <a:pt x="3454" y="1599466"/>
                </a:lnTo>
                <a:lnTo>
                  <a:pt x="1151" y="1643943"/>
                </a:lnTo>
                <a:lnTo>
                  <a:pt x="0" y="1688457"/>
                </a:lnTo>
                <a:lnTo>
                  <a:pt x="0" y="1732983"/>
                </a:lnTo>
                <a:lnTo>
                  <a:pt x="1151" y="1777497"/>
                </a:lnTo>
                <a:lnTo>
                  <a:pt x="3454" y="1821974"/>
                </a:lnTo>
                <a:lnTo>
                  <a:pt x="6909" y="1866391"/>
                </a:lnTo>
                <a:lnTo>
                  <a:pt x="11516" y="1910723"/>
                </a:lnTo>
                <a:lnTo>
                  <a:pt x="17274" y="1954946"/>
                </a:lnTo>
                <a:lnTo>
                  <a:pt x="24183" y="1999035"/>
                </a:lnTo>
                <a:lnTo>
                  <a:pt x="32245" y="2042967"/>
                </a:lnTo>
                <a:lnTo>
                  <a:pt x="41457" y="2086716"/>
                </a:lnTo>
                <a:lnTo>
                  <a:pt x="51822" y="2130260"/>
                </a:lnTo>
                <a:lnTo>
                  <a:pt x="63338" y="2173573"/>
                </a:lnTo>
                <a:lnTo>
                  <a:pt x="76006" y="2216632"/>
                </a:lnTo>
                <a:lnTo>
                  <a:pt x="89825" y="2259411"/>
                </a:lnTo>
                <a:lnTo>
                  <a:pt x="104796" y="2301888"/>
                </a:lnTo>
                <a:lnTo>
                  <a:pt x="120919" y="2344037"/>
                </a:lnTo>
                <a:lnTo>
                  <a:pt x="138193" y="2385834"/>
                </a:lnTo>
                <a:lnTo>
                  <a:pt x="156619" y="2427255"/>
                </a:lnTo>
                <a:lnTo>
                  <a:pt x="176196" y="2468276"/>
                </a:lnTo>
                <a:lnTo>
                  <a:pt x="196925" y="2508873"/>
                </a:lnTo>
                <a:lnTo>
                  <a:pt x="218806" y="2549021"/>
                </a:lnTo>
                <a:lnTo>
                  <a:pt x="241838" y="2588696"/>
                </a:lnTo>
                <a:lnTo>
                  <a:pt x="266022" y="2627874"/>
                </a:lnTo>
                <a:lnTo>
                  <a:pt x="291357" y="2666530"/>
                </a:lnTo>
                <a:lnTo>
                  <a:pt x="317844" y="2704640"/>
                </a:lnTo>
                <a:lnTo>
                  <a:pt x="345483" y="2742181"/>
                </a:lnTo>
                <a:lnTo>
                  <a:pt x="374273" y="2779127"/>
                </a:lnTo>
                <a:lnTo>
                  <a:pt x="404215" y="2815455"/>
                </a:lnTo>
                <a:lnTo>
                  <a:pt x="435308" y="2851140"/>
                </a:lnTo>
                <a:lnTo>
                  <a:pt x="467554" y="2886157"/>
                </a:lnTo>
                <a:lnTo>
                  <a:pt x="500950" y="2920484"/>
                </a:lnTo>
                <a:lnTo>
                  <a:pt x="535277" y="2953881"/>
                </a:lnTo>
                <a:lnTo>
                  <a:pt x="570295" y="2986127"/>
                </a:lnTo>
                <a:lnTo>
                  <a:pt x="605980" y="3017221"/>
                </a:lnTo>
                <a:lnTo>
                  <a:pt x="642308" y="3047163"/>
                </a:lnTo>
                <a:lnTo>
                  <a:pt x="679254" y="3075953"/>
                </a:lnTo>
                <a:lnTo>
                  <a:pt x="716795" y="3103592"/>
                </a:lnTo>
                <a:lnTo>
                  <a:pt x="754905" y="3130080"/>
                </a:lnTo>
                <a:lnTo>
                  <a:pt x="793561" y="3155415"/>
                </a:lnTo>
                <a:lnTo>
                  <a:pt x="832739" y="3179599"/>
                </a:lnTo>
                <a:lnTo>
                  <a:pt x="872414" y="3202632"/>
                </a:lnTo>
                <a:lnTo>
                  <a:pt x="912562" y="3224513"/>
                </a:lnTo>
                <a:lnTo>
                  <a:pt x="953159" y="3245242"/>
                </a:lnTo>
                <a:lnTo>
                  <a:pt x="994180" y="3264820"/>
                </a:lnTo>
                <a:lnTo>
                  <a:pt x="1035601" y="3283246"/>
                </a:lnTo>
                <a:lnTo>
                  <a:pt x="1077398" y="3300520"/>
                </a:lnTo>
                <a:lnTo>
                  <a:pt x="1119547" y="3316643"/>
                </a:lnTo>
                <a:lnTo>
                  <a:pt x="1162024" y="3331614"/>
                </a:lnTo>
                <a:lnTo>
                  <a:pt x="1204803" y="3345433"/>
                </a:lnTo>
                <a:lnTo>
                  <a:pt x="1247862" y="3358101"/>
                </a:lnTo>
                <a:lnTo>
                  <a:pt x="1291175" y="3369617"/>
                </a:lnTo>
                <a:lnTo>
                  <a:pt x="1334718" y="3379982"/>
                </a:lnTo>
                <a:lnTo>
                  <a:pt x="1378468" y="3389195"/>
                </a:lnTo>
                <a:lnTo>
                  <a:pt x="1422400" y="3397256"/>
                </a:lnTo>
                <a:lnTo>
                  <a:pt x="1466489" y="3404166"/>
                </a:lnTo>
                <a:lnTo>
                  <a:pt x="1510712" y="3409924"/>
                </a:lnTo>
                <a:lnTo>
                  <a:pt x="1555044" y="3414531"/>
                </a:lnTo>
                <a:lnTo>
                  <a:pt x="1599460" y="3417986"/>
                </a:lnTo>
                <a:lnTo>
                  <a:pt x="1643938" y="3420289"/>
                </a:lnTo>
                <a:lnTo>
                  <a:pt x="1688452" y="3421440"/>
                </a:lnTo>
                <a:lnTo>
                  <a:pt x="1732977" y="3421440"/>
                </a:lnTo>
                <a:lnTo>
                  <a:pt x="1777491" y="3420289"/>
                </a:lnTo>
                <a:lnTo>
                  <a:pt x="1821969" y="3417986"/>
                </a:lnTo>
                <a:lnTo>
                  <a:pt x="1866385" y="3414531"/>
                </a:lnTo>
                <a:lnTo>
                  <a:pt x="1910717" y="3409924"/>
                </a:lnTo>
                <a:lnTo>
                  <a:pt x="1954940" y="3404166"/>
                </a:lnTo>
                <a:lnTo>
                  <a:pt x="1999029" y="3397256"/>
                </a:lnTo>
                <a:lnTo>
                  <a:pt x="2042961" y="3389195"/>
                </a:lnTo>
                <a:lnTo>
                  <a:pt x="2086711" y="3379982"/>
                </a:lnTo>
                <a:lnTo>
                  <a:pt x="2130254" y="3369617"/>
                </a:lnTo>
                <a:lnTo>
                  <a:pt x="2173567" y="3358101"/>
                </a:lnTo>
                <a:lnTo>
                  <a:pt x="2216626" y="3345433"/>
                </a:lnTo>
                <a:lnTo>
                  <a:pt x="2259405" y="3331614"/>
                </a:lnTo>
                <a:lnTo>
                  <a:pt x="2301882" y="3316643"/>
                </a:lnTo>
                <a:lnTo>
                  <a:pt x="2344031" y="3300520"/>
                </a:lnTo>
                <a:lnTo>
                  <a:pt x="2385828" y="3283246"/>
                </a:lnTo>
                <a:lnTo>
                  <a:pt x="2427249" y="3264820"/>
                </a:lnTo>
                <a:lnTo>
                  <a:pt x="2468270" y="3245242"/>
                </a:lnTo>
                <a:lnTo>
                  <a:pt x="2508867" y="3224513"/>
                </a:lnTo>
                <a:lnTo>
                  <a:pt x="2549015" y="3202632"/>
                </a:lnTo>
                <a:lnTo>
                  <a:pt x="2588690" y="3179599"/>
                </a:lnTo>
                <a:lnTo>
                  <a:pt x="2627867" y="3155415"/>
                </a:lnTo>
                <a:lnTo>
                  <a:pt x="2666524" y="3130080"/>
                </a:lnTo>
                <a:lnTo>
                  <a:pt x="2704634" y="3103592"/>
                </a:lnTo>
                <a:lnTo>
                  <a:pt x="2742175" y="3075953"/>
                </a:lnTo>
                <a:lnTo>
                  <a:pt x="2779121" y="3047163"/>
                </a:lnTo>
                <a:lnTo>
                  <a:pt x="2815449" y="3017221"/>
                </a:lnTo>
                <a:lnTo>
                  <a:pt x="2851134" y="2986127"/>
                </a:lnTo>
                <a:lnTo>
                  <a:pt x="2886152" y="2953881"/>
                </a:lnTo>
                <a:lnTo>
                  <a:pt x="2920479" y="2920484"/>
                </a:lnTo>
                <a:lnTo>
                  <a:pt x="2953876" y="2886157"/>
                </a:lnTo>
                <a:lnTo>
                  <a:pt x="2986122" y="2851140"/>
                </a:lnTo>
                <a:lnTo>
                  <a:pt x="3017215" y="2815455"/>
                </a:lnTo>
                <a:lnTo>
                  <a:pt x="3047158" y="2779127"/>
                </a:lnTo>
                <a:lnTo>
                  <a:pt x="3075949" y="2742181"/>
                </a:lnTo>
                <a:lnTo>
                  <a:pt x="3103588" y="2704640"/>
                </a:lnTo>
                <a:lnTo>
                  <a:pt x="3130075" y="2666530"/>
                </a:lnTo>
                <a:lnTo>
                  <a:pt x="3155411" y="2627874"/>
                </a:lnTo>
                <a:lnTo>
                  <a:pt x="3179595" y="2588696"/>
                </a:lnTo>
                <a:lnTo>
                  <a:pt x="3202628" y="2549021"/>
                </a:lnTo>
                <a:lnTo>
                  <a:pt x="3224509" y="2508873"/>
                </a:lnTo>
                <a:lnTo>
                  <a:pt x="3245238" y="2468276"/>
                </a:lnTo>
                <a:lnTo>
                  <a:pt x="3264816" y="2427255"/>
                </a:lnTo>
                <a:lnTo>
                  <a:pt x="3283242" y="2385834"/>
                </a:lnTo>
                <a:lnTo>
                  <a:pt x="3300516" y="2344037"/>
                </a:lnTo>
                <a:lnTo>
                  <a:pt x="3316639" y="2301888"/>
                </a:lnTo>
                <a:lnTo>
                  <a:pt x="3331610" y="2259411"/>
                </a:lnTo>
                <a:lnTo>
                  <a:pt x="3345430" y="2216632"/>
                </a:lnTo>
                <a:lnTo>
                  <a:pt x="3358098" y="2173573"/>
                </a:lnTo>
                <a:lnTo>
                  <a:pt x="3369614" y="2130260"/>
                </a:lnTo>
                <a:lnTo>
                  <a:pt x="3379979" y="2086716"/>
                </a:lnTo>
                <a:lnTo>
                  <a:pt x="3389192" y="2042967"/>
                </a:lnTo>
                <a:lnTo>
                  <a:pt x="3397253" y="1999035"/>
                </a:lnTo>
                <a:lnTo>
                  <a:pt x="3404163" y="1954946"/>
                </a:lnTo>
                <a:lnTo>
                  <a:pt x="3409921" y="1910723"/>
                </a:lnTo>
                <a:lnTo>
                  <a:pt x="3414527" y="1866391"/>
                </a:lnTo>
                <a:lnTo>
                  <a:pt x="3417982" y="1821974"/>
                </a:lnTo>
                <a:lnTo>
                  <a:pt x="3420286" y="1777497"/>
                </a:lnTo>
                <a:lnTo>
                  <a:pt x="3421437" y="1732983"/>
                </a:lnTo>
                <a:lnTo>
                  <a:pt x="3421437" y="1688457"/>
                </a:lnTo>
                <a:lnTo>
                  <a:pt x="3420286" y="1643943"/>
                </a:lnTo>
                <a:lnTo>
                  <a:pt x="3417982" y="1599466"/>
                </a:lnTo>
                <a:lnTo>
                  <a:pt x="3414527" y="1555049"/>
                </a:lnTo>
                <a:lnTo>
                  <a:pt x="3409921" y="1510717"/>
                </a:lnTo>
                <a:lnTo>
                  <a:pt x="3404163" y="1466494"/>
                </a:lnTo>
                <a:lnTo>
                  <a:pt x="3397253" y="1422405"/>
                </a:lnTo>
                <a:lnTo>
                  <a:pt x="3389192" y="1378473"/>
                </a:lnTo>
                <a:lnTo>
                  <a:pt x="3379979" y="1334723"/>
                </a:lnTo>
                <a:lnTo>
                  <a:pt x="3369614" y="1291180"/>
                </a:lnTo>
                <a:lnTo>
                  <a:pt x="3358098" y="1247867"/>
                </a:lnTo>
                <a:lnTo>
                  <a:pt x="3345430" y="1204808"/>
                </a:lnTo>
                <a:lnTo>
                  <a:pt x="3331610" y="1162028"/>
                </a:lnTo>
                <a:lnTo>
                  <a:pt x="3316639" y="1119552"/>
                </a:lnTo>
                <a:lnTo>
                  <a:pt x="3300516" y="1077403"/>
                </a:lnTo>
                <a:lnTo>
                  <a:pt x="3283242" y="1035606"/>
                </a:lnTo>
                <a:lnTo>
                  <a:pt x="3264816" y="994185"/>
                </a:lnTo>
                <a:lnTo>
                  <a:pt x="3245238" y="953164"/>
                </a:lnTo>
                <a:lnTo>
                  <a:pt x="3224509" y="912567"/>
                </a:lnTo>
                <a:lnTo>
                  <a:pt x="3202628" y="872419"/>
                </a:lnTo>
                <a:lnTo>
                  <a:pt x="3179595" y="832744"/>
                </a:lnTo>
                <a:lnTo>
                  <a:pt x="3155411" y="793566"/>
                </a:lnTo>
                <a:lnTo>
                  <a:pt x="3130075" y="754910"/>
                </a:lnTo>
                <a:lnTo>
                  <a:pt x="3103588" y="716800"/>
                </a:lnTo>
                <a:lnTo>
                  <a:pt x="3075949" y="679259"/>
                </a:lnTo>
                <a:lnTo>
                  <a:pt x="3047158" y="642313"/>
                </a:lnTo>
                <a:lnTo>
                  <a:pt x="3017215" y="605985"/>
                </a:lnTo>
                <a:lnTo>
                  <a:pt x="2986122" y="570300"/>
                </a:lnTo>
                <a:lnTo>
                  <a:pt x="2953876" y="535282"/>
                </a:lnTo>
                <a:lnTo>
                  <a:pt x="2920479" y="500956"/>
                </a:lnTo>
                <a:lnTo>
                  <a:pt x="2886152" y="467559"/>
                </a:lnTo>
                <a:lnTo>
                  <a:pt x="2851134" y="435313"/>
                </a:lnTo>
                <a:lnTo>
                  <a:pt x="2815449" y="404219"/>
                </a:lnTo>
                <a:lnTo>
                  <a:pt x="2779121" y="374277"/>
                </a:lnTo>
                <a:lnTo>
                  <a:pt x="2742175" y="345487"/>
                </a:lnTo>
                <a:lnTo>
                  <a:pt x="2704634" y="317848"/>
                </a:lnTo>
                <a:lnTo>
                  <a:pt x="2666524" y="291360"/>
                </a:lnTo>
                <a:lnTo>
                  <a:pt x="2627867" y="266025"/>
                </a:lnTo>
                <a:lnTo>
                  <a:pt x="2588690" y="241840"/>
                </a:lnTo>
                <a:lnTo>
                  <a:pt x="2549015" y="218808"/>
                </a:lnTo>
                <a:lnTo>
                  <a:pt x="2508867" y="196927"/>
                </a:lnTo>
                <a:lnTo>
                  <a:pt x="2468270" y="176198"/>
                </a:lnTo>
                <a:lnTo>
                  <a:pt x="2427249" y="156620"/>
                </a:lnTo>
                <a:lnTo>
                  <a:pt x="2385828" y="138194"/>
                </a:lnTo>
                <a:lnTo>
                  <a:pt x="2344031" y="120920"/>
                </a:lnTo>
                <a:lnTo>
                  <a:pt x="2301882" y="104797"/>
                </a:lnTo>
                <a:lnTo>
                  <a:pt x="2259405" y="89826"/>
                </a:lnTo>
                <a:lnTo>
                  <a:pt x="2216626" y="76007"/>
                </a:lnTo>
                <a:lnTo>
                  <a:pt x="2173567" y="63339"/>
                </a:lnTo>
                <a:lnTo>
                  <a:pt x="2130254" y="51823"/>
                </a:lnTo>
                <a:lnTo>
                  <a:pt x="2086711" y="41458"/>
                </a:lnTo>
                <a:lnTo>
                  <a:pt x="2042961" y="32245"/>
                </a:lnTo>
                <a:lnTo>
                  <a:pt x="1999029" y="24184"/>
                </a:lnTo>
                <a:lnTo>
                  <a:pt x="1954940" y="17274"/>
                </a:lnTo>
                <a:lnTo>
                  <a:pt x="1910717" y="11516"/>
                </a:lnTo>
                <a:lnTo>
                  <a:pt x="1866385" y="6909"/>
                </a:lnTo>
                <a:lnTo>
                  <a:pt x="1821969" y="3454"/>
                </a:lnTo>
                <a:lnTo>
                  <a:pt x="1777491" y="1151"/>
                </a:lnTo>
                <a:lnTo>
                  <a:pt x="1732977" y="0"/>
                </a:lnTo>
                <a:close/>
              </a:path>
            </a:pathLst>
          </a:custGeom>
          <a:solidFill>
            <a:srgbClr val="41B883"/>
          </a:solidFill>
          <a:ln>
            <a:solidFill>
              <a:srgbClr val="41B883"/>
            </a:solidFill>
          </a:ln>
        </p:spPr>
        <p:txBody>
          <a:bodyPr wrap="square" lIns="0" tIns="0" rIns="0" bIns="0" rtlCol="0"/>
          <a:lstStyle/>
          <a:p>
            <a:pPr defTabSz="554492"/>
            <a:endParaRPr sz="1092" kern="0" dirty="0">
              <a:solidFill>
                <a:sysClr val="windowText" lastClr="000000"/>
              </a:solidFill>
            </a:endParaRPr>
          </a:p>
        </p:txBody>
      </p:sp>
      <p:sp>
        <p:nvSpPr>
          <p:cNvPr id="12" name="object 6">
            <a:extLst>
              <a:ext uri="{FF2B5EF4-FFF2-40B4-BE49-F238E27FC236}">
                <a16:creationId xmlns:a16="http://schemas.microsoft.com/office/drawing/2014/main" id="{629AA5E9-85BC-5998-4C37-9604CC697472}"/>
              </a:ext>
            </a:extLst>
          </p:cNvPr>
          <p:cNvSpPr txBox="1"/>
          <p:nvPr/>
        </p:nvSpPr>
        <p:spPr>
          <a:xfrm rot="1701732">
            <a:off x="1819307" y="5161069"/>
            <a:ext cx="1741800" cy="315292"/>
          </a:xfrm>
          <a:prstGeom prst="rect">
            <a:avLst/>
          </a:prstGeom>
        </p:spPr>
        <p:txBody>
          <a:bodyPr vert="horz" wrap="square" lIns="0" tIns="7316" rIns="0" bIns="0" rtlCol="0">
            <a:spAutoFit/>
          </a:bodyPr>
          <a:lstStyle/>
          <a:p>
            <a:pPr marL="7701" defTabSz="554492">
              <a:spcBef>
                <a:spcPts val="58"/>
              </a:spcBef>
            </a:pPr>
            <a:r>
              <a:rPr lang="en-US" sz="2001" b="1" kern="0" spc="-130" dirty="0">
                <a:solidFill>
                  <a:srgbClr val="FFFFFF"/>
                </a:solidFill>
                <a:latin typeface="Arial"/>
                <a:cs typeface="Arial"/>
              </a:rPr>
              <a:t>Components </a:t>
            </a:r>
            <a:endParaRPr sz="2001" kern="0" dirty="0">
              <a:solidFill>
                <a:sysClr val="windowText" lastClr="000000"/>
              </a:solidFill>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8" name="Rectangle 7">
            <a:extLst>
              <a:ext uri="{FF2B5EF4-FFF2-40B4-BE49-F238E27FC236}">
                <a16:creationId xmlns:a16="http://schemas.microsoft.com/office/drawing/2014/main" id="{D4E5CFD2-274B-DD74-E01F-429A0D5B6BC0}"/>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0">
            <a:extLst>
              <a:ext uri="{FF2B5EF4-FFF2-40B4-BE49-F238E27FC236}">
                <a16:creationId xmlns:a16="http://schemas.microsoft.com/office/drawing/2014/main" id="{3E537E32-3BD0-72A3-5B65-8B025AF6E48C}"/>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FRONTEND FRAMEWORKS AND LIBRARIES</a:t>
            </a:r>
          </a:p>
        </p:txBody>
      </p:sp>
      <p:pic>
        <p:nvPicPr>
          <p:cNvPr id="1026" name="Picture 2" descr="Do we still need JavaScript frameworks?">
            <a:extLst>
              <a:ext uri="{FF2B5EF4-FFF2-40B4-BE49-F238E27FC236}">
                <a16:creationId xmlns:a16="http://schemas.microsoft.com/office/drawing/2014/main" id="{C91BD68F-9578-369C-6104-68ECA7C863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371" y="1548010"/>
            <a:ext cx="9849258" cy="4813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8" name="Rectangle 7">
            <a:extLst>
              <a:ext uri="{FF2B5EF4-FFF2-40B4-BE49-F238E27FC236}">
                <a16:creationId xmlns:a16="http://schemas.microsoft.com/office/drawing/2014/main" id="{D4E5CFD2-274B-DD74-E01F-429A0D5B6BC0}"/>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0">
            <a:extLst>
              <a:ext uri="{FF2B5EF4-FFF2-40B4-BE49-F238E27FC236}">
                <a16:creationId xmlns:a16="http://schemas.microsoft.com/office/drawing/2014/main" id="{3E537E32-3BD0-72A3-5B65-8B025AF6E48C}"/>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HISTORY OF VUEJS</a:t>
            </a:r>
          </a:p>
        </p:txBody>
      </p:sp>
      <p:pic>
        <p:nvPicPr>
          <p:cNvPr id="2050" name="Picture 2" descr="Between the Wires: An interview with Vue.js creator Evan You">
            <a:extLst>
              <a:ext uri="{FF2B5EF4-FFF2-40B4-BE49-F238E27FC236}">
                <a16:creationId xmlns:a16="http://schemas.microsoft.com/office/drawing/2014/main" id="{AB93BDC0-F239-12B7-068D-C289AEEC4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9075" y="1292847"/>
            <a:ext cx="4440995" cy="47625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4">
            <a:extLst>
              <a:ext uri="{FF2B5EF4-FFF2-40B4-BE49-F238E27FC236}">
                <a16:creationId xmlns:a16="http://schemas.microsoft.com/office/drawing/2014/main" id="{CEB10203-145C-236F-400A-0FBD113C825E}"/>
              </a:ext>
            </a:extLst>
          </p:cNvPr>
          <p:cNvSpPr/>
          <p:nvPr/>
        </p:nvSpPr>
        <p:spPr>
          <a:xfrm>
            <a:off x="606898" y="2264249"/>
            <a:ext cx="6189828" cy="3090176"/>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5" name="object 5">
            <a:extLst>
              <a:ext uri="{FF2B5EF4-FFF2-40B4-BE49-F238E27FC236}">
                <a16:creationId xmlns:a16="http://schemas.microsoft.com/office/drawing/2014/main" id="{B82EACB4-8F98-CFD7-F2F5-C2C10F7CF1AD}"/>
              </a:ext>
            </a:extLst>
          </p:cNvPr>
          <p:cNvSpPr txBox="1"/>
          <p:nvPr/>
        </p:nvSpPr>
        <p:spPr>
          <a:xfrm>
            <a:off x="1145894" y="2519744"/>
            <a:ext cx="5340802" cy="2579186"/>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sz="2000" kern="0" dirty="0" err="1">
                <a:solidFill>
                  <a:srgbClr val="33475B"/>
                </a:solidFill>
                <a:latin typeface="Arial"/>
                <a:cs typeface="Arial"/>
              </a:rPr>
              <a:t>Vue.Js</a:t>
            </a:r>
            <a:r>
              <a:rPr lang="en-US" sz="2000" kern="0" dirty="0">
                <a:solidFill>
                  <a:srgbClr val="33475B"/>
                </a:solidFill>
                <a:latin typeface="Arial"/>
                <a:cs typeface="Arial"/>
              </a:rPr>
              <a:t> was created by Evan You. He worked at Google with Angular projects. He extracts the part that we really liked in Angular and builds something really lightweight. The first source code was released in July 2013 and </a:t>
            </a:r>
            <a:r>
              <a:rPr lang="en-US" sz="2000" kern="0" dirty="0" err="1">
                <a:solidFill>
                  <a:srgbClr val="33475B"/>
                </a:solidFill>
                <a:latin typeface="Arial"/>
                <a:cs typeface="Arial"/>
              </a:rPr>
              <a:t>Vue.Js</a:t>
            </a:r>
            <a:r>
              <a:rPr lang="en-US" sz="2000" kern="0" dirty="0">
                <a:solidFill>
                  <a:srgbClr val="33475B"/>
                </a:solidFill>
                <a:latin typeface="Arial"/>
                <a:cs typeface="Arial"/>
              </a:rPr>
              <a:t> was released in February 2014.</a:t>
            </a:r>
            <a:endParaRPr sz="2000" kern="0" dirty="0">
              <a:solidFill>
                <a:srgbClr val="33475B"/>
              </a:solidFill>
              <a:latin typeface="Arial"/>
              <a:cs typeface="Arial"/>
            </a:endParaRPr>
          </a:p>
        </p:txBody>
      </p:sp>
    </p:spTree>
    <p:extLst>
      <p:ext uri="{BB962C8B-B14F-4D97-AF65-F5344CB8AC3E}">
        <p14:creationId xmlns:p14="http://schemas.microsoft.com/office/powerpoint/2010/main" val="3916299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8" name="Rectangle 7">
            <a:extLst>
              <a:ext uri="{FF2B5EF4-FFF2-40B4-BE49-F238E27FC236}">
                <a16:creationId xmlns:a16="http://schemas.microsoft.com/office/drawing/2014/main" id="{D4E5CFD2-274B-DD74-E01F-429A0D5B6BC0}"/>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0">
            <a:extLst>
              <a:ext uri="{FF2B5EF4-FFF2-40B4-BE49-F238E27FC236}">
                <a16:creationId xmlns:a16="http://schemas.microsoft.com/office/drawing/2014/main" id="{3E537E32-3BD0-72A3-5B65-8B025AF6E48C}"/>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WHY VUEJS ?</a:t>
            </a:r>
          </a:p>
        </p:txBody>
      </p:sp>
      <p:sp>
        <p:nvSpPr>
          <p:cNvPr id="7" name="object 16">
            <a:extLst>
              <a:ext uri="{FF2B5EF4-FFF2-40B4-BE49-F238E27FC236}">
                <a16:creationId xmlns:a16="http://schemas.microsoft.com/office/drawing/2014/main" id="{65DEF83A-43D8-F385-F3D3-E842F4D1D30A}"/>
              </a:ext>
            </a:extLst>
          </p:cNvPr>
          <p:cNvSpPr/>
          <p:nvPr/>
        </p:nvSpPr>
        <p:spPr>
          <a:xfrm>
            <a:off x="649454" y="1642364"/>
            <a:ext cx="10893092" cy="1666174"/>
          </a:xfrm>
          <a:custGeom>
            <a:avLst/>
            <a:gdLst/>
            <a:ahLst/>
            <a:cxnLst/>
            <a:rect l="l" t="t" r="r" b="b"/>
            <a:pathLst>
              <a:path w="17963515" h="2747645">
                <a:moveTo>
                  <a:pt x="0" y="0"/>
                </a:moveTo>
                <a:lnTo>
                  <a:pt x="17963002" y="0"/>
                </a:lnTo>
                <a:lnTo>
                  <a:pt x="17963002" y="2747457"/>
                </a:lnTo>
                <a:lnTo>
                  <a:pt x="0" y="2747457"/>
                </a:lnTo>
                <a:lnTo>
                  <a:pt x="0" y="0"/>
                </a:lnTo>
                <a:close/>
              </a:path>
            </a:pathLst>
          </a:custGeom>
          <a:ln w="73296">
            <a:solidFill>
              <a:srgbClr val="3FB27F"/>
            </a:solidFill>
          </a:ln>
        </p:spPr>
        <p:txBody>
          <a:bodyPr wrap="square" lIns="0" tIns="0" rIns="0" bIns="0" rtlCol="0"/>
          <a:lstStyle/>
          <a:p>
            <a:pPr defTabSz="554492"/>
            <a:endParaRPr sz="1092" kern="0">
              <a:solidFill>
                <a:sysClr val="windowText" lastClr="000000"/>
              </a:solidFill>
            </a:endParaRPr>
          </a:p>
        </p:txBody>
      </p:sp>
      <p:sp>
        <p:nvSpPr>
          <p:cNvPr id="11" name="object 5">
            <a:extLst>
              <a:ext uri="{FF2B5EF4-FFF2-40B4-BE49-F238E27FC236}">
                <a16:creationId xmlns:a16="http://schemas.microsoft.com/office/drawing/2014/main" id="{C0D75F83-5DC4-9DBF-4BE8-312866C56026}"/>
              </a:ext>
            </a:extLst>
          </p:cNvPr>
          <p:cNvSpPr txBox="1"/>
          <p:nvPr/>
        </p:nvSpPr>
        <p:spPr>
          <a:xfrm>
            <a:off x="1249578" y="1820397"/>
            <a:ext cx="4846422" cy="1167646"/>
          </a:xfrm>
          <a:prstGeom prst="rect">
            <a:avLst/>
          </a:prstGeom>
        </p:spPr>
        <p:txBody>
          <a:bodyPr vert="horz" wrap="square" lIns="0" tIns="7701" rIns="0" bIns="0" rtlCol="0">
            <a:spAutoFit/>
          </a:bodyPr>
          <a:lstStyle/>
          <a:p>
            <a:pPr marL="293451" marR="3081" indent="-285750" defTabSz="554492">
              <a:lnSpc>
                <a:spcPct val="142400"/>
              </a:lnSpc>
              <a:spcBef>
                <a:spcPts val="61"/>
              </a:spcBef>
              <a:buFont typeface="Wingdings" panose="05000000000000000000" pitchFamily="2" charset="2"/>
              <a:buChar char="§"/>
            </a:pPr>
            <a:r>
              <a:rPr lang="en-US" kern="0" dirty="0">
                <a:solidFill>
                  <a:srgbClr val="33475B"/>
                </a:solidFill>
                <a:latin typeface="Arial"/>
                <a:cs typeface="Arial"/>
              </a:rPr>
              <a:t>Vue is approachable </a:t>
            </a:r>
          </a:p>
          <a:p>
            <a:pPr marL="293451" marR="3081" indent="-285750" defTabSz="554492">
              <a:lnSpc>
                <a:spcPct val="142400"/>
              </a:lnSpc>
              <a:spcBef>
                <a:spcPts val="61"/>
              </a:spcBef>
              <a:buFont typeface="Wingdings" panose="05000000000000000000" pitchFamily="2" charset="2"/>
              <a:buChar char="§"/>
            </a:pPr>
            <a:r>
              <a:rPr lang="en-US" kern="0" dirty="0">
                <a:solidFill>
                  <a:srgbClr val="33475B"/>
                </a:solidFill>
                <a:latin typeface="Arial"/>
                <a:cs typeface="Arial"/>
              </a:rPr>
              <a:t>Vue is versatile</a:t>
            </a:r>
          </a:p>
          <a:p>
            <a:pPr marL="293451" marR="3081" indent="-285750" defTabSz="554492">
              <a:lnSpc>
                <a:spcPct val="142400"/>
              </a:lnSpc>
              <a:spcBef>
                <a:spcPts val="61"/>
              </a:spcBef>
              <a:buFont typeface="Wingdings" panose="05000000000000000000" pitchFamily="2" charset="2"/>
              <a:buChar char="§"/>
            </a:pPr>
            <a:r>
              <a:rPr lang="en-US" kern="0" dirty="0">
                <a:solidFill>
                  <a:srgbClr val="33475B"/>
                </a:solidFill>
                <a:latin typeface="Arial"/>
                <a:cs typeface="Arial"/>
              </a:rPr>
              <a:t>Vue is performance</a:t>
            </a:r>
            <a:endParaRPr kern="0" dirty="0">
              <a:solidFill>
                <a:srgbClr val="33475B"/>
              </a:solidFill>
              <a:latin typeface="Arial"/>
              <a:cs typeface="Arial"/>
            </a:endParaRPr>
          </a:p>
        </p:txBody>
      </p:sp>
      <p:pic>
        <p:nvPicPr>
          <p:cNvPr id="12" name="object 4">
            <a:extLst>
              <a:ext uri="{FF2B5EF4-FFF2-40B4-BE49-F238E27FC236}">
                <a16:creationId xmlns:a16="http://schemas.microsoft.com/office/drawing/2014/main" id="{A55AC873-BFCF-B546-667C-E165F810CF6A}"/>
              </a:ext>
            </a:extLst>
          </p:cNvPr>
          <p:cNvPicPr/>
          <p:nvPr/>
        </p:nvPicPr>
        <p:blipFill>
          <a:blip r:embed="rId2" cstate="print"/>
          <a:stretch>
            <a:fillRect/>
          </a:stretch>
        </p:blipFill>
        <p:spPr>
          <a:xfrm>
            <a:off x="3865579" y="1887485"/>
            <a:ext cx="215885" cy="215885"/>
          </a:xfrm>
          <a:prstGeom prst="rect">
            <a:avLst/>
          </a:prstGeom>
        </p:spPr>
      </p:pic>
      <p:pic>
        <p:nvPicPr>
          <p:cNvPr id="13" name="object 4">
            <a:extLst>
              <a:ext uri="{FF2B5EF4-FFF2-40B4-BE49-F238E27FC236}">
                <a16:creationId xmlns:a16="http://schemas.microsoft.com/office/drawing/2014/main" id="{67315B29-3474-07ED-B74D-2A9AEE81B046}"/>
              </a:ext>
            </a:extLst>
          </p:cNvPr>
          <p:cNvPicPr/>
          <p:nvPr/>
        </p:nvPicPr>
        <p:blipFill>
          <a:blip r:embed="rId2" cstate="print"/>
          <a:stretch>
            <a:fillRect/>
          </a:stretch>
        </p:blipFill>
        <p:spPr>
          <a:xfrm>
            <a:off x="3676133" y="2298773"/>
            <a:ext cx="215885" cy="215885"/>
          </a:xfrm>
          <a:prstGeom prst="rect">
            <a:avLst/>
          </a:prstGeom>
        </p:spPr>
      </p:pic>
      <p:pic>
        <p:nvPicPr>
          <p:cNvPr id="14" name="object 4">
            <a:extLst>
              <a:ext uri="{FF2B5EF4-FFF2-40B4-BE49-F238E27FC236}">
                <a16:creationId xmlns:a16="http://schemas.microsoft.com/office/drawing/2014/main" id="{66F79BE6-9E85-2A32-835F-FCF7F668333F}"/>
              </a:ext>
            </a:extLst>
          </p:cNvPr>
          <p:cNvPicPr/>
          <p:nvPr/>
        </p:nvPicPr>
        <p:blipFill>
          <a:blip r:embed="rId2" cstate="print"/>
          <a:stretch>
            <a:fillRect/>
          </a:stretch>
        </p:blipFill>
        <p:spPr>
          <a:xfrm>
            <a:off x="3900041" y="2685156"/>
            <a:ext cx="215885" cy="215885"/>
          </a:xfrm>
          <a:prstGeom prst="rect">
            <a:avLst/>
          </a:prstGeom>
        </p:spPr>
      </p:pic>
      <p:sp>
        <p:nvSpPr>
          <p:cNvPr id="15" name="object 5">
            <a:extLst>
              <a:ext uri="{FF2B5EF4-FFF2-40B4-BE49-F238E27FC236}">
                <a16:creationId xmlns:a16="http://schemas.microsoft.com/office/drawing/2014/main" id="{0263C6B1-2AC7-7D0F-3807-CF8DB05D6F05}"/>
              </a:ext>
            </a:extLst>
          </p:cNvPr>
          <p:cNvSpPr txBox="1"/>
          <p:nvPr/>
        </p:nvSpPr>
        <p:spPr>
          <a:xfrm>
            <a:off x="4343178" y="1812079"/>
            <a:ext cx="6756556" cy="1167646"/>
          </a:xfrm>
          <a:prstGeom prst="rect">
            <a:avLst/>
          </a:prstGeom>
        </p:spPr>
        <p:txBody>
          <a:bodyPr vert="horz" wrap="square" lIns="0" tIns="7701" rIns="0" bIns="0" rtlCol="0">
            <a:spAutoFit/>
          </a:bodyPr>
          <a:lstStyle/>
          <a:p>
            <a:pPr marL="7701" marR="3081" defTabSz="554492">
              <a:lnSpc>
                <a:spcPct val="142400"/>
              </a:lnSpc>
              <a:spcBef>
                <a:spcPts val="61"/>
              </a:spcBef>
            </a:pPr>
            <a:r>
              <a:rPr lang="en-US" kern="0" dirty="0">
                <a:solidFill>
                  <a:sysClr val="windowText" lastClr="000000"/>
                </a:solidFill>
                <a:latin typeface="Arial"/>
                <a:cs typeface="Arial"/>
              </a:rPr>
              <a:t>Familiar with html , </a:t>
            </a:r>
            <a:r>
              <a:rPr lang="en-US" kern="0" dirty="0" err="1">
                <a:solidFill>
                  <a:sysClr val="windowText" lastClr="000000"/>
                </a:solidFill>
                <a:latin typeface="Arial"/>
                <a:cs typeface="Arial"/>
              </a:rPr>
              <a:t>css</a:t>
            </a:r>
            <a:r>
              <a:rPr lang="en-US" kern="0" dirty="0">
                <a:solidFill>
                  <a:sysClr val="windowText" lastClr="000000"/>
                </a:solidFill>
                <a:latin typeface="Arial"/>
                <a:cs typeface="Arial"/>
              </a:rPr>
              <a:t> and </a:t>
            </a:r>
            <a:r>
              <a:rPr lang="en-US" kern="0" dirty="0" err="1">
                <a:solidFill>
                  <a:sysClr val="windowText" lastClr="000000"/>
                </a:solidFill>
                <a:latin typeface="Arial"/>
                <a:cs typeface="Arial"/>
              </a:rPr>
              <a:t>javascript</a:t>
            </a:r>
            <a:endParaRPr lang="en-US" kern="0" dirty="0">
              <a:solidFill>
                <a:sysClr val="windowText" lastClr="000000"/>
              </a:solidFill>
              <a:latin typeface="Arial"/>
              <a:cs typeface="Arial"/>
            </a:endParaRPr>
          </a:p>
          <a:p>
            <a:pPr marL="7701" marR="3081" defTabSz="554492">
              <a:lnSpc>
                <a:spcPct val="142400"/>
              </a:lnSpc>
              <a:spcBef>
                <a:spcPts val="61"/>
              </a:spcBef>
            </a:pPr>
            <a:r>
              <a:rPr lang="en-US" kern="0" dirty="0">
                <a:solidFill>
                  <a:sysClr val="windowText" lastClr="000000"/>
                </a:solidFill>
                <a:latin typeface="Arial"/>
                <a:cs typeface="Arial"/>
              </a:rPr>
              <a:t>Create powerful single page applications</a:t>
            </a:r>
          </a:p>
          <a:p>
            <a:pPr marL="7701" marR="3081" defTabSz="554492">
              <a:lnSpc>
                <a:spcPct val="142400"/>
              </a:lnSpc>
              <a:spcBef>
                <a:spcPts val="61"/>
              </a:spcBef>
            </a:pPr>
            <a:r>
              <a:rPr lang="en-US" kern="0" dirty="0">
                <a:solidFill>
                  <a:sysClr val="windowText" lastClr="000000"/>
                </a:solidFill>
                <a:latin typeface="Arial"/>
                <a:cs typeface="Arial"/>
              </a:rPr>
              <a:t>Measures just 20KB minified and </a:t>
            </a:r>
            <a:r>
              <a:rPr lang="en-US" kern="0" dirty="0" err="1">
                <a:solidFill>
                  <a:sysClr val="windowText" lastClr="000000"/>
                </a:solidFill>
                <a:latin typeface="Arial"/>
                <a:cs typeface="Arial"/>
              </a:rPr>
              <a:t>gzipped</a:t>
            </a:r>
            <a:r>
              <a:rPr lang="en-US" kern="0" dirty="0">
                <a:solidFill>
                  <a:sysClr val="windowText" lastClr="000000"/>
                </a:solidFill>
                <a:latin typeface="Arial"/>
                <a:cs typeface="Arial"/>
              </a:rPr>
              <a:t> at runtime</a:t>
            </a:r>
            <a:endParaRPr kern="0" dirty="0">
              <a:solidFill>
                <a:sysClr val="windowText" lastClr="000000"/>
              </a:solidFill>
              <a:latin typeface="Arial"/>
              <a:cs typeface="Arial"/>
            </a:endParaRPr>
          </a:p>
        </p:txBody>
      </p:sp>
    </p:spTree>
    <p:extLst>
      <p:ext uri="{BB962C8B-B14F-4D97-AF65-F5344CB8AC3E}">
        <p14:creationId xmlns:p14="http://schemas.microsoft.com/office/powerpoint/2010/main" val="177745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8" name="Rectangle 7">
            <a:extLst>
              <a:ext uri="{FF2B5EF4-FFF2-40B4-BE49-F238E27FC236}">
                <a16:creationId xmlns:a16="http://schemas.microsoft.com/office/drawing/2014/main" id="{D4E5CFD2-274B-DD74-E01F-429A0D5B6BC0}"/>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0">
            <a:extLst>
              <a:ext uri="{FF2B5EF4-FFF2-40B4-BE49-F238E27FC236}">
                <a16:creationId xmlns:a16="http://schemas.microsoft.com/office/drawing/2014/main" id="{3E537E32-3BD0-72A3-5B65-8B025AF6E48C}"/>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VUEJS AND VIRTUAL DOM</a:t>
            </a:r>
          </a:p>
        </p:txBody>
      </p:sp>
      <p:pic>
        <p:nvPicPr>
          <p:cNvPr id="3074" name="Picture 2" descr="Need for Virtual Dom. We are hearing the term Virtual Dom… | by jayesh  shinde | Medium">
            <a:extLst>
              <a:ext uri="{FF2B5EF4-FFF2-40B4-BE49-F238E27FC236}">
                <a16:creationId xmlns:a16="http://schemas.microsoft.com/office/drawing/2014/main" id="{D710D896-B501-DE2E-D30D-699E70BCEC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74908"/>
            <a:ext cx="12192000" cy="6309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215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8" name="Rectangle 7">
            <a:extLst>
              <a:ext uri="{FF2B5EF4-FFF2-40B4-BE49-F238E27FC236}">
                <a16:creationId xmlns:a16="http://schemas.microsoft.com/office/drawing/2014/main" id="{D4E5CFD2-274B-DD74-E01F-429A0D5B6BC0}"/>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0">
            <a:extLst>
              <a:ext uri="{FF2B5EF4-FFF2-40B4-BE49-F238E27FC236}">
                <a16:creationId xmlns:a16="http://schemas.microsoft.com/office/drawing/2014/main" id="{3E537E32-3BD0-72A3-5B65-8B025AF6E48C}"/>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RENDERING MECHANISM</a:t>
            </a:r>
          </a:p>
        </p:txBody>
      </p:sp>
      <p:pic>
        <p:nvPicPr>
          <p:cNvPr id="1026" name="Picture 2" descr="render pipeline">
            <a:extLst>
              <a:ext uri="{FF2B5EF4-FFF2-40B4-BE49-F238E27FC236}">
                <a16:creationId xmlns:a16="http://schemas.microsoft.com/office/drawing/2014/main" id="{3E9DFA8D-9EC9-F221-6E88-63FAFBB325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839"/>
            <a:ext cx="12192000" cy="6000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980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8" name="Rectangle 7">
            <a:extLst>
              <a:ext uri="{FF2B5EF4-FFF2-40B4-BE49-F238E27FC236}">
                <a16:creationId xmlns:a16="http://schemas.microsoft.com/office/drawing/2014/main" id="{D4E5CFD2-274B-DD74-E01F-429A0D5B6BC0}"/>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10">
            <a:extLst>
              <a:ext uri="{FF2B5EF4-FFF2-40B4-BE49-F238E27FC236}">
                <a16:creationId xmlns:a16="http://schemas.microsoft.com/office/drawing/2014/main" id="{3E537E32-3BD0-72A3-5B65-8B025AF6E48C}"/>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INSTALLATION</a:t>
            </a:r>
          </a:p>
        </p:txBody>
      </p:sp>
      <p:sp>
        <p:nvSpPr>
          <p:cNvPr id="6" name="object 16">
            <a:extLst>
              <a:ext uri="{FF2B5EF4-FFF2-40B4-BE49-F238E27FC236}">
                <a16:creationId xmlns:a16="http://schemas.microsoft.com/office/drawing/2014/main" id="{8FDB737B-984D-5743-CF59-96BB026655A6}"/>
              </a:ext>
            </a:extLst>
          </p:cNvPr>
          <p:cNvSpPr txBox="1"/>
          <p:nvPr/>
        </p:nvSpPr>
        <p:spPr>
          <a:xfrm>
            <a:off x="1954081" y="1649207"/>
            <a:ext cx="764035" cy="287497"/>
          </a:xfrm>
          <a:prstGeom prst="rect">
            <a:avLst/>
          </a:prstGeom>
        </p:spPr>
        <p:txBody>
          <a:bodyPr vert="horz" wrap="square" lIns="0" tIns="10397" rIns="0" bIns="0" rtlCol="0">
            <a:spAutoFit/>
          </a:bodyPr>
          <a:lstStyle/>
          <a:p>
            <a:pPr marL="7701" defTabSz="554492">
              <a:spcBef>
                <a:spcPts val="82"/>
              </a:spcBef>
            </a:pPr>
            <a:r>
              <a:rPr lang="en-US" b="1" kern="0" spc="18" dirty="0">
                <a:solidFill>
                  <a:srgbClr val="3FB27F"/>
                </a:solidFill>
                <a:latin typeface="Arial"/>
                <a:cs typeface="Arial"/>
              </a:rPr>
              <a:t>CDN</a:t>
            </a:r>
            <a:endParaRPr kern="0" dirty="0">
              <a:solidFill>
                <a:srgbClr val="3FB27F"/>
              </a:solidFill>
              <a:latin typeface="Arial"/>
              <a:cs typeface="Arial"/>
            </a:endParaRPr>
          </a:p>
        </p:txBody>
      </p:sp>
      <p:sp>
        <p:nvSpPr>
          <p:cNvPr id="9" name="object 18">
            <a:extLst>
              <a:ext uri="{FF2B5EF4-FFF2-40B4-BE49-F238E27FC236}">
                <a16:creationId xmlns:a16="http://schemas.microsoft.com/office/drawing/2014/main" id="{818C7D6C-7502-017B-0086-773E9C52A5F5}"/>
              </a:ext>
            </a:extLst>
          </p:cNvPr>
          <p:cNvSpPr txBox="1"/>
          <p:nvPr/>
        </p:nvSpPr>
        <p:spPr>
          <a:xfrm>
            <a:off x="3791152" y="2294800"/>
            <a:ext cx="7350883" cy="368192"/>
          </a:xfrm>
          <a:prstGeom prst="rect">
            <a:avLst/>
          </a:prstGeom>
        </p:spPr>
        <p:txBody>
          <a:bodyPr vert="horz" wrap="square" lIns="0" tIns="7316" rIns="0" bIns="0" rtlCol="0">
            <a:spAutoFit/>
          </a:bodyPr>
          <a:lstStyle/>
          <a:p>
            <a:pPr marL="7701" marR="3081" defTabSz="554492">
              <a:lnSpc>
                <a:spcPct val="131200"/>
              </a:lnSpc>
              <a:spcBef>
                <a:spcPts val="58"/>
              </a:spcBef>
            </a:pPr>
            <a:r>
              <a:rPr lang="en-US" sz="2000" kern="0" dirty="0" err="1">
                <a:solidFill>
                  <a:srgbClr val="33475B"/>
                </a:solidFill>
                <a:latin typeface="Arial"/>
                <a:cs typeface="Arial"/>
              </a:rPr>
              <a:t>npm</a:t>
            </a:r>
            <a:r>
              <a:rPr lang="en-US" sz="2000" kern="0" dirty="0">
                <a:solidFill>
                  <a:srgbClr val="33475B"/>
                </a:solidFill>
                <a:latin typeface="Arial"/>
                <a:cs typeface="Arial"/>
              </a:rPr>
              <a:t> install </a:t>
            </a:r>
            <a:r>
              <a:rPr lang="en-US" sz="2000" kern="0" dirty="0" err="1">
                <a:solidFill>
                  <a:srgbClr val="33475B"/>
                </a:solidFill>
                <a:latin typeface="Arial"/>
                <a:cs typeface="Arial"/>
              </a:rPr>
              <a:t>vue@next</a:t>
            </a:r>
            <a:endParaRPr lang="en-US" sz="2000" kern="0" dirty="0">
              <a:solidFill>
                <a:srgbClr val="33475B"/>
              </a:solidFill>
              <a:latin typeface="Arial"/>
              <a:cs typeface="Arial"/>
            </a:endParaRPr>
          </a:p>
        </p:txBody>
      </p:sp>
      <p:pic>
        <p:nvPicPr>
          <p:cNvPr id="12" name="object 31">
            <a:extLst>
              <a:ext uri="{FF2B5EF4-FFF2-40B4-BE49-F238E27FC236}">
                <a16:creationId xmlns:a16="http://schemas.microsoft.com/office/drawing/2014/main" id="{A2D75C4A-B5D1-E3CD-40A0-BA6AEA313FF0}"/>
              </a:ext>
            </a:extLst>
          </p:cNvPr>
          <p:cNvPicPr/>
          <p:nvPr/>
        </p:nvPicPr>
        <p:blipFill>
          <a:blip r:embed="rId2" cstate="print"/>
          <a:stretch>
            <a:fillRect/>
          </a:stretch>
        </p:blipFill>
        <p:spPr>
          <a:xfrm>
            <a:off x="3441728" y="1696780"/>
            <a:ext cx="171437" cy="171437"/>
          </a:xfrm>
          <a:prstGeom prst="rect">
            <a:avLst/>
          </a:prstGeom>
        </p:spPr>
      </p:pic>
      <p:pic>
        <p:nvPicPr>
          <p:cNvPr id="14" name="object 33">
            <a:extLst>
              <a:ext uri="{FF2B5EF4-FFF2-40B4-BE49-F238E27FC236}">
                <a16:creationId xmlns:a16="http://schemas.microsoft.com/office/drawing/2014/main" id="{CB0685CC-F88C-6903-B545-62FC76F9A9E4}"/>
              </a:ext>
            </a:extLst>
          </p:cNvPr>
          <p:cNvPicPr/>
          <p:nvPr/>
        </p:nvPicPr>
        <p:blipFill>
          <a:blip r:embed="rId2" cstate="print"/>
          <a:stretch>
            <a:fillRect/>
          </a:stretch>
        </p:blipFill>
        <p:spPr>
          <a:xfrm>
            <a:off x="3441728" y="2478896"/>
            <a:ext cx="171437" cy="171437"/>
          </a:xfrm>
          <a:prstGeom prst="rect">
            <a:avLst/>
          </a:prstGeom>
        </p:spPr>
      </p:pic>
      <p:pic>
        <p:nvPicPr>
          <p:cNvPr id="16" name="object 35">
            <a:extLst>
              <a:ext uri="{FF2B5EF4-FFF2-40B4-BE49-F238E27FC236}">
                <a16:creationId xmlns:a16="http://schemas.microsoft.com/office/drawing/2014/main" id="{38C06D33-3073-078C-3B0B-59CC9DA13E6B}"/>
              </a:ext>
            </a:extLst>
          </p:cNvPr>
          <p:cNvPicPr/>
          <p:nvPr/>
        </p:nvPicPr>
        <p:blipFill>
          <a:blip r:embed="rId2" cstate="print"/>
          <a:stretch>
            <a:fillRect/>
          </a:stretch>
        </p:blipFill>
        <p:spPr>
          <a:xfrm>
            <a:off x="3441728" y="3324614"/>
            <a:ext cx="171437" cy="171437"/>
          </a:xfrm>
          <a:prstGeom prst="rect">
            <a:avLst/>
          </a:prstGeom>
        </p:spPr>
      </p:pic>
      <p:sp>
        <p:nvSpPr>
          <p:cNvPr id="22" name="object 41">
            <a:extLst>
              <a:ext uri="{FF2B5EF4-FFF2-40B4-BE49-F238E27FC236}">
                <a16:creationId xmlns:a16="http://schemas.microsoft.com/office/drawing/2014/main" id="{E00A019B-8FFF-CEE5-84E4-33C1F91F2CDE}"/>
              </a:ext>
            </a:extLst>
          </p:cNvPr>
          <p:cNvSpPr txBox="1"/>
          <p:nvPr/>
        </p:nvSpPr>
        <p:spPr>
          <a:xfrm>
            <a:off x="1963188" y="2466238"/>
            <a:ext cx="764035" cy="287497"/>
          </a:xfrm>
          <a:prstGeom prst="rect">
            <a:avLst/>
          </a:prstGeom>
        </p:spPr>
        <p:txBody>
          <a:bodyPr vert="horz" wrap="square" lIns="0" tIns="10397" rIns="0" bIns="0" rtlCol="0">
            <a:spAutoFit/>
          </a:bodyPr>
          <a:lstStyle/>
          <a:p>
            <a:pPr marL="7701" defTabSz="554492">
              <a:spcBef>
                <a:spcPts val="82"/>
              </a:spcBef>
            </a:pPr>
            <a:r>
              <a:rPr lang="en-US" b="1" kern="0" spc="18" dirty="0">
                <a:solidFill>
                  <a:srgbClr val="3FB27F"/>
                </a:solidFill>
                <a:latin typeface="Arial"/>
                <a:cs typeface="Arial"/>
              </a:rPr>
              <a:t>NPM</a:t>
            </a:r>
            <a:endParaRPr kern="0" dirty="0">
              <a:solidFill>
                <a:srgbClr val="3FB27F"/>
              </a:solidFill>
              <a:latin typeface="Arial"/>
              <a:cs typeface="Arial"/>
            </a:endParaRPr>
          </a:p>
        </p:txBody>
      </p:sp>
      <p:sp>
        <p:nvSpPr>
          <p:cNvPr id="23" name="object 42">
            <a:extLst>
              <a:ext uri="{FF2B5EF4-FFF2-40B4-BE49-F238E27FC236}">
                <a16:creationId xmlns:a16="http://schemas.microsoft.com/office/drawing/2014/main" id="{CB8B4633-466C-D78D-BE67-7FE7653C843E}"/>
              </a:ext>
            </a:extLst>
          </p:cNvPr>
          <p:cNvSpPr txBox="1"/>
          <p:nvPr/>
        </p:nvSpPr>
        <p:spPr>
          <a:xfrm>
            <a:off x="2049483" y="3358214"/>
            <a:ext cx="764035" cy="287497"/>
          </a:xfrm>
          <a:prstGeom prst="rect">
            <a:avLst/>
          </a:prstGeom>
        </p:spPr>
        <p:txBody>
          <a:bodyPr vert="horz" wrap="square" lIns="0" tIns="10397" rIns="0" bIns="0" rtlCol="0">
            <a:spAutoFit/>
          </a:bodyPr>
          <a:lstStyle/>
          <a:p>
            <a:pPr marL="7701" defTabSz="554492">
              <a:spcBef>
                <a:spcPts val="82"/>
              </a:spcBef>
            </a:pPr>
            <a:r>
              <a:rPr lang="en-US" b="1" kern="0" spc="18" dirty="0">
                <a:solidFill>
                  <a:srgbClr val="3FB27F"/>
                </a:solidFill>
                <a:latin typeface="Arial"/>
                <a:cs typeface="Arial"/>
              </a:rPr>
              <a:t>CLI</a:t>
            </a:r>
            <a:endParaRPr kern="0" dirty="0">
              <a:solidFill>
                <a:srgbClr val="3FB27F"/>
              </a:solidFill>
              <a:latin typeface="Arial"/>
              <a:cs typeface="Arial"/>
            </a:endParaRPr>
          </a:p>
        </p:txBody>
      </p:sp>
      <p:grpSp>
        <p:nvGrpSpPr>
          <p:cNvPr id="24" name="object 43">
            <a:extLst>
              <a:ext uri="{FF2B5EF4-FFF2-40B4-BE49-F238E27FC236}">
                <a16:creationId xmlns:a16="http://schemas.microsoft.com/office/drawing/2014/main" id="{F742009B-27D1-B41D-FC3C-D87F9B8B5B44}"/>
              </a:ext>
            </a:extLst>
          </p:cNvPr>
          <p:cNvGrpSpPr/>
          <p:nvPr/>
        </p:nvGrpSpPr>
        <p:grpSpPr>
          <a:xfrm>
            <a:off x="2946853" y="1637758"/>
            <a:ext cx="276091" cy="276091"/>
            <a:chOff x="2148672" y="7179157"/>
            <a:chExt cx="455295" cy="455295"/>
          </a:xfrm>
        </p:grpSpPr>
        <p:sp>
          <p:nvSpPr>
            <p:cNvPr id="25" name="object 44">
              <a:extLst>
                <a:ext uri="{FF2B5EF4-FFF2-40B4-BE49-F238E27FC236}">
                  <a16:creationId xmlns:a16="http://schemas.microsoft.com/office/drawing/2014/main" id="{F78F6A73-DE6C-4417-CD35-948C80D323D0}"/>
                </a:ext>
              </a:extLst>
            </p:cNvPr>
            <p:cNvSpPr/>
            <p:nvPr/>
          </p:nvSpPr>
          <p:spPr>
            <a:xfrm>
              <a:off x="2201027" y="7231511"/>
              <a:ext cx="350520" cy="350520"/>
            </a:xfrm>
            <a:custGeom>
              <a:avLst/>
              <a:gdLst/>
              <a:ahLst/>
              <a:cxnLst/>
              <a:rect l="l" t="t" r="r" b="b"/>
              <a:pathLst>
                <a:path w="350519" h="350520">
                  <a:moveTo>
                    <a:pt x="175215" y="0"/>
                  </a:moveTo>
                  <a:lnTo>
                    <a:pt x="130767" y="5702"/>
                  </a:lnTo>
                  <a:lnTo>
                    <a:pt x="88681" y="22808"/>
                  </a:lnTo>
                  <a:lnTo>
                    <a:pt x="51319" y="51318"/>
                  </a:lnTo>
                  <a:lnTo>
                    <a:pt x="22808" y="88681"/>
                  </a:lnTo>
                  <a:lnTo>
                    <a:pt x="5702" y="130767"/>
                  </a:lnTo>
                  <a:lnTo>
                    <a:pt x="0" y="175214"/>
                  </a:lnTo>
                  <a:lnTo>
                    <a:pt x="5702" y="219662"/>
                  </a:lnTo>
                  <a:lnTo>
                    <a:pt x="22808" y="261748"/>
                  </a:lnTo>
                  <a:lnTo>
                    <a:pt x="51319" y="299110"/>
                  </a:lnTo>
                  <a:lnTo>
                    <a:pt x="88681" y="327621"/>
                  </a:lnTo>
                  <a:lnTo>
                    <a:pt x="130767" y="344727"/>
                  </a:lnTo>
                  <a:lnTo>
                    <a:pt x="175215" y="350429"/>
                  </a:lnTo>
                  <a:lnTo>
                    <a:pt x="219663" y="344727"/>
                  </a:lnTo>
                  <a:lnTo>
                    <a:pt x="261749" y="327621"/>
                  </a:lnTo>
                  <a:lnTo>
                    <a:pt x="299111" y="299110"/>
                  </a:lnTo>
                  <a:lnTo>
                    <a:pt x="327621" y="261748"/>
                  </a:lnTo>
                  <a:lnTo>
                    <a:pt x="344728" y="219662"/>
                  </a:lnTo>
                  <a:lnTo>
                    <a:pt x="350430" y="175214"/>
                  </a:lnTo>
                  <a:lnTo>
                    <a:pt x="344728" y="130767"/>
                  </a:lnTo>
                  <a:lnTo>
                    <a:pt x="327621" y="88681"/>
                  </a:lnTo>
                  <a:lnTo>
                    <a:pt x="299111" y="51318"/>
                  </a:lnTo>
                  <a:lnTo>
                    <a:pt x="261749" y="22808"/>
                  </a:lnTo>
                  <a:lnTo>
                    <a:pt x="219663" y="5702"/>
                  </a:lnTo>
                  <a:lnTo>
                    <a:pt x="175215"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26" name="object 45">
              <a:extLst>
                <a:ext uri="{FF2B5EF4-FFF2-40B4-BE49-F238E27FC236}">
                  <a16:creationId xmlns:a16="http://schemas.microsoft.com/office/drawing/2014/main" id="{662CFD64-10A7-FB8B-31F0-5A3931BE1C21}"/>
                </a:ext>
              </a:extLst>
            </p:cNvPr>
            <p:cNvSpPr/>
            <p:nvPr/>
          </p:nvSpPr>
          <p:spPr>
            <a:xfrm>
              <a:off x="2201027" y="7231511"/>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grpSp>
        <p:nvGrpSpPr>
          <p:cNvPr id="28" name="object 47">
            <a:extLst>
              <a:ext uri="{FF2B5EF4-FFF2-40B4-BE49-F238E27FC236}">
                <a16:creationId xmlns:a16="http://schemas.microsoft.com/office/drawing/2014/main" id="{30028689-DB2C-54DB-3217-9C1CE0454B54}"/>
              </a:ext>
            </a:extLst>
          </p:cNvPr>
          <p:cNvGrpSpPr/>
          <p:nvPr/>
        </p:nvGrpSpPr>
        <p:grpSpPr>
          <a:xfrm>
            <a:off x="2955954" y="2466238"/>
            <a:ext cx="276091" cy="276091"/>
            <a:chOff x="2118637" y="8046456"/>
            <a:chExt cx="455295" cy="455295"/>
          </a:xfrm>
        </p:grpSpPr>
        <p:sp>
          <p:nvSpPr>
            <p:cNvPr id="29" name="object 48">
              <a:extLst>
                <a:ext uri="{FF2B5EF4-FFF2-40B4-BE49-F238E27FC236}">
                  <a16:creationId xmlns:a16="http://schemas.microsoft.com/office/drawing/2014/main" id="{D6FE7727-F7F0-3A89-3FE7-6CB2B035422F}"/>
                </a:ext>
              </a:extLst>
            </p:cNvPr>
            <p:cNvSpPr/>
            <p:nvPr/>
          </p:nvSpPr>
          <p:spPr>
            <a:xfrm>
              <a:off x="2170991" y="8098811"/>
              <a:ext cx="350520" cy="350520"/>
            </a:xfrm>
            <a:custGeom>
              <a:avLst/>
              <a:gdLst/>
              <a:ahLst/>
              <a:cxnLst/>
              <a:rect l="l" t="t" r="r" b="b"/>
              <a:pathLst>
                <a:path w="350519" h="350520">
                  <a:moveTo>
                    <a:pt x="175214" y="0"/>
                  </a:moveTo>
                  <a:lnTo>
                    <a:pt x="130767" y="5702"/>
                  </a:lnTo>
                  <a:lnTo>
                    <a:pt x="88681" y="22808"/>
                  </a:lnTo>
                  <a:lnTo>
                    <a:pt x="51319" y="51319"/>
                  </a:lnTo>
                  <a:lnTo>
                    <a:pt x="22808" y="88681"/>
                  </a:lnTo>
                  <a:lnTo>
                    <a:pt x="5702" y="130767"/>
                  </a:lnTo>
                  <a:lnTo>
                    <a:pt x="0" y="175214"/>
                  </a:lnTo>
                  <a:lnTo>
                    <a:pt x="5702" y="219662"/>
                  </a:lnTo>
                  <a:lnTo>
                    <a:pt x="22808" y="261748"/>
                  </a:lnTo>
                  <a:lnTo>
                    <a:pt x="51319" y="299111"/>
                  </a:lnTo>
                  <a:lnTo>
                    <a:pt x="88681" y="327621"/>
                  </a:lnTo>
                  <a:lnTo>
                    <a:pt x="130767" y="344728"/>
                  </a:lnTo>
                  <a:lnTo>
                    <a:pt x="175214" y="350430"/>
                  </a:lnTo>
                  <a:lnTo>
                    <a:pt x="219662" y="344728"/>
                  </a:lnTo>
                  <a:lnTo>
                    <a:pt x="261748" y="327621"/>
                  </a:lnTo>
                  <a:lnTo>
                    <a:pt x="299111" y="299111"/>
                  </a:lnTo>
                  <a:lnTo>
                    <a:pt x="327621" y="261748"/>
                  </a:lnTo>
                  <a:lnTo>
                    <a:pt x="344727" y="219662"/>
                  </a:lnTo>
                  <a:lnTo>
                    <a:pt x="350429" y="175214"/>
                  </a:lnTo>
                  <a:lnTo>
                    <a:pt x="344727" y="130767"/>
                  </a:lnTo>
                  <a:lnTo>
                    <a:pt x="327621" y="88681"/>
                  </a:lnTo>
                  <a:lnTo>
                    <a:pt x="299111" y="51319"/>
                  </a:lnTo>
                  <a:lnTo>
                    <a:pt x="261748" y="22808"/>
                  </a:lnTo>
                  <a:lnTo>
                    <a:pt x="219662" y="5702"/>
                  </a:lnTo>
                  <a:lnTo>
                    <a:pt x="175214"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30" name="object 49">
              <a:extLst>
                <a:ext uri="{FF2B5EF4-FFF2-40B4-BE49-F238E27FC236}">
                  <a16:creationId xmlns:a16="http://schemas.microsoft.com/office/drawing/2014/main" id="{EAC29353-0A51-E809-64C9-2A390C2BCB02}"/>
                </a:ext>
              </a:extLst>
            </p:cNvPr>
            <p:cNvSpPr/>
            <p:nvPr/>
          </p:nvSpPr>
          <p:spPr>
            <a:xfrm>
              <a:off x="2170991" y="8098811"/>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grpSp>
        <p:nvGrpSpPr>
          <p:cNvPr id="32" name="object 51">
            <a:extLst>
              <a:ext uri="{FF2B5EF4-FFF2-40B4-BE49-F238E27FC236}">
                <a16:creationId xmlns:a16="http://schemas.microsoft.com/office/drawing/2014/main" id="{9957DC9A-9FE9-FB17-C111-1234E34C0F8D}"/>
              </a:ext>
            </a:extLst>
          </p:cNvPr>
          <p:cNvGrpSpPr/>
          <p:nvPr/>
        </p:nvGrpSpPr>
        <p:grpSpPr>
          <a:xfrm>
            <a:off x="2915065" y="3356430"/>
            <a:ext cx="276091" cy="276091"/>
            <a:chOff x="2118637" y="9778898"/>
            <a:chExt cx="455295" cy="455295"/>
          </a:xfrm>
        </p:grpSpPr>
        <p:sp>
          <p:nvSpPr>
            <p:cNvPr id="33" name="object 52">
              <a:extLst>
                <a:ext uri="{FF2B5EF4-FFF2-40B4-BE49-F238E27FC236}">
                  <a16:creationId xmlns:a16="http://schemas.microsoft.com/office/drawing/2014/main" id="{6E1EA2EC-A8BC-CF66-3B40-E42BAF7BDE13}"/>
                </a:ext>
              </a:extLst>
            </p:cNvPr>
            <p:cNvSpPr/>
            <p:nvPr/>
          </p:nvSpPr>
          <p:spPr>
            <a:xfrm>
              <a:off x="2170991" y="9831253"/>
              <a:ext cx="350520" cy="350520"/>
            </a:xfrm>
            <a:custGeom>
              <a:avLst/>
              <a:gdLst/>
              <a:ahLst/>
              <a:cxnLst/>
              <a:rect l="l" t="t" r="r" b="b"/>
              <a:pathLst>
                <a:path w="350519" h="350520">
                  <a:moveTo>
                    <a:pt x="175214" y="0"/>
                  </a:moveTo>
                  <a:lnTo>
                    <a:pt x="130767" y="5702"/>
                  </a:lnTo>
                  <a:lnTo>
                    <a:pt x="88681" y="22808"/>
                  </a:lnTo>
                  <a:lnTo>
                    <a:pt x="51319" y="51319"/>
                  </a:lnTo>
                  <a:lnTo>
                    <a:pt x="22808" y="88681"/>
                  </a:lnTo>
                  <a:lnTo>
                    <a:pt x="5702" y="130767"/>
                  </a:lnTo>
                  <a:lnTo>
                    <a:pt x="0" y="175214"/>
                  </a:lnTo>
                  <a:lnTo>
                    <a:pt x="5702" y="219662"/>
                  </a:lnTo>
                  <a:lnTo>
                    <a:pt x="22808" y="261748"/>
                  </a:lnTo>
                  <a:lnTo>
                    <a:pt x="51319" y="299111"/>
                  </a:lnTo>
                  <a:lnTo>
                    <a:pt x="88681" y="327621"/>
                  </a:lnTo>
                  <a:lnTo>
                    <a:pt x="130767" y="344727"/>
                  </a:lnTo>
                  <a:lnTo>
                    <a:pt x="175214" y="350429"/>
                  </a:lnTo>
                  <a:lnTo>
                    <a:pt x="219662" y="344727"/>
                  </a:lnTo>
                  <a:lnTo>
                    <a:pt x="261748" y="327621"/>
                  </a:lnTo>
                  <a:lnTo>
                    <a:pt x="299111" y="299111"/>
                  </a:lnTo>
                  <a:lnTo>
                    <a:pt x="327621" y="261748"/>
                  </a:lnTo>
                  <a:lnTo>
                    <a:pt x="344727" y="219662"/>
                  </a:lnTo>
                  <a:lnTo>
                    <a:pt x="350429" y="175214"/>
                  </a:lnTo>
                  <a:lnTo>
                    <a:pt x="344727" y="130767"/>
                  </a:lnTo>
                  <a:lnTo>
                    <a:pt x="327621" y="88681"/>
                  </a:lnTo>
                  <a:lnTo>
                    <a:pt x="299111" y="51319"/>
                  </a:lnTo>
                  <a:lnTo>
                    <a:pt x="261748" y="22808"/>
                  </a:lnTo>
                  <a:lnTo>
                    <a:pt x="219662" y="5702"/>
                  </a:lnTo>
                  <a:lnTo>
                    <a:pt x="175214"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34" name="object 53">
              <a:extLst>
                <a:ext uri="{FF2B5EF4-FFF2-40B4-BE49-F238E27FC236}">
                  <a16:creationId xmlns:a16="http://schemas.microsoft.com/office/drawing/2014/main" id="{DD1F424A-09D3-7CA9-0B35-139377F8B670}"/>
                </a:ext>
              </a:extLst>
            </p:cNvPr>
            <p:cNvSpPr/>
            <p:nvPr/>
          </p:nvSpPr>
          <p:spPr>
            <a:xfrm>
              <a:off x="2170991" y="9831252"/>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sp>
        <p:nvSpPr>
          <p:cNvPr id="37" name="TextBox 36">
            <a:extLst>
              <a:ext uri="{FF2B5EF4-FFF2-40B4-BE49-F238E27FC236}">
                <a16:creationId xmlns:a16="http://schemas.microsoft.com/office/drawing/2014/main" id="{5DEF20E3-8E30-9443-3596-3F6FB6611DAA}"/>
              </a:ext>
            </a:extLst>
          </p:cNvPr>
          <p:cNvSpPr txBox="1"/>
          <p:nvPr/>
        </p:nvSpPr>
        <p:spPr>
          <a:xfrm>
            <a:off x="3656168" y="1582444"/>
            <a:ext cx="7350883" cy="400110"/>
          </a:xfrm>
          <a:prstGeom prst="rect">
            <a:avLst/>
          </a:prstGeom>
          <a:noFill/>
        </p:spPr>
        <p:txBody>
          <a:bodyPr wrap="square">
            <a:spAutoFit/>
          </a:bodyPr>
          <a:lstStyle/>
          <a:p>
            <a:r>
              <a:rPr lang="en-US" sz="2000" dirty="0">
                <a:solidFill>
                  <a:srgbClr val="33475B"/>
                </a:solidFill>
                <a:latin typeface="Arial" panose="020B0604020202020204" pitchFamily="34" charset="0"/>
                <a:cs typeface="Arial" panose="020B0604020202020204" pitchFamily="34" charset="0"/>
              </a:rPr>
              <a:t>&lt;script </a:t>
            </a:r>
            <a:r>
              <a:rPr lang="en-US" sz="2000" dirty="0" err="1">
                <a:solidFill>
                  <a:srgbClr val="33475B"/>
                </a:solidFill>
                <a:latin typeface="Arial" panose="020B0604020202020204" pitchFamily="34" charset="0"/>
                <a:cs typeface="Arial" panose="020B0604020202020204" pitchFamily="34" charset="0"/>
              </a:rPr>
              <a:t>src</a:t>
            </a:r>
            <a:r>
              <a:rPr lang="en-US" sz="2000" dirty="0">
                <a:solidFill>
                  <a:srgbClr val="33475B"/>
                </a:solidFill>
                <a:latin typeface="Arial" panose="020B0604020202020204" pitchFamily="34" charset="0"/>
                <a:cs typeface="Arial" panose="020B0604020202020204" pitchFamily="34" charset="0"/>
              </a:rPr>
              <a:t>=http://unpkg.com/vue@next&gt;&lt;/script&gt;</a:t>
            </a:r>
          </a:p>
        </p:txBody>
      </p:sp>
      <p:sp>
        <p:nvSpPr>
          <p:cNvPr id="38" name="object 18">
            <a:extLst>
              <a:ext uri="{FF2B5EF4-FFF2-40B4-BE49-F238E27FC236}">
                <a16:creationId xmlns:a16="http://schemas.microsoft.com/office/drawing/2014/main" id="{CBDA93D5-82C9-5484-EA76-CF2D5D2EE563}"/>
              </a:ext>
            </a:extLst>
          </p:cNvPr>
          <p:cNvSpPr txBox="1"/>
          <p:nvPr/>
        </p:nvSpPr>
        <p:spPr>
          <a:xfrm>
            <a:off x="3791152" y="3173954"/>
            <a:ext cx="7350883" cy="1272349"/>
          </a:xfrm>
          <a:prstGeom prst="rect">
            <a:avLst/>
          </a:prstGeom>
        </p:spPr>
        <p:txBody>
          <a:bodyPr vert="horz" wrap="square" lIns="0" tIns="7316" rIns="0" bIns="0" rtlCol="0">
            <a:spAutoFit/>
          </a:bodyPr>
          <a:lstStyle/>
          <a:p>
            <a:pPr marL="7701" marR="3081" defTabSz="554492">
              <a:lnSpc>
                <a:spcPct val="131200"/>
              </a:lnSpc>
              <a:spcBef>
                <a:spcPts val="58"/>
              </a:spcBef>
            </a:pPr>
            <a:r>
              <a:rPr lang="en-US" sz="2000" kern="0" dirty="0" err="1">
                <a:solidFill>
                  <a:srgbClr val="33475B"/>
                </a:solidFill>
                <a:latin typeface="Arial"/>
                <a:cs typeface="Arial"/>
              </a:rPr>
              <a:t>npm</a:t>
            </a:r>
            <a:r>
              <a:rPr lang="en-US" sz="2000" kern="0" dirty="0">
                <a:solidFill>
                  <a:srgbClr val="33475B"/>
                </a:solidFill>
                <a:latin typeface="Arial"/>
                <a:cs typeface="Arial"/>
              </a:rPr>
              <a:t> install –g @vue/cli</a:t>
            </a:r>
          </a:p>
          <a:p>
            <a:pPr marL="7701" marR="3081" defTabSz="554492">
              <a:lnSpc>
                <a:spcPct val="131200"/>
              </a:lnSpc>
              <a:spcBef>
                <a:spcPts val="58"/>
              </a:spcBef>
            </a:pPr>
            <a:r>
              <a:rPr lang="en-US" sz="2000" kern="0" dirty="0" err="1">
                <a:solidFill>
                  <a:srgbClr val="33475B"/>
                </a:solidFill>
                <a:latin typeface="Arial"/>
                <a:cs typeface="Arial"/>
              </a:rPr>
              <a:t>vue</a:t>
            </a:r>
            <a:r>
              <a:rPr lang="en-US" sz="2000" kern="0" dirty="0">
                <a:solidFill>
                  <a:srgbClr val="33475B"/>
                </a:solidFill>
                <a:latin typeface="Arial"/>
                <a:cs typeface="Arial"/>
              </a:rPr>
              <a:t> create &lt;project-name&gt;</a:t>
            </a:r>
          </a:p>
          <a:p>
            <a:pPr marL="7701" marR="3081" defTabSz="554492">
              <a:lnSpc>
                <a:spcPct val="131200"/>
              </a:lnSpc>
              <a:spcBef>
                <a:spcPts val="58"/>
              </a:spcBef>
            </a:pPr>
            <a:endParaRPr lang="en-US" sz="2400" kern="0" dirty="0">
              <a:solidFill>
                <a:srgbClr val="33475B"/>
              </a:solidFill>
              <a:latin typeface="Arial"/>
              <a:cs typeface="Arial"/>
            </a:endParaRPr>
          </a:p>
        </p:txBody>
      </p:sp>
      <p:sp>
        <p:nvSpPr>
          <p:cNvPr id="39" name="object 16">
            <a:extLst>
              <a:ext uri="{FF2B5EF4-FFF2-40B4-BE49-F238E27FC236}">
                <a16:creationId xmlns:a16="http://schemas.microsoft.com/office/drawing/2014/main" id="{5F88BBD4-9986-D5A1-914D-A85775AA3576}"/>
              </a:ext>
            </a:extLst>
          </p:cNvPr>
          <p:cNvSpPr txBox="1"/>
          <p:nvPr/>
        </p:nvSpPr>
        <p:spPr>
          <a:xfrm>
            <a:off x="2030179" y="4411587"/>
            <a:ext cx="764035" cy="287497"/>
          </a:xfrm>
          <a:prstGeom prst="rect">
            <a:avLst/>
          </a:prstGeom>
        </p:spPr>
        <p:txBody>
          <a:bodyPr vert="horz" wrap="square" lIns="0" tIns="10397" rIns="0" bIns="0" rtlCol="0">
            <a:spAutoFit/>
          </a:bodyPr>
          <a:lstStyle/>
          <a:p>
            <a:pPr marL="7701" defTabSz="554492">
              <a:spcBef>
                <a:spcPts val="82"/>
              </a:spcBef>
            </a:pPr>
            <a:r>
              <a:rPr lang="en-US" b="1" kern="0" spc="18" dirty="0">
                <a:solidFill>
                  <a:srgbClr val="3FB27F"/>
                </a:solidFill>
                <a:latin typeface="Arial"/>
                <a:cs typeface="Arial"/>
              </a:rPr>
              <a:t>VITE</a:t>
            </a:r>
            <a:endParaRPr kern="0" dirty="0">
              <a:solidFill>
                <a:srgbClr val="3FB27F"/>
              </a:solidFill>
              <a:latin typeface="Arial"/>
              <a:cs typeface="Arial"/>
            </a:endParaRPr>
          </a:p>
        </p:txBody>
      </p:sp>
      <p:pic>
        <p:nvPicPr>
          <p:cNvPr id="40" name="object 31">
            <a:extLst>
              <a:ext uri="{FF2B5EF4-FFF2-40B4-BE49-F238E27FC236}">
                <a16:creationId xmlns:a16="http://schemas.microsoft.com/office/drawing/2014/main" id="{E9F482DD-37FA-C5DF-0527-2B58559149A8}"/>
              </a:ext>
            </a:extLst>
          </p:cNvPr>
          <p:cNvPicPr/>
          <p:nvPr/>
        </p:nvPicPr>
        <p:blipFill>
          <a:blip r:embed="rId2" cstate="print"/>
          <a:stretch>
            <a:fillRect/>
          </a:stretch>
        </p:blipFill>
        <p:spPr>
          <a:xfrm>
            <a:off x="3517826" y="4459160"/>
            <a:ext cx="171437" cy="171437"/>
          </a:xfrm>
          <a:prstGeom prst="rect">
            <a:avLst/>
          </a:prstGeom>
        </p:spPr>
      </p:pic>
      <p:grpSp>
        <p:nvGrpSpPr>
          <p:cNvPr id="41" name="object 43">
            <a:extLst>
              <a:ext uri="{FF2B5EF4-FFF2-40B4-BE49-F238E27FC236}">
                <a16:creationId xmlns:a16="http://schemas.microsoft.com/office/drawing/2014/main" id="{D4E20725-8FAA-C679-A273-BD394AA83C6F}"/>
              </a:ext>
            </a:extLst>
          </p:cNvPr>
          <p:cNvGrpSpPr/>
          <p:nvPr/>
        </p:nvGrpSpPr>
        <p:grpSpPr>
          <a:xfrm>
            <a:off x="2922914" y="4394922"/>
            <a:ext cx="276091" cy="276091"/>
            <a:chOff x="2148672" y="7179157"/>
            <a:chExt cx="455295" cy="455295"/>
          </a:xfrm>
        </p:grpSpPr>
        <p:sp>
          <p:nvSpPr>
            <p:cNvPr id="42" name="object 44">
              <a:extLst>
                <a:ext uri="{FF2B5EF4-FFF2-40B4-BE49-F238E27FC236}">
                  <a16:creationId xmlns:a16="http://schemas.microsoft.com/office/drawing/2014/main" id="{0DA6818F-DB38-E2A2-68D0-7C2DB1E8ABFC}"/>
                </a:ext>
              </a:extLst>
            </p:cNvPr>
            <p:cNvSpPr/>
            <p:nvPr/>
          </p:nvSpPr>
          <p:spPr>
            <a:xfrm>
              <a:off x="2201027" y="7231511"/>
              <a:ext cx="350520" cy="350520"/>
            </a:xfrm>
            <a:custGeom>
              <a:avLst/>
              <a:gdLst/>
              <a:ahLst/>
              <a:cxnLst/>
              <a:rect l="l" t="t" r="r" b="b"/>
              <a:pathLst>
                <a:path w="350519" h="350520">
                  <a:moveTo>
                    <a:pt x="175215" y="0"/>
                  </a:moveTo>
                  <a:lnTo>
                    <a:pt x="130767" y="5702"/>
                  </a:lnTo>
                  <a:lnTo>
                    <a:pt x="88681" y="22808"/>
                  </a:lnTo>
                  <a:lnTo>
                    <a:pt x="51319" y="51318"/>
                  </a:lnTo>
                  <a:lnTo>
                    <a:pt x="22808" y="88681"/>
                  </a:lnTo>
                  <a:lnTo>
                    <a:pt x="5702" y="130767"/>
                  </a:lnTo>
                  <a:lnTo>
                    <a:pt x="0" y="175214"/>
                  </a:lnTo>
                  <a:lnTo>
                    <a:pt x="5702" y="219662"/>
                  </a:lnTo>
                  <a:lnTo>
                    <a:pt x="22808" y="261748"/>
                  </a:lnTo>
                  <a:lnTo>
                    <a:pt x="51319" y="299110"/>
                  </a:lnTo>
                  <a:lnTo>
                    <a:pt x="88681" y="327621"/>
                  </a:lnTo>
                  <a:lnTo>
                    <a:pt x="130767" y="344727"/>
                  </a:lnTo>
                  <a:lnTo>
                    <a:pt x="175215" y="350429"/>
                  </a:lnTo>
                  <a:lnTo>
                    <a:pt x="219663" y="344727"/>
                  </a:lnTo>
                  <a:lnTo>
                    <a:pt x="261749" y="327621"/>
                  </a:lnTo>
                  <a:lnTo>
                    <a:pt x="299111" y="299110"/>
                  </a:lnTo>
                  <a:lnTo>
                    <a:pt x="327621" y="261748"/>
                  </a:lnTo>
                  <a:lnTo>
                    <a:pt x="344728" y="219662"/>
                  </a:lnTo>
                  <a:lnTo>
                    <a:pt x="350430" y="175214"/>
                  </a:lnTo>
                  <a:lnTo>
                    <a:pt x="344728" y="130767"/>
                  </a:lnTo>
                  <a:lnTo>
                    <a:pt x="327621" y="88681"/>
                  </a:lnTo>
                  <a:lnTo>
                    <a:pt x="299111" y="51318"/>
                  </a:lnTo>
                  <a:lnTo>
                    <a:pt x="261749" y="22808"/>
                  </a:lnTo>
                  <a:lnTo>
                    <a:pt x="219663" y="5702"/>
                  </a:lnTo>
                  <a:lnTo>
                    <a:pt x="175215" y="0"/>
                  </a:lnTo>
                  <a:close/>
                </a:path>
              </a:pathLst>
            </a:custGeom>
            <a:solidFill>
              <a:srgbClr val="FFFFFF"/>
            </a:solidFill>
          </p:spPr>
          <p:txBody>
            <a:bodyPr wrap="square" lIns="0" tIns="0" rIns="0" bIns="0" rtlCol="0"/>
            <a:lstStyle/>
            <a:p>
              <a:pPr defTabSz="554492"/>
              <a:endParaRPr sz="1092" kern="0">
                <a:solidFill>
                  <a:sysClr val="windowText" lastClr="000000"/>
                </a:solidFill>
              </a:endParaRPr>
            </a:p>
          </p:txBody>
        </p:sp>
        <p:sp>
          <p:nvSpPr>
            <p:cNvPr id="43" name="object 45">
              <a:extLst>
                <a:ext uri="{FF2B5EF4-FFF2-40B4-BE49-F238E27FC236}">
                  <a16:creationId xmlns:a16="http://schemas.microsoft.com/office/drawing/2014/main" id="{6765ADAA-B74A-40A9-52A3-6AFA739E4394}"/>
                </a:ext>
              </a:extLst>
            </p:cNvPr>
            <p:cNvSpPr/>
            <p:nvPr/>
          </p:nvSpPr>
          <p:spPr>
            <a:xfrm>
              <a:off x="2201027" y="7231511"/>
              <a:ext cx="350520" cy="350520"/>
            </a:xfrm>
            <a:custGeom>
              <a:avLst/>
              <a:gdLst/>
              <a:ahLst/>
              <a:cxnLst/>
              <a:rect l="l" t="t" r="r" b="b"/>
              <a:pathLst>
                <a:path w="350519" h="350520">
                  <a:moveTo>
                    <a:pt x="299110" y="51319"/>
                  </a:moveTo>
                  <a:lnTo>
                    <a:pt x="327621" y="88681"/>
                  </a:lnTo>
                  <a:lnTo>
                    <a:pt x="344728" y="130767"/>
                  </a:lnTo>
                  <a:lnTo>
                    <a:pt x="350430" y="175215"/>
                  </a:lnTo>
                  <a:lnTo>
                    <a:pt x="344728" y="219662"/>
                  </a:lnTo>
                  <a:lnTo>
                    <a:pt x="327621" y="261748"/>
                  </a:lnTo>
                  <a:lnTo>
                    <a:pt x="299110" y="299110"/>
                  </a:lnTo>
                  <a:lnTo>
                    <a:pt x="261748" y="327621"/>
                  </a:lnTo>
                  <a:lnTo>
                    <a:pt x="219662" y="344728"/>
                  </a:lnTo>
                  <a:lnTo>
                    <a:pt x="175215" y="350430"/>
                  </a:lnTo>
                  <a:lnTo>
                    <a:pt x="130767" y="344728"/>
                  </a:lnTo>
                  <a:lnTo>
                    <a:pt x="88681" y="327621"/>
                  </a:lnTo>
                  <a:lnTo>
                    <a:pt x="51319" y="299110"/>
                  </a:lnTo>
                  <a:lnTo>
                    <a:pt x="22808" y="261748"/>
                  </a:lnTo>
                  <a:lnTo>
                    <a:pt x="5702" y="219662"/>
                  </a:lnTo>
                  <a:lnTo>
                    <a:pt x="0" y="175215"/>
                  </a:lnTo>
                  <a:lnTo>
                    <a:pt x="5702" y="130767"/>
                  </a:lnTo>
                  <a:lnTo>
                    <a:pt x="22808" y="88681"/>
                  </a:lnTo>
                  <a:lnTo>
                    <a:pt x="51319" y="51319"/>
                  </a:lnTo>
                  <a:lnTo>
                    <a:pt x="88681" y="22808"/>
                  </a:lnTo>
                  <a:lnTo>
                    <a:pt x="130767" y="5702"/>
                  </a:lnTo>
                  <a:lnTo>
                    <a:pt x="175215" y="0"/>
                  </a:lnTo>
                  <a:lnTo>
                    <a:pt x="219662" y="5702"/>
                  </a:lnTo>
                  <a:lnTo>
                    <a:pt x="261748" y="22808"/>
                  </a:lnTo>
                  <a:lnTo>
                    <a:pt x="299110" y="51319"/>
                  </a:lnTo>
                  <a:close/>
                </a:path>
              </a:pathLst>
            </a:custGeom>
            <a:ln w="104708">
              <a:solidFill>
                <a:srgbClr val="38464D"/>
              </a:solidFill>
            </a:ln>
          </p:spPr>
          <p:txBody>
            <a:bodyPr wrap="square" lIns="0" tIns="0" rIns="0" bIns="0" rtlCol="0"/>
            <a:lstStyle/>
            <a:p>
              <a:pPr defTabSz="554492"/>
              <a:endParaRPr sz="1092" kern="0">
                <a:solidFill>
                  <a:sysClr val="windowText" lastClr="000000"/>
                </a:solidFill>
              </a:endParaRPr>
            </a:p>
          </p:txBody>
        </p:sp>
      </p:grpSp>
      <p:sp>
        <p:nvSpPr>
          <p:cNvPr id="44" name="TextBox 43">
            <a:extLst>
              <a:ext uri="{FF2B5EF4-FFF2-40B4-BE49-F238E27FC236}">
                <a16:creationId xmlns:a16="http://schemas.microsoft.com/office/drawing/2014/main" id="{42706983-E4E5-211D-9C0A-3C5AF3253120}"/>
              </a:ext>
            </a:extLst>
          </p:cNvPr>
          <p:cNvSpPr txBox="1"/>
          <p:nvPr/>
        </p:nvSpPr>
        <p:spPr>
          <a:xfrm>
            <a:off x="3791152" y="4338107"/>
            <a:ext cx="7350883" cy="400110"/>
          </a:xfrm>
          <a:prstGeom prst="rect">
            <a:avLst/>
          </a:prstGeom>
          <a:noFill/>
        </p:spPr>
        <p:txBody>
          <a:bodyPr wrap="square">
            <a:spAutoFit/>
          </a:bodyPr>
          <a:lstStyle/>
          <a:p>
            <a:r>
              <a:rPr lang="fr-FR" sz="2000" dirty="0" err="1">
                <a:solidFill>
                  <a:srgbClr val="33475B"/>
                </a:solidFill>
                <a:latin typeface="Arial" panose="020B0604020202020204" pitchFamily="34" charset="0"/>
                <a:cs typeface="Arial" panose="020B0604020202020204" pitchFamily="34" charset="0"/>
              </a:rPr>
              <a:t>npm</a:t>
            </a:r>
            <a:r>
              <a:rPr lang="fr-FR" sz="2000" dirty="0">
                <a:solidFill>
                  <a:srgbClr val="33475B"/>
                </a:solidFill>
                <a:latin typeface="Arial" panose="020B0604020202020204" pitchFamily="34" charset="0"/>
                <a:cs typeface="Arial" panose="020B0604020202020204" pitchFamily="34" charset="0"/>
              </a:rPr>
              <a:t> </a:t>
            </a:r>
            <a:r>
              <a:rPr lang="fr-FR" sz="2000" dirty="0" err="1">
                <a:solidFill>
                  <a:srgbClr val="33475B"/>
                </a:solidFill>
                <a:latin typeface="Arial" panose="020B0604020202020204" pitchFamily="34" charset="0"/>
                <a:cs typeface="Arial" panose="020B0604020202020204" pitchFamily="34" charset="0"/>
              </a:rPr>
              <a:t>create</a:t>
            </a:r>
            <a:r>
              <a:rPr lang="fr-FR" sz="2000" dirty="0">
                <a:solidFill>
                  <a:srgbClr val="33475B"/>
                </a:solidFill>
                <a:latin typeface="Arial" panose="020B0604020202020204" pitchFamily="34" charset="0"/>
                <a:cs typeface="Arial" panose="020B0604020202020204" pitchFamily="34" charset="0"/>
              </a:rPr>
              <a:t> </a:t>
            </a:r>
            <a:r>
              <a:rPr lang="fr-FR" sz="2000" dirty="0" err="1">
                <a:solidFill>
                  <a:srgbClr val="33475B"/>
                </a:solidFill>
                <a:latin typeface="Arial" panose="020B0604020202020204" pitchFamily="34" charset="0"/>
                <a:cs typeface="Arial" panose="020B0604020202020204" pitchFamily="34" charset="0"/>
              </a:rPr>
              <a:t>vite@latest</a:t>
            </a:r>
            <a:r>
              <a:rPr lang="fr-FR" sz="2000" dirty="0">
                <a:solidFill>
                  <a:srgbClr val="33475B"/>
                </a:solidFill>
                <a:latin typeface="Arial" panose="020B0604020202020204" pitchFamily="34" charset="0"/>
                <a:cs typeface="Arial" panose="020B0604020202020204" pitchFamily="34" charset="0"/>
              </a:rPr>
              <a:t> </a:t>
            </a:r>
            <a:r>
              <a:rPr lang="fr-FR" sz="2000" dirty="0" err="1">
                <a:solidFill>
                  <a:srgbClr val="33475B"/>
                </a:solidFill>
                <a:latin typeface="Arial" panose="020B0604020202020204" pitchFamily="34" charset="0"/>
                <a:cs typeface="Arial" panose="020B0604020202020204" pitchFamily="34" charset="0"/>
              </a:rPr>
              <a:t>my</a:t>
            </a:r>
            <a:r>
              <a:rPr lang="fr-FR" sz="2000" dirty="0">
                <a:solidFill>
                  <a:srgbClr val="33475B"/>
                </a:solidFill>
                <a:latin typeface="Arial" panose="020B0604020202020204" pitchFamily="34" charset="0"/>
                <a:cs typeface="Arial" panose="020B0604020202020204" pitchFamily="34" charset="0"/>
              </a:rPr>
              <a:t>-vue-app --</a:t>
            </a:r>
            <a:r>
              <a:rPr lang="fr-FR" sz="2000" dirty="0" err="1">
                <a:solidFill>
                  <a:srgbClr val="33475B"/>
                </a:solidFill>
                <a:latin typeface="Arial" panose="020B0604020202020204" pitchFamily="34" charset="0"/>
                <a:cs typeface="Arial" panose="020B0604020202020204" pitchFamily="34" charset="0"/>
              </a:rPr>
              <a:t>template</a:t>
            </a:r>
            <a:r>
              <a:rPr lang="fr-FR" sz="2000" dirty="0">
                <a:solidFill>
                  <a:srgbClr val="33475B"/>
                </a:solidFill>
                <a:latin typeface="Arial" panose="020B0604020202020204" pitchFamily="34" charset="0"/>
                <a:cs typeface="Arial" panose="020B0604020202020204" pitchFamily="34" charset="0"/>
              </a:rPr>
              <a:t> vue</a:t>
            </a:r>
            <a:endParaRPr lang="en-US" sz="2000" dirty="0">
              <a:solidFill>
                <a:srgbClr val="33475B"/>
              </a:solidFill>
              <a:latin typeface="Arial" panose="020B0604020202020204" pitchFamily="34" charset="0"/>
              <a:cs typeface="Arial" panose="020B0604020202020204" pitchFamily="34" charset="0"/>
            </a:endParaRPr>
          </a:p>
        </p:txBody>
      </p:sp>
      <p:pic>
        <p:nvPicPr>
          <p:cNvPr id="10242" name="Picture 2" descr="Vite | Next Generation Frontend Tooling">
            <a:extLst>
              <a:ext uri="{FF2B5EF4-FFF2-40B4-BE49-F238E27FC236}">
                <a16:creationId xmlns:a16="http://schemas.microsoft.com/office/drawing/2014/main" id="{A3BADE84-6BBB-02AA-4B50-3F46EF0F59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1556" y="4340318"/>
            <a:ext cx="430034" cy="430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472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131870" y="2554514"/>
            <a:ext cx="4518154" cy="4023614"/>
          </a:xfrm>
          <a:custGeom>
            <a:avLst/>
            <a:gdLst/>
            <a:ahLst/>
            <a:cxnLst/>
            <a:rect l="l" t="t" r="r" b="b"/>
            <a:pathLst>
              <a:path w="6701790" h="9947910">
                <a:moveTo>
                  <a:pt x="6701366" y="0"/>
                </a:moveTo>
                <a:lnTo>
                  <a:pt x="0" y="0"/>
                </a:lnTo>
                <a:lnTo>
                  <a:pt x="0" y="9947341"/>
                </a:lnTo>
                <a:lnTo>
                  <a:pt x="6701366" y="9947341"/>
                </a:lnTo>
                <a:lnTo>
                  <a:pt x="670136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10" name="object 10"/>
          <p:cNvSpPr txBox="1">
            <a:spLocks noGrp="1"/>
          </p:cNvSpPr>
          <p:nvPr>
            <p:ph type="title"/>
          </p:nvPr>
        </p:nvSpPr>
        <p:spPr>
          <a:xfrm>
            <a:off x="1059355" y="176780"/>
            <a:ext cx="11222173" cy="469373"/>
          </a:xfrm>
          <a:prstGeom prst="rect">
            <a:avLst/>
          </a:prstGeom>
        </p:spPr>
        <p:txBody>
          <a:bodyPr vert="horz" wrap="square" lIns="0" tIns="7316" rIns="0" bIns="0" rtlCol="0">
            <a:spAutoFit/>
          </a:bodyPr>
          <a:lstStyle/>
          <a:p>
            <a:pPr marL="7701">
              <a:spcBef>
                <a:spcPts val="58"/>
              </a:spcBef>
              <a:tabLst>
                <a:tab pos="876406" algn="l"/>
                <a:tab pos="2124398" algn="l"/>
                <a:tab pos="3030839" algn="l"/>
                <a:tab pos="3651947" algn="l"/>
                <a:tab pos="4357384" algn="l"/>
                <a:tab pos="4810605" algn="l"/>
                <a:tab pos="5135984" algn="l"/>
                <a:tab pos="5775960" algn="l"/>
              </a:tabLst>
            </a:pPr>
            <a:r>
              <a:rPr lang="en-US" dirty="0"/>
              <a:t>DIFFERENCE BETWEEN PRIMITIVE AND OBJECT DATATYPES</a:t>
            </a:r>
            <a:endParaRPr dirty="0"/>
          </a:p>
        </p:txBody>
      </p:sp>
      <p:sp>
        <p:nvSpPr>
          <p:cNvPr id="5" name="Rectangle 4">
            <a:extLst>
              <a:ext uri="{FF2B5EF4-FFF2-40B4-BE49-F238E27FC236}">
                <a16:creationId xmlns:a16="http://schemas.microsoft.com/office/drawing/2014/main" id="{8B011941-9339-065F-F08F-6A07621CB78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bject 10">
            <a:extLst>
              <a:ext uri="{FF2B5EF4-FFF2-40B4-BE49-F238E27FC236}">
                <a16:creationId xmlns:a16="http://schemas.microsoft.com/office/drawing/2014/main" id="{96B8F27F-B2F9-A7DC-F158-54C8AA2CDD3F}"/>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DIRECTIVES IN VUEJS</a:t>
            </a:r>
          </a:p>
        </p:txBody>
      </p:sp>
      <p:sp>
        <p:nvSpPr>
          <p:cNvPr id="8" name="object 4">
            <a:extLst>
              <a:ext uri="{FF2B5EF4-FFF2-40B4-BE49-F238E27FC236}">
                <a16:creationId xmlns:a16="http://schemas.microsoft.com/office/drawing/2014/main" id="{789C090C-EB05-71A5-2475-DE661881383B}"/>
              </a:ext>
            </a:extLst>
          </p:cNvPr>
          <p:cNvSpPr/>
          <p:nvPr/>
        </p:nvSpPr>
        <p:spPr>
          <a:xfrm rot="21010994">
            <a:off x="382476" y="1532786"/>
            <a:ext cx="7906448" cy="1756318"/>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11" name="object 5">
            <a:extLst>
              <a:ext uri="{FF2B5EF4-FFF2-40B4-BE49-F238E27FC236}">
                <a16:creationId xmlns:a16="http://schemas.microsoft.com/office/drawing/2014/main" id="{876F2BD5-82EF-9903-AE5C-9DD3E6875266}"/>
              </a:ext>
            </a:extLst>
          </p:cNvPr>
          <p:cNvSpPr txBox="1"/>
          <p:nvPr/>
        </p:nvSpPr>
        <p:spPr>
          <a:xfrm rot="21005140">
            <a:off x="1095547" y="1856804"/>
            <a:ext cx="6631547" cy="995611"/>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sz="2400" kern="0" dirty="0">
                <a:solidFill>
                  <a:srgbClr val="33475B"/>
                </a:solidFill>
                <a:latin typeface="Arial"/>
                <a:cs typeface="Arial"/>
              </a:rPr>
              <a:t>Special token in the markup that tells the library to do something to a DOM element .</a:t>
            </a:r>
            <a:endParaRPr sz="2400" kern="0" dirty="0">
              <a:solidFill>
                <a:srgbClr val="33475B"/>
              </a:solidFill>
              <a:latin typeface="Arial"/>
              <a:cs typeface="Arial"/>
            </a:endParaRPr>
          </a:p>
        </p:txBody>
      </p:sp>
      <p:pic>
        <p:nvPicPr>
          <p:cNvPr id="13" name="object 31">
            <a:extLst>
              <a:ext uri="{FF2B5EF4-FFF2-40B4-BE49-F238E27FC236}">
                <a16:creationId xmlns:a16="http://schemas.microsoft.com/office/drawing/2014/main" id="{34A6E78D-DBF4-9784-A80B-655CB44E89B6}"/>
              </a:ext>
            </a:extLst>
          </p:cNvPr>
          <p:cNvPicPr/>
          <p:nvPr/>
        </p:nvPicPr>
        <p:blipFill>
          <a:blip r:embed="rId2" cstate="print"/>
          <a:stretch>
            <a:fillRect/>
          </a:stretch>
        </p:blipFill>
        <p:spPr>
          <a:xfrm>
            <a:off x="7756476" y="2841610"/>
            <a:ext cx="171437" cy="171437"/>
          </a:xfrm>
          <a:prstGeom prst="rect">
            <a:avLst/>
          </a:prstGeom>
        </p:spPr>
      </p:pic>
      <p:sp>
        <p:nvSpPr>
          <p:cNvPr id="14" name="object 5">
            <a:extLst>
              <a:ext uri="{FF2B5EF4-FFF2-40B4-BE49-F238E27FC236}">
                <a16:creationId xmlns:a16="http://schemas.microsoft.com/office/drawing/2014/main" id="{C0ED0502-AA2B-62FB-5552-CC0CE59EEC4C}"/>
              </a:ext>
            </a:extLst>
          </p:cNvPr>
          <p:cNvSpPr txBox="1"/>
          <p:nvPr/>
        </p:nvSpPr>
        <p:spPr>
          <a:xfrm>
            <a:off x="8175349" y="2758523"/>
            <a:ext cx="2644009" cy="3604466"/>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kern="0" dirty="0">
                <a:solidFill>
                  <a:srgbClr val="34495E"/>
                </a:solidFill>
                <a:latin typeface="Arial"/>
                <a:cs typeface="Arial"/>
              </a:rPr>
              <a:t>V-text</a:t>
            </a:r>
          </a:p>
          <a:p>
            <a:pPr marL="7701" marR="3081" indent="385" defTabSz="554492">
              <a:lnSpc>
                <a:spcPct val="142400"/>
              </a:lnSpc>
              <a:spcBef>
                <a:spcPts val="61"/>
              </a:spcBef>
            </a:pPr>
            <a:r>
              <a:rPr lang="en-US" kern="0" dirty="0">
                <a:solidFill>
                  <a:srgbClr val="34495E"/>
                </a:solidFill>
                <a:latin typeface="Arial"/>
                <a:cs typeface="Arial"/>
              </a:rPr>
              <a:t>V-html</a:t>
            </a:r>
          </a:p>
          <a:p>
            <a:pPr marL="7701" marR="3081" indent="385" defTabSz="554492">
              <a:lnSpc>
                <a:spcPct val="142400"/>
              </a:lnSpc>
              <a:spcBef>
                <a:spcPts val="61"/>
              </a:spcBef>
            </a:pPr>
            <a:r>
              <a:rPr lang="en-US" kern="0" dirty="0">
                <a:solidFill>
                  <a:srgbClr val="34495E"/>
                </a:solidFill>
                <a:latin typeface="Arial"/>
                <a:cs typeface="Arial"/>
              </a:rPr>
              <a:t>V-bind</a:t>
            </a:r>
          </a:p>
          <a:p>
            <a:pPr marL="7701" marR="3081" indent="385" defTabSz="554492">
              <a:lnSpc>
                <a:spcPct val="142400"/>
              </a:lnSpc>
              <a:spcBef>
                <a:spcPts val="61"/>
              </a:spcBef>
            </a:pPr>
            <a:r>
              <a:rPr lang="en-US" kern="0" dirty="0">
                <a:solidFill>
                  <a:srgbClr val="34495E"/>
                </a:solidFill>
                <a:latin typeface="Arial"/>
                <a:cs typeface="Arial"/>
              </a:rPr>
              <a:t>V-once</a:t>
            </a:r>
          </a:p>
          <a:p>
            <a:pPr marL="7701" marR="3081" indent="385" defTabSz="554492">
              <a:lnSpc>
                <a:spcPct val="142400"/>
              </a:lnSpc>
              <a:spcBef>
                <a:spcPts val="61"/>
              </a:spcBef>
            </a:pPr>
            <a:r>
              <a:rPr lang="en-US" kern="0" dirty="0">
                <a:solidFill>
                  <a:srgbClr val="34495E"/>
                </a:solidFill>
                <a:latin typeface="Arial"/>
                <a:cs typeface="Arial"/>
              </a:rPr>
              <a:t>V-pre</a:t>
            </a:r>
          </a:p>
          <a:p>
            <a:pPr marL="7701" marR="3081" indent="385" defTabSz="554492">
              <a:lnSpc>
                <a:spcPct val="142400"/>
              </a:lnSpc>
              <a:spcBef>
                <a:spcPts val="61"/>
              </a:spcBef>
            </a:pPr>
            <a:r>
              <a:rPr lang="en-US" kern="0" dirty="0">
                <a:solidFill>
                  <a:srgbClr val="34495E"/>
                </a:solidFill>
                <a:latin typeface="Arial"/>
                <a:cs typeface="Arial"/>
              </a:rPr>
              <a:t>V-if      V-else-if     V-else</a:t>
            </a:r>
          </a:p>
          <a:p>
            <a:pPr marL="7701" marR="3081" indent="385" defTabSz="554492">
              <a:lnSpc>
                <a:spcPct val="142400"/>
              </a:lnSpc>
              <a:spcBef>
                <a:spcPts val="61"/>
              </a:spcBef>
            </a:pPr>
            <a:r>
              <a:rPr lang="en-US" kern="0" dirty="0">
                <a:solidFill>
                  <a:srgbClr val="34495E"/>
                </a:solidFill>
                <a:latin typeface="Arial"/>
                <a:cs typeface="Arial"/>
              </a:rPr>
              <a:t>V-show</a:t>
            </a:r>
          </a:p>
          <a:p>
            <a:pPr marL="7701" marR="3081" indent="385" defTabSz="554492">
              <a:lnSpc>
                <a:spcPct val="142400"/>
              </a:lnSpc>
              <a:spcBef>
                <a:spcPts val="61"/>
              </a:spcBef>
            </a:pPr>
            <a:r>
              <a:rPr lang="en-US" kern="0" dirty="0">
                <a:solidFill>
                  <a:srgbClr val="34495E"/>
                </a:solidFill>
                <a:latin typeface="Arial"/>
                <a:cs typeface="Arial"/>
              </a:rPr>
              <a:t>V-for</a:t>
            </a:r>
          </a:p>
          <a:p>
            <a:pPr marL="7701" marR="3081" indent="385" defTabSz="554492">
              <a:lnSpc>
                <a:spcPct val="142400"/>
              </a:lnSpc>
              <a:spcBef>
                <a:spcPts val="61"/>
              </a:spcBef>
            </a:pPr>
            <a:r>
              <a:rPr lang="en-US" kern="0" dirty="0">
                <a:solidFill>
                  <a:srgbClr val="34495E"/>
                </a:solidFill>
                <a:latin typeface="Arial"/>
                <a:cs typeface="Arial"/>
              </a:rPr>
              <a:t>V-model</a:t>
            </a:r>
            <a:endParaRPr kern="0" dirty="0">
              <a:solidFill>
                <a:srgbClr val="34495E"/>
              </a:solidFill>
              <a:latin typeface="Arial"/>
              <a:cs typeface="Arial"/>
            </a:endParaRPr>
          </a:p>
        </p:txBody>
      </p:sp>
      <p:pic>
        <p:nvPicPr>
          <p:cNvPr id="15" name="object 31">
            <a:extLst>
              <a:ext uri="{FF2B5EF4-FFF2-40B4-BE49-F238E27FC236}">
                <a16:creationId xmlns:a16="http://schemas.microsoft.com/office/drawing/2014/main" id="{022DE6E4-47E9-4806-65EA-14C51F436626}"/>
              </a:ext>
            </a:extLst>
          </p:cNvPr>
          <p:cNvPicPr/>
          <p:nvPr/>
        </p:nvPicPr>
        <p:blipFill>
          <a:blip r:embed="rId2" cstate="print"/>
          <a:stretch>
            <a:fillRect/>
          </a:stretch>
        </p:blipFill>
        <p:spPr>
          <a:xfrm>
            <a:off x="7753096" y="3655506"/>
            <a:ext cx="171437" cy="171437"/>
          </a:xfrm>
          <a:prstGeom prst="rect">
            <a:avLst/>
          </a:prstGeom>
        </p:spPr>
      </p:pic>
      <p:pic>
        <p:nvPicPr>
          <p:cNvPr id="16" name="object 31">
            <a:extLst>
              <a:ext uri="{FF2B5EF4-FFF2-40B4-BE49-F238E27FC236}">
                <a16:creationId xmlns:a16="http://schemas.microsoft.com/office/drawing/2014/main" id="{C7210870-2064-87D1-64C4-FBB3D8BCFD01}"/>
              </a:ext>
            </a:extLst>
          </p:cNvPr>
          <p:cNvPicPr/>
          <p:nvPr/>
        </p:nvPicPr>
        <p:blipFill>
          <a:blip r:embed="rId2" cstate="print"/>
          <a:stretch>
            <a:fillRect/>
          </a:stretch>
        </p:blipFill>
        <p:spPr>
          <a:xfrm>
            <a:off x="7756474" y="4112387"/>
            <a:ext cx="171437" cy="171437"/>
          </a:xfrm>
          <a:prstGeom prst="rect">
            <a:avLst/>
          </a:prstGeom>
        </p:spPr>
      </p:pic>
      <p:pic>
        <p:nvPicPr>
          <p:cNvPr id="17" name="object 31">
            <a:extLst>
              <a:ext uri="{FF2B5EF4-FFF2-40B4-BE49-F238E27FC236}">
                <a16:creationId xmlns:a16="http://schemas.microsoft.com/office/drawing/2014/main" id="{6FBDED29-C4A7-F47B-0602-E488387279C1}"/>
              </a:ext>
            </a:extLst>
          </p:cNvPr>
          <p:cNvPicPr/>
          <p:nvPr/>
        </p:nvPicPr>
        <p:blipFill>
          <a:blip r:embed="rId2" cstate="print"/>
          <a:stretch>
            <a:fillRect/>
          </a:stretch>
        </p:blipFill>
        <p:spPr>
          <a:xfrm>
            <a:off x="7756474" y="4530383"/>
            <a:ext cx="171437" cy="171437"/>
          </a:xfrm>
          <a:prstGeom prst="rect">
            <a:avLst/>
          </a:prstGeom>
        </p:spPr>
      </p:pic>
      <p:pic>
        <p:nvPicPr>
          <p:cNvPr id="18" name="object 31">
            <a:extLst>
              <a:ext uri="{FF2B5EF4-FFF2-40B4-BE49-F238E27FC236}">
                <a16:creationId xmlns:a16="http://schemas.microsoft.com/office/drawing/2014/main" id="{69D1C538-3A22-E841-8047-99C3CC73D79E}"/>
              </a:ext>
            </a:extLst>
          </p:cNvPr>
          <p:cNvPicPr/>
          <p:nvPr/>
        </p:nvPicPr>
        <p:blipFill>
          <a:blip r:embed="rId2" cstate="print"/>
          <a:stretch>
            <a:fillRect/>
          </a:stretch>
        </p:blipFill>
        <p:spPr>
          <a:xfrm>
            <a:off x="7756475" y="4927415"/>
            <a:ext cx="171437" cy="171437"/>
          </a:xfrm>
          <a:prstGeom prst="rect">
            <a:avLst/>
          </a:prstGeom>
        </p:spPr>
      </p:pic>
      <p:pic>
        <p:nvPicPr>
          <p:cNvPr id="19" name="object 31">
            <a:extLst>
              <a:ext uri="{FF2B5EF4-FFF2-40B4-BE49-F238E27FC236}">
                <a16:creationId xmlns:a16="http://schemas.microsoft.com/office/drawing/2014/main" id="{2C9B7EDB-7E39-AB31-3586-92858C5C56E7}"/>
              </a:ext>
            </a:extLst>
          </p:cNvPr>
          <p:cNvPicPr/>
          <p:nvPr/>
        </p:nvPicPr>
        <p:blipFill>
          <a:blip r:embed="rId2" cstate="print"/>
          <a:stretch>
            <a:fillRect/>
          </a:stretch>
        </p:blipFill>
        <p:spPr>
          <a:xfrm>
            <a:off x="7756476" y="5303463"/>
            <a:ext cx="171437" cy="171437"/>
          </a:xfrm>
          <a:prstGeom prst="rect">
            <a:avLst/>
          </a:prstGeom>
        </p:spPr>
      </p:pic>
      <p:pic>
        <p:nvPicPr>
          <p:cNvPr id="20" name="object 31">
            <a:extLst>
              <a:ext uri="{FF2B5EF4-FFF2-40B4-BE49-F238E27FC236}">
                <a16:creationId xmlns:a16="http://schemas.microsoft.com/office/drawing/2014/main" id="{055199A9-6F6A-97B5-92C9-3A481C1E41FC}"/>
              </a:ext>
            </a:extLst>
          </p:cNvPr>
          <p:cNvPicPr/>
          <p:nvPr/>
        </p:nvPicPr>
        <p:blipFill>
          <a:blip r:embed="rId2" cstate="print"/>
          <a:stretch>
            <a:fillRect/>
          </a:stretch>
        </p:blipFill>
        <p:spPr>
          <a:xfrm>
            <a:off x="7756476" y="5707003"/>
            <a:ext cx="171437" cy="171437"/>
          </a:xfrm>
          <a:prstGeom prst="rect">
            <a:avLst/>
          </a:prstGeom>
        </p:spPr>
      </p:pic>
      <p:pic>
        <p:nvPicPr>
          <p:cNvPr id="21" name="object 31">
            <a:extLst>
              <a:ext uri="{FF2B5EF4-FFF2-40B4-BE49-F238E27FC236}">
                <a16:creationId xmlns:a16="http://schemas.microsoft.com/office/drawing/2014/main" id="{8CE0C607-5A47-E97B-4190-7737D0F6D426}"/>
              </a:ext>
            </a:extLst>
          </p:cNvPr>
          <p:cNvPicPr/>
          <p:nvPr/>
        </p:nvPicPr>
        <p:blipFill>
          <a:blip r:embed="rId2" cstate="print"/>
          <a:stretch>
            <a:fillRect/>
          </a:stretch>
        </p:blipFill>
        <p:spPr>
          <a:xfrm>
            <a:off x="7753095" y="3288409"/>
            <a:ext cx="171437" cy="171437"/>
          </a:xfrm>
          <a:prstGeom prst="rect">
            <a:avLst/>
          </a:prstGeom>
        </p:spPr>
      </p:pic>
      <p:pic>
        <p:nvPicPr>
          <p:cNvPr id="22" name="object 31">
            <a:extLst>
              <a:ext uri="{FF2B5EF4-FFF2-40B4-BE49-F238E27FC236}">
                <a16:creationId xmlns:a16="http://schemas.microsoft.com/office/drawing/2014/main" id="{6FF23B7A-6D1F-883F-E398-8E87CC6EB14B}"/>
              </a:ext>
            </a:extLst>
          </p:cNvPr>
          <p:cNvPicPr/>
          <p:nvPr/>
        </p:nvPicPr>
        <p:blipFill>
          <a:blip r:embed="rId2" cstate="print"/>
          <a:stretch>
            <a:fillRect/>
          </a:stretch>
        </p:blipFill>
        <p:spPr>
          <a:xfrm>
            <a:off x="7753095" y="6062145"/>
            <a:ext cx="171437" cy="171437"/>
          </a:xfrm>
          <a:prstGeom prst="rect">
            <a:avLst/>
          </a:prstGeom>
        </p:spPr>
      </p:pic>
    </p:spTree>
    <p:extLst>
      <p:ext uri="{BB962C8B-B14F-4D97-AF65-F5344CB8AC3E}">
        <p14:creationId xmlns:p14="http://schemas.microsoft.com/office/powerpoint/2010/main" val="722212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901685" y="3635411"/>
            <a:ext cx="4518154" cy="2392597"/>
          </a:xfrm>
          <a:custGeom>
            <a:avLst/>
            <a:gdLst/>
            <a:ahLst/>
            <a:cxnLst/>
            <a:rect l="l" t="t" r="r" b="b"/>
            <a:pathLst>
              <a:path w="6701790" h="9947910">
                <a:moveTo>
                  <a:pt x="6701366" y="0"/>
                </a:moveTo>
                <a:lnTo>
                  <a:pt x="0" y="0"/>
                </a:lnTo>
                <a:lnTo>
                  <a:pt x="0" y="9947341"/>
                </a:lnTo>
                <a:lnTo>
                  <a:pt x="6701366" y="9947341"/>
                </a:lnTo>
                <a:lnTo>
                  <a:pt x="6701366"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10" name="object 10"/>
          <p:cNvSpPr txBox="1">
            <a:spLocks noGrp="1"/>
          </p:cNvSpPr>
          <p:nvPr>
            <p:ph type="title"/>
          </p:nvPr>
        </p:nvSpPr>
        <p:spPr>
          <a:xfrm>
            <a:off x="1059355" y="176780"/>
            <a:ext cx="11222173" cy="469373"/>
          </a:xfrm>
          <a:prstGeom prst="rect">
            <a:avLst/>
          </a:prstGeom>
        </p:spPr>
        <p:txBody>
          <a:bodyPr vert="horz" wrap="square" lIns="0" tIns="7316" rIns="0" bIns="0" rtlCol="0">
            <a:spAutoFit/>
          </a:bodyPr>
          <a:lstStyle/>
          <a:p>
            <a:pPr marL="7701">
              <a:spcBef>
                <a:spcPts val="58"/>
              </a:spcBef>
              <a:tabLst>
                <a:tab pos="876406" algn="l"/>
                <a:tab pos="2124398" algn="l"/>
                <a:tab pos="3030839" algn="l"/>
                <a:tab pos="3651947" algn="l"/>
                <a:tab pos="4357384" algn="l"/>
                <a:tab pos="4810605" algn="l"/>
                <a:tab pos="5135984" algn="l"/>
                <a:tab pos="5775960" algn="l"/>
              </a:tabLst>
            </a:pPr>
            <a:r>
              <a:rPr lang="en-US" dirty="0"/>
              <a:t>DIFFERENCE BETWEEN PRIMITIVE AND OBJECT DATATYPES</a:t>
            </a:r>
            <a:endParaRPr dirty="0"/>
          </a:p>
        </p:txBody>
      </p:sp>
      <p:sp>
        <p:nvSpPr>
          <p:cNvPr id="5" name="Rectangle 4">
            <a:extLst>
              <a:ext uri="{FF2B5EF4-FFF2-40B4-BE49-F238E27FC236}">
                <a16:creationId xmlns:a16="http://schemas.microsoft.com/office/drawing/2014/main" id="{8B011941-9339-065F-F08F-6A07621CB78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bject 10">
            <a:extLst>
              <a:ext uri="{FF2B5EF4-FFF2-40B4-BE49-F238E27FC236}">
                <a16:creationId xmlns:a16="http://schemas.microsoft.com/office/drawing/2014/main" id="{96B8F27F-B2F9-A7DC-F158-54C8AA2CDD3F}"/>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MODIFIERS IN VUEJS</a:t>
            </a:r>
          </a:p>
        </p:txBody>
      </p:sp>
      <p:sp>
        <p:nvSpPr>
          <p:cNvPr id="8" name="object 4">
            <a:extLst>
              <a:ext uri="{FF2B5EF4-FFF2-40B4-BE49-F238E27FC236}">
                <a16:creationId xmlns:a16="http://schemas.microsoft.com/office/drawing/2014/main" id="{789C090C-EB05-71A5-2475-DE661881383B}"/>
              </a:ext>
            </a:extLst>
          </p:cNvPr>
          <p:cNvSpPr/>
          <p:nvPr/>
        </p:nvSpPr>
        <p:spPr>
          <a:xfrm>
            <a:off x="1319514" y="1520904"/>
            <a:ext cx="9514390" cy="1612702"/>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11" name="object 5">
            <a:extLst>
              <a:ext uri="{FF2B5EF4-FFF2-40B4-BE49-F238E27FC236}">
                <a16:creationId xmlns:a16="http://schemas.microsoft.com/office/drawing/2014/main" id="{876F2BD5-82EF-9903-AE5C-9DD3E6875266}"/>
              </a:ext>
            </a:extLst>
          </p:cNvPr>
          <p:cNvSpPr txBox="1"/>
          <p:nvPr/>
        </p:nvSpPr>
        <p:spPr>
          <a:xfrm>
            <a:off x="1859928" y="1829450"/>
            <a:ext cx="8472144" cy="995611"/>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sz="2400" kern="0" dirty="0">
                <a:solidFill>
                  <a:srgbClr val="33475B"/>
                </a:solidFill>
                <a:latin typeface="Arial"/>
                <a:cs typeface="Arial"/>
              </a:rPr>
              <a:t>A suffix you can add to either the v-on directive or the v-model directive to add some functionality inline within the template .</a:t>
            </a:r>
          </a:p>
        </p:txBody>
      </p:sp>
      <p:pic>
        <p:nvPicPr>
          <p:cNvPr id="13" name="object 31">
            <a:extLst>
              <a:ext uri="{FF2B5EF4-FFF2-40B4-BE49-F238E27FC236}">
                <a16:creationId xmlns:a16="http://schemas.microsoft.com/office/drawing/2014/main" id="{34A6E78D-DBF4-9784-A80B-655CB44E89B6}"/>
              </a:ext>
            </a:extLst>
          </p:cNvPr>
          <p:cNvPicPr/>
          <p:nvPr/>
        </p:nvPicPr>
        <p:blipFill>
          <a:blip r:embed="rId2" cstate="print"/>
          <a:stretch>
            <a:fillRect/>
          </a:stretch>
        </p:blipFill>
        <p:spPr>
          <a:xfrm>
            <a:off x="7486878" y="4050576"/>
            <a:ext cx="171437" cy="171437"/>
          </a:xfrm>
          <a:prstGeom prst="rect">
            <a:avLst/>
          </a:prstGeom>
        </p:spPr>
      </p:pic>
      <p:sp>
        <p:nvSpPr>
          <p:cNvPr id="14" name="object 5">
            <a:extLst>
              <a:ext uri="{FF2B5EF4-FFF2-40B4-BE49-F238E27FC236}">
                <a16:creationId xmlns:a16="http://schemas.microsoft.com/office/drawing/2014/main" id="{C0ED0502-AA2B-62FB-5552-CC0CE59EEC4C}"/>
              </a:ext>
            </a:extLst>
          </p:cNvPr>
          <p:cNvSpPr txBox="1"/>
          <p:nvPr/>
        </p:nvSpPr>
        <p:spPr>
          <a:xfrm>
            <a:off x="7905751" y="3967489"/>
            <a:ext cx="2644009" cy="1573782"/>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kern="0" dirty="0">
                <a:solidFill>
                  <a:srgbClr val="34495E"/>
                </a:solidFill>
                <a:latin typeface="Arial"/>
                <a:cs typeface="Arial"/>
              </a:rPr>
              <a:t>.trim</a:t>
            </a:r>
          </a:p>
          <a:p>
            <a:pPr marL="7701" marR="3081" indent="385" defTabSz="554492">
              <a:lnSpc>
                <a:spcPct val="142400"/>
              </a:lnSpc>
              <a:spcBef>
                <a:spcPts val="61"/>
              </a:spcBef>
            </a:pPr>
            <a:r>
              <a:rPr lang="en-US" kern="0" dirty="0">
                <a:solidFill>
                  <a:srgbClr val="34495E"/>
                </a:solidFill>
                <a:latin typeface="Arial"/>
                <a:cs typeface="Arial"/>
              </a:rPr>
              <a:t>.number</a:t>
            </a:r>
          </a:p>
          <a:p>
            <a:pPr marL="7701" marR="3081" indent="385" defTabSz="554492">
              <a:lnSpc>
                <a:spcPct val="142400"/>
              </a:lnSpc>
              <a:spcBef>
                <a:spcPts val="61"/>
              </a:spcBef>
            </a:pPr>
            <a:r>
              <a:rPr lang="en-US" kern="0" dirty="0">
                <a:solidFill>
                  <a:srgbClr val="34495E"/>
                </a:solidFill>
                <a:latin typeface="Arial"/>
                <a:cs typeface="Arial"/>
              </a:rPr>
              <a:t>.lazy</a:t>
            </a:r>
          </a:p>
          <a:p>
            <a:pPr marL="7701" marR="3081" indent="385" defTabSz="554492">
              <a:lnSpc>
                <a:spcPct val="142400"/>
              </a:lnSpc>
              <a:spcBef>
                <a:spcPts val="61"/>
              </a:spcBef>
            </a:pPr>
            <a:r>
              <a:rPr lang="en-US" kern="0" dirty="0">
                <a:solidFill>
                  <a:srgbClr val="34495E"/>
                </a:solidFill>
                <a:latin typeface="Arial"/>
                <a:cs typeface="Arial"/>
              </a:rPr>
              <a:t>.prevent</a:t>
            </a:r>
          </a:p>
        </p:txBody>
      </p:sp>
      <p:pic>
        <p:nvPicPr>
          <p:cNvPr id="15" name="object 31">
            <a:extLst>
              <a:ext uri="{FF2B5EF4-FFF2-40B4-BE49-F238E27FC236}">
                <a16:creationId xmlns:a16="http://schemas.microsoft.com/office/drawing/2014/main" id="{022DE6E4-47E9-4806-65EA-14C51F436626}"/>
              </a:ext>
            </a:extLst>
          </p:cNvPr>
          <p:cNvPicPr/>
          <p:nvPr/>
        </p:nvPicPr>
        <p:blipFill>
          <a:blip r:embed="rId2" cstate="print"/>
          <a:stretch>
            <a:fillRect/>
          </a:stretch>
        </p:blipFill>
        <p:spPr>
          <a:xfrm>
            <a:off x="7483498" y="4864472"/>
            <a:ext cx="171437" cy="171437"/>
          </a:xfrm>
          <a:prstGeom prst="rect">
            <a:avLst/>
          </a:prstGeom>
        </p:spPr>
      </p:pic>
      <p:pic>
        <p:nvPicPr>
          <p:cNvPr id="16" name="object 31">
            <a:extLst>
              <a:ext uri="{FF2B5EF4-FFF2-40B4-BE49-F238E27FC236}">
                <a16:creationId xmlns:a16="http://schemas.microsoft.com/office/drawing/2014/main" id="{C7210870-2064-87D1-64C4-FBB3D8BCFD01}"/>
              </a:ext>
            </a:extLst>
          </p:cNvPr>
          <p:cNvPicPr/>
          <p:nvPr/>
        </p:nvPicPr>
        <p:blipFill>
          <a:blip r:embed="rId2" cstate="print"/>
          <a:stretch>
            <a:fillRect/>
          </a:stretch>
        </p:blipFill>
        <p:spPr>
          <a:xfrm>
            <a:off x="7486876" y="5321353"/>
            <a:ext cx="171437" cy="171437"/>
          </a:xfrm>
          <a:prstGeom prst="rect">
            <a:avLst/>
          </a:prstGeom>
        </p:spPr>
      </p:pic>
      <p:pic>
        <p:nvPicPr>
          <p:cNvPr id="21" name="object 31">
            <a:extLst>
              <a:ext uri="{FF2B5EF4-FFF2-40B4-BE49-F238E27FC236}">
                <a16:creationId xmlns:a16="http://schemas.microsoft.com/office/drawing/2014/main" id="{8CE0C607-5A47-E97B-4190-7737D0F6D426}"/>
              </a:ext>
            </a:extLst>
          </p:cNvPr>
          <p:cNvPicPr/>
          <p:nvPr/>
        </p:nvPicPr>
        <p:blipFill>
          <a:blip r:embed="rId2" cstate="print"/>
          <a:stretch>
            <a:fillRect/>
          </a:stretch>
        </p:blipFill>
        <p:spPr>
          <a:xfrm>
            <a:off x="7483497" y="4497375"/>
            <a:ext cx="171437" cy="171437"/>
          </a:xfrm>
          <a:prstGeom prst="rect">
            <a:avLst/>
          </a:prstGeom>
        </p:spPr>
      </p:pic>
    </p:spTree>
    <p:extLst>
      <p:ext uri="{BB962C8B-B14F-4D97-AF65-F5344CB8AC3E}">
        <p14:creationId xmlns:p14="http://schemas.microsoft.com/office/powerpoint/2010/main" val="1559545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pic>
        <p:nvPicPr>
          <p:cNvPr id="5122" name="Picture 2" descr="30 Days of Vue - Methods and Computed Properties">
            <a:extLst>
              <a:ext uri="{FF2B5EF4-FFF2-40B4-BE49-F238E27FC236}">
                <a16:creationId xmlns:a16="http://schemas.microsoft.com/office/drawing/2014/main" id="{BECD7055-946A-78BC-0CC2-6C174026DA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7396"/>
            <a:ext cx="12192000" cy="621060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METHODS VS COMPUTED PROPERTIES</a:t>
            </a:r>
          </a:p>
        </p:txBody>
      </p:sp>
    </p:spTree>
    <p:extLst>
      <p:ext uri="{BB962C8B-B14F-4D97-AF65-F5344CB8AC3E}">
        <p14:creationId xmlns:p14="http://schemas.microsoft.com/office/powerpoint/2010/main" val="671621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COMPUTED PROPERTIES VS WATCHERS</a:t>
            </a:r>
          </a:p>
        </p:txBody>
      </p:sp>
      <p:sp>
        <p:nvSpPr>
          <p:cNvPr id="6" name="object 4">
            <a:extLst>
              <a:ext uri="{FF2B5EF4-FFF2-40B4-BE49-F238E27FC236}">
                <a16:creationId xmlns:a16="http://schemas.microsoft.com/office/drawing/2014/main" id="{7EB6EAC1-31A0-E768-75BE-F1B075CD5E87}"/>
              </a:ext>
            </a:extLst>
          </p:cNvPr>
          <p:cNvSpPr/>
          <p:nvPr/>
        </p:nvSpPr>
        <p:spPr>
          <a:xfrm>
            <a:off x="5303520" y="2377440"/>
            <a:ext cx="5933440" cy="944880"/>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8" name="Rectangle 7">
            <a:extLst>
              <a:ext uri="{FF2B5EF4-FFF2-40B4-BE49-F238E27FC236}">
                <a16:creationId xmlns:a16="http://schemas.microsoft.com/office/drawing/2014/main" id="{ED3547D2-2097-E4CE-BD20-C0B300D5E081}"/>
              </a:ext>
            </a:extLst>
          </p:cNvPr>
          <p:cNvSpPr/>
          <p:nvPr/>
        </p:nvSpPr>
        <p:spPr>
          <a:xfrm rot="20384841">
            <a:off x="4084398" y="1959733"/>
            <a:ext cx="3024943" cy="636471"/>
          </a:xfrm>
          <a:prstGeom prst="rect">
            <a:avLst/>
          </a:prstGeom>
          <a:solidFill>
            <a:schemeClr val="bg1"/>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5">
            <a:extLst>
              <a:ext uri="{FF2B5EF4-FFF2-40B4-BE49-F238E27FC236}">
                <a16:creationId xmlns:a16="http://schemas.microsoft.com/office/drawing/2014/main" id="{AD380AC8-CD25-CED1-ACAE-79420F7CD1B6}"/>
              </a:ext>
            </a:extLst>
          </p:cNvPr>
          <p:cNvSpPr txBox="1"/>
          <p:nvPr/>
        </p:nvSpPr>
        <p:spPr>
          <a:xfrm rot="20325778">
            <a:off x="4317404" y="1990429"/>
            <a:ext cx="2958355" cy="355372"/>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kern="0" dirty="0">
                <a:solidFill>
                  <a:srgbClr val="34495E"/>
                </a:solidFill>
                <a:latin typeface="Arial"/>
                <a:cs typeface="Arial"/>
              </a:rPr>
              <a:t>Use Computed Properties</a:t>
            </a:r>
            <a:endParaRPr kern="0" dirty="0">
              <a:solidFill>
                <a:srgbClr val="34495E"/>
              </a:solidFill>
              <a:latin typeface="Arial"/>
              <a:cs typeface="Arial"/>
            </a:endParaRPr>
          </a:p>
        </p:txBody>
      </p:sp>
      <p:sp>
        <p:nvSpPr>
          <p:cNvPr id="10" name="object 5">
            <a:extLst>
              <a:ext uri="{FF2B5EF4-FFF2-40B4-BE49-F238E27FC236}">
                <a16:creationId xmlns:a16="http://schemas.microsoft.com/office/drawing/2014/main" id="{762A24F5-4208-6DC2-74AD-EA5BE95B2642}"/>
              </a:ext>
            </a:extLst>
          </p:cNvPr>
          <p:cNvSpPr txBox="1"/>
          <p:nvPr/>
        </p:nvSpPr>
        <p:spPr>
          <a:xfrm>
            <a:off x="5890221" y="2650689"/>
            <a:ext cx="6118899" cy="355372"/>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kern="0" dirty="0">
                <a:solidFill>
                  <a:srgbClr val="34495E"/>
                </a:solidFill>
                <a:latin typeface="Arial"/>
                <a:cs typeface="Arial"/>
              </a:rPr>
              <a:t>When you need to reduce the length of a variable</a:t>
            </a:r>
            <a:endParaRPr kern="0" dirty="0">
              <a:solidFill>
                <a:srgbClr val="34495E"/>
              </a:solidFill>
              <a:latin typeface="Arial"/>
              <a:cs typeface="Arial"/>
            </a:endParaRPr>
          </a:p>
        </p:txBody>
      </p:sp>
      <p:sp>
        <p:nvSpPr>
          <p:cNvPr id="18" name="object 4">
            <a:extLst>
              <a:ext uri="{FF2B5EF4-FFF2-40B4-BE49-F238E27FC236}">
                <a16:creationId xmlns:a16="http://schemas.microsoft.com/office/drawing/2014/main" id="{17C372F4-2E02-D691-36C6-ECB6E310DD9D}"/>
              </a:ext>
            </a:extLst>
          </p:cNvPr>
          <p:cNvSpPr/>
          <p:nvPr/>
        </p:nvSpPr>
        <p:spPr>
          <a:xfrm>
            <a:off x="1798320" y="4701866"/>
            <a:ext cx="8537872" cy="1364426"/>
          </a:xfrm>
          <a:custGeom>
            <a:avLst/>
            <a:gdLst/>
            <a:ahLst/>
            <a:cxnLst/>
            <a:rect l="l" t="t" r="r" b="b"/>
            <a:pathLst>
              <a:path w="9982200" h="4683125">
                <a:moveTo>
                  <a:pt x="9981892" y="0"/>
                </a:moveTo>
                <a:lnTo>
                  <a:pt x="0" y="0"/>
                </a:lnTo>
                <a:lnTo>
                  <a:pt x="0" y="4682824"/>
                </a:lnTo>
                <a:lnTo>
                  <a:pt x="9981892" y="4682824"/>
                </a:lnTo>
                <a:lnTo>
                  <a:pt x="9981892" y="0"/>
                </a:lnTo>
                <a:close/>
              </a:path>
            </a:pathLst>
          </a:custGeom>
          <a:solidFill>
            <a:srgbClr val="E7E7E7"/>
          </a:solidFill>
        </p:spPr>
        <p:txBody>
          <a:bodyPr wrap="square" lIns="0" tIns="0" rIns="0" bIns="0" rtlCol="0"/>
          <a:lstStyle/>
          <a:p>
            <a:pPr defTabSz="554492"/>
            <a:endParaRPr sz="1092" kern="0" dirty="0">
              <a:solidFill>
                <a:sysClr val="windowText" lastClr="000000"/>
              </a:solidFill>
            </a:endParaRPr>
          </a:p>
        </p:txBody>
      </p:sp>
      <p:sp>
        <p:nvSpPr>
          <p:cNvPr id="19" name="Rectangle 18">
            <a:extLst>
              <a:ext uri="{FF2B5EF4-FFF2-40B4-BE49-F238E27FC236}">
                <a16:creationId xmlns:a16="http://schemas.microsoft.com/office/drawing/2014/main" id="{27826E75-C16F-EDAF-D1ED-3C555C6C3811}"/>
              </a:ext>
            </a:extLst>
          </p:cNvPr>
          <p:cNvSpPr/>
          <p:nvPr/>
        </p:nvSpPr>
        <p:spPr>
          <a:xfrm rot="20384841">
            <a:off x="1087876" y="4260328"/>
            <a:ext cx="2216613" cy="636471"/>
          </a:xfrm>
          <a:prstGeom prst="rect">
            <a:avLst/>
          </a:prstGeom>
          <a:solidFill>
            <a:srgbClr val="33475B"/>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bject 5">
            <a:extLst>
              <a:ext uri="{FF2B5EF4-FFF2-40B4-BE49-F238E27FC236}">
                <a16:creationId xmlns:a16="http://schemas.microsoft.com/office/drawing/2014/main" id="{43C5291E-8DA4-7031-614B-620EE96715CB}"/>
              </a:ext>
            </a:extLst>
          </p:cNvPr>
          <p:cNvSpPr txBox="1"/>
          <p:nvPr/>
        </p:nvSpPr>
        <p:spPr>
          <a:xfrm rot="20325778">
            <a:off x="1523809" y="4267398"/>
            <a:ext cx="1785224" cy="355372"/>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kern="0" dirty="0">
                <a:solidFill>
                  <a:schemeClr val="bg1"/>
                </a:solidFill>
                <a:latin typeface="Arial"/>
                <a:cs typeface="Arial"/>
              </a:rPr>
              <a:t>Use</a:t>
            </a:r>
            <a:r>
              <a:rPr lang="en-US" kern="0" dirty="0">
                <a:solidFill>
                  <a:srgbClr val="34495E"/>
                </a:solidFill>
                <a:latin typeface="Arial"/>
                <a:cs typeface="Arial"/>
              </a:rPr>
              <a:t> </a:t>
            </a:r>
            <a:r>
              <a:rPr lang="en-US" kern="0" dirty="0">
                <a:solidFill>
                  <a:schemeClr val="bg1"/>
                </a:solidFill>
                <a:latin typeface="Arial"/>
                <a:cs typeface="Arial"/>
              </a:rPr>
              <a:t>Watchers</a:t>
            </a:r>
            <a:endParaRPr kern="0" dirty="0">
              <a:solidFill>
                <a:schemeClr val="bg1"/>
              </a:solidFill>
              <a:latin typeface="Arial"/>
              <a:cs typeface="Arial"/>
            </a:endParaRPr>
          </a:p>
        </p:txBody>
      </p:sp>
      <p:sp>
        <p:nvSpPr>
          <p:cNvPr id="21" name="object 5">
            <a:extLst>
              <a:ext uri="{FF2B5EF4-FFF2-40B4-BE49-F238E27FC236}">
                <a16:creationId xmlns:a16="http://schemas.microsoft.com/office/drawing/2014/main" id="{2CFBA8EB-462A-0F84-B77D-366A5F27DF07}"/>
              </a:ext>
            </a:extLst>
          </p:cNvPr>
          <p:cNvSpPr txBox="1"/>
          <p:nvPr/>
        </p:nvSpPr>
        <p:spPr>
          <a:xfrm>
            <a:off x="2385021" y="4975115"/>
            <a:ext cx="8136366" cy="748685"/>
          </a:xfrm>
          <a:prstGeom prst="rect">
            <a:avLst/>
          </a:prstGeom>
        </p:spPr>
        <p:txBody>
          <a:bodyPr vert="horz" wrap="square" lIns="0" tIns="7701" rIns="0" bIns="0" rtlCol="0">
            <a:spAutoFit/>
          </a:bodyPr>
          <a:lstStyle/>
          <a:p>
            <a:pPr marL="7701" marR="3081" indent="385" defTabSz="554492">
              <a:lnSpc>
                <a:spcPct val="142400"/>
              </a:lnSpc>
              <a:spcBef>
                <a:spcPts val="61"/>
              </a:spcBef>
            </a:pPr>
            <a:r>
              <a:rPr lang="en-US" kern="0" dirty="0">
                <a:solidFill>
                  <a:srgbClr val="34495E"/>
                </a:solidFill>
                <a:latin typeface="Arial"/>
                <a:cs typeface="Arial"/>
              </a:rPr>
              <a:t>You have to check if a property has changed to a favorable value to know if you’re ready to perform an action</a:t>
            </a:r>
          </a:p>
        </p:txBody>
      </p:sp>
      <p:pic>
        <p:nvPicPr>
          <p:cNvPr id="22" name="object 12">
            <a:extLst>
              <a:ext uri="{FF2B5EF4-FFF2-40B4-BE49-F238E27FC236}">
                <a16:creationId xmlns:a16="http://schemas.microsoft.com/office/drawing/2014/main" id="{9E85219E-BC75-B519-A925-1EF9C64EA406}"/>
              </a:ext>
            </a:extLst>
          </p:cNvPr>
          <p:cNvPicPr/>
          <p:nvPr/>
        </p:nvPicPr>
        <p:blipFill>
          <a:blip r:embed="rId2" cstate="print"/>
          <a:stretch>
            <a:fillRect/>
          </a:stretch>
        </p:blipFill>
        <p:spPr>
          <a:xfrm>
            <a:off x="2049298" y="5079667"/>
            <a:ext cx="228583" cy="228583"/>
          </a:xfrm>
          <a:prstGeom prst="rect">
            <a:avLst/>
          </a:prstGeom>
        </p:spPr>
      </p:pic>
      <p:pic>
        <p:nvPicPr>
          <p:cNvPr id="23" name="object 12">
            <a:extLst>
              <a:ext uri="{FF2B5EF4-FFF2-40B4-BE49-F238E27FC236}">
                <a16:creationId xmlns:a16="http://schemas.microsoft.com/office/drawing/2014/main" id="{7B72DD7A-4521-9B7D-FE67-8E7F78FA5AD3}"/>
              </a:ext>
            </a:extLst>
          </p:cNvPr>
          <p:cNvPicPr/>
          <p:nvPr/>
        </p:nvPicPr>
        <p:blipFill>
          <a:blip r:embed="rId2" cstate="print"/>
          <a:stretch>
            <a:fillRect/>
          </a:stretch>
        </p:blipFill>
        <p:spPr>
          <a:xfrm>
            <a:off x="5567998" y="2766089"/>
            <a:ext cx="228583" cy="228583"/>
          </a:xfrm>
          <a:prstGeom prst="rect">
            <a:avLst/>
          </a:prstGeom>
        </p:spPr>
      </p:pic>
      <p:pic>
        <p:nvPicPr>
          <p:cNvPr id="24" name="Picture 4">
            <a:extLst>
              <a:ext uri="{FF2B5EF4-FFF2-40B4-BE49-F238E27FC236}">
                <a16:creationId xmlns:a16="http://schemas.microsoft.com/office/drawing/2014/main" id="{B8109103-B11D-78CC-DEE1-9C2F7C3BC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784" y="1191221"/>
            <a:ext cx="2876801" cy="2837109"/>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0598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5" y="279872"/>
            <a:ext cx="7809074"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COMPONENTS IN VUEJS</a:t>
            </a:r>
          </a:p>
        </p:txBody>
      </p:sp>
      <p:pic>
        <p:nvPicPr>
          <p:cNvPr id="2" name="Picture 4" descr="Component Tree">
            <a:extLst>
              <a:ext uri="{FF2B5EF4-FFF2-40B4-BE49-F238E27FC236}">
                <a16:creationId xmlns:a16="http://schemas.microsoft.com/office/drawing/2014/main" id="{5FABD9BF-6679-13E7-6C87-F5DFBB11A8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27268"/>
            <a:ext cx="12292314" cy="59307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66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4" y="279872"/>
            <a:ext cx="9460631"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PASSING DATA FROM PARENT TO DIRECT CHILD</a:t>
            </a:r>
          </a:p>
        </p:txBody>
      </p:sp>
      <p:pic>
        <p:nvPicPr>
          <p:cNvPr id="7174" name="Picture 6" descr="How To Pass Data To A Child Component In Vuejs? - Web Development - Stopbyte">
            <a:extLst>
              <a:ext uri="{FF2B5EF4-FFF2-40B4-BE49-F238E27FC236}">
                <a16:creationId xmlns:a16="http://schemas.microsoft.com/office/drawing/2014/main" id="{D00030C3-BEE1-32E1-6972-950AA3C42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840"/>
            <a:ext cx="12191999" cy="600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2629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4" y="279872"/>
            <a:ext cx="9460631"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PASSING DATA FROM PARENT TO INDIRECT CHILD</a:t>
            </a:r>
          </a:p>
        </p:txBody>
      </p:sp>
      <p:pic>
        <p:nvPicPr>
          <p:cNvPr id="9218" name="Picture 2" descr="Provide / inject | Vue.js">
            <a:extLst>
              <a:ext uri="{FF2B5EF4-FFF2-40B4-BE49-F238E27FC236}">
                <a16:creationId xmlns:a16="http://schemas.microsoft.com/office/drawing/2014/main" id="{EFDBE77B-049C-297F-19FA-CBF00305F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840"/>
            <a:ext cx="12192000" cy="600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329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4" y="279872"/>
            <a:ext cx="9460631"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TASK</a:t>
            </a:r>
          </a:p>
        </p:txBody>
      </p:sp>
      <p:sp>
        <p:nvSpPr>
          <p:cNvPr id="2" name="object 5">
            <a:extLst>
              <a:ext uri="{FF2B5EF4-FFF2-40B4-BE49-F238E27FC236}">
                <a16:creationId xmlns:a16="http://schemas.microsoft.com/office/drawing/2014/main" id="{A0E926C3-FBDF-D670-75D0-02D9121A6431}"/>
              </a:ext>
            </a:extLst>
          </p:cNvPr>
          <p:cNvSpPr txBox="1"/>
          <p:nvPr/>
        </p:nvSpPr>
        <p:spPr>
          <a:xfrm>
            <a:off x="1159164" y="1917739"/>
            <a:ext cx="10045130" cy="3669100"/>
          </a:xfrm>
          <a:prstGeom prst="rect">
            <a:avLst/>
          </a:prstGeom>
        </p:spPr>
        <p:txBody>
          <a:bodyPr vert="horz" wrap="square" lIns="0" tIns="7701" rIns="0" bIns="0" rtlCol="0">
            <a:spAutoFit/>
          </a:bodyPr>
          <a:lstStyle/>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Create a form to take data of users and admins in parent component</a:t>
            </a:r>
          </a:p>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Display the data from  child components related to whether the role is user or admin </a:t>
            </a:r>
          </a:p>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Emit delete event from child components to parent to delete user or admin</a:t>
            </a:r>
            <a:endParaRPr lang="ar-EG" sz="2400" kern="0" dirty="0">
              <a:solidFill>
                <a:srgbClr val="33475B"/>
              </a:solidFill>
              <a:latin typeface="Arial"/>
              <a:cs typeface="Arial"/>
            </a:endParaRPr>
          </a:p>
          <a:p>
            <a:pPr marL="7701" marR="3081" defTabSz="554492">
              <a:lnSpc>
                <a:spcPct val="142400"/>
              </a:lnSpc>
              <a:spcBef>
                <a:spcPts val="61"/>
              </a:spcBef>
            </a:pPr>
            <a:endParaRPr lang="en-US" sz="2400" kern="0" dirty="0">
              <a:solidFill>
                <a:sysClr val="windowText" lastClr="000000"/>
              </a:solidFill>
              <a:latin typeface="Arial"/>
              <a:cs typeface="Arial"/>
            </a:endParaRPr>
          </a:p>
          <a:p>
            <a:pPr marL="350601" marR="3081" indent="-342900" defTabSz="554492">
              <a:lnSpc>
                <a:spcPct val="142400"/>
              </a:lnSpc>
              <a:spcBef>
                <a:spcPts val="61"/>
              </a:spcBef>
              <a:buFont typeface="Wingdings" panose="05000000000000000000" pitchFamily="2" charset="2"/>
              <a:buChar char="§"/>
            </a:pPr>
            <a:r>
              <a:rPr lang="en-US" sz="2400" kern="0" dirty="0">
                <a:solidFill>
                  <a:sysClr val="windowText" lastClr="000000"/>
                </a:solidFill>
                <a:latin typeface="Arial"/>
                <a:cs typeface="Arial"/>
              </a:rPr>
              <a:t> </a:t>
            </a:r>
            <a:r>
              <a:rPr lang="en-US" sz="2400" kern="0" dirty="0">
                <a:solidFill>
                  <a:srgbClr val="3FB27F"/>
                </a:solidFill>
                <a:latin typeface="Arial"/>
                <a:cs typeface="Arial"/>
              </a:rPr>
              <a:t>Bonus</a:t>
            </a:r>
            <a:r>
              <a:rPr lang="en-US" sz="2400" kern="0" dirty="0">
                <a:solidFill>
                  <a:sysClr val="windowText" lastClr="000000"/>
                </a:solidFill>
                <a:latin typeface="Arial"/>
                <a:cs typeface="Arial"/>
              </a:rPr>
              <a:t>            </a:t>
            </a:r>
            <a:r>
              <a:rPr lang="en-US" sz="2400" kern="0" dirty="0">
                <a:solidFill>
                  <a:srgbClr val="33475B"/>
                </a:solidFill>
                <a:latin typeface="Arial"/>
                <a:cs typeface="Arial"/>
              </a:rPr>
              <a:t>enable user to change the theme color  </a:t>
            </a:r>
            <a:endParaRPr sz="2400" kern="0" dirty="0">
              <a:solidFill>
                <a:srgbClr val="33475B"/>
              </a:solidFill>
              <a:latin typeface="Arial"/>
              <a:cs typeface="Arial"/>
            </a:endParaRPr>
          </a:p>
        </p:txBody>
      </p:sp>
      <p:pic>
        <p:nvPicPr>
          <p:cNvPr id="6" name="object 31">
            <a:extLst>
              <a:ext uri="{FF2B5EF4-FFF2-40B4-BE49-F238E27FC236}">
                <a16:creationId xmlns:a16="http://schemas.microsoft.com/office/drawing/2014/main" id="{4040925A-6248-1B76-97D6-6FCB91AA8C25}"/>
              </a:ext>
            </a:extLst>
          </p:cNvPr>
          <p:cNvPicPr/>
          <p:nvPr/>
        </p:nvPicPr>
        <p:blipFill>
          <a:blip r:embed="rId2" cstate="print"/>
          <a:stretch>
            <a:fillRect/>
          </a:stretch>
        </p:blipFill>
        <p:spPr>
          <a:xfrm>
            <a:off x="2812211" y="5215649"/>
            <a:ext cx="430206" cy="275046"/>
          </a:xfrm>
          <a:prstGeom prst="rect">
            <a:avLst/>
          </a:prstGeom>
        </p:spPr>
      </p:pic>
    </p:spTree>
    <p:extLst>
      <p:ext uri="{BB962C8B-B14F-4D97-AF65-F5344CB8AC3E}">
        <p14:creationId xmlns:p14="http://schemas.microsoft.com/office/powerpoint/2010/main" val="31630376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4" y="279872"/>
            <a:ext cx="9460631"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REPORT</a:t>
            </a:r>
          </a:p>
        </p:txBody>
      </p:sp>
      <p:sp>
        <p:nvSpPr>
          <p:cNvPr id="2" name="object 5">
            <a:extLst>
              <a:ext uri="{FF2B5EF4-FFF2-40B4-BE49-F238E27FC236}">
                <a16:creationId xmlns:a16="http://schemas.microsoft.com/office/drawing/2014/main" id="{A0E926C3-FBDF-D670-75D0-02D9121A6431}"/>
              </a:ext>
            </a:extLst>
          </p:cNvPr>
          <p:cNvSpPr txBox="1"/>
          <p:nvPr/>
        </p:nvSpPr>
        <p:spPr>
          <a:xfrm>
            <a:off x="1159164" y="1917739"/>
            <a:ext cx="10045130" cy="1545698"/>
          </a:xfrm>
          <a:prstGeom prst="rect">
            <a:avLst/>
          </a:prstGeom>
        </p:spPr>
        <p:txBody>
          <a:bodyPr vert="horz" wrap="square" lIns="0" tIns="7701" rIns="0" bIns="0" rtlCol="0">
            <a:spAutoFit/>
          </a:bodyPr>
          <a:lstStyle/>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Immediate and deep in watchers </a:t>
            </a:r>
          </a:p>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Component instances in </a:t>
            </a:r>
            <a:r>
              <a:rPr lang="en-US" sz="2400" kern="0" dirty="0" err="1">
                <a:solidFill>
                  <a:srgbClr val="33475B"/>
                </a:solidFill>
                <a:latin typeface="Arial"/>
                <a:cs typeface="Arial"/>
              </a:rPr>
              <a:t>vuejs</a:t>
            </a:r>
            <a:endParaRPr lang="en-US" sz="2400" kern="0" dirty="0">
              <a:solidFill>
                <a:srgbClr val="33475B"/>
              </a:solidFill>
              <a:latin typeface="Arial"/>
              <a:cs typeface="Arial"/>
            </a:endParaRPr>
          </a:p>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Event Modifiers          stop  ,  self  , capture , passive </a:t>
            </a:r>
            <a:endParaRPr sz="2400" kern="0" dirty="0">
              <a:solidFill>
                <a:srgbClr val="33475B"/>
              </a:solidFill>
              <a:latin typeface="Arial"/>
              <a:cs typeface="Arial"/>
            </a:endParaRPr>
          </a:p>
        </p:txBody>
      </p:sp>
      <p:pic>
        <p:nvPicPr>
          <p:cNvPr id="6" name="object 31">
            <a:extLst>
              <a:ext uri="{FF2B5EF4-FFF2-40B4-BE49-F238E27FC236}">
                <a16:creationId xmlns:a16="http://schemas.microsoft.com/office/drawing/2014/main" id="{4040925A-6248-1B76-97D6-6FCB91AA8C25}"/>
              </a:ext>
            </a:extLst>
          </p:cNvPr>
          <p:cNvPicPr/>
          <p:nvPr/>
        </p:nvPicPr>
        <p:blipFill>
          <a:blip r:embed="rId2" cstate="print"/>
          <a:stretch>
            <a:fillRect/>
          </a:stretch>
        </p:blipFill>
        <p:spPr>
          <a:xfrm>
            <a:off x="3750238" y="3153954"/>
            <a:ext cx="430206" cy="275046"/>
          </a:xfrm>
          <a:prstGeom prst="rect">
            <a:avLst/>
          </a:prstGeom>
        </p:spPr>
      </p:pic>
    </p:spTree>
    <p:extLst>
      <p:ext uri="{BB962C8B-B14F-4D97-AF65-F5344CB8AC3E}">
        <p14:creationId xmlns:p14="http://schemas.microsoft.com/office/powerpoint/2010/main" val="3995719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66275" y="178023"/>
            <a:ext cx="5544894" cy="469373"/>
          </a:xfrm>
          <a:prstGeom prst="rect">
            <a:avLst/>
          </a:prstGeom>
        </p:spPr>
        <p:txBody>
          <a:bodyPr vert="horz" wrap="square" lIns="0" tIns="7316" rIns="0" bIns="0" rtlCol="0">
            <a:spAutoFit/>
          </a:bodyPr>
          <a:lstStyle/>
          <a:p>
            <a:pPr marL="7701">
              <a:spcBef>
                <a:spcPts val="58"/>
              </a:spcBef>
              <a:tabLst>
                <a:tab pos="815180" algn="l"/>
                <a:tab pos="1693511" algn="l"/>
                <a:tab pos="3974245" algn="l"/>
                <a:tab pos="5026240" algn="l"/>
                <a:tab pos="5582658" algn="l"/>
              </a:tabLst>
            </a:pPr>
            <a:r>
              <a:rPr sz="1940" dirty="0"/>
              <a:t>SOME</a:t>
            </a:r>
            <a:r>
              <a:rPr lang="en-US" sz="1940" dirty="0"/>
              <a:t> </a:t>
            </a:r>
            <a:r>
              <a:rPr sz="1940" dirty="0"/>
              <a:t>QUICK</a:t>
            </a:r>
            <a:r>
              <a:rPr lang="en-US" sz="1940" dirty="0"/>
              <a:t> </a:t>
            </a:r>
            <a:r>
              <a:rPr sz="1940" dirty="0"/>
              <a:t>CONSIDERATIONS</a:t>
            </a:r>
            <a:r>
              <a:rPr lang="en-US" sz="1940" dirty="0"/>
              <a:t> </a:t>
            </a:r>
            <a:r>
              <a:rPr sz="1940" dirty="0"/>
              <a:t>BEFORE</a:t>
            </a:r>
            <a:r>
              <a:rPr lang="en-US" sz="1940" dirty="0"/>
              <a:t> </a:t>
            </a:r>
            <a:r>
              <a:rPr sz="1940" dirty="0"/>
              <a:t>WE</a:t>
            </a:r>
            <a:r>
              <a:rPr lang="en-US" sz="1940" dirty="0"/>
              <a:t> </a:t>
            </a:r>
            <a:r>
              <a:rPr sz="1940" dirty="0"/>
              <a:t>START</a:t>
            </a:r>
            <a:r>
              <a:rPr spc="-206" dirty="0"/>
              <a:t>...</a:t>
            </a:r>
          </a:p>
        </p:txBody>
      </p:sp>
      <p:sp>
        <p:nvSpPr>
          <p:cNvPr id="4" name="Rectangle 3">
            <a:extLst>
              <a:ext uri="{FF2B5EF4-FFF2-40B4-BE49-F238E27FC236}">
                <a16:creationId xmlns:a16="http://schemas.microsoft.com/office/drawing/2014/main" id="{E70ACCAF-26A1-5C4D-7EF1-1EC3D80EA808}"/>
              </a:ext>
            </a:extLst>
          </p:cNvPr>
          <p:cNvSpPr/>
          <p:nvPr/>
        </p:nvSpPr>
        <p:spPr>
          <a:xfrm>
            <a:off x="0" y="0"/>
            <a:ext cx="12192000" cy="857839"/>
          </a:xfrm>
          <a:prstGeom prst="rect">
            <a:avLst/>
          </a:prstGeom>
          <a:solidFill>
            <a:srgbClr val="34495E"/>
          </a:solidFill>
          <a:ln>
            <a:solidFill>
              <a:srgbClr val="3449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bject 10">
            <a:extLst>
              <a:ext uri="{FF2B5EF4-FFF2-40B4-BE49-F238E27FC236}">
                <a16:creationId xmlns:a16="http://schemas.microsoft.com/office/drawing/2014/main" id="{6B6FB006-646D-6F70-EEDB-ACBBE2929DB4}"/>
              </a:ext>
            </a:extLst>
          </p:cNvPr>
          <p:cNvSpPr txBox="1">
            <a:spLocks/>
          </p:cNvSpPr>
          <p:nvPr/>
        </p:nvSpPr>
        <p:spPr>
          <a:xfrm>
            <a:off x="366274" y="279872"/>
            <a:ext cx="9460631" cy="438275"/>
          </a:xfrm>
          <a:prstGeom prst="rect">
            <a:avLst/>
          </a:prstGeom>
        </p:spPr>
        <p:txBody>
          <a:bodyPr vert="horz" wrap="square" lIns="0" tIns="7316" rIns="0" bIns="0" rtlCol="0">
            <a:spAutoFit/>
          </a:bodyPr>
          <a:lstStyle>
            <a:lvl1pPr>
              <a:defRPr sz="3002" b="1" i="0">
                <a:solidFill>
                  <a:srgbClr val="FAFBFB"/>
                </a:solidFill>
                <a:latin typeface="Calibri"/>
                <a:ea typeface="+mj-ea"/>
                <a:cs typeface="Calibri"/>
              </a:defRPr>
            </a:lvl1pPr>
          </a:lstStyle>
          <a:p>
            <a:pPr marL="7701">
              <a:spcBef>
                <a:spcPts val="58"/>
              </a:spcBef>
              <a:tabLst>
                <a:tab pos="628424" algn="l"/>
                <a:tab pos="1374293" algn="l"/>
                <a:tab pos="1810571" algn="l"/>
                <a:tab pos="3563767" algn="l"/>
                <a:tab pos="3943055" algn="l"/>
                <a:tab pos="4650032" algn="l"/>
              </a:tabLst>
            </a:pPr>
            <a:r>
              <a:rPr lang="en-US" sz="2800" kern="0" dirty="0">
                <a:latin typeface="Arial" panose="020B0604020202020204" pitchFamily="34" charset="0"/>
                <a:cs typeface="Arial" panose="020B0604020202020204" pitchFamily="34" charset="0"/>
              </a:rPr>
              <a:t>EXTENSIONS</a:t>
            </a:r>
          </a:p>
        </p:txBody>
      </p:sp>
      <p:sp>
        <p:nvSpPr>
          <p:cNvPr id="2" name="object 5">
            <a:extLst>
              <a:ext uri="{FF2B5EF4-FFF2-40B4-BE49-F238E27FC236}">
                <a16:creationId xmlns:a16="http://schemas.microsoft.com/office/drawing/2014/main" id="{A0E926C3-FBDF-D670-75D0-02D9121A6431}"/>
              </a:ext>
            </a:extLst>
          </p:cNvPr>
          <p:cNvSpPr txBox="1"/>
          <p:nvPr/>
        </p:nvSpPr>
        <p:spPr>
          <a:xfrm>
            <a:off x="1159164" y="1917739"/>
            <a:ext cx="10045130" cy="1545698"/>
          </a:xfrm>
          <a:prstGeom prst="rect">
            <a:avLst/>
          </a:prstGeom>
        </p:spPr>
        <p:txBody>
          <a:bodyPr vert="horz" wrap="square" lIns="0" tIns="7701" rIns="0" bIns="0" rtlCol="0">
            <a:spAutoFit/>
          </a:bodyPr>
          <a:lstStyle/>
          <a:p>
            <a:pPr marL="350601" marR="3081" indent="-342900" defTabSz="554492">
              <a:lnSpc>
                <a:spcPct val="142400"/>
              </a:lnSpc>
              <a:spcBef>
                <a:spcPts val="61"/>
              </a:spcBef>
              <a:buFont typeface="Wingdings" panose="05000000000000000000" pitchFamily="2" charset="2"/>
              <a:buChar char="§"/>
            </a:pPr>
            <a:r>
              <a:rPr lang="en-US" sz="2400" kern="0" dirty="0">
                <a:solidFill>
                  <a:srgbClr val="33475B"/>
                </a:solidFill>
                <a:latin typeface="Arial"/>
                <a:cs typeface="Arial"/>
              </a:rPr>
              <a:t>Vue </a:t>
            </a:r>
            <a:r>
              <a:rPr lang="en-US" sz="2400" kern="0" dirty="0" err="1">
                <a:solidFill>
                  <a:srgbClr val="33475B"/>
                </a:solidFill>
                <a:latin typeface="Arial"/>
                <a:cs typeface="Arial"/>
              </a:rPr>
              <a:t>VSCode</a:t>
            </a:r>
            <a:r>
              <a:rPr lang="en-US" sz="2400" kern="0" dirty="0">
                <a:solidFill>
                  <a:srgbClr val="33475B"/>
                </a:solidFill>
                <a:latin typeface="Arial"/>
                <a:cs typeface="Arial"/>
              </a:rPr>
              <a:t> Snippets  ‘ </a:t>
            </a:r>
            <a:r>
              <a:rPr lang="en-US" sz="2400" kern="0" dirty="0" err="1">
                <a:solidFill>
                  <a:srgbClr val="33475B"/>
                </a:solidFill>
                <a:latin typeface="Arial"/>
                <a:cs typeface="Arial"/>
              </a:rPr>
              <a:t>sarah.drasner</a:t>
            </a:r>
            <a:r>
              <a:rPr lang="en-US" sz="2400" kern="0" dirty="0">
                <a:solidFill>
                  <a:srgbClr val="33475B"/>
                </a:solidFill>
                <a:latin typeface="Arial"/>
                <a:cs typeface="Arial"/>
              </a:rPr>
              <a:t> ’  </a:t>
            </a:r>
          </a:p>
          <a:p>
            <a:pPr marL="350601" marR="3081" indent="-342900" defTabSz="554492">
              <a:lnSpc>
                <a:spcPct val="142400"/>
              </a:lnSpc>
              <a:spcBef>
                <a:spcPts val="61"/>
              </a:spcBef>
              <a:buFont typeface="Wingdings" panose="05000000000000000000" pitchFamily="2" charset="2"/>
              <a:buChar char="§"/>
            </a:pPr>
            <a:r>
              <a:rPr lang="en-US" sz="2400" kern="0" dirty="0" err="1">
                <a:solidFill>
                  <a:srgbClr val="33475B"/>
                </a:solidFill>
                <a:latin typeface="Arial"/>
                <a:cs typeface="Arial"/>
              </a:rPr>
              <a:t>Vetur</a:t>
            </a:r>
            <a:endParaRPr lang="en-US" sz="2400" kern="0" dirty="0">
              <a:solidFill>
                <a:srgbClr val="33475B"/>
              </a:solidFill>
              <a:latin typeface="Arial"/>
              <a:cs typeface="Arial"/>
            </a:endParaRPr>
          </a:p>
          <a:p>
            <a:pPr marL="350601" marR="3081" indent="-342900" defTabSz="554492">
              <a:lnSpc>
                <a:spcPct val="142400"/>
              </a:lnSpc>
              <a:spcBef>
                <a:spcPts val="61"/>
              </a:spcBef>
              <a:buFont typeface="Wingdings" panose="05000000000000000000" pitchFamily="2" charset="2"/>
              <a:buChar char="§"/>
            </a:pPr>
            <a:endParaRPr sz="2400" kern="0" dirty="0">
              <a:solidFill>
                <a:srgbClr val="33475B"/>
              </a:solidFill>
              <a:latin typeface="Arial"/>
              <a:cs typeface="Arial"/>
            </a:endParaRPr>
          </a:p>
        </p:txBody>
      </p:sp>
    </p:spTree>
    <p:extLst>
      <p:ext uri="{BB962C8B-B14F-4D97-AF65-F5344CB8AC3E}">
        <p14:creationId xmlns:p14="http://schemas.microsoft.com/office/powerpoint/2010/main" val="5439254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2250</TotalTime>
  <Words>482</Words>
  <Application>Microsoft Office PowerPoint</Application>
  <PresentationFormat>Widescreen</PresentationFormat>
  <Paragraphs>90</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Brush Script MT</vt:lpstr>
      <vt:lpstr>Calibri</vt:lpstr>
      <vt:lpstr>Ink Free</vt:lpstr>
      <vt:lpstr>Wingdings</vt:lpstr>
      <vt:lpstr>1_Office Theme</vt:lpstr>
      <vt:lpstr>PowerPoint Presentation</vt:lpstr>
      <vt:lpstr>PowerPoint Presentation</vt:lpstr>
      <vt:lpstr>SOME QUICK CONSIDERATIONS BEFORE WE START...</vt:lpstr>
      <vt:lpstr>SOME QUICK CONSIDERATIONS BEFORE WE START...</vt:lpstr>
      <vt:lpstr>SOME QUICK CONSIDERATIONS BEFORE WE START...</vt:lpstr>
      <vt:lpstr>SOME QUICK CONSIDERATIONS BEFORE WE START...</vt:lpstr>
      <vt:lpstr>SOME QUICK CONSIDERATIONS BEFORE WE START...</vt:lpstr>
      <vt:lpstr>SOME QUICK CONSIDERATIONS BEFORE WE START...</vt:lpstr>
      <vt:lpstr>DIFFERENCE BETWEEN PRIMITIVE AND OBJECT DATATYPES</vt:lpstr>
      <vt:lpstr>DIFFERENCE BETWEEN PRIMITIVE AND OBJECT DATATYPES</vt:lpstr>
      <vt:lpstr>SOME QUICK CONSIDERATIONS BEFORE WE START...</vt:lpstr>
      <vt:lpstr>SOME QUICK CONSIDERATIONS BEFORE WE START...</vt:lpstr>
      <vt:lpstr>SOME QUICK CONSIDERATIONS BEFORE WE START...</vt:lpstr>
      <vt:lpstr>SOME QUICK CONSIDERATIONS BEFORE WE START...</vt:lpstr>
      <vt:lpstr>SOME QUICK CONSIDERATIONS BEFORE WE START...</vt:lpstr>
      <vt:lpstr>SOME QUICK CONSIDERATIONS BEFORE WE START...</vt:lpstr>
      <vt:lpstr>SOME QUICK CONSIDERATIONS BEFORE WE START...</vt:lpstr>
      <vt:lpstr>SOME QUICK CONSIDERATIONS BEFORE WE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JavaScript Course</dc:title>
  <dc:creator>Ryhab Farouq</dc:creator>
  <cp:lastModifiedBy>Ryhab Farouq</cp:lastModifiedBy>
  <cp:revision>30</cp:revision>
  <dcterms:created xsi:type="dcterms:W3CDTF">2023-03-16T13:05:04Z</dcterms:created>
  <dcterms:modified xsi:type="dcterms:W3CDTF">2026-06-22T12:04:13Z</dcterms:modified>
</cp:coreProperties>
</file>