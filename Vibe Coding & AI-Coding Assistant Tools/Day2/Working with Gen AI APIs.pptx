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6" r:id="rId2"/>
    <p:sldId id="1017" r:id="rId3"/>
    <p:sldId id="1019" r:id="rId4"/>
    <p:sldId id="1008" r:id="rId5"/>
    <p:sldId id="1036" r:id="rId6"/>
    <p:sldId id="1037" r:id="rId7"/>
    <p:sldId id="1038" r:id="rId8"/>
    <p:sldId id="1039" r:id="rId9"/>
    <p:sldId id="1040" r:id="rId10"/>
    <p:sldId id="1041" r:id="rId11"/>
    <p:sldId id="1042" r:id="rId12"/>
    <p:sldId id="1044" r:id="rId13"/>
    <p:sldId id="1045" r:id="rId14"/>
    <p:sldId id="1046" r:id="rId15"/>
    <p:sldId id="1047" r:id="rId16"/>
    <p:sldId id="1048" r:id="rId17"/>
    <p:sldId id="1049" r:id="rId18"/>
    <p:sldId id="1051" r:id="rId19"/>
    <p:sldId id="1050" r:id="rId20"/>
    <p:sldId id="1052" r:id="rId21"/>
    <p:sldId id="1053" r:id="rId22"/>
    <p:sldId id="1054" r:id="rId23"/>
    <p:sldId id="1055" r:id="rId24"/>
    <p:sldId id="1043" r:id="rId25"/>
    <p:sldId id="1005" r:id="rId26"/>
    <p:sldId id="1007" r:id="rId27"/>
    <p:sldId id="1002" r:id="rId28"/>
    <p:sldId id="264" r:id="rId29"/>
  </p:sldIdLst>
  <p:sldSz cx="12192000" cy="6858000"/>
  <p:notesSz cx="6858000" cy="9144000"/>
  <p:embeddedFontLst>
    <p:embeddedFont>
      <p:font typeface="Candara bold" panose="020E0702030303020204" pitchFamily="34" charset="0"/>
      <p:bold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C2"/>
    <a:srgbClr val="D9D9D9"/>
    <a:srgbClr val="D60000"/>
    <a:srgbClr val="B40000"/>
    <a:srgbClr val="E7E6E6"/>
    <a:srgbClr val="0094E6"/>
    <a:srgbClr val="FFFFFF"/>
    <a:srgbClr val="FFC000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3416" autoAdjust="0"/>
  </p:normalViewPr>
  <p:slideViewPr>
    <p:cSldViewPr snapToGrid="0">
      <p:cViewPr varScale="1">
        <p:scale>
          <a:sx n="77" d="100"/>
          <a:sy n="77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508E8-B06A-44BD-8625-0B0A2071F7C2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D9D3A-0C98-4CF1-B084-F26022EA5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14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F7E1-D0C7-FAD1-4B90-26A0C99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A5A45-84B3-5C47-8672-72C8DF9A9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9456D-2A9E-2B2A-E50B-3376A972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0C7A-6DAE-A767-619A-E4763FB08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6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6253-370F-E7C7-69DD-62DB2507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595FC-1DAB-63E8-2C30-A3962CAEA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E97CF-1437-54A8-D1D2-1D41290BE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E135-0BBE-A9DC-92B7-E87F35547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23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65F-5551-E80D-B1BB-3B377F66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38B9B-BD6E-9CBA-3095-D9690FE2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8405C-4F2D-477F-13B4-766E984B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289D8-D6AE-B79B-C39C-5EBC919D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5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6CFD-352E-85DE-02A0-7C993F32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665D7-C5D6-A423-902A-B4141D103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8EAB0-AFEA-9772-0A81-5EDFF0862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DE48-5193-0659-20DB-AD182CD8D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3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4358-0A81-AFBB-CBBD-237CCD5A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09EAF-E019-5D70-B352-8F579217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5C913-9073-FB3F-1D00-59DA70805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1C234-0444-5941-70D5-01E1C7D76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0A83-C2D2-7A67-7361-9DECFEA5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B3EEF-52A1-D508-01B7-C2DEC7470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4F6A9-9856-847A-077D-82975F07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6E6B-3277-B4E4-0814-2FE7FDD16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03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6B88-7775-211B-7546-CE462CC5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ECDF6-2BF3-07AD-1FC3-2B86A792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63279-B42B-63D4-CD63-D9086413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D1CCE-F0B1-856B-40AC-372CD9E56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18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2A3F-20E5-145C-CB80-FC68A63A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29D5F-5330-2D66-7D20-8C18B9007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F6D2D-5433-88AE-4387-6631F03B3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4B7E-44C2-2B44-0CDD-186EFCC6E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0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A9F9-DCB6-67D9-F392-7C97C67D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55237-9C45-F833-4DE8-7E0C0E8FC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FF262-4C91-CB06-2F6E-9F987DF0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929C9-3815-7FB7-C2B5-2AE48A4DC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76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AD48-80E5-6370-5CD6-7E6E1379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69793-8812-7709-B8D5-200CE58E3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7C101-8280-CF2B-89CD-E5B6CCB0B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DE08B-624F-9673-5855-2B79F26A0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2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17FD-F69D-E7A9-38AF-3A57B391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71AFD-420B-1AF0-51B7-5A98B2FDF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7D1C0-6EAF-C5BA-D224-BA1785BA1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E9EFC-C78B-1FA9-580D-36550D96A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31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4477-9687-9B2E-186B-03B2675F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36B8B-F5C7-1754-EFC8-00C2F1AC9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4E9AD-96C9-3EF0-7599-394098FFA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2123-9ED7-5D7A-65A7-6913B790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65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5391-F645-E7D9-E5FF-523C6EFA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F161D-05D2-B875-6FB9-B7AFF4258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5F53D-B74A-4315-8307-1AA60D97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A92C-CB51-DDEE-DC86-52C2A20D4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13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2F25-496F-5F9E-F54E-09184DEB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62CB3-7948-2F86-0C07-7802397C8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FDAAE-64AB-7A5C-8D8C-CB433930E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1BC6-2232-41C7-90B2-58CB0890A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27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7BD8-4B5D-00F5-C285-E7153FC6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3846B-B2BB-BECE-A5AB-8A1F2A4E7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9CD82-B8D1-5861-87A7-C1C4C10EA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676A2-2865-0C5D-0E63-B63803323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66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74DA-78ED-CA8F-8187-35E031E5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8631-426F-6750-5DD6-8FF1A1412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DC8F3-F757-98C0-D66F-335B7253D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0B5EA-7010-E68C-BC68-24473AFE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77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CFFC-F812-72B5-7ADF-CCB8F605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1210F-ED0D-0DC1-2EC6-EABFF5EB7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6CDC1-FDB3-F180-1FD8-462B1C326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DBD8A-4BA5-380F-1B6E-87299DD3B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91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7003-A565-C92F-D6AF-3E0AA275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32DF8-80A5-721B-DDA0-23B44676F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81682-C23E-E837-8092-BEDABB172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ED6F4-84C8-E8F3-AF37-48C81229A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7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7F4C-77B8-FAE4-60FA-5AB7BC9D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ACF3E-23B4-5BA2-0AFC-82377ECC5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10461-5535-9E77-486E-73518CA17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3E81-53E5-F72C-9BA8-3E26CE992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8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9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125"/>
            <a:ext cx="9368408" cy="689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33" y="365125"/>
            <a:ext cx="8388626" cy="689297"/>
          </a:xfrm>
        </p:spPr>
        <p:txBody>
          <a:bodyPr anchor="t"/>
          <a:lstStyle>
            <a:lvl1pPr algn="ctr">
              <a:defRPr lang="en-US" sz="4000" b="1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6254929"/>
            <a:ext cx="12192000" cy="603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/>
          <a:srcRect t="-1" r="28030" b="-1"/>
          <a:stretch/>
        </p:blipFill>
        <p:spPr>
          <a:xfrm>
            <a:off x="9402203" y="365125"/>
            <a:ext cx="2789797" cy="6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3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8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5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8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2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8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6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3">
            <a:extLst>
              <a:ext uri="{FF2B5EF4-FFF2-40B4-BE49-F238E27FC236}">
                <a16:creationId xmlns:a16="http://schemas.microsoft.com/office/drawing/2014/main" id="{C475EC33-8CC8-4DB6-853A-C88CCC9B7B42}"/>
              </a:ext>
            </a:extLst>
          </p:cNvPr>
          <p:cNvSpPr/>
          <p:nvPr userDrawn="1"/>
        </p:nvSpPr>
        <p:spPr>
          <a:xfrm>
            <a:off x="6019800" y="3706275"/>
            <a:ext cx="2438400" cy="169200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" name="Rectangle 47">
            <a:extLst>
              <a:ext uri="{FF2B5EF4-FFF2-40B4-BE49-F238E27FC236}">
                <a16:creationId xmlns:a16="http://schemas.microsoft.com/office/drawing/2014/main" id="{F3FE88B0-2A67-4B06-BAF8-DA185704832F}"/>
              </a:ext>
            </a:extLst>
          </p:cNvPr>
          <p:cNvSpPr/>
          <p:nvPr userDrawn="1"/>
        </p:nvSpPr>
        <p:spPr>
          <a:xfrm>
            <a:off x="3581400" y="2013764"/>
            <a:ext cx="2438400" cy="1692000"/>
          </a:xfrm>
          <a:prstGeom prst="rect">
            <a:avLst/>
          </a:prstGeom>
          <a:solidFill>
            <a:srgbClr val="007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E3A5FD35-7E79-451B-924D-346F7714B61D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019800" y="2013764"/>
            <a:ext cx="2438400" cy="16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01DD4038-BEB5-4201-88F3-B694D631907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581400" y="3706275"/>
            <a:ext cx="2438400" cy="16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0CDC19-A709-4986-9002-BB51067CE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125"/>
            <a:ext cx="9368408" cy="68929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6715BB4-208B-475A-90CE-C9D2E919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3" y="365125"/>
            <a:ext cx="8388626" cy="689297"/>
          </a:xfrm>
        </p:spPr>
        <p:txBody>
          <a:bodyPr anchor="t"/>
          <a:lstStyle>
            <a:lvl1pPr algn="ctr">
              <a:defRPr lang="en-US" sz="4000" b="1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FFC1814-76AB-40DE-AE82-E9209DA5C198}"/>
              </a:ext>
            </a:extLst>
          </p:cNvPr>
          <p:cNvSpPr>
            <a:spLocks noGrp="1"/>
          </p:cNvSpPr>
          <p:nvPr>
            <p:ph type="dt" sz="half" idx="46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B0759049-CC57-4E02-8DE8-8FF37AB9A2C5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498E3D4-89B2-4E88-BDD3-0E91042A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A08628-6571-42BB-9C0A-2E46CC6FCA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6254929"/>
            <a:ext cx="12192000" cy="6030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578E4E-1082-47FC-AAD5-575B6D94C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-1" r="28030" b="-1"/>
          <a:stretch/>
        </p:blipFill>
        <p:spPr>
          <a:xfrm>
            <a:off x="9402203" y="365125"/>
            <a:ext cx="2789797" cy="6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7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EB48E5A-CBAD-40D5-9C57-D847F6E8C265}"/>
              </a:ext>
            </a:extLst>
          </p:cNvPr>
          <p:cNvSpPr/>
          <p:nvPr userDrawn="1"/>
        </p:nvSpPr>
        <p:spPr>
          <a:xfrm>
            <a:off x="1" y="1411084"/>
            <a:ext cx="970844" cy="3351662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46FB37F-ABC8-4068-B989-FA32AC28DD69}"/>
              </a:ext>
            </a:extLst>
          </p:cNvPr>
          <p:cNvSpPr/>
          <p:nvPr userDrawn="1"/>
        </p:nvSpPr>
        <p:spPr>
          <a:xfrm>
            <a:off x="2265047" y="3555870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A37D2DE5-5AD9-4E7A-8E13-A09737DB99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65047" y="1503510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DE14E29-DEE7-4B9A-AE9A-6FB2F585607D}"/>
              </a:ext>
            </a:extLst>
          </p:cNvPr>
          <p:cNvSpPr/>
          <p:nvPr userDrawn="1"/>
        </p:nvSpPr>
        <p:spPr>
          <a:xfrm>
            <a:off x="2170862" y="1422585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528CCF0-B66B-4CE2-96C1-DDA7F46E8675}"/>
              </a:ext>
            </a:extLst>
          </p:cNvPr>
          <p:cNvSpPr/>
          <p:nvPr userDrawn="1"/>
        </p:nvSpPr>
        <p:spPr>
          <a:xfrm>
            <a:off x="5000813" y="3544369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latin typeface="+mn-lt"/>
            </a:endParaRPr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id="{550451AF-3294-4443-8D31-1CA35AA5EE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0813" y="1492009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2C4D9B9-54CB-44C0-A88C-612776CE2A23}"/>
              </a:ext>
            </a:extLst>
          </p:cNvPr>
          <p:cNvSpPr/>
          <p:nvPr userDrawn="1"/>
        </p:nvSpPr>
        <p:spPr>
          <a:xfrm>
            <a:off x="4927188" y="1411084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CF1CE83-7ED4-F4F4-1C50-ED9787E8E5FB}"/>
              </a:ext>
            </a:extLst>
          </p:cNvPr>
          <p:cNvSpPr/>
          <p:nvPr userDrawn="1"/>
        </p:nvSpPr>
        <p:spPr>
          <a:xfrm>
            <a:off x="7736579" y="3544369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latin typeface="+mn-lt"/>
            </a:endParaRPr>
          </a:p>
        </p:txBody>
      </p:sp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7382BF16-1FC9-C3A0-00BE-EA19F139DEA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36579" y="1492009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B1469A0-00A2-96D5-E31F-0B60F2A2F5B5}"/>
              </a:ext>
            </a:extLst>
          </p:cNvPr>
          <p:cNvSpPr/>
          <p:nvPr userDrawn="1"/>
        </p:nvSpPr>
        <p:spPr>
          <a:xfrm>
            <a:off x="7645198" y="1411084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35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601688020,&quot;Placement&quot;:&quot;Footer&quot;,&quot;Top&quot;:519.343,&quot;Left&quot;:906.419739,&quot;SlideWidth&quot;:960,&quot;SlideHeight&quot;:540}">
            <a:extLst>
              <a:ext uri="{FF2B5EF4-FFF2-40B4-BE49-F238E27FC236}">
                <a16:creationId xmlns:a16="http://schemas.microsoft.com/office/drawing/2014/main" id="{E4870517-114C-23D6-84B3-62520EED1511}"/>
              </a:ext>
            </a:extLst>
          </p:cNvPr>
          <p:cNvSpPr txBox="1"/>
          <p:nvPr userDrawn="1"/>
        </p:nvSpPr>
        <p:spPr>
          <a:xfrm>
            <a:off x="11511531" y="6595656"/>
            <a:ext cx="680469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79693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oop-x.c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form.openai.com/docs/" TargetMode="External"/><Relationship Id="rId3" Type="http://schemas.openxmlformats.org/officeDocument/2006/relationships/hyperlink" Target="https://platform.openai.com/" TargetMode="External"/><Relationship Id="rId7" Type="http://schemas.openxmlformats.org/officeDocument/2006/relationships/hyperlink" Target="https://openai.com/api/pricing/" TargetMode="Externa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form.openai.com/docs/libraries" TargetMode="External"/><Relationship Id="rId11" Type="http://schemas.openxmlformats.org/officeDocument/2006/relationships/hyperlink" Target="https://cookbook.openai.com/" TargetMode="External"/><Relationship Id="rId5" Type="http://schemas.openxmlformats.org/officeDocument/2006/relationships/hyperlink" Target="https://platform.openai.com/docs/api-reference" TargetMode="External"/><Relationship Id="rId10" Type="http://schemas.openxmlformats.org/officeDocument/2006/relationships/hyperlink" Target="https://platform.openai.com/examples" TargetMode="External"/><Relationship Id="rId4" Type="http://schemas.openxmlformats.org/officeDocument/2006/relationships/hyperlink" Target="https://platform.openai.com/account/api-keys" TargetMode="External"/><Relationship Id="rId9" Type="http://schemas.openxmlformats.org/officeDocument/2006/relationships/hyperlink" Target="https://platform.openai.com/docs/api-reference/introduc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tform.openai.com/docs/api-reference/chat/creat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images/creat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tSSMs6ObqY" TargetMode="External"/><Relationship Id="rId13" Type="http://schemas.openxmlformats.org/officeDocument/2006/relationships/hyperlink" Target="https://www.deeplearning.ai/short-courses/functions-tools-agents-langchain/" TargetMode="External"/><Relationship Id="rId18" Type="http://schemas.openxmlformats.org/officeDocument/2006/relationships/hyperlink" Target="https://www.deeplearning.ai/short-courses/building-agentic-rag-with-llamaindex/" TargetMode="External"/><Relationship Id="rId3" Type="http://schemas.openxmlformats.org/officeDocument/2006/relationships/hyperlink" Target="https://www.deeplearning.ai/short-courses/chatgpt-prompt-engineering-for-developers/" TargetMode="External"/><Relationship Id="rId21" Type="http://schemas.openxmlformats.org/officeDocument/2006/relationships/hyperlink" Target="https://www.deeplearning.ai/courses/generative-ai-for-software-development/" TargetMode="External"/><Relationship Id="rId7" Type="http://schemas.openxmlformats.org/officeDocument/2006/relationships/hyperlink" Target="https://www.deeplearning.ai/short-courses/introducing-multimodal-llama-3-2/" TargetMode="External"/><Relationship Id="rId12" Type="http://schemas.openxmlformats.org/officeDocument/2006/relationships/hyperlink" Target="https://www.deeplearning.ai/short-courses/ai-agents-in-langgraph/" TargetMode="External"/><Relationship Id="rId17" Type="http://schemas.openxmlformats.org/officeDocument/2006/relationships/hyperlink" Target="https://www.deeplearning.ai/short-courses/building-multimodal-search-and-rag/" TargetMode="External"/><Relationship Id="rId2" Type="http://schemas.openxmlformats.org/officeDocument/2006/relationships/hyperlink" Target="https://www.deeplearning.ai/short-courses/ai-python-for-beginners/" TargetMode="External"/><Relationship Id="rId16" Type="http://schemas.openxmlformats.org/officeDocument/2006/relationships/hyperlink" Target="https://www.deeplearning.ai/short-courses/building-evaluating-advanced-rag/" TargetMode="External"/><Relationship Id="rId20" Type="http://schemas.openxmlformats.org/officeDocument/2006/relationships/hyperlink" Target="https://www.deeplearning.ai/short-courses/how-transformer-llms-wor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.ai/short-courses/open-source-models-hugging-face/" TargetMode="External"/><Relationship Id="rId11" Type="http://schemas.openxmlformats.org/officeDocument/2006/relationships/hyperlink" Target="https://www.deeplearning.ai/short-courses/langchain-chat-with-your-data/" TargetMode="External"/><Relationship Id="rId5" Type="http://schemas.openxmlformats.org/officeDocument/2006/relationships/hyperlink" Target="https://www.deeplearning.ai/short-courses/reasoning-with-o1/" TargetMode="External"/><Relationship Id="rId15" Type="http://schemas.openxmlformats.org/officeDocument/2006/relationships/hyperlink" Target="https://www.deeplearning.ai/short-courses/ai-agentic-design-patterns-with-autogen/" TargetMode="External"/><Relationship Id="rId10" Type="http://schemas.openxmlformats.org/officeDocument/2006/relationships/hyperlink" Target="https://www.deeplearning.ai/short-courses/langchain-for-llm-application-development/" TargetMode="External"/><Relationship Id="rId19" Type="http://schemas.openxmlformats.org/officeDocument/2006/relationships/hyperlink" Target="https://www.deeplearning.ai/short-courses/javascript-rag-web-apps-with-llamaindex/" TargetMode="External"/><Relationship Id="rId4" Type="http://schemas.openxmlformats.org/officeDocument/2006/relationships/hyperlink" Target="https://www.deeplearning.ai/short-courses/building-systems-with-chatgpt/" TargetMode="External"/><Relationship Id="rId9" Type="http://schemas.openxmlformats.org/officeDocument/2006/relationships/hyperlink" Target="https://www.youtube.com/watch?v=GWB9ApTPTv4" TargetMode="External"/><Relationship Id="rId14" Type="http://schemas.openxmlformats.org/officeDocument/2006/relationships/hyperlink" Target="https://www.deeplearning.ai/short-courses/multi-ai-agent-systems-with-crewai/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JLmI0GJuGlY" TargetMode="External"/><Relationship Id="rId13" Type="http://schemas.openxmlformats.org/officeDocument/2006/relationships/hyperlink" Target="https://www.youtube.com/watch?v=mEsleV16qdo" TargetMode="External"/><Relationship Id="rId3" Type="http://schemas.openxmlformats.org/officeDocument/2006/relationships/hyperlink" Target="https://www.youtube.com/watch?v=gMa_QHSAxOY&amp;list=PL9ooVrP1hQOFIOOkGN2gbjvse8jcz-mux" TargetMode="External"/><Relationship Id="rId7" Type="http://schemas.openxmlformats.org/officeDocument/2006/relationships/hyperlink" Target="https://www.youtube.com/watch?v=MOyl58VF2ak" TargetMode="External"/><Relationship Id="rId12" Type="http://schemas.openxmlformats.org/officeDocument/2006/relationships/hyperlink" Target="https://www.youtube.com/watch?v=GWB9ApTPTv4" TargetMode="External"/><Relationship Id="rId2" Type="http://schemas.openxmlformats.org/officeDocument/2006/relationships/hyperlink" Target="https://www.youtube.com/watch?v=2IK3DFHRFfw-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PM9zr7wgJX4" TargetMode="External"/><Relationship Id="rId11" Type="http://schemas.openxmlformats.org/officeDocument/2006/relationships/hyperlink" Target="https://www.youtube.com/watch?v=UtSSMs6ObqY" TargetMode="External"/><Relationship Id="rId5" Type="http://schemas.openxmlformats.org/officeDocument/2006/relationships/hyperlink" Target="https://www.youtube.com/watch?v=sVcwVQRHIc8" TargetMode="External"/><Relationship Id="rId15" Type="http://schemas.openxmlformats.org/officeDocument/2006/relationships/hyperlink" Target="https://www.youtube.com/watch?v=7WK0w9Z9mPE" TargetMode="External"/><Relationship Id="rId10" Type="http://schemas.openxmlformats.org/officeDocument/2006/relationships/hyperlink" Target="https://www.youtube.com/playlist?list=PLlrxD0HtieHgr23PS05FIncnih4dH9Na5" TargetMode="External"/><Relationship Id="rId4" Type="http://schemas.openxmlformats.org/officeDocument/2006/relationships/hyperlink" Target="https://www.youtube.com/playlist?list=PLlrxD0HtieHj2nfK54c62lcs3-YSTx3Je" TargetMode="External"/><Relationship Id="rId9" Type="http://schemas.openxmlformats.org/officeDocument/2006/relationships/hyperlink" Target="https://www.youtube.com/watch?v=ul0QsodYct4" TargetMode="External"/><Relationship Id="rId14" Type="http://schemas.openxmlformats.org/officeDocument/2006/relationships/hyperlink" Target="https://www.youtube.com/watch?v=F0GQ0l2NfHA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ml-beginners" TargetMode="External"/><Relationship Id="rId3" Type="http://schemas.openxmlformats.org/officeDocument/2006/relationships/hyperlink" Target="https://github.com/microsoft/Generative-AI-for-beginners-dotnet" TargetMode="External"/><Relationship Id="rId7" Type="http://schemas.openxmlformats.org/officeDocument/2006/relationships/hyperlink" Target="https://aka.ms/datascience-beginners" TargetMode="External"/><Relationship Id="rId2" Type="http://schemas.openxmlformats.org/officeDocument/2006/relationships/hyperlink" Target="https://aka.ms/genai-beginne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icrosoft/ai-agents-for-beginners" TargetMode="External"/><Relationship Id="rId5" Type="http://schemas.openxmlformats.org/officeDocument/2006/relationships/hyperlink" Target="https://aka.ms/ai-beginners" TargetMode="External"/><Relationship Id="rId10" Type="http://schemas.openxmlformats.org/officeDocument/2006/relationships/hyperlink" Target="https://github.com/microsoft/Mastering-GitHub-Copilot-for-Paired-Programming" TargetMode="External"/><Relationship Id="rId4" Type="http://schemas.openxmlformats.org/officeDocument/2006/relationships/hyperlink" Target="https://github.com/microsoft/generative-ai-with-javascript" TargetMode="External"/><Relationship Id="rId9" Type="http://schemas.openxmlformats.org/officeDocument/2006/relationships/hyperlink" Target="https://github.com/microsoft/mastering-github-copilot-for-dotnet-csharp-developer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omar-abdallah-abdelrahman/" TargetMode="Externa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827" y="-91578"/>
            <a:ext cx="12623655" cy="71007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686" y="844000"/>
            <a:ext cx="2144628" cy="1266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lum contrast="-20000"/>
          </a:blip>
          <a:stretch>
            <a:fillRect/>
          </a:stretch>
        </p:blipFill>
        <p:spPr>
          <a:xfrm>
            <a:off x="-107577" y="5664506"/>
            <a:ext cx="12407155" cy="9037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90917CF-13CA-4F45-8039-A6E9346B5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243" y="3087071"/>
            <a:ext cx="9985513" cy="90370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bold" panose="020E0702030303020204" pitchFamily="34" charset="0"/>
              </a:rPr>
              <a:t>Vibe coding and Working with Gen-AI APIs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bold" panose="020E0702030303020204" pitchFamily="34" charset="0"/>
              <a:cs typeface="Cairo" panose="000005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77966-6049-7D5E-7586-8996187D90E0}"/>
              </a:ext>
            </a:extLst>
          </p:cNvPr>
          <p:cNvSpPr txBox="1"/>
          <p:nvPr/>
        </p:nvSpPr>
        <p:spPr>
          <a:xfrm>
            <a:off x="10072528" y="4973312"/>
            <a:ext cx="2012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Hany Saad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hghiett@iti.gov.eg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FC7A8-4951-7A21-3398-2E7B0F71F5BC}"/>
              </a:ext>
            </a:extLst>
          </p:cNvPr>
          <p:cNvSpPr txBox="1"/>
          <p:nvPr/>
        </p:nvSpPr>
        <p:spPr>
          <a:xfrm>
            <a:off x="106894" y="4973312"/>
            <a:ext cx="2636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Omar Abdallah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ommohamed@iti.gov.eg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84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E0AB-F4DE-1A08-4978-968FF698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3DD1-4262-5DE6-E824-1BE75221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dirty="0"/>
              <a:t>Why should we learn about Gen AI?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D9BFE-8354-02EB-09A5-5933DF26FDE5}"/>
              </a:ext>
            </a:extLst>
          </p:cNvPr>
          <p:cNvSpPr txBox="1"/>
          <p:nvPr/>
        </p:nvSpPr>
        <p:spPr>
          <a:xfrm>
            <a:off x="795133" y="1500187"/>
            <a:ext cx="77514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AI / Machine Learning Developers: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/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Design and refine Generative AI models to create more intelligent and efficient AI-driven solutions.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Software Developers: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Utilize AI tools to enhance productivity in development tasks.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Leverage Generative AI APIs to build AI-powered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Everyone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In today’s AI-centric world, it’s crucial for individuals across all professions to grasp the basics of Generative AI and incorporate AI tools into their workflows to boost productivity.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BB317-CF84-F436-C861-DB0C7BBCE57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812340" y="1731835"/>
            <a:ext cx="3126105" cy="31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3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D7284-FDAD-6D03-FF59-95CAC0F1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2486-EFB4-B76E-6D57-CC06D83A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l"/>
            <a:r>
              <a:rPr lang="en-US" dirty="0"/>
              <a:t>Gen-AI based startups and real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EDC70-8B78-5C0B-26DF-169019D690DD}"/>
              </a:ext>
            </a:extLst>
          </p:cNvPr>
          <p:cNvSpPr txBox="1"/>
          <p:nvPr/>
        </p:nvSpPr>
        <p:spPr>
          <a:xfrm>
            <a:off x="795134" y="1500187"/>
            <a:ext cx="8672958" cy="403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Use cases for real products using Gen AI: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Loop-x </a:t>
            </a:r>
            <a:r>
              <a:rPr lang="en-US" sz="2000" dirty="0"/>
              <a:t>(AI Agents for different roles): </a:t>
            </a:r>
            <a:r>
              <a:rPr lang="en-US" u="sng" dirty="0">
                <a:solidFill>
                  <a:srgbClr val="007DC2"/>
                </a:solidFill>
                <a:hlinkClick r:id="rId3"/>
              </a:rPr>
              <a:t>https://loop-x.co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Gemelo ai </a:t>
            </a:r>
            <a:r>
              <a:rPr lang="en-US" sz="2000" dirty="0"/>
              <a:t>(Twin AI creator): </a:t>
            </a:r>
            <a:r>
              <a:rPr lang="en-US" u="sng" dirty="0">
                <a:solidFill>
                  <a:srgbClr val="007DC2"/>
                </a:solidFill>
              </a:rPr>
              <a:t>https://gemelo.ai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Apriora</a:t>
            </a:r>
            <a:r>
              <a:rPr lang="en-US" sz="2400" b="1" dirty="0"/>
              <a:t> AI</a:t>
            </a:r>
            <a:r>
              <a:rPr lang="en-US" sz="2000" dirty="0"/>
              <a:t> 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https://www.apriora.ai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Velents</a:t>
            </a:r>
            <a:r>
              <a:rPr lang="en-US" sz="2400" b="1" dirty="0"/>
              <a:t> AI </a:t>
            </a:r>
            <a:r>
              <a:rPr lang="en-US" sz="2000" dirty="0"/>
              <a:t>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https://www.velents.com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Nancy AI </a:t>
            </a:r>
            <a:r>
              <a:rPr lang="en-US" sz="2000" dirty="0"/>
              <a:t>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https://nancy-ai.com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Mariana AI </a:t>
            </a:r>
            <a:r>
              <a:rPr lang="en-US" sz="2000" dirty="0"/>
              <a:t>(Medical): </a:t>
            </a:r>
            <a:r>
              <a:rPr lang="en-US" u="sng" dirty="0">
                <a:solidFill>
                  <a:srgbClr val="007DC2"/>
                </a:solidFill>
              </a:rPr>
              <a:t>https://marianaai.com</a:t>
            </a:r>
            <a:endParaRPr lang="en-US" sz="2000" u="sng" dirty="0">
              <a:solidFill>
                <a:srgbClr val="007D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0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4813A-4961-235A-5A03-AD9E8AE4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F13FCA-586A-51A2-8E1B-BC88C6726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Working with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Gen-AI APIs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1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4E52-5D64-0F8C-16D9-0E81720C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3F8A2-5B8C-C08B-3A14-62E013663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Working with Gen 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D183C3D-B4D9-7B62-A575-9226685EEE83}"/>
              </a:ext>
            </a:extLst>
          </p:cNvPr>
          <p:cNvSpPr txBox="1">
            <a:spLocks/>
          </p:cNvSpPr>
          <p:nvPr/>
        </p:nvSpPr>
        <p:spPr>
          <a:xfrm>
            <a:off x="657330" y="156436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OpenAI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DeepSeek AO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Google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Anthropic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Qwen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OpenAI Service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Hugging Face Platform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GitHub Models</a:t>
            </a:r>
            <a:endParaRPr lang="en-US" sz="26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robot hand holding a glowing light bulb&#10;&#10;AI-generated content may be incorrect.">
            <a:extLst>
              <a:ext uri="{FF2B5EF4-FFF2-40B4-BE49-F238E27FC236}">
                <a16:creationId xmlns:a16="http://schemas.microsoft.com/office/drawing/2014/main" id="{7C4339AC-FD9D-1D71-237B-B59BC070C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r="8952" b="1"/>
          <a:stretch>
            <a:fillRect/>
          </a:stretch>
        </p:blipFill>
        <p:spPr>
          <a:xfrm>
            <a:off x="5991330" y="1564368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19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60F7-96DE-1746-3344-57335A31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802889-F4BF-4B6A-34D9-0121165F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3A05B33-1F9B-6F73-32F0-939810954725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OpenAI 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https://platform.openai.com/docs/models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676B7-31FF-20AF-763E-D6D1F0DB94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08584" y="1188224"/>
            <a:ext cx="7830179" cy="49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9D22-9A3C-757A-D545-74458A27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3BD18B-61C4-97A5-7BFD-4FB6FC09D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85E8EDC-50B6-EF62-C6E4-9A5846C863CD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DeepSeek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200" u="sng" dirty="0">
                <a:solidFill>
                  <a:srgbClr val="FF0000"/>
                </a:solidFill>
                <a:ea typeface="+mn-ea"/>
              </a:rPr>
              <a:t>https://apidocs.deepseek.com/quick_start/pri </a:t>
            </a:r>
            <a:r>
              <a:rPr lang="en-US" sz="1200" u="sng" dirty="0" err="1">
                <a:solidFill>
                  <a:srgbClr val="FF0000"/>
                </a:solidFill>
                <a:ea typeface="+mn-ea"/>
              </a:rPr>
              <a:t>cing</a:t>
            </a:r>
            <a:r>
              <a:rPr lang="en-US" sz="1200" u="sng" dirty="0">
                <a:solidFill>
                  <a:srgbClr val="FF0000"/>
                </a:solidFill>
                <a:ea typeface="+mn-ea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EB543C-D465-25FF-B4F9-2375E8A925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85816" y="1156017"/>
            <a:ext cx="7353935" cy="493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3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B8772-57BA-A654-4127-6BF95058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D085A4-F39D-2468-A1D5-D784FB83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62911D78-76C8-54A6-1F98-42C2CD6F499E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Google 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https://deepmind.google/models/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DBC7D-BA20-10FC-23FA-8E51158892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11520" y="1316559"/>
            <a:ext cx="5415280" cy="484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4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89FC-FBE9-EE72-9308-DF6B673F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2F03CC-4876-3A13-E541-FB46421B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F4FB8FD-0D0B-C377-5313-43D0B0A8D783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Google 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https://deepmind.google/models/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C60539-E766-D440-0620-750FDF5482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53673" y="2278267"/>
            <a:ext cx="5936615" cy="29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D326-9368-CE51-15A4-37D5F143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032EC6-6C2F-508D-39C2-E1B8EEA6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DCBA22C-8AB8-C12E-7DE9-2367E8A7761A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Anthropic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000" u="sng" dirty="0">
                <a:solidFill>
                  <a:srgbClr val="FF0000"/>
                </a:solidFill>
                <a:ea typeface="+mn-ea"/>
              </a:rPr>
              <a:t>https://docs.anthropic.com/en/docs/about-claude/models/overview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9F9C9-28A0-F37C-61A6-841E5CDE33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91710" y="1474470"/>
            <a:ext cx="6844030" cy="453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83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F58F-FEE6-0FAF-DA93-1BF08E17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CECA6-532F-F73F-2CA5-88898C10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77A4083-CF67-1251-B98E-E583D6578AAD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MS Azure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OpenAI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Service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000" u="sng" dirty="0">
                <a:solidFill>
                  <a:srgbClr val="FF0000"/>
                </a:solidFill>
                <a:ea typeface="+mn-ea"/>
              </a:rPr>
              <a:t>https://azure.microsoft.com/en-us/products/ai-services/openai-service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3E8762-351F-4734-31A5-8465D2E501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42823" y="1278431"/>
            <a:ext cx="7044988" cy="492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A1434-E89F-3637-7D29-10C9A865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71D4431-D75E-6EFD-5B52-7A881E42F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97DB6B80-5CE9-8AF7-2215-C103E5328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5D893F6D-905B-70AE-0F8B-200E474F4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468DA5-F8C5-B1B4-CA49-AC069DB2A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0" y="2046986"/>
            <a:ext cx="9546339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Open Source Models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D177BB-5499-3FA0-361A-9797977E2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89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8E25F-15AA-8F48-8C13-E134E757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3F86E2-2E1C-8ED9-74F8-57DEE665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D1CBA7C-5AE1-D48A-DAEE-5099A2DB9DB7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Hugging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Face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https://huggingface.co/models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FE26D-685C-8F09-BA35-693DBDBA3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0373" y="1446858"/>
            <a:ext cx="6276067" cy="458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78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17E2-32B2-7B05-9435-B71D869B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1CA57-C7B9-F016-4422-80F65E60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1D91A64C-3C3B-8E02-F609-341818BB93BB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MS Azure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https://ai.azure.com/explore/models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2C1F0-AFBF-73C0-0674-0C988FEC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73" y="1688123"/>
            <a:ext cx="7966290" cy="411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09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B693-A250-F1D8-2CBA-A2C044EC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32BE0-E0A0-A4D9-E82D-A36891A7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A296166-0188-163A-BFDB-4B7C0255FC69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GitHub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https://github.com/marketplace/models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80FA7-20E7-7DEF-FF9D-508376F0D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765" y="1274763"/>
            <a:ext cx="6676032" cy="493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19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E1F07-28E2-C365-7062-95B3A99E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98B906F-0560-DFC9-143A-D02E3447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9560C1B-A661-C6FA-B692-5BCC492E0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A8084A6-3B9E-6CAC-905A-70F898B2D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705AE0-77FE-198F-4D4A-EB6F42C98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0" y="2046986"/>
            <a:ext cx="9546339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OpenAI 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FED2D7-8F78-698F-0617-579E2A656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5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0DB2-6F62-73B3-395C-F2DFB26D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5A3D44-6001-9AEB-1820-670FEB30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D96C7-837A-6A9F-D43F-49237C69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96" y="1451023"/>
            <a:ext cx="11408807" cy="395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69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859F-C446-A31A-1DA9-F15D8114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C4BAB-BB61-2C86-61E2-19B164056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4AF4E9-63DE-E66D-ABB0-0C47C272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67" y="1247462"/>
            <a:ext cx="10313866" cy="49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64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D932-F442-E56B-15CE-369D2AB6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EB30CE-C9FB-9370-F267-D74166E0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91E8C-7F23-DAE5-0EA1-0DF0E46219D8}"/>
              </a:ext>
            </a:extLst>
          </p:cNvPr>
          <p:cNvSpPr txBox="1"/>
          <p:nvPr/>
        </p:nvSpPr>
        <p:spPr>
          <a:xfrm>
            <a:off x="982317" y="1928192"/>
            <a:ext cx="10227365" cy="481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Getting started:</a:t>
            </a:r>
            <a:endParaRPr lang="en-US" sz="1200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First, you need to create an OpenAI account.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800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Go to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OpenAI platform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Create </a:t>
            </a:r>
            <a:r>
              <a:rPr lang="en-US" sz="1400" u="none" strike="noStrike" kern="100" dirty="0" err="1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API_</a:t>
            </a:r>
            <a:r>
              <a:rPr lang="en-US" sz="1400" kern="100" dirty="0" err="1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en-US" sz="1400" u="none" strike="noStrike" kern="100" dirty="0" err="1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ey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from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here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490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Finally, you can access the APIs as REST APIs from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/>
              </a:rPr>
              <a:t>here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/>
              </a:rPr>
              <a:t>,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 you can use provided libraries for different languages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6"/>
              </a:rPr>
              <a:t>here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Documentation and pricing:</a:t>
            </a:r>
            <a:endParaRPr lang="en-US" sz="1200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 API models 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7"/>
              </a:rPr>
              <a:t>pricing.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 APIs 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8"/>
              </a:rPr>
              <a:t>Docs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API </a:t>
            </a:r>
            <a:r>
              <a:rPr lang="en-US" sz="1400" kern="100" dirty="0">
                <a:solidFill>
                  <a:srgbClr val="E6231E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9"/>
              </a:rPr>
              <a:t>Reference </a:t>
            </a:r>
            <a:endParaRPr lang="en-US" sz="1400" u="none" strike="noStrike" kern="100" dirty="0">
              <a:solidFill>
                <a:srgbClr val="333333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</a:t>
            </a:r>
            <a:r>
              <a:rPr lang="en-US" sz="1400" kern="100" dirty="0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sz="1400" kern="100" dirty="0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10"/>
              </a:rPr>
              <a:t>Examples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OpenAI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hlinkClick r:id="rId11"/>
              </a:rPr>
              <a:t>Cookbook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fontAlgn="base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to work with APIs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Using Language specific SDK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Using REST API</a:t>
            </a: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333333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endParaRPr lang="en-US" sz="12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8F315-0031-C0E7-693A-FA8A9D7EC9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249" y="1370670"/>
            <a:ext cx="9889959" cy="5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5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65A2-D7A5-43FE-3725-FAE55AF6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64E58-DE88-73BA-9FC2-DC57E27C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092F85-B87E-4F62-080C-12A433660C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8180" y="1440912"/>
            <a:ext cx="10244924" cy="4035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E1525-9DE3-77A8-65E1-4657C17051BE}"/>
              </a:ext>
            </a:extLst>
          </p:cNvPr>
          <p:cNvSpPr txBox="1"/>
          <p:nvPr/>
        </p:nvSpPr>
        <p:spPr>
          <a:xfrm>
            <a:off x="775252" y="5539785"/>
            <a:ext cx="5960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hlinkClick r:id="rId4"/>
              </a:rPr>
              <a:t>https://platform.openai.com/docs/api-reference/chat/create</a:t>
            </a:r>
            <a:r>
              <a:rPr lang="en-US" dirty="0">
                <a:hlinkClick r:id="rId4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84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4F3E-E4F3-C768-BC50-4E30C228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C9231-D971-C40D-3714-C00513AE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961D64-F4AB-BF22-1476-4C5E377CE1CF}"/>
              </a:ext>
            </a:extLst>
          </p:cNvPr>
          <p:cNvGrpSpPr/>
          <p:nvPr/>
        </p:nvGrpSpPr>
        <p:grpSpPr>
          <a:xfrm>
            <a:off x="1551444" y="1268276"/>
            <a:ext cx="9089111" cy="4730032"/>
            <a:chOff x="0" y="0"/>
            <a:chExt cx="11117949" cy="5616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4F5E4A-6D14-FE75-BF43-66072B82242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5547"/>
              <a:ext cx="4415410" cy="294017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15FFA1-B4EB-F5A0-5CB1-7D1EBB577F7E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3020835"/>
              <a:ext cx="4069461" cy="10827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574E0A-6C91-BA8D-F792-81F2951D49CD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415397" y="0"/>
              <a:ext cx="6702552" cy="20654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033453-39D4-4D35-8486-67F36768D4EF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415397" y="2248154"/>
              <a:ext cx="6702552" cy="21742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B2E409-142C-8553-C8C0-230178C37EC0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415397" y="4538688"/>
              <a:ext cx="6702552" cy="1077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471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BD64-7202-D2FE-2D21-B33EE73B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044818-6CB0-282E-1FEE-049B5531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4B7C8-575A-5004-5D80-EE4E7D86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90" y="1387820"/>
            <a:ext cx="9878220" cy="483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01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ECF6-DC5D-226F-A1E1-1E7D6D69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F42FB7-E5A4-E6B2-ED60-43B3F90C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4C7C2-1230-CB7D-934C-E1C5825DC1D3}"/>
              </a:ext>
            </a:extLst>
          </p:cNvPr>
          <p:cNvSpPr txBox="1"/>
          <p:nvPr/>
        </p:nvSpPr>
        <p:spPr>
          <a:xfrm>
            <a:off x="3700857" y="5846544"/>
            <a:ext cx="4790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hlinkClick r:id="rId3"/>
              </a:rPr>
              <a:t>OpenAI APIs – Image generation (API Reference)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27BF0-7111-DEDE-0D53-D67CDFA51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09" y="1173916"/>
            <a:ext cx="11032182" cy="45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6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35BF7-176C-556B-7954-36442F88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4BEDD9-1025-7955-125F-0B1ECD509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B89D497-DB91-1B06-4E6D-D7B167B1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BF4DD0F-CB4A-8DB7-772F-6B192C10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DA3B8C-AB35-1C59-2E81-131E50DC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Online courses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1B3A-702A-35DE-31DF-DAA05A563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Different learning paths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57900-9F93-E30D-F454-6383A8694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2DF2-C340-7EC9-BCE0-BDC88FC1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94D31-7009-55E6-C5AB-EEEB7523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(DeepLearning.ai –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4F8A66A-B90D-05D8-65BE-9236F2E4BFEC}"/>
              </a:ext>
            </a:extLst>
          </p:cNvPr>
          <p:cNvSpPr txBox="1">
            <a:spLocks/>
          </p:cNvSpPr>
          <p:nvPr/>
        </p:nvSpPr>
        <p:spPr>
          <a:xfrm>
            <a:off x="252249" y="1063259"/>
            <a:ext cx="11613930" cy="5696121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1" dirty="0"/>
              <a:t>Python intro (Optional):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AI Python for Beginners: </a:t>
            </a:r>
            <a:r>
              <a:rPr lang="en-US" sz="1200" dirty="0">
                <a:hlinkClick r:id="rId2"/>
              </a:rPr>
              <a:t>https://www.deeplearning.ai/short-courses/ai-python-for-beginners/</a:t>
            </a:r>
            <a:r>
              <a:rPr lang="en-US" sz="1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1" dirty="0"/>
              <a:t>Prompt engineering for Devs, OpenAI APIs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ChatGPT Prompt Engineering for Developers: </a:t>
            </a:r>
            <a:r>
              <a:rPr lang="en-US" sz="1200" dirty="0">
                <a:hlinkClick r:id="rId3"/>
              </a:rPr>
              <a:t>https://www.deeplearning.ai/short-courses/chatgpt-prompt-engineering-for-developers/</a:t>
            </a:r>
            <a:endParaRPr lang="en-US" sz="1200" dirty="0"/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Systems with the ChatGPT API: </a:t>
            </a:r>
            <a:r>
              <a:rPr lang="en-US" sz="1200" dirty="0">
                <a:hlinkClick r:id="rId4"/>
              </a:rPr>
              <a:t>https://www.deeplearning.ai/short-courses/building-systems-with-chatgpt/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Reasoning with o1: </a:t>
            </a:r>
            <a:r>
              <a:rPr lang="en-US" sz="1200" dirty="0">
                <a:hlinkClick r:id="rId5"/>
              </a:rPr>
              <a:t>https://www.deeplearning.ai/short-courses/reasoning-with-o1/</a:t>
            </a:r>
            <a:r>
              <a:rPr lang="en-US" sz="1200" dirty="0"/>
              <a:t> 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Open-Source models &amp; Hugging-face: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Open-Source Models with Hugging Face: </a:t>
            </a:r>
            <a:r>
              <a:rPr lang="en-US" sz="1200" dirty="0">
                <a:hlinkClick r:id="rId6"/>
              </a:rPr>
              <a:t>https://www.deeplearning.ai/short-courses/open-source-models-hugging-face/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Introducing Multimodal Llama 3.2: </a:t>
            </a:r>
            <a:r>
              <a:rPr lang="en-US" sz="1200" dirty="0">
                <a:hlinkClick r:id="rId7"/>
              </a:rPr>
              <a:t>https://www.deeplearning.ai/short-courses/introducing-multimodal-llama-3-2/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 err="1"/>
              <a:t>Ollama</a:t>
            </a:r>
            <a:r>
              <a:rPr lang="en-US" sz="1200" b="1" dirty="0"/>
              <a:t> – Run LLM Locally: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Learn </a:t>
            </a:r>
            <a:r>
              <a:rPr lang="en-US" sz="1200" dirty="0" err="1"/>
              <a:t>Ollama</a:t>
            </a:r>
            <a:r>
              <a:rPr lang="en-US" sz="1200" dirty="0"/>
              <a:t> in 15 Minutes - Run LLM Models Locally for FREE (YouTube): </a:t>
            </a:r>
            <a:r>
              <a:rPr lang="en-US" sz="1200" dirty="0">
                <a:hlinkClick r:id="rId8"/>
              </a:rPr>
              <a:t>https://www.youtube.com/watch?v=UtSSMs6ObqY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Ollama</a:t>
            </a:r>
            <a:r>
              <a:rPr lang="en-US" sz="1200" dirty="0"/>
              <a:t> Course – Build AI Apps Locally (YouTube – Intermediate - Optional): </a:t>
            </a:r>
            <a:r>
              <a:rPr lang="en-US" sz="1200" dirty="0">
                <a:hlinkClick r:id="rId9"/>
              </a:rPr>
              <a:t>https://www.youtube.com/watch?v=GWB9ApTPTv4</a:t>
            </a:r>
            <a:r>
              <a:rPr lang="en-US" sz="1200" dirty="0"/>
              <a:t> </a:t>
            </a:r>
            <a:endParaRPr lang="en-US" sz="1200" b="1" dirty="0"/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LangChain, RAG, AI Agents: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LangChain for LLM Application Development: </a:t>
            </a:r>
            <a:r>
              <a:rPr lang="en-US" sz="1200" dirty="0">
                <a:hlinkClick r:id="rId10"/>
              </a:rPr>
              <a:t>https://www.deeplearning.ai/short-courses/langchain-for-llm-application-development/</a:t>
            </a:r>
            <a:endParaRPr lang="en-US" sz="1200" dirty="0"/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LangChain: Chat with Your Data: </a:t>
            </a:r>
            <a:r>
              <a:rPr lang="en-US" sz="1200" dirty="0">
                <a:hlinkClick r:id="rId11"/>
              </a:rPr>
              <a:t>https://www.deeplearning.ai/short-courses/langchain-chat-with-your-data/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AI Agents in </a:t>
            </a:r>
            <a:r>
              <a:rPr lang="en-US" sz="1200" dirty="0" err="1"/>
              <a:t>LangGraph</a:t>
            </a:r>
            <a:r>
              <a:rPr lang="en-US" sz="1200" dirty="0"/>
              <a:t> (Intermediate): </a:t>
            </a:r>
            <a:r>
              <a:rPr lang="en-US" sz="1200" dirty="0">
                <a:hlinkClick r:id="rId12"/>
              </a:rPr>
              <a:t>https://www.deeplearning.ai/short-courses/ai-agents-in-langgraph/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Functions, Tools and Agents with LangChain (Intermediate): </a:t>
            </a:r>
            <a:r>
              <a:rPr lang="en-US" sz="1200" dirty="0">
                <a:hlinkClick r:id="rId13"/>
              </a:rPr>
              <a:t>https://www.deeplearning.ai/short-courses/functions-tools-agents-langchain/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AI Agent and multi-agent: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Multi AI Agent Systems with </a:t>
            </a:r>
            <a:r>
              <a:rPr lang="en-US" sz="1200" dirty="0" err="1"/>
              <a:t>crewAI</a:t>
            </a:r>
            <a:r>
              <a:rPr lang="en-US" sz="1200" dirty="0"/>
              <a:t> (Beginner): </a:t>
            </a:r>
            <a:r>
              <a:rPr lang="en-US" sz="1200" dirty="0">
                <a:hlinkClick r:id="rId14"/>
              </a:rPr>
              <a:t>https://www.deeplearning.ai/short-courses/multi-ai-agent-systems-with-crewai/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AI Agentic Design Patterns with </a:t>
            </a:r>
            <a:r>
              <a:rPr lang="en-US" sz="1200" dirty="0" err="1"/>
              <a:t>AutoGen</a:t>
            </a:r>
            <a:r>
              <a:rPr lang="en-US" sz="1200" dirty="0"/>
              <a:t> (Beginner – Optional): </a:t>
            </a:r>
            <a:r>
              <a:rPr lang="en-US" sz="1200" dirty="0">
                <a:hlinkClick r:id="rId15"/>
              </a:rPr>
              <a:t>https://www.deeplearning.ai/short-courses/ai-agentic-design-patterns-with-autogen/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RAG (Intermediate):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and Evaluating Advanced RAG Applications: </a:t>
            </a:r>
            <a:r>
              <a:rPr lang="en-US" sz="1200" dirty="0">
                <a:hlinkClick r:id="rId16"/>
              </a:rPr>
              <a:t>https://www.deeplearning.ai/short-courses/building-evaluating-advanced-rag/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Multimodal Search and RAG: </a:t>
            </a:r>
            <a:r>
              <a:rPr lang="en-US" sz="1200" dirty="0">
                <a:hlinkClick r:id="rId17"/>
              </a:rPr>
              <a:t>https://www.deeplearning.ai/short-courses/building-multimodal-search-and-rag/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RAG using </a:t>
            </a:r>
            <a:r>
              <a:rPr lang="en-US" sz="1200" b="1" dirty="0" err="1"/>
              <a:t>LlamaIndexL</a:t>
            </a:r>
            <a:r>
              <a:rPr lang="en-US" sz="1200" b="1" dirty="0"/>
              <a:t> (Optional):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Agentic RAG with </a:t>
            </a:r>
            <a:r>
              <a:rPr lang="en-US" sz="1200" dirty="0" err="1"/>
              <a:t>LlamaIndex</a:t>
            </a:r>
            <a:r>
              <a:rPr lang="en-US" sz="1200" dirty="0"/>
              <a:t>: </a:t>
            </a:r>
            <a:r>
              <a:rPr lang="en-US" sz="1200" dirty="0">
                <a:hlinkClick r:id="rId18"/>
              </a:rPr>
              <a:t>https://www.deeplearning.ai/short-courses/building-agentic-rag-with-llamaindex/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JavaScript RAG Web Apps with </a:t>
            </a:r>
            <a:r>
              <a:rPr lang="en-US" sz="1200" dirty="0" err="1"/>
              <a:t>LlamaIndex</a:t>
            </a:r>
            <a:r>
              <a:rPr lang="en-US" sz="1200" dirty="0"/>
              <a:t>: </a:t>
            </a:r>
            <a:r>
              <a:rPr lang="en-US" sz="1200" dirty="0">
                <a:hlinkClick r:id="rId19"/>
              </a:rPr>
              <a:t>https://www.deeplearning.ai/short-courses/javascript-rag-web-apps-with-llamaindex/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Other (Optional):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How Transformer LLMs Work: </a:t>
            </a:r>
            <a:r>
              <a:rPr lang="en-US" sz="1200" dirty="0">
                <a:hlinkClick r:id="rId20"/>
              </a:rPr>
              <a:t>https://www.deeplearning.ai/short-courses/how-transformer-llms-work/</a:t>
            </a:r>
            <a:r>
              <a:rPr lang="en-US" sz="12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Generative AI for Software Development: </a:t>
            </a:r>
            <a:r>
              <a:rPr lang="en-US" sz="1100" dirty="0">
                <a:hlinkClick r:id="rId21"/>
              </a:rPr>
              <a:t>https://www.deeplearning.ai/courses/generative-ai-for-software-development/</a:t>
            </a:r>
            <a:r>
              <a:rPr lang="en-US" sz="11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5489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739A-F0D5-BD4E-B391-6DAF9D33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C570E8-A80D-313E-21F7-C55BBE1A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(YouTube -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CD633A1-2C10-EA20-7428-A771DD907E0A}"/>
              </a:ext>
            </a:extLst>
          </p:cNvPr>
          <p:cNvSpPr txBox="1">
            <a:spLocks/>
          </p:cNvSpPr>
          <p:nvPr/>
        </p:nvSpPr>
        <p:spPr>
          <a:xfrm>
            <a:off x="252249" y="1056279"/>
            <a:ext cx="11613930" cy="5596772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lvl="1" indent="-457200" algn="just" defTabSz="101599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YouTube Playlists (Free)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in a Nutshell: 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2"/>
              </a:rPr>
              <a:t>https://www.youtube.com/watch?v=2IK3DFHRFfw-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 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Tools (From </a:t>
            </a:r>
            <a:r>
              <a:rPr lang="en-US" sz="1400" dirty="0" err="1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Edureka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3"/>
              </a:rPr>
              <a:t>https://www.youtube.com/watch?v=gMa_QHSAxOY&amp;list=PL9ooVrP1hQOFIOOkGN2gbjvse8jcz-mux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Introduction to Generative AI and LLMs (From Microsoft, covering intro RAG, Fine Tuning, and most dev topics):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4"/>
              </a:rPr>
              <a:t>https://www.youtube.com/playlist?list=PLlrxD0HtieHj2nfK54c62lcs3-YSTx3Je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RAG: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Learn RAG From Scratch – Python AI Tutorial from a LangChain Engineer: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5"/>
              </a:rPr>
              <a:t>https://www.youtube.com/watch?v=sVcwVQRHIc8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AI Agents: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How To Create Ai Agents From Scratch (</a:t>
            </a:r>
            <a:r>
              <a:rPr lang="en-US" sz="1400" dirty="0" err="1"/>
              <a:t>CrewAI</a:t>
            </a:r>
            <a:r>
              <a:rPr lang="en-US" sz="1400" dirty="0"/>
              <a:t>, Zapier, Cursor):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6"/>
              </a:rPr>
              <a:t>https://www.youtube.com/watch?v=PM9zr7wgJX4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Complete Guide to Building AI Agents for Beginners: </a:t>
            </a:r>
            <a:r>
              <a:rPr lang="en-US" sz="1400" dirty="0">
                <a:hlinkClick r:id="rId7"/>
              </a:rPr>
              <a:t>https://www.youtube.com/watch?v=MOyl58VF2ak</a:t>
            </a:r>
            <a:r>
              <a:rPr lang="en-US" sz="1400" dirty="0"/>
              <a:t> 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Python Advanced AI Agent Tutorial - </a:t>
            </a:r>
            <a:r>
              <a:rPr lang="en-US" sz="1400" dirty="0" err="1"/>
              <a:t>LlamaIndex</a:t>
            </a:r>
            <a:r>
              <a:rPr lang="en-US" sz="1400" dirty="0"/>
              <a:t>, </a:t>
            </a:r>
            <a:r>
              <a:rPr lang="en-US" sz="1400" dirty="0" err="1"/>
              <a:t>Ollama</a:t>
            </a:r>
            <a:r>
              <a:rPr lang="en-US" sz="1400" dirty="0"/>
              <a:t> and Multi-LLM!: </a:t>
            </a:r>
            <a:r>
              <a:rPr lang="en-US" sz="1400" dirty="0">
                <a:hlinkClick r:id="rId8"/>
              </a:rPr>
              <a:t>https://www.youtube.com/watch?v=JLmI0GJuGlY</a:t>
            </a:r>
            <a:r>
              <a:rPr lang="en-US" sz="14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ADVANCED Python AI Agent Tutorial - Using RAG: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9"/>
              </a:rPr>
              <a:t>https://www.youtube.com/watch?v=ul0QsodYct4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GitHub Copilot for developers (From Microsoft):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0"/>
              </a:rPr>
              <a:t>https://www.youtube.com/playlist?list=PLlrxD0HtieHgr23PS05FIncnih4dH9Na5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Ollama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Learn </a:t>
            </a:r>
            <a:r>
              <a:rPr lang="en-US" sz="1400" dirty="0" err="1"/>
              <a:t>Ollama</a:t>
            </a:r>
            <a:r>
              <a:rPr lang="en-US" sz="1400" dirty="0"/>
              <a:t> in 15 Minutes - Run LLM Models Locally for FREE (YouTube): </a:t>
            </a:r>
            <a:r>
              <a:rPr lang="en-US" sz="1400" dirty="0">
                <a:hlinkClick r:id="rId11"/>
              </a:rPr>
              <a:t>https://www.youtube.com/watch?v=UtSSMs6ObqY</a:t>
            </a:r>
            <a:r>
              <a:rPr lang="en-US" sz="14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Ollama</a:t>
            </a:r>
            <a:r>
              <a:rPr lang="en-US" sz="1400" dirty="0"/>
              <a:t> Course – Build AI Apps Locally (YouTube – Intermediate - Optional): </a:t>
            </a:r>
            <a:r>
              <a:rPr lang="en-US" sz="1400" dirty="0">
                <a:hlinkClick r:id="rId12"/>
              </a:rPr>
              <a:t>https://www.youtube.com/watch?v=GWB9ApTPTv4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Other (Optional):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Advanced Dev topics + Practical project (From FreeCodeCamp.org):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3"/>
              </a:rPr>
              <a:t>https://www.youtube.com/watch?v=mEsleV16qdo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for Developers – Comprehensive Course: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4"/>
              </a:rPr>
              <a:t>https://www.youtube.com/watch?v=F0GQ0l2NfHA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AI Agents: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5"/>
              </a:rPr>
              <a:t>https://www.youtube.com/watch?v=7WK0w9Z9mPE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1034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0F12-B83B-B93F-9D67-2AB74192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1EF7B3-F02A-7FF6-37FC-611725BC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(Microsoft -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D4F4E55-78FD-38D6-86A0-25E76EA5557A}"/>
              </a:ext>
            </a:extLst>
          </p:cNvPr>
          <p:cNvSpPr txBox="1">
            <a:spLocks/>
          </p:cNvSpPr>
          <p:nvPr/>
        </p:nvSpPr>
        <p:spPr>
          <a:xfrm>
            <a:off x="252249" y="1056279"/>
            <a:ext cx="11613930" cy="5596772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Microsoft free courses (Free):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2" tooltip="https://aka.ms/genai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3" tooltip="https://github.com/microsoft/generative-ai-for-beginners-dot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for Beginners - .NET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4" tooltip="https://github.com/microsoft/generative-ai-with-javascrip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with JavaScript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5" tooltip="https://aka.ms/ai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6" tooltip="https://github.com/microsoft/ai-agents-for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Agents for Beginners - A Course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7" tooltip="https://aka.ms/datascience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Science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8" tooltip="https://aka.ms/ml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9" tooltip="https://github.com/microsoft/mastering-github-copilot-for-dotnet-csharp-develop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Mastering GitHub Copilot for C#/.NET Developers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10" tooltip="https://github.com/microsoft/mastering-github-copilot-for-paired-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Mastering GitHub Copilot for Paired Programming</a:t>
            </a:r>
            <a:endParaRPr lang="en-US" sz="2000" dirty="0">
              <a:solidFill>
                <a:srgbClr val="0070C0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985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827" y="-121395"/>
            <a:ext cx="12623655" cy="71007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880663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Candara bold" panose="020E0702030303020204" pitchFamily="34" charset="0"/>
              </a:rPr>
              <a:t>Thank You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7577" y="5664506"/>
            <a:ext cx="12407155" cy="9037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2B9070-65C2-8372-9179-FAD1946B0F4C}"/>
              </a:ext>
            </a:extLst>
          </p:cNvPr>
          <p:cNvSpPr txBox="1"/>
          <p:nvPr/>
        </p:nvSpPr>
        <p:spPr>
          <a:xfrm>
            <a:off x="122601" y="5153933"/>
            <a:ext cx="5772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https://www.linkedin.com/in/omar-abdallah-abdelrahman/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86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I PPT template" id="{1082A310-9640-4036-B8BE-BA00E622FFB6}" vid="{4614FAA8-6D1B-42B9-9739-9C4E8F1091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ITI PPT template</Template>
  <TotalTime>24241</TotalTime>
  <Words>1420</Words>
  <Application>Microsoft Office PowerPoint</Application>
  <PresentationFormat>Widescreen</PresentationFormat>
  <Paragraphs>197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Candara bold</vt:lpstr>
      <vt:lpstr>Calibri</vt:lpstr>
      <vt:lpstr>Arial</vt:lpstr>
      <vt:lpstr>Segoe UI</vt:lpstr>
      <vt:lpstr>Wingdings</vt:lpstr>
      <vt:lpstr>Calibri Light</vt:lpstr>
      <vt:lpstr>Roboto Condensed</vt:lpstr>
      <vt:lpstr>Century Gothic</vt:lpstr>
      <vt:lpstr>Office Theme</vt:lpstr>
      <vt:lpstr>Vibe coding and Working with Gen-AI APIs</vt:lpstr>
      <vt:lpstr>Why should we learn about Gen AI?</vt:lpstr>
      <vt:lpstr>Gen-AI based startups and real products</vt:lpstr>
      <vt:lpstr>Working with Gen-AI APIs</vt:lpstr>
      <vt:lpstr>Working with Gen AI APIs</vt:lpstr>
      <vt:lpstr>Models and Capabilities</vt:lpstr>
      <vt:lpstr>Models and Capabilities</vt:lpstr>
      <vt:lpstr>Models and Capabilities</vt:lpstr>
      <vt:lpstr>Models and Capabilities</vt:lpstr>
      <vt:lpstr>Models and Capabilities</vt:lpstr>
      <vt:lpstr>Models and Capabilities</vt:lpstr>
      <vt:lpstr>Open Source Models</vt:lpstr>
      <vt:lpstr>Models and Capabilities</vt:lpstr>
      <vt:lpstr>Models and Capabilities</vt:lpstr>
      <vt:lpstr>Models and Capabilities</vt:lpstr>
      <vt:lpstr>OpenAI  APIs</vt:lpstr>
      <vt:lpstr>OpenAI APIs</vt:lpstr>
      <vt:lpstr>OpenAI APIs</vt:lpstr>
      <vt:lpstr>OpenAI APIs</vt:lpstr>
      <vt:lpstr>OpenAI APIs</vt:lpstr>
      <vt:lpstr>OpenAI APIs</vt:lpstr>
      <vt:lpstr>OpenAI APIs</vt:lpstr>
      <vt:lpstr>OpenAI APIs</vt:lpstr>
      <vt:lpstr>Online courses resources</vt:lpstr>
      <vt:lpstr>Resources (DeepLearning.ai – Free)</vt:lpstr>
      <vt:lpstr>Resources (YouTube - Free)</vt:lpstr>
      <vt:lpstr>Resources (Microsoft - Free)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 Presentation</dc:title>
  <dc:creator>Hany Saad</dc:creator>
  <cp:lastModifiedBy>Omar Mohamed Abdallah</cp:lastModifiedBy>
  <cp:revision>424</cp:revision>
  <dcterms:created xsi:type="dcterms:W3CDTF">2022-02-28T16:06:44Z</dcterms:created>
  <dcterms:modified xsi:type="dcterms:W3CDTF">2026-03-25T00:44:42Z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2b34ec-c11c-47b6-b54e-e857cc8ee12b_Enabled">
    <vt:lpwstr>true</vt:lpwstr>
  </property>
  <property fmtid="{D5CDD505-2E9C-101B-9397-08002B2CF9AE}" pid="3" name="MSIP_Label_742b34ec-c11c-47b6-b54e-e857cc8ee12b_SetDate">
    <vt:lpwstr>2024-05-02T11:29:24Z</vt:lpwstr>
  </property>
  <property fmtid="{D5CDD505-2E9C-101B-9397-08002B2CF9AE}" pid="4" name="MSIP_Label_742b34ec-c11c-47b6-b54e-e857cc8ee12b_Method">
    <vt:lpwstr>Privileged</vt:lpwstr>
  </property>
  <property fmtid="{D5CDD505-2E9C-101B-9397-08002B2CF9AE}" pid="5" name="MSIP_Label_742b34ec-c11c-47b6-b54e-e857cc8ee12b_Name">
    <vt:lpwstr>General-v3</vt:lpwstr>
  </property>
  <property fmtid="{D5CDD505-2E9C-101B-9397-08002B2CF9AE}" pid="6" name="MSIP_Label_742b34ec-c11c-47b6-b54e-e857cc8ee12b_SiteId">
    <vt:lpwstr>a1a5384f-f0fc-4df9-9f37-caf775af43c1</vt:lpwstr>
  </property>
  <property fmtid="{D5CDD505-2E9C-101B-9397-08002B2CF9AE}" pid="7" name="MSIP_Label_742b34ec-c11c-47b6-b54e-e857cc8ee12b_ActionId">
    <vt:lpwstr>e3023820-301f-4c7e-bfbc-88ae5ad4348a</vt:lpwstr>
  </property>
  <property fmtid="{D5CDD505-2E9C-101B-9397-08002B2CF9AE}" pid="8" name="MSIP_Label_742b34ec-c11c-47b6-b54e-e857cc8ee12b_ContentBits">
    <vt:lpwstr>2</vt:lpwstr>
  </property>
</Properties>
</file>