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1" r:id="rId47"/>
    <p:sldId id="302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7AF9A-C7BD-1DE2-4F5C-640F56797223}" v="3" dt="2026-01-03T16:51:05.4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A7AAE-6DF8-47D8-AC9F-FB57A6C81DAB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92787-DB9B-468F-9A6B-F4EB1203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4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92787-DB9B-468F-9A6B-F4EB1203BA7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4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7341" y="6346939"/>
            <a:ext cx="519430" cy="264795"/>
          </a:xfrm>
          <a:custGeom>
            <a:avLst/>
            <a:gdLst/>
            <a:ahLst/>
            <a:cxnLst/>
            <a:rect l="l" t="t" r="r" b="b"/>
            <a:pathLst>
              <a:path w="519430" h="264795">
                <a:moveTo>
                  <a:pt x="519163" y="0"/>
                </a:moveTo>
                <a:lnTo>
                  <a:pt x="0" y="0"/>
                </a:lnTo>
                <a:lnTo>
                  <a:pt x="0" y="264172"/>
                </a:lnTo>
                <a:lnTo>
                  <a:pt x="519163" y="264172"/>
                </a:lnTo>
                <a:lnTo>
                  <a:pt x="51916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587" y="412750"/>
            <a:ext cx="10656824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587" y="1169289"/>
            <a:ext cx="10431780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7587" y="5986842"/>
            <a:ext cx="6017259" cy="576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ommohamed@iti.gov.eg" TargetMode="External"/><Relationship Id="rId4" Type="http://schemas.openxmlformats.org/officeDocument/2006/relationships/hyperlink" Target="mailto:hghiett@iti.gov.e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ngroup.com/articles/ai-tools-productivity-gains/" TargetMode="External"/><Relationship Id="rId5" Type="http://schemas.openxmlformats.org/officeDocument/2006/relationships/hyperlink" Target="https://www.nngroup.com/" TargetMode="Externa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pwork.com/freelance-jobs/apply/GenAI-engineer-build-GenAI-powered-modules-astrology-app_~021881618645551659676" TargetMode="External"/><Relationship Id="rId13" Type="http://schemas.openxmlformats.org/officeDocument/2006/relationships/hyperlink" Target="https://www.upwork.com/nx/search/jobs/?q=%28Generative%20OR%20AI%2C%20OR%20RAG%2C%20OR%20AI%20OR%20Agent%2C%20OR%20OpenAI%2C%20OR%20CrewAI%2C%20OR%20LangChain%2C%20OR%20Ollama%29" TargetMode="External"/><Relationship Id="rId3" Type="http://schemas.openxmlformats.org/officeDocument/2006/relationships/hyperlink" Target="https://www.upwork.com/freelance-jobs/apply/Image-Generation-and-Deepfake-Model-Creation_~021881794452938416889/" TargetMode="External"/><Relationship Id="rId7" Type="http://schemas.openxmlformats.org/officeDocument/2006/relationships/hyperlink" Target="https://www.upwork.com/freelance-jobs/apply/Engineer-for-Medical-RAG-based-Chatbot-Development_~021881624414860206842/" TargetMode="External"/><Relationship Id="rId12" Type="http://schemas.openxmlformats.org/officeDocument/2006/relationships/hyperlink" Target="https://www.upwork.com/freelance-jobs/apply/Web-App-Development-with-for-Meta-Ads-Management_~021881794584266719922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pwork.com/freelance-jobs/apply/Developers-for-agents_~021881675659455740572" TargetMode="External"/><Relationship Id="rId11" Type="http://schemas.openxmlformats.org/officeDocument/2006/relationships/hyperlink" Target="https://www.upwork.com/freelance-jobs/apply/Developer-Needed-Build-Agents-for-Data-Analysis-and-Digital-Advertising_~021881780923224053520/" TargetMode="External"/><Relationship Id="rId5" Type="http://schemas.openxmlformats.org/officeDocument/2006/relationships/hyperlink" Target="https://www.upwork.com/freelance-jobs/apply/Next-Developer-Needed-for-SaaS-Application-Integration-with-Features_~021881678256977076985" TargetMode="External"/><Relationship Id="rId15" Type="http://schemas.openxmlformats.org/officeDocument/2006/relationships/hyperlink" Target="https://mostaql.com/projects?keyword=%D8%B0%D9%83%D8%A7%D8%A1%20%D8%B5%D9%86%D8%A7%D8%B9%D9%8A&amp;category=development&amp;budget_max=10000&amp;sort=latest" TargetMode="External"/><Relationship Id="rId10" Type="http://schemas.openxmlformats.org/officeDocument/2006/relationships/hyperlink" Target="https://www.upwork.com/freelance-jobs/apply/Full-Stack-Developer-with-Experience-Replit-Preferred_~021881796303256076978/" TargetMode="External"/><Relationship Id="rId4" Type="http://schemas.openxmlformats.org/officeDocument/2006/relationships/hyperlink" Target="https://www.upwork.com/freelance-jobs/apply/developer-rag-llm-fullstack_~021881708937543279353/" TargetMode="External"/><Relationship Id="rId9" Type="http://schemas.openxmlformats.org/officeDocument/2006/relationships/hyperlink" Target="https://www.upwork.com/freelance-jobs/apply/CReate-Agent-using-Open-Google-API-CrewAI_~021881796324131127986/" TargetMode="External"/><Relationship Id="rId14" Type="http://schemas.openxmlformats.org/officeDocument/2006/relationships/hyperlink" Target="https://khamsat.com/search?c%5B%5D=5&amp;sc%5B%5D=169&amp;sl%5B%5D=seller_level_3&amp;sl%5B%5D=seller_level_2&amp;sl%5B%5D=seller_level_4&amp;siv=false&amp;no_keyword=false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marianaai.com/" TargetMode="External"/><Relationship Id="rId3" Type="http://schemas.openxmlformats.org/officeDocument/2006/relationships/hyperlink" Target="https://loop-x.co/" TargetMode="External"/><Relationship Id="rId7" Type="http://schemas.openxmlformats.org/officeDocument/2006/relationships/hyperlink" Target="https://nancy-ai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lents.com/" TargetMode="External"/><Relationship Id="rId5" Type="http://schemas.openxmlformats.org/officeDocument/2006/relationships/hyperlink" Target="https://www.apriora.ai/" TargetMode="External"/><Relationship Id="rId4" Type="http://schemas.openxmlformats.org/officeDocument/2006/relationships/hyperlink" Target="https://gemelo.ai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oler0410/LLMsPracticalGuide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models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learning-to-reason-with-llms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" TargetMode="External"/><Relationship Id="rId13" Type="http://schemas.openxmlformats.org/officeDocument/2006/relationships/image" Target="../media/image40.jpg"/><Relationship Id="rId3" Type="http://schemas.openxmlformats.org/officeDocument/2006/relationships/image" Target="../media/image33.jpg"/><Relationship Id="rId7" Type="http://schemas.openxmlformats.org/officeDocument/2006/relationships/image" Target="../media/image35.png"/><Relationship Id="rId12" Type="http://schemas.openxmlformats.org/officeDocument/2006/relationships/image" Target="../media/image39.jpg"/><Relationship Id="rId2" Type="http://schemas.openxmlformats.org/officeDocument/2006/relationships/hyperlink" Target="https://poe.com/" TargetMode="Externa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emini.google.com/" TargetMode="External"/><Relationship Id="rId11" Type="http://schemas.openxmlformats.org/officeDocument/2006/relationships/image" Target="../media/image38.jpg"/><Relationship Id="rId5" Type="http://schemas.openxmlformats.org/officeDocument/2006/relationships/image" Target="../media/image34.jpg"/><Relationship Id="rId15" Type="http://schemas.openxmlformats.org/officeDocument/2006/relationships/hyperlink" Target="https://claude.ai/" TargetMode="External"/><Relationship Id="rId10" Type="http://schemas.openxmlformats.org/officeDocument/2006/relationships/image" Target="../media/image37.jpg"/><Relationship Id="rId4" Type="http://schemas.openxmlformats.org/officeDocument/2006/relationships/hyperlink" Target="https://copilot.microsoft.com/" TargetMode="External"/><Relationship Id="rId9" Type="http://schemas.openxmlformats.org/officeDocument/2006/relationships/image" Target="../media/image36.jpg"/><Relationship Id="rId14" Type="http://schemas.openxmlformats.org/officeDocument/2006/relationships/image" Target="../media/image41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openai.com/en/articles/6654000-best-practices-for-prompt-engineering-with-openai-api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udemy.com/course/chatgpt-a-master-guide-for-professionals/?couponCode=ST16MT230625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.ai/short-courses/prompt-engineering-with-llama-2/" TargetMode="External"/><Relationship Id="rId5" Type="http://schemas.openxmlformats.org/officeDocument/2006/relationships/hyperlink" Target="https://learn.deeplearning.ai/courses/chatgpt-prompt-eng/lesson/dfbds/introduction/" TargetMode="External"/><Relationship Id="rId4" Type="http://schemas.openxmlformats.org/officeDocument/2006/relationships/hyperlink" Target="https://www.coursera.org/learn/advanced-prompt-engineering-for-everyone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inspiredfrommyself.blogspot.com/2011/01/engineering-and-assignments.html" TargetMode="Externa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69332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12056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3000" y="0"/>
                </a:moveTo>
                <a:lnTo>
                  <a:pt x="0" y="0"/>
                </a:lnTo>
                <a:lnTo>
                  <a:pt x="0" y="2592147"/>
                </a:lnTo>
                <a:lnTo>
                  <a:pt x="36360" y="2658046"/>
                </a:lnTo>
                <a:lnTo>
                  <a:pt x="60637" y="2698640"/>
                </a:lnTo>
                <a:lnTo>
                  <a:pt x="85904" y="2738562"/>
                </a:lnTo>
                <a:lnTo>
                  <a:pt x="112143" y="2777796"/>
                </a:lnTo>
                <a:lnTo>
                  <a:pt x="139339" y="2816325"/>
                </a:lnTo>
                <a:lnTo>
                  <a:pt x="167475" y="2854132"/>
                </a:lnTo>
                <a:lnTo>
                  <a:pt x="196532" y="2891200"/>
                </a:lnTo>
                <a:lnTo>
                  <a:pt x="226495" y="2927513"/>
                </a:lnTo>
                <a:lnTo>
                  <a:pt x="257346" y="2963054"/>
                </a:lnTo>
                <a:lnTo>
                  <a:pt x="289069" y="2997806"/>
                </a:lnTo>
                <a:lnTo>
                  <a:pt x="321646" y="3031753"/>
                </a:lnTo>
                <a:lnTo>
                  <a:pt x="355061" y="3064877"/>
                </a:lnTo>
                <a:lnTo>
                  <a:pt x="389297" y="3097162"/>
                </a:lnTo>
                <a:lnTo>
                  <a:pt x="424336" y="3128591"/>
                </a:lnTo>
                <a:lnTo>
                  <a:pt x="460163" y="3159148"/>
                </a:lnTo>
                <a:lnTo>
                  <a:pt x="496759" y="3188815"/>
                </a:lnTo>
                <a:lnTo>
                  <a:pt x="534108" y="3217577"/>
                </a:lnTo>
                <a:lnTo>
                  <a:pt x="572193" y="3245415"/>
                </a:lnTo>
                <a:lnTo>
                  <a:pt x="610997" y="3272314"/>
                </a:lnTo>
                <a:lnTo>
                  <a:pt x="650503" y="3298257"/>
                </a:lnTo>
                <a:lnTo>
                  <a:pt x="690694" y="3323226"/>
                </a:lnTo>
                <a:lnTo>
                  <a:pt x="731554" y="3347206"/>
                </a:lnTo>
                <a:lnTo>
                  <a:pt x="773065" y="3370179"/>
                </a:lnTo>
                <a:lnTo>
                  <a:pt x="815210" y="3392129"/>
                </a:lnTo>
                <a:lnTo>
                  <a:pt x="857973" y="3413039"/>
                </a:lnTo>
                <a:lnTo>
                  <a:pt x="901337" y="3432893"/>
                </a:lnTo>
                <a:lnTo>
                  <a:pt x="945284" y="3451673"/>
                </a:lnTo>
                <a:lnTo>
                  <a:pt x="989797" y="3469362"/>
                </a:lnTo>
                <a:lnTo>
                  <a:pt x="1034860" y="3485945"/>
                </a:lnTo>
                <a:lnTo>
                  <a:pt x="1080456" y="3501403"/>
                </a:lnTo>
                <a:lnTo>
                  <a:pt x="1126568" y="3515722"/>
                </a:lnTo>
                <a:lnTo>
                  <a:pt x="1173179" y="3528883"/>
                </a:lnTo>
                <a:lnTo>
                  <a:pt x="1220272" y="3540870"/>
                </a:lnTo>
                <a:lnTo>
                  <a:pt x="1267829" y="3551666"/>
                </a:lnTo>
                <a:lnTo>
                  <a:pt x="1315835" y="3561255"/>
                </a:lnTo>
                <a:lnTo>
                  <a:pt x="1364272" y="3569620"/>
                </a:lnTo>
                <a:lnTo>
                  <a:pt x="1413123" y="3576744"/>
                </a:lnTo>
                <a:lnTo>
                  <a:pt x="1462372" y="3582610"/>
                </a:lnTo>
                <a:lnTo>
                  <a:pt x="1512001" y="3587202"/>
                </a:lnTo>
                <a:lnTo>
                  <a:pt x="1561993" y="3590502"/>
                </a:lnTo>
                <a:lnTo>
                  <a:pt x="1612332" y="3592495"/>
                </a:lnTo>
                <a:lnTo>
                  <a:pt x="1663000" y="3593163"/>
                </a:lnTo>
                <a:lnTo>
                  <a:pt x="166300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163" y="0"/>
            <a:ext cx="1668145" cy="3593465"/>
          </a:xfrm>
          <a:custGeom>
            <a:avLst/>
            <a:gdLst/>
            <a:ahLst/>
            <a:cxnLst/>
            <a:rect l="l" t="t" r="r" b="b"/>
            <a:pathLst>
              <a:path w="1668145" h="3593465">
                <a:moveTo>
                  <a:pt x="1667837" y="0"/>
                </a:moveTo>
                <a:lnTo>
                  <a:pt x="0" y="0"/>
                </a:lnTo>
                <a:lnTo>
                  <a:pt x="0" y="3593163"/>
                </a:lnTo>
                <a:lnTo>
                  <a:pt x="50663" y="3592495"/>
                </a:lnTo>
                <a:lnTo>
                  <a:pt x="100998" y="3590502"/>
                </a:lnTo>
                <a:lnTo>
                  <a:pt x="150986" y="3587202"/>
                </a:lnTo>
                <a:lnTo>
                  <a:pt x="200611" y="3582610"/>
                </a:lnTo>
                <a:lnTo>
                  <a:pt x="249856" y="3576744"/>
                </a:lnTo>
                <a:lnTo>
                  <a:pt x="298704" y="3569620"/>
                </a:lnTo>
                <a:lnTo>
                  <a:pt x="347138" y="3561255"/>
                </a:lnTo>
                <a:lnTo>
                  <a:pt x="395141" y="3551666"/>
                </a:lnTo>
                <a:lnTo>
                  <a:pt x="442696" y="3540870"/>
                </a:lnTo>
                <a:lnTo>
                  <a:pt x="489787" y="3528883"/>
                </a:lnTo>
                <a:lnTo>
                  <a:pt x="536396" y="3515722"/>
                </a:lnTo>
                <a:lnTo>
                  <a:pt x="582505" y="3501403"/>
                </a:lnTo>
                <a:lnTo>
                  <a:pt x="628100" y="3485945"/>
                </a:lnTo>
                <a:lnTo>
                  <a:pt x="673161" y="3469362"/>
                </a:lnTo>
                <a:lnTo>
                  <a:pt x="717674" y="3451673"/>
                </a:lnTo>
                <a:lnTo>
                  <a:pt x="761619" y="3432893"/>
                </a:lnTo>
                <a:lnTo>
                  <a:pt x="804981" y="3413039"/>
                </a:lnTo>
                <a:lnTo>
                  <a:pt x="847743" y="3392129"/>
                </a:lnTo>
                <a:lnTo>
                  <a:pt x="889888" y="3370179"/>
                </a:lnTo>
                <a:lnTo>
                  <a:pt x="931398" y="3347206"/>
                </a:lnTo>
                <a:lnTo>
                  <a:pt x="972257" y="3323226"/>
                </a:lnTo>
                <a:lnTo>
                  <a:pt x="1012448" y="3298257"/>
                </a:lnTo>
                <a:lnTo>
                  <a:pt x="1051953" y="3272314"/>
                </a:lnTo>
                <a:lnTo>
                  <a:pt x="1090757" y="3245415"/>
                </a:lnTo>
                <a:lnTo>
                  <a:pt x="1128841" y="3217577"/>
                </a:lnTo>
                <a:lnTo>
                  <a:pt x="1166190" y="3188815"/>
                </a:lnTo>
                <a:lnTo>
                  <a:pt x="1202786" y="3159148"/>
                </a:lnTo>
                <a:lnTo>
                  <a:pt x="1238612" y="3128591"/>
                </a:lnTo>
                <a:lnTo>
                  <a:pt x="1273651" y="3097162"/>
                </a:lnTo>
                <a:lnTo>
                  <a:pt x="1307886" y="3064877"/>
                </a:lnTo>
                <a:lnTo>
                  <a:pt x="1341300" y="3031753"/>
                </a:lnTo>
                <a:lnTo>
                  <a:pt x="1373877" y="2997806"/>
                </a:lnTo>
                <a:lnTo>
                  <a:pt x="1405599" y="2963054"/>
                </a:lnTo>
                <a:lnTo>
                  <a:pt x="1436450" y="2927513"/>
                </a:lnTo>
                <a:lnTo>
                  <a:pt x="1466412" y="2891200"/>
                </a:lnTo>
                <a:lnTo>
                  <a:pt x="1495469" y="2854132"/>
                </a:lnTo>
                <a:lnTo>
                  <a:pt x="1523604" y="2816325"/>
                </a:lnTo>
                <a:lnTo>
                  <a:pt x="1550799" y="2777796"/>
                </a:lnTo>
                <a:lnTo>
                  <a:pt x="1577037" y="2738562"/>
                </a:lnTo>
                <a:lnTo>
                  <a:pt x="1602303" y="2698640"/>
                </a:lnTo>
                <a:lnTo>
                  <a:pt x="1626578" y="2658046"/>
                </a:lnTo>
                <a:lnTo>
                  <a:pt x="1649847" y="2616797"/>
                </a:lnTo>
                <a:lnTo>
                  <a:pt x="1667837" y="2582921"/>
                </a:lnTo>
                <a:lnTo>
                  <a:pt x="1667837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482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23739" y="0"/>
            <a:ext cx="3094355" cy="3593465"/>
            <a:chOff x="5023739" y="0"/>
            <a:chExt cx="3094355" cy="3593465"/>
          </a:xfrm>
        </p:grpSpPr>
        <p:sp>
          <p:nvSpPr>
            <p:cNvPr id="9" name="object 9"/>
            <p:cNvSpPr/>
            <p:nvPr/>
          </p:nvSpPr>
          <p:spPr>
            <a:xfrm>
              <a:off x="6239083" y="0"/>
              <a:ext cx="1878964" cy="3593465"/>
            </a:xfrm>
            <a:custGeom>
              <a:avLst/>
              <a:gdLst/>
              <a:ahLst/>
              <a:cxnLst/>
              <a:rect l="l" t="t" r="r" b="b"/>
              <a:pathLst>
                <a:path w="1878965" h="3593465">
                  <a:moveTo>
                    <a:pt x="1878670" y="0"/>
                  </a:moveTo>
                  <a:lnTo>
                    <a:pt x="0" y="0"/>
                  </a:lnTo>
                  <a:lnTo>
                    <a:pt x="0" y="1722278"/>
                  </a:lnTo>
                  <a:lnTo>
                    <a:pt x="613" y="1770547"/>
                  </a:lnTo>
                  <a:lnTo>
                    <a:pt x="2445" y="1818515"/>
                  </a:lnTo>
                  <a:lnTo>
                    <a:pt x="5480" y="1866170"/>
                  </a:lnTo>
                  <a:lnTo>
                    <a:pt x="9704" y="1913494"/>
                  </a:lnTo>
                  <a:lnTo>
                    <a:pt x="15101" y="1960474"/>
                  </a:lnTo>
                  <a:lnTo>
                    <a:pt x="21656" y="2007096"/>
                  </a:lnTo>
                  <a:lnTo>
                    <a:pt x="29356" y="2053344"/>
                  </a:lnTo>
                  <a:lnTo>
                    <a:pt x="38185" y="2099203"/>
                  </a:lnTo>
                  <a:lnTo>
                    <a:pt x="48129" y="2144659"/>
                  </a:lnTo>
                  <a:lnTo>
                    <a:pt x="59172" y="2189698"/>
                  </a:lnTo>
                  <a:lnTo>
                    <a:pt x="71300" y="2234304"/>
                  </a:lnTo>
                  <a:lnTo>
                    <a:pt x="84498" y="2278462"/>
                  </a:lnTo>
                  <a:lnTo>
                    <a:pt x="98751" y="2322159"/>
                  </a:lnTo>
                  <a:lnTo>
                    <a:pt x="114045" y="2365379"/>
                  </a:lnTo>
                  <a:lnTo>
                    <a:pt x="130365" y="2408107"/>
                  </a:lnTo>
                  <a:lnTo>
                    <a:pt x="147695" y="2450329"/>
                  </a:lnTo>
                  <a:lnTo>
                    <a:pt x="166022" y="2492031"/>
                  </a:lnTo>
                  <a:lnTo>
                    <a:pt x="185330" y="2533197"/>
                  </a:lnTo>
                  <a:lnTo>
                    <a:pt x="205605" y="2573812"/>
                  </a:lnTo>
                  <a:lnTo>
                    <a:pt x="226832" y="2613862"/>
                  </a:lnTo>
                  <a:lnTo>
                    <a:pt x="248995" y="2653333"/>
                  </a:lnTo>
                  <a:lnTo>
                    <a:pt x="272081" y="2692209"/>
                  </a:lnTo>
                  <a:lnTo>
                    <a:pt x="296075" y="2730476"/>
                  </a:lnTo>
                  <a:lnTo>
                    <a:pt x="320961" y="2768119"/>
                  </a:lnTo>
                  <a:lnTo>
                    <a:pt x="346725" y="2805123"/>
                  </a:lnTo>
                  <a:lnTo>
                    <a:pt x="373352" y="2841474"/>
                  </a:lnTo>
                  <a:lnTo>
                    <a:pt x="400827" y="2877156"/>
                  </a:lnTo>
                  <a:lnTo>
                    <a:pt x="429136" y="2912156"/>
                  </a:lnTo>
                  <a:lnTo>
                    <a:pt x="458263" y="2946458"/>
                  </a:lnTo>
                  <a:lnTo>
                    <a:pt x="488195" y="2980048"/>
                  </a:lnTo>
                  <a:lnTo>
                    <a:pt x="518916" y="3012911"/>
                  </a:lnTo>
                  <a:lnTo>
                    <a:pt x="550411" y="3045032"/>
                  </a:lnTo>
                  <a:lnTo>
                    <a:pt x="582666" y="3076397"/>
                  </a:lnTo>
                  <a:lnTo>
                    <a:pt x="615666" y="3106990"/>
                  </a:lnTo>
                  <a:lnTo>
                    <a:pt x="649395" y="3136798"/>
                  </a:lnTo>
                  <a:lnTo>
                    <a:pt x="683840" y="3165805"/>
                  </a:lnTo>
                  <a:lnTo>
                    <a:pt x="718986" y="3193996"/>
                  </a:lnTo>
                  <a:lnTo>
                    <a:pt x="754817" y="3221358"/>
                  </a:lnTo>
                  <a:lnTo>
                    <a:pt x="791319" y="3247875"/>
                  </a:lnTo>
                  <a:lnTo>
                    <a:pt x="828477" y="3273532"/>
                  </a:lnTo>
                  <a:lnTo>
                    <a:pt x="866276" y="3298315"/>
                  </a:lnTo>
                  <a:lnTo>
                    <a:pt x="904703" y="3322208"/>
                  </a:lnTo>
                  <a:lnTo>
                    <a:pt x="943740" y="3345199"/>
                  </a:lnTo>
                  <a:lnTo>
                    <a:pt x="983375" y="3367270"/>
                  </a:lnTo>
                  <a:lnTo>
                    <a:pt x="1023592" y="3388409"/>
                  </a:lnTo>
                  <a:lnTo>
                    <a:pt x="1064377" y="3408600"/>
                  </a:lnTo>
                  <a:lnTo>
                    <a:pt x="1105714" y="3427828"/>
                  </a:lnTo>
                  <a:lnTo>
                    <a:pt x="1147589" y="3446079"/>
                  </a:lnTo>
                  <a:lnTo>
                    <a:pt x="1189987" y="3463338"/>
                  </a:lnTo>
                  <a:lnTo>
                    <a:pt x="1232893" y="3479590"/>
                  </a:lnTo>
                  <a:lnTo>
                    <a:pt x="1276293" y="3494820"/>
                  </a:lnTo>
                  <a:lnTo>
                    <a:pt x="1320171" y="3509015"/>
                  </a:lnTo>
                  <a:lnTo>
                    <a:pt x="1364513" y="3522158"/>
                  </a:lnTo>
                  <a:lnTo>
                    <a:pt x="1409305" y="3534236"/>
                  </a:lnTo>
                  <a:lnTo>
                    <a:pt x="1454531" y="3545233"/>
                  </a:lnTo>
                  <a:lnTo>
                    <a:pt x="1500176" y="3555135"/>
                  </a:lnTo>
                  <a:lnTo>
                    <a:pt x="1546226" y="3563928"/>
                  </a:lnTo>
                  <a:lnTo>
                    <a:pt x="1592667" y="3571596"/>
                  </a:lnTo>
                  <a:lnTo>
                    <a:pt x="1639482" y="3578124"/>
                  </a:lnTo>
                  <a:lnTo>
                    <a:pt x="1686658" y="3583499"/>
                  </a:lnTo>
                  <a:lnTo>
                    <a:pt x="1734180" y="3587705"/>
                  </a:lnTo>
                  <a:lnTo>
                    <a:pt x="1782032" y="3590727"/>
                  </a:lnTo>
                  <a:lnTo>
                    <a:pt x="1830200" y="3592551"/>
                  </a:lnTo>
                  <a:lnTo>
                    <a:pt x="1878670" y="3593163"/>
                  </a:lnTo>
                  <a:lnTo>
                    <a:pt x="1878670" y="0"/>
                  </a:lnTo>
                  <a:close/>
                </a:path>
              </a:pathLst>
            </a:custGeom>
            <a:solidFill>
              <a:srgbClr val="B1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739" y="844003"/>
              <a:ext cx="2144649" cy="126673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4504"/>
            <a:ext cx="12191999" cy="90370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66800" y="2514600"/>
            <a:ext cx="9615674" cy="153311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Intro to Generative</a:t>
            </a:r>
            <a:r>
              <a:rPr lang="en-US" sz="4800" b="1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lang="en-US" sz="4800" b="1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lang="en-US" sz="4800" b="1" spc="-13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 spc="-13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rompt</a:t>
            </a:r>
            <a:r>
              <a:rPr lang="en-US" sz="4800" b="1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 spc="-1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lang="en-US" sz="4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58400" y="4972583"/>
            <a:ext cx="1767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chemeClr val="bg1"/>
                </a:solidFill>
                <a:latin typeface="Calibri"/>
                <a:cs typeface="Calibri"/>
              </a:rPr>
              <a:t>Hany</a:t>
            </a:r>
            <a:r>
              <a:rPr sz="1800" b="1" spc="-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chemeClr val="bg1"/>
                </a:solidFill>
                <a:latin typeface="Calibri"/>
                <a:cs typeface="Calibri"/>
              </a:rPr>
              <a:t>Saad </a:t>
            </a:r>
            <a:r>
              <a:rPr sz="1800" b="1" spc="-10">
                <a:solidFill>
                  <a:schemeClr val="bg1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hghiett@iti.gov.eg</a:t>
            </a:r>
            <a:endParaRPr sz="18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F40D020-F051-7E5F-A046-A5EA321D6FA9}"/>
              </a:ext>
            </a:extLst>
          </p:cNvPr>
          <p:cNvSpPr txBox="1"/>
          <p:nvPr/>
        </p:nvSpPr>
        <p:spPr>
          <a:xfrm>
            <a:off x="-304800" y="4969780"/>
            <a:ext cx="373118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20">
                <a:solidFill>
                  <a:schemeClr val="bg1"/>
                </a:solidFill>
                <a:latin typeface="Calibri"/>
                <a:cs typeface="Calibri"/>
              </a:rPr>
              <a:t>Presented by : Omar Abdallah</a:t>
            </a:r>
          </a:p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>
                <a:solidFill>
                  <a:schemeClr val="bg1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ommohamed</a:t>
            </a:r>
            <a:r>
              <a:rPr lang="en-US" sz="1800" b="1" spc="-10">
                <a:solidFill>
                  <a:schemeClr val="bg1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@iti.gov.eg</a:t>
            </a:r>
            <a:endParaRPr sz="180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65198" y="473191"/>
            <a:ext cx="10656824" cy="537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lang="en-US"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2800" spc="-225">
                <a:solidFill>
                  <a:srgbClr val="FFFFFF"/>
                </a:solidFill>
                <a:latin typeface="Trebuchet MS"/>
                <a:cs typeface="Trebuchet MS"/>
              </a:rPr>
              <a:t>Outline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114" y="1133373"/>
            <a:ext cx="11456670" cy="525528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>
                <a:latin typeface="Segoe UI"/>
                <a:cs typeface="Segoe UI"/>
              </a:rPr>
              <a:t>Course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Title: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Intro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Generative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engineering</a:t>
            </a:r>
            <a:endParaRPr sz="1600">
              <a:latin typeface="Segoe UI"/>
              <a:cs typeface="Segoe UI"/>
            </a:endParaRPr>
          </a:p>
          <a:p>
            <a:pPr marL="12700" marR="7079615">
              <a:lnSpc>
                <a:spcPct val="150000"/>
              </a:lnSpc>
            </a:pPr>
            <a:r>
              <a:rPr sz="1600" b="1" spc="-20">
                <a:latin typeface="Segoe UI"/>
                <a:cs typeface="Segoe UI"/>
              </a:rPr>
              <a:t>Tracks:</a:t>
            </a:r>
            <a:r>
              <a:rPr sz="1600" b="1" spc="-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All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tracks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(Including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Development</a:t>
            </a:r>
            <a:r>
              <a:rPr sz="1600" spc="-5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tracks) </a:t>
            </a:r>
            <a:r>
              <a:rPr sz="1600" b="1">
                <a:latin typeface="Segoe UI"/>
                <a:cs typeface="Segoe UI"/>
              </a:rPr>
              <a:t>Duration:</a:t>
            </a:r>
            <a:r>
              <a:rPr sz="1600" b="1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6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hours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(Lecture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+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workshop) </a:t>
            </a:r>
            <a:r>
              <a:rPr sz="1600" b="1" spc="-10">
                <a:latin typeface="Segoe UI"/>
                <a:cs typeface="Segoe UI"/>
              </a:rPr>
              <a:t>Evaluation: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Attendance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+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Report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/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presentation.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>
                <a:latin typeface="Segoe UI"/>
                <a:cs typeface="Segoe UI"/>
              </a:rPr>
              <a:t>Prerequisites: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No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prerequisites,</a:t>
            </a:r>
            <a:r>
              <a:rPr sz="1600" spc="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preferred to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the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last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month.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>
                <a:latin typeface="Segoe UI"/>
                <a:cs typeface="Segoe UI"/>
              </a:rPr>
              <a:t>Outlines: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Intro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AI: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evolution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of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Generative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25">
                <a:latin typeface="Segoe UI"/>
                <a:cs typeface="Segoe UI"/>
              </a:rPr>
              <a:t>AI.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Gen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benefits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practical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cases</a:t>
            </a:r>
            <a:endParaRPr sz="1600">
              <a:latin typeface="Segoe UI"/>
              <a:cs typeface="Segoe UI"/>
            </a:endParaRPr>
          </a:p>
          <a:p>
            <a:pPr marL="469900" marR="6985" indent="-457200">
              <a:lnSpc>
                <a:spcPct val="100000"/>
              </a:lnSpc>
              <a:buFont typeface="Arial"/>
              <a:buChar char="•"/>
              <a:tabLst>
                <a:tab pos="469900" algn="l"/>
              </a:tabLst>
            </a:pPr>
            <a:r>
              <a:rPr sz="1600">
                <a:latin typeface="Segoe UI"/>
                <a:cs typeface="Segoe UI"/>
              </a:rPr>
              <a:t>Key</a:t>
            </a:r>
            <a:r>
              <a:rPr sz="1600" spc="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</a:t>
            </a:r>
            <a:r>
              <a:rPr sz="1600" spc="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terminologies</a:t>
            </a:r>
            <a:r>
              <a:rPr sz="1600" spc="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merging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technologies: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LLM,</a:t>
            </a:r>
            <a:r>
              <a:rPr sz="1600" spc="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Prompts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&amp;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completions,</a:t>
            </a:r>
            <a:r>
              <a:rPr sz="1600" spc="55">
                <a:latin typeface="Segoe UI"/>
                <a:cs typeface="Segoe UI"/>
              </a:rPr>
              <a:t> </a:t>
            </a:r>
            <a:r>
              <a:rPr sz="1600" spc="-20">
                <a:latin typeface="Segoe UI"/>
                <a:cs typeface="Segoe UI"/>
              </a:rPr>
              <a:t>Tokens,</a:t>
            </a:r>
            <a:r>
              <a:rPr sz="1600" spc="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Models,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Multi-</a:t>
            </a:r>
            <a:r>
              <a:rPr sz="1600">
                <a:latin typeface="Segoe UI"/>
                <a:cs typeface="Segoe UI"/>
              </a:rPr>
              <a:t>modal</a:t>
            </a:r>
            <a:r>
              <a:rPr sz="1600" spc="5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models, </a:t>
            </a:r>
            <a:r>
              <a:rPr sz="1600">
                <a:latin typeface="Segoe UI"/>
                <a:cs typeface="Segoe UI"/>
              </a:rPr>
              <a:t>RAG,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Fine-</a:t>
            </a:r>
            <a:r>
              <a:rPr sz="1600">
                <a:latin typeface="Segoe UI"/>
                <a:cs typeface="Segoe UI"/>
              </a:rPr>
              <a:t>tuning,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Reasoning</a:t>
            </a:r>
            <a:r>
              <a:rPr sz="1600" spc="-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models,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agents.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Gen</a:t>
            </a:r>
            <a:r>
              <a:rPr sz="1600" spc="18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tools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models,</a:t>
            </a:r>
            <a:r>
              <a:rPr sz="1600" spc="18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tools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(ChatGPT,</a:t>
            </a:r>
            <a:r>
              <a:rPr sz="1600" spc="20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Gemini,</a:t>
            </a:r>
            <a:r>
              <a:rPr sz="1600" spc="204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Claude,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MS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Copilot,</a:t>
            </a:r>
            <a:r>
              <a:rPr sz="1600" spc="21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DeepSeek,</a:t>
            </a:r>
            <a:r>
              <a:rPr sz="1600" spc="20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Qwen,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Grok…)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18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cases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different</a:t>
            </a:r>
            <a:endParaRPr sz="16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</a:pPr>
            <a:r>
              <a:rPr sz="1600" spc="-10">
                <a:latin typeface="Segoe UI"/>
                <a:cs typeface="Segoe UI"/>
              </a:rPr>
              <a:t>fields.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Introducing</a:t>
            </a:r>
            <a:r>
              <a:rPr sz="1600" spc="-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</a:t>
            </a:r>
            <a:r>
              <a:rPr sz="1600" spc="-7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engineering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Use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cases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for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applications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uses</a:t>
            </a:r>
            <a:endParaRPr lang="en-US" sz="1600" spc="-25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AI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tools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limitations,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security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data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privacy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considerations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94129" y="2435478"/>
            <a:ext cx="8602980" cy="17405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13255" marR="5080" indent="-1901189">
              <a:lnSpc>
                <a:spcPts val="6300"/>
              </a:lnSpc>
              <a:spcBef>
                <a:spcPts val="106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Why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do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we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need</a:t>
            </a:r>
            <a:r>
              <a:rPr sz="6000" b="0" spc="-8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0">
                <a:solidFill>
                  <a:srgbClr val="000000"/>
                </a:solidFill>
                <a:latin typeface="Segoe UI"/>
                <a:cs typeface="Segoe UI"/>
              </a:rPr>
              <a:t>know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about</a:t>
            </a:r>
            <a:r>
              <a:rPr sz="6000" b="0" spc="-2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Gen </a:t>
            </a:r>
            <a:r>
              <a:rPr sz="6000" b="0" spc="-25">
                <a:solidFill>
                  <a:srgbClr val="000000"/>
                </a:solidFill>
                <a:latin typeface="Segoe UI"/>
                <a:cs typeface="Segoe UI"/>
              </a:rPr>
              <a:t>AI?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78208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221" y="162890"/>
            <a:ext cx="408051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45">
                <a:solidFill>
                  <a:srgbClr val="000000"/>
                </a:solidFill>
                <a:latin typeface="Calibri Light"/>
                <a:cs typeface="Calibri Light"/>
              </a:rPr>
              <a:t>History</a:t>
            </a:r>
            <a:r>
              <a:rPr sz="6600" b="0" spc="-27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6600" b="0" spc="-1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 spc="-25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endParaRPr sz="6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3600" y="1580388"/>
            <a:ext cx="4767834" cy="26832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798" y="1513318"/>
            <a:ext cx="11962130" cy="5344795"/>
            <a:chOff x="19798" y="1513318"/>
            <a:chExt cx="11962130" cy="53447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8327" y="4339007"/>
              <a:ext cx="4793107" cy="25189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98" y="1513318"/>
              <a:ext cx="7134632" cy="5308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171935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/>
              <a:t>What’s</a:t>
            </a:r>
            <a:r>
              <a:rPr sz="2400" spc="-125"/>
              <a:t> </a:t>
            </a:r>
            <a:r>
              <a:rPr sz="2400"/>
              <a:t>Generative</a:t>
            </a:r>
            <a:r>
              <a:rPr sz="2400" spc="-125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671" y="1178179"/>
            <a:ext cx="1054608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2571" y="2318511"/>
            <a:ext cx="3314446" cy="30054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893" y="2615712"/>
            <a:ext cx="6554089" cy="24453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Who</a:t>
            </a:r>
            <a:r>
              <a:rPr sz="2400" spc="-35"/>
              <a:t> </a:t>
            </a:r>
            <a:r>
              <a:rPr sz="2400"/>
              <a:t>should</a:t>
            </a:r>
            <a:r>
              <a:rPr sz="2400" spc="-30"/>
              <a:t> </a:t>
            </a:r>
            <a:r>
              <a:rPr sz="2400"/>
              <a:t>learn</a:t>
            </a:r>
            <a:r>
              <a:rPr sz="2400" spc="-40"/>
              <a:t> </a:t>
            </a:r>
            <a:r>
              <a:rPr sz="2400"/>
              <a:t>about</a:t>
            </a:r>
            <a:r>
              <a:rPr sz="2400" spc="-35"/>
              <a:t> </a:t>
            </a:r>
            <a:r>
              <a:rPr sz="2400"/>
              <a:t>Gen</a:t>
            </a:r>
            <a:r>
              <a:rPr sz="2400" spc="-20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03528" y="970787"/>
            <a:ext cx="7538084" cy="496506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/</a:t>
            </a:r>
            <a:r>
              <a:rPr sz="1800" b="1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Machine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Learning</a:t>
            </a:r>
            <a:r>
              <a:rPr sz="1800" b="1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Developers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marR="174625" lvl="1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Design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refine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Generative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models 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create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intelligent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efficient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driven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solutions.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Software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Developers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756285" algn="l"/>
              </a:tabLst>
            </a:pP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Utilize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tools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enhance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productivity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development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tasks.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Leverage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Generative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1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APIs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build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powered</a:t>
            </a:r>
            <a:r>
              <a:rPr sz="180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b="1" spc="-10">
                <a:solidFill>
                  <a:srgbClr val="C00000"/>
                </a:solidFill>
                <a:latin typeface="Arial"/>
                <a:cs typeface="Arial"/>
              </a:rPr>
              <a:t>Everyone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marR="5080" lvl="1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today’s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centric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world,</a:t>
            </a:r>
            <a:r>
              <a:rPr sz="18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it’s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crucial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individuals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across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all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professions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grasp the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basics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Generative</a:t>
            </a:r>
            <a:r>
              <a:rPr sz="18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incorporate</a:t>
            </a:r>
            <a:r>
              <a:rPr sz="18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AI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tools</a:t>
            </a:r>
            <a:r>
              <a:rPr sz="180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their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workflows</a:t>
            </a:r>
            <a:r>
              <a:rPr sz="180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boost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productivity.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103" y="1251458"/>
            <a:ext cx="3126231" cy="31262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051" y="1013586"/>
            <a:ext cx="10558387" cy="5598148"/>
            <a:chOff x="820051" y="1013586"/>
            <a:chExt cx="10558387" cy="5598148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051" y="1049769"/>
              <a:ext cx="5286629" cy="528662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443" y="1076705"/>
              <a:ext cx="4720801" cy="21048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6093" y="1070355"/>
              <a:ext cx="4792345" cy="2117725"/>
            </a:xfrm>
            <a:custGeom>
              <a:avLst/>
              <a:gdLst/>
              <a:ahLst/>
              <a:cxnLst/>
              <a:rect l="l" t="t" r="r" b="b"/>
              <a:pathLst>
                <a:path w="4792345" h="2117725">
                  <a:moveTo>
                    <a:pt x="0" y="2117598"/>
                  </a:moveTo>
                  <a:lnTo>
                    <a:pt x="4792218" y="2117598"/>
                  </a:lnTo>
                  <a:lnTo>
                    <a:pt x="4792218" y="0"/>
                  </a:lnTo>
                  <a:lnTo>
                    <a:pt x="0" y="0"/>
                  </a:lnTo>
                  <a:lnTo>
                    <a:pt x="0" y="2117598"/>
                  </a:lnTo>
                  <a:close/>
                </a:path>
              </a:pathLst>
            </a:custGeom>
            <a:ln w="126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8799" y="3348990"/>
              <a:ext cx="4463161" cy="305181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Will</a:t>
            </a:r>
            <a:r>
              <a:rPr sz="2400" spc="-35"/>
              <a:t> </a:t>
            </a:r>
            <a:r>
              <a:rPr sz="2400"/>
              <a:t>AI</a:t>
            </a:r>
            <a:r>
              <a:rPr sz="2400" spc="-45"/>
              <a:t> </a:t>
            </a:r>
            <a:r>
              <a:rPr sz="2400"/>
              <a:t>Replace</a:t>
            </a:r>
            <a:r>
              <a:rPr sz="2400" spc="-45"/>
              <a:t> </a:t>
            </a:r>
            <a:r>
              <a:rPr sz="2400"/>
              <a:t>Jobs</a:t>
            </a:r>
            <a:r>
              <a:rPr sz="2400" spc="-40"/>
              <a:t> </a:t>
            </a:r>
            <a:r>
              <a:rPr sz="2400"/>
              <a:t>/</a:t>
            </a:r>
            <a:r>
              <a:rPr sz="2400" spc="-50"/>
              <a:t> </a:t>
            </a:r>
            <a:r>
              <a:rPr sz="2400" spc="-10"/>
              <a:t>employees?</a:t>
            </a:r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7</a:t>
            </a:fld>
            <a:endParaRPr spc="-50"/>
          </a:p>
        </p:txBody>
      </p:sp>
      <p:sp>
        <p:nvSpPr>
          <p:cNvPr id="12" name="object 12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587" y="286639"/>
            <a:ext cx="5102225" cy="537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b="0" spc="-25">
                <a:solidFill>
                  <a:srgbClr val="000000"/>
                </a:solidFill>
                <a:latin typeface="Calibri Light"/>
                <a:cs typeface="Calibri Light"/>
              </a:rPr>
              <a:t>Gen-</a:t>
            </a:r>
            <a:r>
              <a:rPr sz="3350" b="0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r>
              <a:rPr sz="3350" b="0" spc="-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70">
                <a:solidFill>
                  <a:srgbClr val="000000"/>
                </a:solidFill>
                <a:latin typeface="Calibri Light"/>
                <a:cs typeface="Calibri Light"/>
              </a:rPr>
              <a:t>Tools</a:t>
            </a:r>
            <a:r>
              <a:rPr sz="3350" b="0" spc="-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>
                <a:solidFill>
                  <a:srgbClr val="000000"/>
                </a:solidFill>
                <a:latin typeface="Calibri Light"/>
                <a:cs typeface="Calibri Light"/>
              </a:rPr>
              <a:t>in</a:t>
            </a:r>
            <a:r>
              <a:rPr sz="3350" b="0" spc="-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45">
                <a:solidFill>
                  <a:srgbClr val="000000"/>
                </a:solidFill>
                <a:latin typeface="Calibri Light"/>
                <a:cs typeface="Calibri Light"/>
              </a:rPr>
              <a:t>Work</a:t>
            </a:r>
            <a:r>
              <a:rPr sz="3350" b="0" spc="-12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10">
                <a:solidFill>
                  <a:srgbClr val="000000"/>
                </a:solidFill>
                <a:latin typeface="Calibri Light"/>
                <a:cs typeface="Calibri Light"/>
              </a:rPr>
              <a:t>Statistics</a:t>
            </a:r>
            <a:endParaRPr sz="33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6927" y="994410"/>
            <a:ext cx="5269865" cy="4455795"/>
            <a:chOff x="816927" y="994410"/>
            <a:chExt cx="5269865" cy="4455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689" y="994410"/>
              <a:ext cx="5269035" cy="2763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927" y="3747135"/>
              <a:ext cx="3223641" cy="170256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8911" y="5608116"/>
            <a:ext cx="4422775" cy="409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>
                <a:latin typeface="Calibri"/>
                <a:cs typeface="Calibri"/>
              </a:rPr>
              <a:t>2024</a:t>
            </a:r>
            <a:r>
              <a:rPr sz="1250" spc="-2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Work</a:t>
            </a:r>
            <a:r>
              <a:rPr sz="1250" spc="-20">
                <a:latin typeface="Calibri"/>
                <a:cs typeface="Calibri"/>
              </a:rPr>
              <a:t> Trend</a:t>
            </a:r>
            <a:r>
              <a:rPr sz="1250" spc="-3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Index</a:t>
            </a:r>
            <a:r>
              <a:rPr sz="1250" spc="-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Annual</a:t>
            </a:r>
            <a:r>
              <a:rPr sz="1250" spc="-2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Report</a:t>
            </a:r>
            <a:r>
              <a:rPr sz="1250" spc="-1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from</a:t>
            </a:r>
            <a:r>
              <a:rPr sz="1250" spc="-1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Microsoft</a:t>
            </a:r>
            <a:r>
              <a:rPr sz="1250" spc="-2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and</a:t>
            </a:r>
            <a:r>
              <a:rPr sz="1250" spc="-15">
                <a:latin typeface="Calibri"/>
                <a:cs typeface="Calibri"/>
              </a:rPr>
              <a:t> </a:t>
            </a:r>
            <a:r>
              <a:rPr sz="1250" spc="-10">
                <a:latin typeface="Calibri"/>
                <a:cs typeface="Calibri"/>
              </a:rPr>
              <a:t>LinkedIn:</a:t>
            </a:r>
            <a:endParaRPr sz="1250">
              <a:latin typeface="Calibri"/>
              <a:cs typeface="Calibri"/>
            </a:endParaRPr>
          </a:p>
          <a:p>
            <a:pPr marR="229870" algn="ctr">
              <a:lnSpc>
                <a:spcPct val="100000"/>
              </a:lnSpc>
              <a:spcBef>
                <a:spcPts val="10"/>
              </a:spcBef>
            </a:pPr>
            <a:r>
              <a:rPr sz="1250">
                <a:latin typeface="Calibri"/>
                <a:cs typeface="Calibri"/>
              </a:rPr>
              <a:t>AI</a:t>
            </a:r>
            <a:r>
              <a:rPr sz="1250" spc="-1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In</a:t>
            </a:r>
            <a:r>
              <a:rPr sz="1250" spc="5">
                <a:latin typeface="Calibri"/>
                <a:cs typeface="Calibri"/>
              </a:rPr>
              <a:t> </a:t>
            </a:r>
            <a:r>
              <a:rPr sz="1250" spc="-20">
                <a:latin typeface="Calibri"/>
                <a:cs typeface="Calibri"/>
              </a:rPr>
              <a:t>Work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72021" y="995552"/>
            <a:ext cx="5244465" cy="3863975"/>
            <a:chOff x="6272021" y="995552"/>
            <a:chExt cx="5244465" cy="38639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4721" y="1008252"/>
              <a:ext cx="5144884" cy="38381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78371" y="1001902"/>
              <a:ext cx="5231765" cy="3851275"/>
            </a:xfrm>
            <a:custGeom>
              <a:avLst/>
              <a:gdLst/>
              <a:ahLst/>
              <a:cxnLst/>
              <a:rect l="l" t="t" r="r" b="b"/>
              <a:pathLst>
                <a:path w="5231765" h="3851275">
                  <a:moveTo>
                    <a:pt x="0" y="3850894"/>
                  </a:moveTo>
                  <a:lnTo>
                    <a:pt x="5231383" y="3850894"/>
                  </a:lnTo>
                  <a:lnTo>
                    <a:pt x="5231383" y="0"/>
                  </a:lnTo>
                  <a:lnTo>
                    <a:pt x="0" y="0"/>
                  </a:lnTo>
                  <a:lnTo>
                    <a:pt x="0" y="38508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55977" y="6204915"/>
            <a:ext cx="84797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Nielsen</a:t>
            </a:r>
            <a:r>
              <a:rPr sz="2400" b="1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Norman</a:t>
            </a:r>
            <a:r>
              <a:rPr sz="2400" b="1" u="sng" spc="-9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Group</a:t>
            </a:r>
            <a:r>
              <a:rPr sz="2400" b="1" u="none">
                <a:latin typeface="Calibri"/>
                <a:cs typeface="Calibri"/>
              </a:rPr>
              <a:t>:</a:t>
            </a:r>
            <a:r>
              <a:rPr sz="2400" b="1" u="none" spc="-50">
                <a:latin typeface="Calibri"/>
                <a:cs typeface="Calibri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AI</a:t>
            </a:r>
            <a:r>
              <a:rPr sz="2400" b="1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Improves</a:t>
            </a:r>
            <a:r>
              <a:rPr sz="2400" b="1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Employee</a:t>
            </a:r>
            <a:r>
              <a:rPr sz="2400" b="1" u="sng" spc="-7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Productivity</a:t>
            </a:r>
            <a:r>
              <a:rPr sz="2400" b="1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by</a:t>
            </a:r>
            <a:r>
              <a:rPr sz="2400" b="1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66%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742" y="6379260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0" spc="-50">
                <a:solidFill>
                  <a:srgbClr val="888888"/>
                </a:solidFill>
                <a:latin typeface="Calibri Light"/>
                <a:cs typeface="Calibri Light"/>
              </a:rPr>
              <a:t>8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3946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23" y="457200"/>
            <a:ext cx="11867894" cy="5741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5036" y="367867"/>
            <a:ext cx="2787015" cy="643890"/>
          </a:xfrm>
          <a:custGeom>
            <a:avLst/>
            <a:gdLst/>
            <a:ahLst/>
            <a:cxnLst/>
            <a:rect l="l" t="t" r="r" b="b"/>
            <a:pathLst>
              <a:path w="2787015" h="643890">
                <a:moveTo>
                  <a:pt x="154724" y="337947"/>
                </a:moveTo>
                <a:lnTo>
                  <a:pt x="0" y="337947"/>
                </a:lnTo>
                <a:lnTo>
                  <a:pt x="0" y="643458"/>
                </a:lnTo>
                <a:lnTo>
                  <a:pt x="48399" y="635736"/>
                </a:lnTo>
                <a:lnTo>
                  <a:pt x="90817" y="614121"/>
                </a:lnTo>
                <a:lnTo>
                  <a:pt x="124498" y="580974"/>
                </a:lnTo>
                <a:lnTo>
                  <a:pt x="146710" y="538594"/>
                </a:lnTo>
                <a:lnTo>
                  <a:pt x="154724" y="489356"/>
                </a:lnTo>
                <a:lnTo>
                  <a:pt x="154724" y="337947"/>
                </a:lnTo>
                <a:close/>
              </a:path>
              <a:path w="2787015" h="643890">
                <a:moveTo>
                  <a:pt x="154724" y="8115"/>
                </a:moveTo>
                <a:lnTo>
                  <a:pt x="0" y="8115"/>
                </a:lnTo>
                <a:lnTo>
                  <a:pt x="0" y="313613"/>
                </a:lnTo>
                <a:lnTo>
                  <a:pt x="48399" y="305892"/>
                </a:lnTo>
                <a:lnTo>
                  <a:pt x="90817" y="284289"/>
                </a:lnTo>
                <a:lnTo>
                  <a:pt x="124498" y="251129"/>
                </a:lnTo>
                <a:lnTo>
                  <a:pt x="146710" y="208762"/>
                </a:lnTo>
                <a:lnTo>
                  <a:pt x="154724" y="159512"/>
                </a:lnTo>
                <a:lnTo>
                  <a:pt x="154724" y="8115"/>
                </a:lnTo>
                <a:close/>
              </a:path>
              <a:path w="2787015" h="643890">
                <a:moveTo>
                  <a:pt x="333883" y="337947"/>
                </a:moveTo>
                <a:lnTo>
                  <a:pt x="179158" y="337947"/>
                </a:lnTo>
                <a:lnTo>
                  <a:pt x="179158" y="643458"/>
                </a:lnTo>
                <a:lnTo>
                  <a:pt x="227558" y="635736"/>
                </a:lnTo>
                <a:lnTo>
                  <a:pt x="269976" y="614121"/>
                </a:lnTo>
                <a:lnTo>
                  <a:pt x="303657" y="580974"/>
                </a:lnTo>
                <a:lnTo>
                  <a:pt x="325869" y="538594"/>
                </a:lnTo>
                <a:lnTo>
                  <a:pt x="333883" y="489356"/>
                </a:lnTo>
                <a:lnTo>
                  <a:pt x="333883" y="337947"/>
                </a:lnTo>
                <a:close/>
              </a:path>
              <a:path w="2787015" h="643890">
                <a:moveTo>
                  <a:pt x="333883" y="8115"/>
                </a:moveTo>
                <a:lnTo>
                  <a:pt x="179158" y="8115"/>
                </a:lnTo>
                <a:lnTo>
                  <a:pt x="179158" y="159512"/>
                </a:lnTo>
                <a:lnTo>
                  <a:pt x="186918" y="208762"/>
                </a:lnTo>
                <a:lnTo>
                  <a:pt x="208610" y="251129"/>
                </a:lnTo>
                <a:lnTo>
                  <a:pt x="241896" y="284289"/>
                </a:lnTo>
                <a:lnTo>
                  <a:pt x="284429" y="305892"/>
                </a:lnTo>
                <a:lnTo>
                  <a:pt x="333883" y="313613"/>
                </a:lnTo>
                <a:lnTo>
                  <a:pt x="333883" y="8115"/>
                </a:lnTo>
                <a:close/>
              </a:path>
              <a:path w="2787015" h="643890">
                <a:moveTo>
                  <a:pt x="510324" y="162217"/>
                </a:moveTo>
                <a:lnTo>
                  <a:pt x="502577" y="114007"/>
                </a:lnTo>
                <a:lnTo>
                  <a:pt x="480885" y="71767"/>
                </a:lnTo>
                <a:lnTo>
                  <a:pt x="447586" y="38214"/>
                </a:lnTo>
                <a:lnTo>
                  <a:pt x="405041" y="16090"/>
                </a:lnTo>
                <a:lnTo>
                  <a:pt x="355600" y="8115"/>
                </a:lnTo>
                <a:lnTo>
                  <a:pt x="355600" y="313613"/>
                </a:lnTo>
                <a:lnTo>
                  <a:pt x="510324" y="313613"/>
                </a:lnTo>
                <a:lnTo>
                  <a:pt x="510324" y="162217"/>
                </a:lnTo>
                <a:close/>
              </a:path>
              <a:path w="2787015" h="643890">
                <a:moveTo>
                  <a:pt x="510336" y="643458"/>
                </a:moveTo>
                <a:lnTo>
                  <a:pt x="510324" y="337947"/>
                </a:lnTo>
                <a:lnTo>
                  <a:pt x="461924" y="345935"/>
                </a:lnTo>
                <a:lnTo>
                  <a:pt x="419519" y="368058"/>
                </a:lnTo>
                <a:lnTo>
                  <a:pt x="385826" y="401599"/>
                </a:lnTo>
                <a:lnTo>
                  <a:pt x="363613" y="443839"/>
                </a:lnTo>
                <a:lnTo>
                  <a:pt x="355600" y="492048"/>
                </a:lnTo>
                <a:lnTo>
                  <a:pt x="355600" y="643458"/>
                </a:lnTo>
                <a:lnTo>
                  <a:pt x="510336" y="643458"/>
                </a:lnTo>
                <a:close/>
              </a:path>
              <a:path w="2787015" h="643890">
                <a:moveTo>
                  <a:pt x="686777" y="492048"/>
                </a:moveTo>
                <a:lnTo>
                  <a:pt x="678764" y="443839"/>
                </a:lnTo>
                <a:lnTo>
                  <a:pt x="656539" y="401599"/>
                </a:lnTo>
                <a:lnTo>
                  <a:pt x="622858" y="368058"/>
                </a:lnTo>
                <a:lnTo>
                  <a:pt x="580453" y="345935"/>
                </a:lnTo>
                <a:lnTo>
                  <a:pt x="532041" y="337947"/>
                </a:lnTo>
                <a:lnTo>
                  <a:pt x="532041" y="643458"/>
                </a:lnTo>
                <a:lnTo>
                  <a:pt x="686777" y="643458"/>
                </a:lnTo>
                <a:lnTo>
                  <a:pt x="686777" y="492048"/>
                </a:lnTo>
                <a:close/>
              </a:path>
              <a:path w="2787015" h="643890">
                <a:moveTo>
                  <a:pt x="686777" y="313613"/>
                </a:moveTo>
                <a:lnTo>
                  <a:pt x="686765" y="8115"/>
                </a:lnTo>
                <a:lnTo>
                  <a:pt x="637324" y="16090"/>
                </a:lnTo>
                <a:lnTo>
                  <a:pt x="594779" y="38214"/>
                </a:lnTo>
                <a:lnTo>
                  <a:pt x="561492" y="71767"/>
                </a:lnTo>
                <a:lnTo>
                  <a:pt x="539800" y="114007"/>
                </a:lnTo>
                <a:lnTo>
                  <a:pt x="532041" y="162217"/>
                </a:lnTo>
                <a:lnTo>
                  <a:pt x="532041" y="313613"/>
                </a:lnTo>
                <a:lnTo>
                  <a:pt x="686777" y="313613"/>
                </a:lnTo>
                <a:close/>
              </a:path>
              <a:path w="2787015" h="643890">
                <a:moveTo>
                  <a:pt x="860501" y="492048"/>
                </a:moveTo>
                <a:lnTo>
                  <a:pt x="852754" y="443839"/>
                </a:lnTo>
                <a:lnTo>
                  <a:pt x="831049" y="401599"/>
                </a:lnTo>
                <a:lnTo>
                  <a:pt x="797763" y="368058"/>
                </a:lnTo>
                <a:lnTo>
                  <a:pt x="755218" y="345935"/>
                </a:lnTo>
                <a:lnTo>
                  <a:pt x="705777" y="337947"/>
                </a:lnTo>
                <a:lnTo>
                  <a:pt x="705777" y="643458"/>
                </a:lnTo>
                <a:lnTo>
                  <a:pt x="860501" y="643458"/>
                </a:lnTo>
                <a:lnTo>
                  <a:pt x="860501" y="492048"/>
                </a:lnTo>
                <a:close/>
              </a:path>
              <a:path w="2787015" h="643890">
                <a:moveTo>
                  <a:pt x="863219" y="8115"/>
                </a:moveTo>
                <a:lnTo>
                  <a:pt x="708482" y="8115"/>
                </a:lnTo>
                <a:lnTo>
                  <a:pt x="708482" y="313613"/>
                </a:lnTo>
                <a:lnTo>
                  <a:pt x="756894" y="305892"/>
                </a:lnTo>
                <a:lnTo>
                  <a:pt x="799299" y="284289"/>
                </a:lnTo>
                <a:lnTo>
                  <a:pt x="832980" y="251129"/>
                </a:lnTo>
                <a:lnTo>
                  <a:pt x="855205" y="208762"/>
                </a:lnTo>
                <a:lnTo>
                  <a:pt x="863219" y="159512"/>
                </a:lnTo>
                <a:lnTo>
                  <a:pt x="863219" y="8115"/>
                </a:lnTo>
                <a:close/>
              </a:path>
              <a:path w="2787015" h="643890">
                <a:moveTo>
                  <a:pt x="1036980" y="337947"/>
                </a:moveTo>
                <a:lnTo>
                  <a:pt x="882218" y="337947"/>
                </a:lnTo>
                <a:lnTo>
                  <a:pt x="882218" y="489356"/>
                </a:lnTo>
                <a:lnTo>
                  <a:pt x="890231" y="538594"/>
                </a:lnTo>
                <a:lnTo>
                  <a:pt x="912444" y="580974"/>
                </a:lnTo>
                <a:lnTo>
                  <a:pt x="946124" y="614121"/>
                </a:lnTo>
                <a:lnTo>
                  <a:pt x="988555" y="635736"/>
                </a:lnTo>
                <a:lnTo>
                  <a:pt x="1036980" y="643458"/>
                </a:lnTo>
                <a:lnTo>
                  <a:pt x="1036980" y="337947"/>
                </a:lnTo>
                <a:close/>
              </a:path>
              <a:path w="2787015" h="643890">
                <a:moveTo>
                  <a:pt x="1036980" y="162217"/>
                </a:moveTo>
                <a:lnTo>
                  <a:pt x="1029220" y="114007"/>
                </a:lnTo>
                <a:lnTo>
                  <a:pt x="1007529" y="71767"/>
                </a:lnTo>
                <a:lnTo>
                  <a:pt x="974217" y="38214"/>
                </a:lnTo>
                <a:lnTo>
                  <a:pt x="931672" y="16090"/>
                </a:lnTo>
                <a:lnTo>
                  <a:pt x="882218" y="8115"/>
                </a:lnTo>
                <a:lnTo>
                  <a:pt x="882218" y="313613"/>
                </a:lnTo>
                <a:lnTo>
                  <a:pt x="1036980" y="313613"/>
                </a:lnTo>
                <a:lnTo>
                  <a:pt x="1036980" y="162217"/>
                </a:lnTo>
                <a:close/>
              </a:path>
              <a:path w="2787015" h="643890">
                <a:moveTo>
                  <a:pt x="1213434" y="337947"/>
                </a:moveTo>
                <a:lnTo>
                  <a:pt x="1058697" y="337947"/>
                </a:lnTo>
                <a:lnTo>
                  <a:pt x="1058697" y="643458"/>
                </a:lnTo>
                <a:lnTo>
                  <a:pt x="1107084" y="635736"/>
                </a:lnTo>
                <a:lnTo>
                  <a:pt x="1149489" y="614121"/>
                </a:lnTo>
                <a:lnTo>
                  <a:pt x="1183182" y="580974"/>
                </a:lnTo>
                <a:lnTo>
                  <a:pt x="1205407" y="538594"/>
                </a:lnTo>
                <a:lnTo>
                  <a:pt x="1213434" y="489356"/>
                </a:lnTo>
                <a:lnTo>
                  <a:pt x="1213434" y="337947"/>
                </a:lnTo>
                <a:close/>
              </a:path>
              <a:path w="2787015" h="643890">
                <a:moveTo>
                  <a:pt x="1213434" y="8115"/>
                </a:moveTo>
                <a:lnTo>
                  <a:pt x="1058697" y="8115"/>
                </a:lnTo>
                <a:lnTo>
                  <a:pt x="1058697" y="159512"/>
                </a:lnTo>
                <a:lnTo>
                  <a:pt x="1066444" y="208762"/>
                </a:lnTo>
                <a:lnTo>
                  <a:pt x="1088123" y="251129"/>
                </a:lnTo>
                <a:lnTo>
                  <a:pt x="1121397" y="284289"/>
                </a:lnTo>
                <a:lnTo>
                  <a:pt x="1163955" y="305892"/>
                </a:lnTo>
                <a:lnTo>
                  <a:pt x="1213434" y="313613"/>
                </a:lnTo>
                <a:lnTo>
                  <a:pt x="1213434" y="8115"/>
                </a:lnTo>
                <a:close/>
              </a:path>
              <a:path w="2787015" h="643890">
                <a:moveTo>
                  <a:pt x="1389786" y="337947"/>
                </a:moveTo>
                <a:lnTo>
                  <a:pt x="1235138" y="337947"/>
                </a:lnTo>
                <a:lnTo>
                  <a:pt x="1235138" y="643458"/>
                </a:lnTo>
                <a:lnTo>
                  <a:pt x="1283525" y="635736"/>
                </a:lnTo>
                <a:lnTo>
                  <a:pt x="1325905" y="614121"/>
                </a:lnTo>
                <a:lnTo>
                  <a:pt x="1359573" y="580974"/>
                </a:lnTo>
                <a:lnTo>
                  <a:pt x="1381785" y="538594"/>
                </a:lnTo>
                <a:lnTo>
                  <a:pt x="1389786" y="489356"/>
                </a:lnTo>
                <a:lnTo>
                  <a:pt x="1389786" y="337947"/>
                </a:lnTo>
                <a:close/>
              </a:path>
              <a:path w="2787015" h="643890">
                <a:moveTo>
                  <a:pt x="1389786" y="8115"/>
                </a:moveTo>
                <a:lnTo>
                  <a:pt x="1235138" y="8115"/>
                </a:lnTo>
                <a:lnTo>
                  <a:pt x="1235138" y="313613"/>
                </a:lnTo>
                <a:lnTo>
                  <a:pt x="1283525" y="305892"/>
                </a:lnTo>
                <a:lnTo>
                  <a:pt x="1325905" y="284289"/>
                </a:lnTo>
                <a:lnTo>
                  <a:pt x="1359573" y="251129"/>
                </a:lnTo>
                <a:lnTo>
                  <a:pt x="1381785" y="208762"/>
                </a:lnTo>
                <a:lnTo>
                  <a:pt x="1389786" y="159512"/>
                </a:lnTo>
                <a:lnTo>
                  <a:pt x="1389786" y="8115"/>
                </a:lnTo>
                <a:close/>
              </a:path>
              <a:path w="2787015" h="643890">
                <a:moveTo>
                  <a:pt x="1568983" y="337947"/>
                </a:moveTo>
                <a:lnTo>
                  <a:pt x="1520596" y="345935"/>
                </a:lnTo>
                <a:lnTo>
                  <a:pt x="1478191" y="368058"/>
                </a:lnTo>
                <a:lnTo>
                  <a:pt x="1444498" y="401599"/>
                </a:lnTo>
                <a:lnTo>
                  <a:pt x="1422273" y="443839"/>
                </a:lnTo>
                <a:lnTo>
                  <a:pt x="1414246" y="492048"/>
                </a:lnTo>
                <a:lnTo>
                  <a:pt x="1414246" y="643458"/>
                </a:lnTo>
                <a:lnTo>
                  <a:pt x="1568983" y="643458"/>
                </a:lnTo>
                <a:lnTo>
                  <a:pt x="1568983" y="337947"/>
                </a:lnTo>
                <a:close/>
              </a:path>
              <a:path w="2787015" h="643890">
                <a:moveTo>
                  <a:pt x="1568983" y="162217"/>
                </a:moveTo>
                <a:lnTo>
                  <a:pt x="1561236" y="114007"/>
                </a:lnTo>
                <a:lnTo>
                  <a:pt x="1539532" y="71767"/>
                </a:lnTo>
                <a:lnTo>
                  <a:pt x="1506232" y="38214"/>
                </a:lnTo>
                <a:lnTo>
                  <a:pt x="1463687" y="16090"/>
                </a:lnTo>
                <a:lnTo>
                  <a:pt x="1414246" y="8115"/>
                </a:lnTo>
                <a:lnTo>
                  <a:pt x="1414246" y="313613"/>
                </a:lnTo>
                <a:lnTo>
                  <a:pt x="1568983" y="313613"/>
                </a:lnTo>
                <a:lnTo>
                  <a:pt x="1568983" y="162217"/>
                </a:lnTo>
                <a:close/>
              </a:path>
              <a:path w="2787015" h="643890">
                <a:moveTo>
                  <a:pt x="1750847" y="337947"/>
                </a:moveTo>
                <a:lnTo>
                  <a:pt x="1596110" y="337947"/>
                </a:lnTo>
                <a:lnTo>
                  <a:pt x="1596110" y="643458"/>
                </a:lnTo>
                <a:lnTo>
                  <a:pt x="1644535" y="635736"/>
                </a:lnTo>
                <a:lnTo>
                  <a:pt x="1686941" y="614121"/>
                </a:lnTo>
                <a:lnTo>
                  <a:pt x="1720621" y="580974"/>
                </a:lnTo>
                <a:lnTo>
                  <a:pt x="1742833" y="538594"/>
                </a:lnTo>
                <a:lnTo>
                  <a:pt x="1750847" y="489356"/>
                </a:lnTo>
                <a:lnTo>
                  <a:pt x="1750847" y="337947"/>
                </a:lnTo>
                <a:close/>
              </a:path>
              <a:path w="2787015" h="643890">
                <a:moveTo>
                  <a:pt x="1750847" y="8115"/>
                </a:moveTo>
                <a:lnTo>
                  <a:pt x="1596110" y="8115"/>
                </a:lnTo>
                <a:lnTo>
                  <a:pt x="1596110" y="159512"/>
                </a:lnTo>
                <a:lnTo>
                  <a:pt x="1603857" y="208762"/>
                </a:lnTo>
                <a:lnTo>
                  <a:pt x="1625561" y="251129"/>
                </a:lnTo>
                <a:lnTo>
                  <a:pt x="1658861" y="284289"/>
                </a:lnTo>
                <a:lnTo>
                  <a:pt x="1701406" y="305892"/>
                </a:lnTo>
                <a:lnTo>
                  <a:pt x="1750847" y="313613"/>
                </a:lnTo>
                <a:lnTo>
                  <a:pt x="1750847" y="8115"/>
                </a:lnTo>
                <a:close/>
              </a:path>
              <a:path w="2787015" h="643890">
                <a:moveTo>
                  <a:pt x="1927288" y="151409"/>
                </a:moveTo>
                <a:lnTo>
                  <a:pt x="1919287" y="103466"/>
                </a:lnTo>
                <a:lnTo>
                  <a:pt x="1897075" y="61899"/>
                </a:lnTo>
                <a:lnTo>
                  <a:pt x="1863394" y="29159"/>
                </a:lnTo>
                <a:lnTo>
                  <a:pt x="1820976" y="7696"/>
                </a:lnTo>
                <a:lnTo>
                  <a:pt x="1772551" y="0"/>
                </a:lnTo>
                <a:lnTo>
                  <a:pt x="1772551" y="302806"/>
                </a:lnTo>
                <a:lnTo>
                  <a:pt x="1927288" y="302806"/>
                </a:lnTo>
                <a:lnTo>
                  <a:pt x="1927288" y="151409"/>
                </a:lnTo>
                <a:close/>
              </a:path>
              <a:path w="2787015" h="643890">
                <a:moveTo>
                  <a:pt x="1927301" y="643458"/>
                </a:moveTo>
                <a:lnTo>
                  <a:pt x="1927288" y="337947"/>
                </a:lnTo>
                <a:lnTo>
                  <a:pt x="1878901" y="345935"/>
                </a:lnTo>
                <a:lnTo>
                  <a:pt x="1836496" y="368058"/>
                </a:lnTo>
                <a:lnTo>
                  <a:pt x="1802803" y="401599"/>
                </a:lnTo>
                <a:lnTo>
                  <a:pt x="1780578" y="443839"/>
                </a:lnTo>
                <a:lnTo>
                  <a:pt x="1772551" y="492048"/>
                </a:lnTo>
                <a:lnTo>
                  <a:pt x="1772551" y="643458"/>
                </a:lnTo>
                <a:lnTo>
                  <a:pt x="1927301" y="643458"/>
                </a:lnTo>
                <a:close/>
              </a:path>
              <a:path w="2787015" h="643890">
                <a:moveTo>
                  <a:pt x="2103742" y="492048"/>
                </a:moveTo>
                <a:lnTo>
                  <a:pt x="2095741" y="443839"/>
                </a:lnTo>
                <a:lnTo>
                  <a:pt x="2073529" y="401599"/>
                </a:lnTo>
                <a:lnTo>
                  <a:pt x="2039848" y="368058"/>
                </a:lnTo>
                <a:lnTo>
                  <a:pt x="1997430" y="345935"/>
                </a:lnTo>
                <a:lnTo>
                  <a:pt x="1949005" y="337947"/>
                </a:lnTo>
                <a:lnTo>
                  <a:pt x="1949005" y="643458"/>
                </a:lnTo>
                <a:lnTo>
                  <a:pt x="2103742" y="643458"/>
                </a:lnTo>
                <a:lnTo>
                  <a:pt x="2103742" y="492048"/>
                </a:lnTo>
                <a:close/>
              </a:path>
              <a:path w="2787015" h="643890">
                <a:moveTo>
                  <a:pt x="2103742" y="0"/>
                </a:moveTo>
                <a:lnTo>
                  <a:pt x="2054301" y="7696"/>
                </a:lnTo>
                <a:lnTo>
                  <a:pt x="2011756" y="29159"/>
                </a:lnTo>
                <a:lnTo>
                  <a:pt x="1978456" y="61899"/>
                </a:lnTo>
                <a:lnTo>
                  <a:pt x="1956765" y="103466"/>
                </a:lnTo>
                <a:lnTo>
                  <a:pt x="1949005" y="151409"/>
                </a:lnTo>
                <a:lnTo>
                  <a:pt x="1949005" y="302806"/>
                </a:lnTo>
                <a:lnTo>
                  <a:pt x="2103742" y="302806"/>
                </a:lnTo>
                <a:lnTo>
                  <a:pt x="2103742" y="0"/>
                </a:lnTo>
                <a:close/>
              </a:path>
              <a:path w="2787015" h="643890">
                <a:moveTo>
                  <a:pt x="2277453" y="492048"/>
                </a:moveTo>
                <a:lnTo>
                  <a:pt x="2269439" y="443839"/>
                </a:lnTo>
                <a:lnTo>
                  <a:pt x="2247227" y="401599"/>
                </a:lnTo>
                <a:lnTo>
                  <a:pt x="2213546" y="368058"/>
                </a:lnTo>
                <a:lnTo>
                  <a:pt x="2171128" y="345935"/>
                </a:lnTo>
                <a:lnTo>
                  <a:pt x="2122703" y="337947"/>
                </a:lnTo>
                <a:lnTo>
                  <a:pt x="2122716" y="643458"/>
                </a:lnTo>
                <a:lnTo>
                  <a:pt x="2277453" y="643458"/>
                </a:lnTo>
                <a:lnTo>
                  <a:pt x="2277453" y="492048"/>
                </a:lnTo>
                <a:close/>
              </a:path>
              <a:path w="2787015" h="643890">
                <a:moveTo>
                  <a:pt x="2280196" y="0"/>
                </a:moveTo>
                <a:lnTo>
                  <a:pt x="2125459" y="0"/>
                </a:lnTo>
                <a:lnTo>
                  <a:pt x="2125459" y="302806"/>
                </a:lnTo>
                <a:lnTo>
                  <a:pt x="2173884" y="295097"/>
                </a:lnTo>
                <a:lnTo>
                  <a:pt x="2216302" y="273646"/>
                </a:lnTo>
                <a:lnTo>
                  <a:pt x="2249970" y="240906"/>
                </a:lnTo>
                <a:lnTo>
                  <a:pt x="2272182" y="199339"/>
                </a:lnTo>
                <a:lnTo>
                  <a:pt x="2280196" y="151409"/>
                </a:lnTo>
                <a:lnTo>
                  <a:pt x="2280196" y="0"/>
                </a:lnTo>
                <a:close/>
              </a:path>
              <a:path w="2787015" h="643890">
                <a:moveTo>
                  <a:pt x="2453894" y="337947"/>
                </a:moveTo>
                <a:lnTo>
                  <a:pt x="2299157" y="337947"/>
                </a:lnTo>
                <a:lnTo>
                  <a:pt x="2299157" y="489356"/>
                </a:lnTo>
                <a:lnTo>
                  <a:pt x="2307183" y="538594"/>
                </a:lnTo>
                <a:lnTo>
                  <a:pt x="2329408" y="580974"/>
                </a:lnTo>
                <a:lnTo>
                  <a:pt x="2363101" y="614121"/>
                </a:lnTo>
                <a:lnTo>
                  <a:pt x="2405507" y="635736"/>
                </a:lnTo>
                <a:lnTo>
                  <a:pt x="2453894" y="643458"/>
                </a:lnTo>
                <a:lnTo>
                  <a:pt x="2453894" y="337947"/>
                </a:lnTo>
                <a:close/>
              </a:path>
              <a:path w="2787015" h="643890">
                <a:moveTo>
                  <a:pt x="2453894" y="151409"/>
                </a:moveTo>
                <a:lnTo>
                  <a:pt x="2445893" y="103466"/>
                </a:lnTo>
                <a:lnTo>
                  <a:pt x="2423680" y="61899"/>
                </a:lnTo>
                <a:lnTo>
                  <a:pt x="2390000" y="29159"/>
                </a:lnTo>
                <a:lnTo>
                  <a:pt x="2347582" y="7696"/>
                </a:lnTo>
                <a:lnTo>
                  <a:pt x="2299157" y="0"/>
                </a:lnTo>
                <a:lnTo>
                  <a:pt x="2299157" y="302806"/>
                </a:lnTo>
                <a:lnTo>
                  <a:pt x="2453894" y="302806"/>
                </a:lnTo>
                <a:lnTo>
                  <a:pt x="2453894" y="151409"/>
                </a:lnTo>
                <a:close/>
              </a:path>
              <a:path w="2787015" h="643890">
                <a:moveTo>
                  <a:pt x="2630347" y="337947"/>
                </a:moveTo>
                <a:lnTo>
                  <a:pt x="2475611" y="337947"/>
                </a:lnTo>
                <a:lnTo>
                  <a:pt x="2475611" y="643458"/>
                </a:lnTo>
                <a:lnTo>
                  <a:pt x="2524036" y="635736"/>
                </a:lnTo>
                <a:lnTo>
                  <a:pt x="2566454" y="614121"/>
                </a:lnTo>
                <a:lnTo>
                  <a:pt x="2600134" y="580974"/>
                </a:lnTo>
                <a:lnTo>
                  <a:pt x="2622334" y="538594"/>
                </a:lnTo>
                <a:lnTo>
                  <a:pt x="2630347" y="489356"/>
                </a:lnTo>
                <a:lnTo>
                  <a:pt x="2630347" y="337947"/>
                </a:lnTo>
                <a:close/>
              </a:path>
              <a:path w="2787015" h="643890">
                <a:moveTo>
                  <a:pt x="2630347" y="0"/>
                </a:moveTo>
                <a:lnTo>
                  <a:pt x="2475611" y="0"/>
                </a:lnTo>
                <a:lnTo>
                  <a:pt x="2475611" y="151409"/>
                </a:lnTo>
                <a:lnTo>
                  <a:pt x="2483370" y="199339"/>
                </a:lnTo>
                <a:lnTo>
                  <a:pt x="2505062" y="240906"/>
                </a:lnTo>
                <a:lnTo>
                  <a:pt x="2538361" y="273646"/>
                </a:lnTo>
                <a:lnTo>
                  <a:pt x="2580906" y="295097"/>
                </a:lnTo>
                <a:lnTo>
                  <a:pt x="2630347" y="302806"/>
                </a:lnTo>
                <a:lnTo>
                  <a:pt x="2630347" y="0"/>
                </a:lnTo>
                <a:close/>
              </a:path>
              <a:path w="2787015" h="643890">
                <a:moveTo>
                  <a:pt x="2786951" y="337947"/>
                </a:moveTo>
                <a:lnTo>
                  <a:pt x="2652064" y="337947"/>
                </a:lnTo>
                <a:lnTo>
                  <a:pt x="2652064" y="643458"/>
                </a:lnTo>
                <a:lnTo>
                  <a:pt x="2700490" y="635736"/>
                </a:lnTo>
                <a:lnTo>
                  <a:pt x="2742895" y="614121"/>
                </a:lnTo>
                <a:lnTo>
                  <a:pt x="2776575" y="580974"/>
                </a:lnTo>
                <a:lnTo>
                  <a:pt x="2786951" y="561174"/>
                </a:lnTo>
                <a:lnTo>
                  <a:pt x="2786951" y="337947"/>
                </a:lnTo>
                <a:close/>
              </a:path>
              <a:path w="2787015" h="643890">
                <a:moveTo>
                  <a:pt x="2786951" y="0"/>
                </a:moveTo>
                <a:lnTo>
                  <a:pt x="2652064" y="0"/>
                </a:lnTo>
                <a:lnTo>
                  <a:pt x="2652064" y="302806"/>
                </a:lnTo>
                <a:lnTo>
                  <a:pt x="2700490" y="295097"/>
                </a:lnTo>
                <a:lnTo>
                  <a:pt x="2742895" y="273646"/>
                </a:lnTo>
                <a:lnTo>
                  <a:pt x="2776575" y="240906"/>
                </a:lnTo>
                <a:lnTo>
                  <a:pt x="2786951" y="221475"/>
                </a:lnTo>
                <a:lnTo>
                  <a:pt x="2786951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3963" y="374980"/>
            <a:ext cx="5731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45">
                <a:solidFill>
                  <a:srgbClr val="FFFFFF"/>
                </a:solidFill>
                <a:latin typeface="Trebuchet MS"/>
                <a:cs typeface="Trebuchet MS"/>
              </a:rPr>
              <a:t>Sample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45">
                <a:solidFill>
                  <a:srgbClr val="FFFFFF"/>
                </a:solidFill>
                <a:latin typeface="Trebuchet MS"/>
                <a:cs typeface="Trebuchet MS"/>
              </a:rPr>
              <a:t>GenAI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5">
                <a:solidFill>
                  <a:srgbClr val="FFFFFF"/>
                </a:solidFill>
                <a:latin typeface="Trebuchet MS"/>
                <a:cs typeface="Trebuchet MS"/>
              </a:rPr>
              <a:t>Freelancing</a:t>
            </a:r>
            <a:r>
              <a:rPr sz="3600" spc="-2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70">
                <a:solidFill>
                  <a:srgbClr val="FFFFFF"/>
                </a:solidFill>
                <a:latin typeface="Trebuchet MS"/>
                <a:cs typeface="Trebuchet MS"/>
              </a:rPr>
              <a:t>jobs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114" y="997142"/>
            <a:ext cx="6532880" cy="515048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 spc="-10">
                <a:latin typeface="Segoe UI"/>
                <a:cs typeface="Segoe UI"/>
              </a:rPr>
              <a:t>Upwork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AI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Image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Generation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and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Deepfake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Model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Creation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AI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developer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(rag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+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llm)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+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fullstack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Next.js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Developer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Needed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for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SaaS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Application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Integration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with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Features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Developers</a:t>
            </a:r>
            <a:r>
              <a:rPr sz="1400" u="sng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for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5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AI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agents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AI</a:t>
            </a:r>
            <a:r>
              <a:rPr sz="1400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Engineer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for</a:t>
            </a:r>
            <a:r>
              <a:rPr sz="1400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Medical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RAG-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based</a:t>
            </a:r>
            <a:r>
              <a:rPr sz="1400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Chatbot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Development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GenAI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engineer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to</a:t>
            </a:r>
            <a:r>
              <a:rPr sz="1400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build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GenAI-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powered</a:t>
            </a:r>
            <a:r>
              <a:rPr sz="1400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modules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of</a:t>
            </a:r>
            <a:r>
              <a:rPr sz="1400" u="sng" spc="-6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an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astrology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app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CReate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Agent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using</a:t>
            </a:r>
            <a:r>
              <a:rPr sz="1400" u="sng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Open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or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Google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API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or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CrewAI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Full-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Stack</a:t>
            </a:r>
            <a:r>
              <a:rPr sz="1400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Developer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with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AI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Experience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(Replit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Preferred)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Developer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Needed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to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Build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AI</a:t>
            </a:r>
            <a:r>
              <a:rPr sz="1400" u="sng" spc="-6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Agents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for</a:t>
            </a:r>
            <a:r>
              <a:rPr sz="1400" u="sng" spc="-6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Data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Analysis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and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Digital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Advertising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4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Web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App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Development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with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for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Meta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Ads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Management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…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and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more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>
                <a:latin typeface="Segoe UI"/>
                <a:cs typeface="Segoe UI"/>
              </a:rPr>
              <a:t>Khamsat</a:t>
            </a:r>
            <a:r>
              <a:rPr sz="2000" b="1" spc="-4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and</a:t>
            </a:r>
            <a:r>
              <a:rPr sz="2000" b="1" spc="-20">
                <a:latin typeface="Segoe UI"/>
                <a:cs typeface="Segoe UI"/>
              </a:rPr>
              <a:t> </a:t>
            </a:r>
            <a:r>
              <a:rPr sz="2000" b="1" spc="-10">
                <a:latin typeface="Segoe UI"/>
                <a:cs typeface="Segoe UI"/>
              </a:rPr>
              <a:t>Mostaql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Khamsat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Gen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Services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Mostaql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Gen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AI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Projects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5036" y="367867"/>
            <a:ext cx="2787015" cy="643890"/>
          </a:xfrm>
          <a:custGeom>
            <a:avLst/>
            <a:gdLst/>
            <a:ahLst/>
            <a:cxnLst/>
            <a:rect l="l" t="t" r="r" b="b"/>
            <a:pathLst>
              <a:path w="2787015" h="643890">
                <a:moveTo>
                  <a:pt x="154724" y="337947"/>
                </a:moveTo>
                <a:lnTo>
                  <a:pt x="0" y="337947"/>
                </a:lnTo>
                <a:lnTo>
                  <a:pt x="0" y="643458"/>
                </a:lnTo>
                <a:lnTo>
                  <a:pt x="48399" y="635736"/>
                </a:lnTo>
                <a:lnTo>
                  <a:pt x="90817" y="614121"/>
                </a:lnTo>
                <a:lnTo>
                  <a:pt x="124498" y="580974"/>
                </a:lnTo>
                <a:lnTo>
                  <a:pt x="146710" y="538594"/>
                </a:lnTo>
                <a:lnTo>
                  <a:pt x="154724" y="489356"/>
                </a:lnTo>
                <a:lnTo>
                  <a:pt x="154724" y="337947"/>
                </a:lnTo>
                <a:close/>
              </a:path>
              <a:path w="2787015" h="643890">
                <a:moveTo>
                  <a:pt x="154724" y="8115"/>
                </a:moveTo>
                <a:lnTo>
                  <a:pt x="0" y="8115"/>
                </a:lnTo>
                <a:lnTo>
                  <a:pt x="0" y="313613"/>
                </a:lnTo>
                <a:lnTo>
                  <a:pt x="48399" y="305892"/>
                </a:lnTo>
                <a:lnTo>
                  <a:pt x="90817" y="284289"/>
                </a:lnTo>
                <a:lnTo>
                  <a:pt x="124498" y="251129"/>
                </a:lnTo>
                <a:lnTo>
                  <a:pt x="146710" y="208762"/>
                </a:lnTo>
                <a:lnTo>
                  <a:pt x="154724" y="159512"/>
                </a:lnTo>
                <a:lnTo>
                  <a:pt x="154724" y="8115"/>
                </a:lnTo>
                <a:close/>
              </a:path>
              <a:path w="2787015" h="643890">
                <a:moveTo>
                  <a:pt x="333883" y="337947"/>
                </a:moveTo>
                <a:lnTo>
                  <a:pt x="179158" y="337947"/>
                </a:lnTo>
                <a:lnTo>
                  <a:pt x="179158" y="643458"/>
                </a:lnTo>
                <a:lnTo>
                  <a:pt x="227558" y="635736"/>
                </a:lnTo>
                <a:lnTo>
                  <a:pt x="269976" y="614121"/>
                </a:lnTo>
                <a:lnTo>
                  <a:pt x="303657" y="580974"/>
                </a:lnTo>
                <a:lnTo>
                  <a:pt x="325869" y="538594"/>
                </a:lnTo>
                <a:lnTo>
                  <a:pt x="333883" y="489356"/>
                </a:lnTo>
                <a:lnTo>
                  <a:pt x="333883" y="337947"/>
                </a:lnTo>
                <a:close/>
              </a:path>
              <a:path w="2787015" h="643890">
                <a:moveTo>
                  <a:pt x="333883" y="8115"/>
                </a:moveTo>
                <a:lnTo>
                  <a:pt x="179158" y="8115"/>
                </a:lnTo>
                <a:lnTo>
                  <a:pt x="179158" y="159512"/>
                </a:lnTo>
                <a:lnTo>
                  <a:pt x="186918" y="208762"/>
                </a:lnTo>
                <a:lnTo>
                  <a:pt x="208610" y="251129"/>
                </a:lnTo>
                <a:lnTo>
                  <a:pt x="241896" y="284289"/>
                </a:lnTo>
                <a:lnTo>
                  <a:pt x="284429" y="305892"/>
                </a:lnTo>
                <a:lnTo>
                  <a:pt x="333883" y="313613"/>
                </a:lnTo>
                <a:lnTo>
                  <a:pt x="333883" y="8115"/>
                </a:lnTo>
                <a:close/>
              </a:path>
              <a:path w="2787015" h="643890">
                <a:moveTo>
                  <a:pt x="510324" y="162217"/>
                </a:moveTo>
                <a:lnTo>
                  <a:pt x="502577" y="114007"/>
                </a:lnTo>
                <a:lnTo>
                  <a:pt x="480885" y="71767"/>
                </a:lnTo>
                <a:lnTo>
                  <a:pt x="447586" y="38214"/>
                </a:lnTo>
                <a:lnTo>
                  <a:pt x="405041" y="16090"/>
                </a:lnTo>
                <a:lnTo>
                  <a:pt x="355600" y="8115"/>
                </a:lnTo>
                <a:lnTo>
                  <a:pt x="355600" y="313613"/>
                </a:lnTo>
                <a:lnTo>
                  <a:pt x="510324" y="313613"/>
                </a:lnTo>
                <a:lnTo>
                  <a:pt x="510324" y="162217"/>
                </a:lnTo>
                <a:close/>
              </a:path>
              <a:path w="2787015" h="643890">
                <a:moveTo>
                  <a:pt x="510336" y="643458"/>
                </a:moveTo>
                <a:lnTo>
                  <a:pt x="510324" y="337947"/>
                </a:lnTo>
                <a:lnTo>
                  <a:pt x="461924" y="345935"/>
                </a:lnTo>
                <a:lnTo>
                  <a:pt x="419519" y="368058"/>
                </a:lnTo>
                <a:lnTo>
                  <a:pt x="385826" y="401599"/>
                </a:lnTo>
                <a:lnTo>
                  <a:pt x="363613" y="443839"/>
                </a:lnTo>
                <a:lnTo>
                  <a:pt x="355600" y="492048"/>
                </a:lnTo>
                <a:lnTo>
                  <a:pt x="355600" y="643458"/>
                </a:lnTo>
                <a:lnTo>
                  <a:pt x="510336" y="643458"/>
                </a:lnTo>
                <a:close/>
              </a:path>
              <a:path w="2787015" h="643890">
                <a:moveTo>
                  <a:pt x="686777" y="492048"/>
                </a:moveTo>
                <a:lnTo>
                  <a:pt x="678764" y="443839"/>
                </a:lnTo>
                <a:lnTo>
                  <a:pt x="656539" y="401599"/>
                </a:lnTo>
                <a:lnTo>
                  <a:pt x="622858" y="368058"/>
                </a:lnTo>
                <a:lnTo>
                  <a:pt x="580453" y="345935"/>
                </a:lnTo>
                <a:lnTo>
                  <a:pt x="532041" y="337947"/>
                </a:lnTo>
                <a:lnTo>
                  <a:pt x="532041" y="643458"/>
                </a:lnTo>
                <a:lnTo>
                  <a:pt x="686777" y="643458"/>
                </a:lnTo>
                <a:lnTo>
                  <a:pt x="686777" y="492048"/>
                </a:lnTo>
                <a:close/>
              </a:path>
              <a:path w="2787015" h="643890">
                <a:moveTo>
                  <a:pt x="686777" y="313613"/>
                </a:moveTo>
                <a:lnTo>
                  <a:pt x="686765" y="8115"/>
                </a:lnTo>
                <a:lnTo>
                  <a:pt x="637324" y="16090"/>
                </a:lnTo>
                <a:lnTo>
                  <a:pt x="594779" y="38214"/>
                </a:lnTo>
                <a:lnTo>
                  <a:pt x="561492" y="71767"/>
                </a:lnTo>
                <a:lnTo>
                  <a:pt x="539800" y="114007"/>
                </a:lnTo>
                <a:lnTo>
                  <a:pt x="532041" y="162217"/>
                </a:lnTo>
                <a:lnTo>
                  <a:pt x="532041" y="313613"/>
                </a:lnTo>
                <a:lnTo>
                  <a:pt x="686777" y="313613"/>
                </a:lnTo>
                <a:close/>
              </a:path>
              <a:path w="2787015" h="643890">
                <a:moveTo>
                  <a:pt x="860501" y="492048"/>
                </a:moveTo>
                <a:lnTo>
                  <a:pt x="852754" y="443839"/>
                </a:lnTo>
                <a:lnTo>
                  <a:pt x="831049" y="401599"/>
                </a:lnTo>
                <a:lnTo>
                  <a:pt x="797763" y="368058"/>
                </a:lnTo>
                <a:lnTo>
                  <a:pt x="755218" y="345935"/>
                </a:lnTo>
                <a:lnTo>
                  <a:pt x="705777" y="337947"/>
                </a:lnTo>
                <a:lnTo>
                  <a:pt x="705777" y="643458"/>
                </a:lnTo>
                <a:lnTo>
                  <a:pt x="860501" y="643458"/>
                </a:lnTo>
                <a:lnTo>
                  <a:pt x="860501" y="492048"/>
                </a:lnTo>
                <a:close/>
              </a:path>
              <a:path w="2787015" h="643890">
                <a:moveTo>
                  <a:pt x="863219" y="8115"/>
                </a:moveTo>
                <a:lnTo>
                  <a:pt x="708482" y="8115"/>
                </a:lnTo>
                <a:lnTo>
                  <a:pt x="708482" y="313613"/>
                </a:lnTo>
                <a:lnTo>
                  <a:pt x="756894" y="305892"/>
                </a:lnTo>
                <a:lnTo>
                  <a:pt x="799299" y="284289"/>
                </a:lnTo>
                <a:lnTo>
                  <a:pt x="832980" y="251129"/>
                </a:lnTo>
                <a:lnTo>
                  <a:pt x="855205" y="208762"/>
                </a:lnTo>
                <a:lnTo>
                  <a:pt x="863219" y="159512"/>
                </a:lnTo>
                <a:lnTo>
                  <a:pt x="863219" y="8115"/>
                </a:lnTo>
                <a:close/>
              </a:path>
              <a:path w="2787015" h="643890">
                <a:moveTo>
                  <a:pt x="1036980" y="337947"/>
                </a:moveTo>
                <a:lnTo>
                  <a:pt x="882218" y="337947"/>
                </a:lnTo>
                <a:lnTo>
                  <a:pt x="882218" y="489356"/>
                </a:lnTo>
                <a:lnTo>
                  <a:pt x="890231" y="538594"/>
                </a:lnTo>
                <a:lnTo>
                  <a:pt x="912444" y="580974"/>
                </a:lnTo>
                <a:lnTo>
                  <a:pt x="946124" y="614121"/>
                </a:lnTo>
                <a:lnTo>
                  <a:pt x="988555" y="635736"/>
                </a:lnTo>
                <a:lnTo>
                  <a:pt x="1036980" y="643458"/>
                </a:lnTo>
                <a:lnTo>
                  <a:pt x="1036980" y="337947"/>
                </a:lnTo>
                <a:close/>
              </a:path>
              <a:path w="2787015" h="643890">
                <a:moveTo>
                  <a:pt x="1036980" y="162217"/>
                </a:moveTo>
                <a:lnTo>
                  <a:pt x="1029220" y="114007"/>
                </a:lnTo>
                <a:lnTo>
                  <a:pt x="1007529" y="71767"/>
                </a:lnTo>
                <a:lnTo>
                  <a:pt x="974217" y="38214"/>
                </a:lnTo>
                <a:lnTo>
                  <a:pt x="931672" y="16090"/>
                </a:lnTo>
                <a:lnTo>
                  <a:pt x="882218" y="8115"/>
                </a:lnTo>
                <a:lnTo>
                  <a:pt x="882218" y="313613"/>
                </a:lnTo>
                <a:lnTo>
                  <a:pt x="1036980" y="313613"/>
                </a:lnTo>
                <a:lnTo>
                  <a:pt x="1036980" y="162217"/>
                </a:lnTo>
                <a:close/>
              </a:path>
              <a:path w="2787015" h="643890">
                <a:moveTo>
                  <a:pt x="1213434" y="337947"/>
                </a:moveTo>
                <a:lnTo>
                  <a:pt x="1058697" y="337947"/>
                </a:lnTo>
                <a:lnTo>
                  <a:pt x="1058697" y="643458"/>
                </a:lnTo>
                <a:lnTo>
                  <a:pt x="1107084" y="635736"/>
                </a:lnTo>
                <a:lnTo>
                  <a:pt x="1149489" y="614121"/>
                </a:lnTo>
                <a:lnTo>
                  <a:pt x="1183182" y="580974"/>
                </a:lnTo>
                <a:lnTo>
                  <a:pt x="1205407" y="538594"/>
                </a:lnTo>
                <a:lnTo>
                  <a:pt x="1213434" y="489356"/>
                </a:lnTo>
                <a:lnTo>
                  <a:pt x="1213434" y="337947"/>
                </a:lnTo>
                <a:close/>
              </a:path>
              <a:path w="2787015" h="643890">
                <a:moveTo>
                  <a:pt x="1213434" y="8115"/>
                </a:moveTo>
                <a:lnTo>
                  <a:pt x="1058697" y="8115"/>
                </a:lnTo>
                <a:lnTo>
                  <a:pt x="1058697" y="159512"/>
                </a:lnTo>
                <a:lnTo>
                  <a:pt x="1066444" y="208762"/>
                </a:lnTo>
                <a:lnTo>
                  <a:pt x="1088123" y="251129"/>
                </a:lnTo>
                <a:lnTo>
                  <a:pt x="1121397" y="284289"/>
                </a:lnTo>
                <a:lnTo>
                  <a:pt x="1163955" y="305892"/>
                </a:lnTo>
                <a:lnTo>
                  <a:pt x="1213434" y="313613"/>
                </a:lnTo>
                <a:lnTo>
                  <a:pt x="1213434" y="8115"/>
                </a:lnTo>
                <a:close/>
              </a:path>
              <a:path w="2787015" h="643890">
                <a:moveTo>
                  <a:pt x="1389786" y="337947"/>
                </a:moveTo>
                <a:lnTo>
                  <a:pt x="1235138" y="337947"/>
                </a:lnTo>
                <a:lnTo>
                  <a:pt x="1235138" y="643458"/>
                </a:lnTo>
                <a:lnTo>
                  <a:pt x="1283525" y="635736"/>
                </a:lnTo>
                <a:lnTo>
                  <a:pt x="1325905" y="614121"/>
                </a:lnTo>
                <a:lnTo>
                  <a:pt x="1359573" y="580974"/>
                </a:lnTo>
                <a:lnTo>
                  <a:pt x="1381785" y="538594"/>
                </a:lnTo>
                <a:lnTo>
                  <a:pt x="1389786" y="489356"/>
                </a:lnTo>
                <a:lnTo>
                  <a:pt x="1389786" y="337947"/>
                </a:lnTo>
                <a:close/>
              </a:path>
              <a:path w="2787015" h="643890">
                <a:moveTo>
                  <a:pt x="1389786" y="8115"/>
                </a:moveTo>
                <a:lnTo>
                  <a:pt x="1235138" y="8115"/>
                </a:lnTo>
                <a:lnTo>
                  <a:pt x="1235138" y="313613"/>
                </a:lnTo>
                <a:lnTo>
                  <a:pt x="1283525" y="305892"/>
                </a:lnTo>
                <a:lnTo>
                  <a:pt x="1325905" y="284289"/>
                </a:lnTo>
                <a:lnTo>
                  <a:pt x="1359573" y="251129"/>
                </a:lnTo>
                <a:lnTo>
                  <a:pt x="1381785" y="208762"/>
                </a:lnTo>
                <a:lnTo>
                  <a:pt x="1389786" y="159512"/>
                </a:lnTo>
                <a:lnTo>
                  <a:pt x="1389786" y="8115"/>
                </a:lnTo>
                <a:close/>
              </a:path>
              <a:path w="2787015" h="643890">
                <a:moveTo>
                  <a:pt x="1568983" y="337947"/>
                </a:moveTo>
                <a:lnTo>
                  <a:pt x="1520596" y="345935"/>
                </a:lnTo>
                <a:lnTo>
                  <a:pt x="1478191" y="368058"/>
                </a:lnTo>
                <a:lnTo>
                  <a:pt x="1444498" y="401599"/>
                </a:lnTo>
                <a:lnTo>
                  <a:pt x="1422273" y="443839"/>
                </a:lnTo>
                <a:lnTo>
                  <a:pt x="1414246" y="492048"/>
                </a:lnTo>
                <a:lnTo>
                  <a:pt x="1414246" y="643458"/>
                </a:lnTo>
                <a:lnTo>
                  <a:pt x="1568983" y="643458"/>
                </a:lnTo>
                <a:lnTo>
                  <a:pt x="1568983" y="337947"/>
                </a:lnTo>
                <a:close/>
              </a:path>
              <a:path w="2787015" h="643890">
                <a:moveTo>
                  <a:pt x="1568983" y="162217"/>
                </a:moveTo>
                <a:lnTo>
                  <a:pt x="1561236" y="114007"/>
                </a:lnTo>
                <a:lnTo>
                  <a:pt x="1539532" y="71767"/>
                </a:lnTo>
                <a:lnTo>
                  <a:pt x="1506232" y="38214"/>
                </a:lnTo>
                <a:lnTo>
                  <a:pt x="1463687" y="16090"/>
                </a:lnTo>
                <a:lnTo>
                  <a:pt x="1414246" y="8115"/>
                </a:lnTo>
                <a:lnTo>
                  <a:pt x="1414246" y="313613"/>
                </a:lnTo>
                <a:lnTo>
                  <a:pt x="1568983" y="313613"/>
                </a:lnTo>
                <a:lnTo>
                  <a:pt x="1568983" y="162217"/>
                </a:lnTo>
                <a:close/>
              </a:path>
              <a:path w="2787015" h="643890">
                <a:moveTo>
                  <a:pt x="1750847" y="337947"/>
                </a:moveTo>
                <a:lnTo>
                  <a:pt x="1596110" y="337947"/>
                </a:lnTo>
                <a:lnTo>
                  <a:pt x="1596110" y="643458"/>
                </a:lnTo>
                <a:lnTo>
                  <a:pt x="1644535" y="635736"/>
                </a:lnTo>
                <a:lnTo>
                  <a:pt x="1686941" y="614121"/>
                </a:lnTo>
                <a:lnTo>
                  <a:pt x="1720621" y="580974"/>
                </a:lnTo>
                <a:lnTo>
                  <a:pt x="1742833" y="538594"/>
                </a:lnTo>
                <a:lnTo>
                  <a:pt x="1750847" y="489356"/>
                </a:lnTo>
                <a:lnTo>
                  <a:pt x="1750847" y="337947"/>
                </a:lnTo>
                <a:close/>
              </a:path>
              <a:path w="2787015" h="643890">
                <a:moveTo>
                  <a:pt x="1750847" y="8115"/>
                </a:moveTo>
                <a:lnTo>
                  <a:pt x="1596110" y="8115"/>
                </a:lnTo>
                <a:lnTo>
                  <a:pt x="1596110" y="159512"/>
                </a:lnTo>
                <a:lnTo>
                  <a:pt x="1603857" y="208762"/>
                </a:lnTo>
                <a:lnTo>
                  <a:pt x="1625561" y="251129"/>
                </a:lnTo>
                <a:lnTo>
                  <a:pt x="1658861" y="284289"/>
                </a:lnTo>
                <a:lnTo>
                  <a:pt x="1701406" y="305892"/>
                </a:lnTo>
                <a:lnTo>
                  <a:pt x="1750847" y="313613"/>
                </a:lnTo>
                <a:lnTo>
                  <a:pt x="1750847" y="8115"/>
                </a:lnTo>
                <a:close/>
              </a:path>
              <a:path w="2787015" h="643890">
                <a:moveTo>
                  <a:pt x="1927288" y="151409"/>
                </a:moveTo>
                <a:lnTo>
                  <a:pt x="1919287" y="103466"/>
                </a:lnTo>
                <a:lnTo>
                  <a:pt x="1897075" y="61899"/>
                </a:lnTo>
                <a:lnTo>
                  <a:pt x="1863394" y="29159"/>
                </a:lnTo>
                <a:lnTo>
                  <a:pt x="1820976" y="7696"/>
                </a:lnTo>
                <a:lnTo>
                  <a:pt x="1772551" y="0"/>
                </a:lnTo>
                <a:lnTo>
                  <a:pt x="1772551" y="302806"/>
                </a:lnTo>
                <a:lnTo>
                  <a:pt x="1927288" y="302806"/>
                </a:lnTo>
                <a:lnTo>
                  <a:pt x="1927288" y="151409"/>
                </a:lnTo>
                <a:close/>
              </a:path>
              <a:path w="2787015" h="643890">
                <a:moveTo>
                  <a:pt x="1927301" y="643458"/>
                </a:moveTo>
                <a:lnTo>
                  <a:pt x="1927288" y="337947"/>
                </a:lnTo>
                <a:lnTo>
                  <a:pt x="1878901" y="345935"/>
                </a:lnTo>
                <a:lnTo>
                  <a:pt x="1836496" y="368058"/>
                </a:lnTo>
                <a:lnTo>
                  <a:pt x="1802803" y="401599"/>
                </a:lnTo>
                <a:lnTo>
                  <a:pt x="1780578" y="443839"/>
                </a:lnTo>
                <a:lnTo>
                  <a:pt x="1772551" y="492048"/>
                </a:lnTo>
                <a:lnTo>
                  <a:pt x="1772551" y="643458"/>
                </a:lnTo>
                <a:lnTo>
                  <a:pt x="1927301" y="643458"/>
                </a:lnTo>
                <a:close/>
              </a:path>
              <a:path w="2787015" h="643890">
                <a:moveTo>
                  <a:pt x="2103742" y="492048"/>
                </a:moveTo>
                <a:lnTo>
                  <a:pt x="2095741" y="443839"/>
                </a:lnTo>
                <a:lnTo>
                  <a:pt x="2073529" y="401599"/>
                </a:lnTo>
                <a:lnTo>
                  <a:pt x="2039848" y="368058"/>
                </a:lnTo>
                <a:lnTo>
                  <a:pt x="1997430" y="345935"/>
                </a:lnTo>
                <a:lnTo>
                  <a:pt x="1949005" y="337947"/>
                </a:lnTo>
                <a:lnTo>
                  <a:pt x="1949005" y="643458"/>
                </a:lnTo>
                <a:lnTo>
                  <a:pt x="2103742" y="643458"/>
                </a:lnTo>
                <a:lnTo>
                  <a:pt x="2103742" y="492048"/>
                </a:lnTo>
                <a:close/>
              </a:path>
              <a:path w="2787015" h="643890">
                <a:moveTo>
                  <a:pt x="2103742" y="0"/>
                </a:moveTo>
                <a:lnTo>
                  <a:pt x="2054301" y="7696"/>
                </a:lnTo>
                <a:lnTo>
                  <a:pt x="2011756" y="29159"/>
                </a:lnTo>
                <a:lnTo>
                  <a:pt x="1978456" y="61899"/>
                </a:lnTo>
                <a:lnTo>
                  <a:pt x="1956765" y="103466"/>
                </a:lnTo>
                <a:lnTo>
                  <a:pt x="1949005" y="151409"/>
                </a:lnTo>
                <a:lnTo>
                  <a:pt x="1949005" y="302806"/>
                </a:lnTo>
                <a:lnTo>
                  <a:pt x="2103742" y="302806"/>
                </a:lnTo>
                <a:lnTo>
                  <a:pt x="2103742" y="0"/>
                </a:lnTo>
                <a:close/>
              </a:path>
              <a:path w="2787015" h="643890">
                <a:moveTo>
                  <a:pt x="2277453" y="492048"/>
                </a:moveTo>
                <a:lnTo>
                  <a:pt x="2269439" y="443839"/>
                </a:lnTo>
                <a:lnTo>
                  <a:pt x="2247227" y="401599"/>
                </a:lnTo>
                <a:lnTo>
                  <a:pt x="2213546" y="368058"/>
                </a:lnTo>
                <a:lnTo>
                  <a:pt x="2171128" y="345935"/>
                </a:lnTo>
                <a:lnTo>
                  <a:pt x="2122703" y="337947"/>
                </a:lnTo>
                <a:lnTo>
                  <a:pt x="2122716" y="643458"/>
                </a:lnTo>
                <a:lnTo>
                  <a:pt x="2277453" y="643458"/>
                </a:lnTo>
                <a:lnTo>
                  <a:pt x="2277453" y="492048"/>
                </a:lnTo>
                <a:close/>
              </a:path>
              <a:path w="2787015" h="643890">
                <a:moveTo>
                  <a:pt x="2280196" y="0"/>
                </a:moveTo>
                <a:lnTo>
                  <a:pt x="2125459" y="0"/>
                </a:lnTo>
                <a:lnTo>
                  <a:pt x="2125459" y="302806"/>
                </a:lnTo>
                <a:lnTo>
                  <a:pt x="2173884" y="295097"/>
                </a:lnTo>
                <a:lnTo>
                  <a:pt x="2216302" y="273646"/>
                </a:lnTo>
                <a:lnTo>
                  <a:pt x="2249970" y="240906"/>
                </a:lnTo>
                <a:lnTo>
                  <a:pt x="2272182" y="199339"/>
                </a:lnTo>
                <a:lnTo>
                  <a:pt x="2280196" y="151409"/>
                </a:lnTo>
                <a:lnTo>
                  <a:pt x="2280196" y="0"/>
                </a:lnTo>
                <a:close/>
              </a:path>
              <a:path w="2787015" h="643890">
                <a:moveTo>
                  <a:pt x="2453894" y="337947"/>
                </a:moveTo>
                <a:lnTo>
                  <a:pt x="2299157" y="337947"/>
                </a:lnTo>
                <a:lnTo>
                  <a:pt x="2299157" y="489356"/>
                </a:lnTo>
                <a:lnTo>
                  <a:pt x="2307183" y="538594"/>
                </a:lnTo>
                <a:lnTo>
                  <a:pt x="2329408" y="580974"/>
                </a:lnTo>
                <a:lnTo>
                  <a:pt x="2363101" y="614121"/>
                </a:lnTo>
                <a:lnTo>
                  <a:pt x="2405507" y="635736"/>
                </a:lnTo>
                <a:lnTo>
                  <a:pt x="2453894" y="643458"/>
                </a:lnTo>
                <a:lnTo>
                  <a:pt x="2453894" y="337947"/>
                </a:lnTo>
                <a:close/>
              </a:path>
              <a:path w="2787015" h="643890">
                <a:moveTo>
                  <a:pt x="2453894" y="151409"/>
                </a:moveTo>
                <a:lnTo>
                  <a:pt x="2445893" y="103466"/>
                </a:lnTo>
                <a:lnTo>
                  <a:pt x="2423680" y="61899"/>
                </a:lnTo>
                <a:lnTo>
                  <a:pt x="2390000" y="29159"/>
                </a:lnTo>
                <a:lnTo>
                  <a:pt x="2347582" y="7696"/>
                </a:lnTo>
                <a:lnTo>
                  <a:pt x="2299157" y="0"/>
                </a:lnTo>
                <a:lnTo>
                  <a:pt x="2299157" y="302806"/>
                </a:lnTo>
                <a:lnTo>
                  <a:pt x="2453894" y="302806"/>
                </a:lnTo>
                <a:lnTo>
                  <a:pt x="2453894" y="151409"/>
                </a:lnTo>
                <a:close/>
              </a:path>
              <a:path w="2787015" h="643890">
                <a:moveTo>
                  <a:pt x="2630347" y="337947"/>
                </a:moveTo>
                <a:lnTo>
                  <a:pt x="2475611" y="337947"/>
                </a:lnTo>
                <a:lnTo>
                  <a:pt x="2475611" y="643458"/>
                </a:lnTo>
                <a:lnTo>
                  <a:pt x="2524036" y="635736"/>
                </a:lnTo>
                <a:lnTo>
                  <a:pt x="2566454" y="614121"/>
                </a:lnTo>
                <a:lnTo>
                  <a:pt x="2600134" y="580974"/>
                </a:lnTo>
                <a:lnTo>
                  <a:pt x="2622334" y="538594"/>
                </a:lnTo>
                <a:lnTo>
                  <a:pt x="2630347" y="489356"/>
                </a:lnTo>
                <a:lnTo>
                  <a:pt x="2630347" y="337947"/>
                </a:lnTo>
                <a:close/>
              </a:path>
              <a:path w="2787015" h="643890">
                <a:moveTo>
                  <a:pt x="2630347" y="0"/>
                </a:moveTo>
                <a:lnTo>
                  <a:pt x="2475611" y="0"/>
                </a:lnTo>
                <a:lnTo>
                  <a:pt x="2475611" y="151409"/>
                </a:lnTo>
                <a:lnTo>
                  <a:pt x="2483370" y="199339"/>
                </a:lnTo>
                <a:lnTo>
                  <a:pt x="2505062" y="240906"/>
                </a:lnTo>
                <a:lnTo>
                  <a:pt x="2538361" y="273646"/>
                </a:lnTo>
                <a:lnTo>
                  <a:pt x="2580906" y="295097"/>
                </a:lnTo>
                <a:lnTo>
                  <a:pt x="2630347" y="302806"/>
                </a:lnTo>
                <a:lnTo>
                  <a:pt x="2630347" y="0"/>
                </a:lnTo>
                <a:close/>
              </a:path>
              <a:path w="2787015" h="643890">
                <a:moveTo>
                  <a:pt x="2786951" y="337947"/>
                </a:moveTo>
                <a:lnTo>
                  <a:pt x="2652064" y="337947"/>
                </a:lnTo>
                <a:lnTo>
                  <a:pt x="2652064" y="643458"/>
                </a:lnTo>
                <a:lnTo>
                  <a:pt x="2700490" y="635736"/>
                </a:lnTo>
                <a:lnTo>
                  <a:pt x="2742895" y="614121"/>
                </a:lnTo>
                <a:lnTo>
                  <a:pt x="2776575" y="580974"/>
                </a:lnTo>
                <a:lnTo>
                  <a:pt x="2786951" y="561174"/>
                </a:lnTo>
                <a:lnTo>
                  <a:pt x="2786951" y="337947"/>
                </a:lnTo>
                <a:close/>
              </a:path>
              <a:path w="2787015" h="643890">
                <a:moveTo>
                  <a:pt x="2786951" y="0"/>
                </a:moveTo>
                <a:lnTo>
                  <a:pt x="2652064" y="0"/>
                </a:lnTo>
                <a:lnTo>
                  <a:pt x="2652064" y="302806"/>
                </a:lnTo>
                <a:lnTo>
                  <a:pt x="2700490" y="295097"/>
                </a:lnTo>
                <a:lnTo>
                  <a:pt x="2742895" y="273646"/>
                </a:lnTo>
                <a:lnTo>
                  <a:pt x="2776575" y="240906"/>
                </a:lnTo>
                <a:lnTo>
                  <a:pt x="2786951" y="221475"/>
                </a:lnTo>
                <a:lnTo>
                  <a:pt x="2786951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3600" spc="-275">
                <a:solidFill>
                  <a:srgbClr val="FFFFFF"/>
                </a:solidFill>
                <a:latin typeface="Trebuchet MS"/>
                <a:cs typeface="Trebuchet MS"/>
              </a:rPr>
              <a:t>Gen-</a:t>
            </a:r>
            <a:r>
              <a:rPr sz="3600" spc="-85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35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29">
                <a:solidFill>
                  <a:srgbClr val="FFFFFF"/>
                </a:solidFill>
                <a:latin typeface="Trebuchet MS"/>
                <a:cs typeface="Trebuchet MS"/>
              </a:rPr>
              <a:t>startups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6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8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75">
                <a:solidFill>
                  <a:srgbClr val="FFFFFF"/>
                </a:solidFill>
                <a:latin typeface="Trebuchet MS"/>
                <a:cs typeface="Trebuchet MS"/>
              </a:rPr>
              <a:t>products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114" y="997142"/>
            <a:ext cx="5826760" cy="245237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>
                <a:latin typeface="Segoe UI"/>
                <a:cs typeface="Segoe UI"/>
              </a:rPr>
              <a:t>Use</a:t>
            </a:r>
            <a:r>
              <a:rPr sz="2000" b="1" spc="-3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cases</a:t>
            </a:r>
            <a:r>
              <a:rPr sz="2000" b="1" spc="-3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for</a:t>
            </a:r>
            <a:r>
              <a:rPr sz="2000" b="1" spc="-2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real</a:t>
            </a:r>
            <a:r>
              <a:rPr sz="2000" b="1" spc="-1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products</a:t>
            </a:r>
            <a:r>
              <a:rPr sz="2000" b="1" spc="-2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using</a:t>
            </a:r>
            <a:r>
              <a:rPr sz="2000" b="1" spc="-2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Gen</a:t>
            </a:r>
            <a:r>
              <a:rPr sz="2000" b="1" spc="-25">
                <a:latin typeface="Segoe UI"/>
                <a:cs typeface="Segoe UI"/>
              </a:rPr>
              <a:t> AI: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926465" algn="l"/>
              </a:tabLst>
            </a:pPr>
            <a:r>
              <a:rPr sz="1400" spc="-10">
                <a:latin typeface="Calibri"/>
                <a:cs typeface="Calibri"/>
              </a:rPr>
              <a:t>Loop-</a:t>
            </a:r>
            <a:r>
              <a:rPr sz="1400">
                <a:latin typeface="Calibri"/>
                <a:cs typeface="Calibri"/>
              </a:rPr>
              <a:t>x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(AI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Agents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for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different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roles):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https://loop-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x.co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Gemelo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(Twin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creator):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https://gemelo.ai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Apriora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Interviews):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https://www.apriora.ai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 spc="-10">
                <a:latin typeface="Calibri"/>
                <a:cs typeface="Calibri"/>
              </a:rPr>
              <a:t>Velents</a:t>
            </a:r>
            <a:r>
              <a:rPr sz="1400">
                <a:latin typeface="Calibri"/>
                <a:cs typeface="Calibri"/>
              </a:rPr>
              <a:t> 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 </a:t>
            </a:r>
            <a:r>
              <a:rPr sz="1400">
                <a:latin typeface="Calibri"/>
                <a:cs typeface="Calibri"/>
              </a:rPr>
              <a:t>and </a:t>
            </a:r>
            <a:r>
              <a:rPr sz="1400" spc="-10">
                <a:latin typeface="Calibri"/>
                <a:cs typeface="Calibri"/>
              </a:rPr>
              <a:t>Interviews): </a:t>
            </a:r>
            <a:r>
              <a:rPr sz="1400">
                <a:latin typeface="Calibri"/>
                <a:cs typeface="Calibri"/>
              </a:rPr>
              <a:t>: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https://www.velents.com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Nancy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 </a:t>
            </a:r>
            <a:r>
              <a:rPr sz="1400" spc="-10">
                <a:latin typeface="Calibri"/>
                <a:cs typeface="Calibri"/>
              </a:rPr>
              <a:t>Interviews):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: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https://nancy-ai.com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Mariana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(Medical):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https://marianaai.com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to</a:t>
            </a:r>
            <a:r>
              <a:rPr sz="2400" spc="-20"/>
              <a:t> </a:t>
            </a:r>
            <a:r>
              <a:rPr sz="2400"/>
              <a:t>use</a:t>
            </a:r>
            <a:r>
              <a:rPr sz="2400" spc="-25"/>
              <a:t> </a:t>
            </a:r>
            <a:r>
              <a:rPr sz="2400"/>
              <a:t>the</a:t>
            </a:r>
            <a:r>
              <a:rPr sz="2400" spc="-20"/>
              <a:t> </a:t>
            </a:r>
            <a:r>
              <a:rPr sz="2400"/>
              <a:t>AI</a:t>
            </a:r>
            <a:r>
              <a:rPr sz="2400" spc="-15"/>
              <a:t> </a:t>
            </a:r>
            <a:r>
              <a:rPr sz="2400"/>
              <a:t>tools</a:t>
            </a:r>
            <a:r>
              <a:rPr sz="2400" spc="-15"/>
              <a:t> </a:t>
            </a:r>
            <a:r>
              <a:rPr sz="2400" spc="-10"/>
              <a:t>responsibly?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5594" y="1560721"/>
            <a:ext cx="228897" cy="2335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594" y="1972201"/>
            <a:ext cx="233475" cy="2335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3528" y="970787"/>
            <a:ext cx="9500870" cy="1672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1800" b="1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Student/Learner:</a:t>
            </a:r>
            <a:endParaRPr sz="1800">
              <a:latin typeface="Arial"/>
              <a:cs typeface="Arial"/>
            </a:endParaRPr>
          </a:p>
          <a:p>
            <a:pPr marL="1128395" lvl="1" indent="-658495">
              <a:lnSpc>
                <a:spcPct val="100000"/>
              </a:lnSpc>
              <a:spcBef>
                <a:spcPts val="1085"/>
              </a:spcBef>
              <a:buFont typeface="Arial"/>
              <a:buChar char="•"/>
              <a:tabLst>
                <a:tab pos="112839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 for: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Asking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explanations,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self-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testing,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researching,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similar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activities.</a:t>
            </a:r>
            <a:endParaRPr sz="1800">
              <a:latin typeface="Arial"/>
              <a:cs typeface="Arial"/>
            </a:endParaRPr>
          </a:p>
          <a:p>
            <a:pPr marL="1128395" lvl="1" indent="-65849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12839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Don't</a:t>
            </a:r>
            <a:r>
              <a:rPr sz="1800" b="1" spc="-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for: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Assignments,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projects,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tasks,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topics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you're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still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learning.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Build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skills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both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AI.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528" y="3440684"/>
            <a:ext cx="7660005" cy="2083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b="1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Job</a:t>
            </a:r>
            <a:r>
              <a:rPr sz="1800" b="1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 Freelancing: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Check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first</a:t>
            </a:r>
            <a:r>
              <a:rPr sz="18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if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tool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usage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permitted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allowed.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productivity</a:t>
            </a:r>
            <a:r>
              <a:rPr sz="18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improve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work.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800" b="1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review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AI-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carefully.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rely</a:t>
            </a: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of.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77364" y="2824098"/>
            <a:ext cx="8635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Introducing</a:t>
            </a:r>
            <a:r>
              <a:rPr sz="6000" b="0" spc="-25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sz="6000" b="0" spc="-25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5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/>
              <a:t>What’s</a:t>
            </a:r>
            <a:r>
              <a:rPr sz="2400" spc="-125"/>
              <a:t> </a:t>
            </a:r>
            <a:r>
              <a:rPr sz="2400"/>
              <a:t>Generative</a:t>
            </a:r>
            <a:r>
              <a:rPr sz="2400" spc="-125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671" y="1178179"/>
            <a:ext cx="1054608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603" y="2276868"/>
            <a:ext cx="3955414" cy="35867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893" y="2615712"/>
            <a:ext cx="6554089" cy="24453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8321" y="6356949"/>
            <a:ext cx="172085" cy="2063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14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916" y="315683"/>
            <a:ext cx="11670030" cy="6126480"/>
            <a:chOff x="293916" y="315683"/>
            <a:chExt cx="11670030" cy="6126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916" y="315683"/>
              <a:ext cx="11669522" cy="61264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599" y="5638800"/>
              <a:ext cx="587832" cy="3196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5"/>
              <a:t> </a:t>
            </a:r>
            <a:r>
              <a:rPr sz="2400" spc="-10"/>
              <a:t>terms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16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15365"/>
            <a:ext cx="11203305" cy="493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latin typeface="Calibri"/>
                <a:cs typeface="Calibri"/>
              </a:rPr>
              <a:t>A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Large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Language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(LLM):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advanced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trained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understand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generate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human-like</a:t>
            </a:r>
            <a:r>
              <a:rPr sz="1600" spc="-7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text.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massive</a:t>
            </a:r>
            <a:endParaRPr sz="16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sz="1600">
                <a:latin typeface="Calibri"/>
                <a:cs typeface="Calibri"/>
              </a:rPr>
              <a:t>amounts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text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answer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questions,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write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content,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assist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conversations.</a:t>
            </a:r>
            <a:endParaRPr sz="1600">
              <a:latin typeface="Calibri"/>
              <a:cs typeface="Calibri"/>
            </a:endParaRPr>
          </a:p>
          <a:p>
            <a:pPr marL="240665" marR="296545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latin typeface="Calibri"/>
                <a:cs typeface="Calibri"/>
              </a:rPr>
              <a:t>AI</a:t>
            </a:r>
            <a:r>
              <a:rPr sz="1600" b="1" spc="-4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model: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trained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recognize </a:t>
            </a:r>
            <a:r>
              <a:rPr sz="1600">
                <a:latin typeface="Calibri"/>
                <a:cs typeface="Calibri"/>
              </a:rPr>
              <a:t>patterns,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make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predictions,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automate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tasks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based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on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data.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examples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improves </a:t>
            </a:r>
            <a:r>
              <a:rPr sz="1600">
                <a:latin typeface="Calibri"/>
                <a:cs typeface="Calibri"/>
              </a:rPr>
              <a:t>its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performance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over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time..</a:t>
            </a:r>
            <a:endParaRPr sz="1600">
              <a:latin typeface="Calibri"/>
              <a:cs typeface="Calibri"/>
            </a:endParaRPr>
          </a:p>
          <a:p>
            <a:pPr marL="240665" marR="177165" indent="-228600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333333"/>
                </a:solidFill>
                <a:latin typeface="Calibri"/>
                <a:cs typeface="Calibri"/>
              </a:rPr>
              <a:t>Multimodal</a:t>
            </a:r>
            <a:r>
              <a:rPr sz="1600" b="1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33333"/>
                </a:solidFill>
                <a:latin typeface="Calibri"/>
                <a:cs typeface="Calibri"/>
              </a:rPr>
              <a:t>models:</a:t>
            </a:r>
            <a:r>
              <a:rPr sz="1600" b="1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6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6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wide</a:t>
            </a:r>
            <a:r>
              <a:rPr sz="16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variety</a:t>
            </a:r>
            <a:r>
              <a:rPr sz="16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inputs,</a:t>
            </a:r>
            <a:r>
              <a:rPr sz="16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including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text,</a:t>
            </a:r>
            <a:r>
              <a:rPr sz="16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images,</a:t>
            </a:r>
            <a:r>
              <a:rPr sz="16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audio,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prompts</a:t>
            </a:r>
            <a:r>
              <a:rPr sz="16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convert</a:t>
            </a:r>
            <a:r>
              <a:rPr sz="16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those</a:t>
            </a:r>
            <a:r>
              <a:rPr sz="16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prompts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1600" spc="-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various</a:t>
            </a:r>
            <a:r>
              <a:rPr sz="16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outputs,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6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just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source</a:t>
            </a:r>
            <a:r>
              <a:rPr sz="16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type.</a:t>
            </a:r>
            <a:endParaRPr sz="1600">
              <a:latin typeface="Calibri"/>
              <a:cs typeface="Calibri"/>
            </a:endParaRPr>
          </a:p>
          <a:p>
            <a:pPr marL="240665" marR="29845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10">
                <a:latin typeface="Calibri"/>
                <a:cs typeface="Calibri"/>
              </a:rPr>
              <a:t>Pre-trained</a:t>
            </a:r>
            <a:r>
              <a:rPr sz="1600" b="1" spc="-30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Generative</a:t>
            </a:r>
            <a:r>
              <a:rPr sz="1600" b="1" spc="-2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AI</a:t>
            </a:r>
            <a:r>
              <a:rPr sz="1600" b="1" spc="-1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Models: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Previously,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applications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were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predominantly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accessible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developers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machine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learning </a:t>
            </a:r>
            <a:r>
              <a:rPr sz="1600">
                <a:latin typeface="Calibri"/>
                <a:cs typeface="Calibri"/>
              </a:rPr>
              <a:t>experts.</a:t>
            </a:r>
            <a:r>
              <a:rPr sz="1600" spc="-25">
                <a:latin typeface="Calibri"/>
                <a:cs typeface="Calibri"/>
              </a:rPr>
              <a:t> However,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emergence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Generative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utilization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has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extended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end-users.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Developers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now </a:t>
            </a:r>
            <a:r>
              <a:rPr sz="1600">
                <a:latin typeface="Calibri"/>
                <a:cs typeface="Calibri"/>
              </a:rPr>
              <a:t>easily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employ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without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necessity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create,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train,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host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scratch,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thanks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availability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pre-trained models.</a:t>
            </a:r>
            <a:endParaRPr sz="1600">
              <a:latin typeface="Calibri"/>
              <a:cs typeface="Calibri"/>
            </a:endParaRPr>
          </a:p>
          <a:p>
            <a:pPr marL="240665" marR="156210" indent="-2286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10">
                <a:latin typeface="Calibri"/>
                <a:cs typeface="Calibri"/>
              </a:rPr>
              <a:t>Reasoning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type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designed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simulate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human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logical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thinking.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processes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information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through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set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rules </a:t>
            </a:r>
            <a:r>
              <a:rPr sz="1600">
                <a:latin typeface="Calibri"/>
                <a:cs typeface="Calibri"/>
              </a:rPr>
              <a:t>or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logic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draw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conclusions,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solve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problems,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or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make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decisions.</a:t>
            </a:r>
            <a:endParaRPr sz="1600">
              <a:latin typeface="Calibri"/>
              <a:cs typeface="Calibri"/>
            </a:endParaRPr>
          </a:p>
          <a:p>
            <a:pPr marL="240665" marR="770890" indent="-228600">
              <a:lnSpc>
                <a:spcPct val="99100"/>
              </a:lnSpc>
              <a:spcBef>
                <a:spcPts val="107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Deep</a:t>
            </a:r>
            <a:r>
              <a:rPr sz="16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Thinking</a:t>
            </a:r>
            <a:r>
              <a:rPr sz="16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analyze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problems,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explore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perspectives,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well-reasoned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decisions.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r>
              <a:rPr sz="1600" b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analysis,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logical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reasoning,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reflection</a:t>
            </a:r>
            <a:r>
              <a:rPr sz="16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rather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than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relying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surface-level understanding.</a:t>
            </a:r>
            <a:endParaRPr sz="1600">
              <a:latin typeface="Segoe UI"/>
              <a:cs typeface="Segoe UI"/>
            </a:endParaRPr>
          </a:p>
          <a:p>
            <a:pPr marL="240665" marR="267970" indent="-22860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20">
                <a:latin typeface="Calibri"/>
                <a:cs typeface="Calibri"/>
              </a:rPr>
              <a:t>Transformer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deep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learning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architecture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developed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researchers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at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Google,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that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context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thus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meaning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tracking relationships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sequential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like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words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this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sentence.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0"/>
              <a:t> </a:t>
            </a:r>
            <a:r>
              <a:rPr sz="2400"/>
              <a:t>terms</a:t>
            </a:r>
            <a:r>
              <a:rPr sz="2400" spc="-20"/>
              <a:t> </a:t>
            </a:r>
            <a:r>
              <a:rPr sz="2400" spc="-10"/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17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21460"/>
            <a:ext cx="11226800" cy="380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Prompt: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given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elicit</a:t>
            </a:r>
            <a:r>
              <a:rPr sz="1800" spc="-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specific response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output,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guiding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model's</a:t>
            </a:r>
            <a:endParaRPr sz="18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sz="1800">
                <a:latin typeface="Segoe UI"/>
                <a:cs typeface="Segoe UI"/>
              </a:rPr>
              <a:t>generation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decision-making.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800">
              <a:latin typeface="Segoe UI"/>
              <a:cs typeface="Segoe UI"/>
            </a:endParaRPr>
          </a:p>
          <a:p>
            <a:pPr marL="240665" marR="4572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Completion: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output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response</a:t>
            </a:r>
            <a:r>
              <a:rPr sz="1800" spc="-6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generated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based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on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given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prompt,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representing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 spc="-25">
                <a:latin typeface="Segoe UI"/>
                <a:cs typeface="Segoe UI"/>
              </a:rPr>
              <a:t>the </a:t>
            </a:r>
            <a:r>
              <a:rPr sz="1800">
                <a:latin typeface="Segoe UI"/>
                <a:cs typeface="Segoe UI"/>
              </a:rPr>
              <a:t>model's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attempt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complete,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20">
                <a:latin typeface="Segoe UI"/>
                <a:cs typeface="Segoe UI"/>
              </a:rPr>
              <a:t>answer,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extend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received.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43116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 spc="-20">
                <a:latin typeface="Segoe UI"/>
                <a:cs typeface="Segoe UI"/>
              </a:rPr>
              <a:t>Tokens:</a:t>
            </a:r>
            <a:r>
              <a:rPr sz="1800" b="1" spc="-6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For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tokens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Azure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OpenAI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processes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breaking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down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into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tokens.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For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example:</a:t>
            </a:r>
            <a:r>
              <a:rPr sz="1800" spc="-12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1,000 </a:t>
            </a:r>
            <a:r>
              <a:rPr sz="1800">
                <a:latin typeface="Segoe UI"/>
                <a:cs typeface="Segoe UI"/>
              </a:rPr>
              <a:t>tokens</a:t>
            </a:r>
            <a:r>
              <a:rPr sz="1800" spc="-7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about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750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words.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508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Prompt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engineering</a:t>
            </a:r>
            <a:r>
              <a:rPr sz="1800" b="1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</a:t>
            </a:r>
            <a:r>
              <a:rPr sz="1800" spc="-1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of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structuring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instruction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that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can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be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interpreted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and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understood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 spc="-50">
                <a:latin typeface="Segoe UI"/>
                <a:cs typeface="Segoe UI"/>
              </a:rPr>
              <a:t>a </a:t>
            </a:r>
            <a:r>
              <a:rPr sz="1800">
                <a:latin typeface="Segoe UI"/>
                <a:cs typeface="Segoe UI"/>
              </a:rPr>
              <a:t>generative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model.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prompt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natural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language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describing</a:t>
            </a:r>
            <a:r>
              <a:rPr sz="1800" spc="-1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task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that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should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perform.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0"/>
              <a:t> </a:t>
            </a:r>
            <a:r>
              <a:rPr sz="2400"/>
              <a:t>terms</a:t>
            </a:r>
            <a:r>
              <a:rPr sz="2400" spc="-20"/>
              <a:t> </a:t>
            </a:r>
            <a:r>
              <a:rPr sz="2400" spc="-10"/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18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21460"/>
            <a:ext cx="11029315" cy="220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Agent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perceive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environment,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decisions,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take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actions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achieve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goals.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agents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operate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autonomously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interact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users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other systems.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28257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combines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retrieval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accurate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up-to-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date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allows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retrieve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facts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8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954" y="2171141"/>
            <a:ext cx="305181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475"/>
              </a:lnSpc>
              <a:spcBef>
                <a:spcPts val="100"/>
              </a:spcBef>
            </a:pPr>
            <a:r>
              <a:rPr sz="4800" b="0" spc="-25">
                <a:solidFill>
                  <a:srgbClr val="000000"/>
                </a:solidFill>
                <a:latin typeface="Calibri Light"/>
                <a:cs typeface="Calibri Light"/>
              </a:rPr>
              <a:t>LLM</a:t>
            </a:r>
            <a:endParaRPr sz="4800">
              <a:latin typeface="Calibri Light"/>
              <a:cs typeface="Calibri Light"/>
            </a:endParaRPr>
          </a:p>
          <a:p>
            <a:pPr marL="12700" marR="5080">
              <a:lnSpc>
                <a:spcPts val="5180"/>
              </a:lnSpc>
              <a:spcBef>
                <a:spcPts val="370"/>
              </a:spcBef>
            </a:pPr>
            <a:r>
              <a:rPr sz="4800" b="0" spc="-45">
                <a:solidFill>
                  <a:srgbClr val="000000"/>
                </a:solidFill>
                <a:latin typeface="Calibri Light"/>
                <a:cs typeface="Calibri Light"/>
              </a:rPr>
              <a:t>evolutionary </a:t>
            </a:r>
            <a:r>
              <a:rPr sz="4800" b="0" spc="-20">
                <a:solidFill>
                  <a:srgbClr val="000000"/>
                </a:solidFill>
                <a:latin typeface="Calibri Light"/>
                <a:cs typeface="Calibri Light"/>
              </a:rPr>
              <a:t>tree</a:t>
            </a:r>
            <a:endParaRPr sz="4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1621" y="456699"/>
            <a:ext cx="6330884" cy="5953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36222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7" y="4810505"/>
            <a:ext cx="3799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Calibri"/>
                <a:cs typeface="Calibri"/>
              </a:rPr>
              <a:t>Source:</a:t>
            </a:r>
            <a:r>
              <a:rPr sz="1200" b="1" spc="-45"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https://github.com/Mooler0410/LLMsPracticalGuide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it</a:t>
            </a:r>
            <a:r>
              <a:rPr sz="2400" spc="-20"/>
              <a:t> </a:t>
            </a:r>
            <a:r>
              <a:rPr sz="2400" spc="-10"/>
              <a:t>works?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10" y="1134374"/>
            <a:ext cx="5868255" cy="18099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3670" y="1214882"/>
            <a:ext cx="4413730" cy="22068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735" y="3414709"/>
            <a:ext cx="4353500" cy="285787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20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it</a:t>
            </a:r>
            <a:r>
              <a:rPr sz="2400" spc="-20"/>
              <a:t> </a:t>
            </a:r>
            <a:r>
              <a:rPr sz="2400"/>
              <a:t>works?</a:t>
            </a:r>
            <a:r>
              <a:rPr sz="2400" spc="-40"/>
              <a:t> </a:t>
            </a:r>
            <a:r>
              <a:rPr sz="2400" spc="-10"/>
              <a:t>(Cont.)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051" y="1394713"/>
            <a:ext cx="8835898" cy="450023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21</a:t>
            </a:fld>
            <a:endParaRPr spc="-25"/>
          </a:p>
        </p:txBody>
      </p:sp>
      <p:sp>
        <p:nvSpPr>
          <p:cNvPr id="9" name="object 9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Gen</a:t>
            </a:r>
            <a:r>
              <a:rPr sz="2400" spc="-25"/>
              <a:t> </a:t>
            </a:r>
            <a:r>
              <a:rPr sz="2400"/>
              <a:t>AI</a:t>
            </a:r>
            <a:r>
              <a:rPr sz="2400" spc="-25"/>
              <a:t> </a:t>
            </a:r>
            <a:r>
              <a:rPr sz="2400" spc="-10"/>
              <a:t>Usefulness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289" y="1372883"/>
            <a:ext cx="8808027" cy="40326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22</a:t>
            </a:fld>
            <a:endParaRPr spc="-25"/>
          </a:p>
        </p:txBody>
      </p:sp>
      <p:sp>
        <p:nvSpPr>
          <p:cNvPr id="9" name="object 9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36773" y="2824098"/>
            <a:ext cx="59194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Models</a:t>
            </a:r>
            <a:r>
              <a:rPr sz="6000" b="0" spc="-18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sz="6000" b="0" spc="-16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520">
                <a:solidFill>
                  <a:srgbClr val="000000"/>
                </a:solidFill>
                <a:latin typeface="Segoe UI"/>
                <a:cs typeface="Segoe UI"/>
              </a:rPr>
              <a:t>T</a:t>
            </a:r>
            <a:r>
              <a:rPr sz="6000" b="0" spc="70">
                <a:solidFill>
                  <a:srgbClr val="000000"/>
                </a:solidFill>
                <a:latin typeface="Segoe UI"/>
                <a:cs typeface="Segoe UI"/>
              </a:rPr>
              <a:t>ools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00" y="2220544"/>
            <a:ext cx="2998470" cy="19373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 marR="5080">
              <a:lnSpc>
                <a:spcPts val="7130"/>
              </a:lnSpc>
              <a:spcBef>
                <a:spcPts val="990"/>
              </a:spcBef>
            </a:pPr>
            <a:r>
              <a:rPr sz="6600" spc="-10"/>
              <a:t>OpenAI Models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624027" y="4374546"/>
            <a:ext cx="3293745" cy="85090"/>
            <a:chOff x="624027" y="4374546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280" y="4398458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4">
                  <a:moveTo>
                    <a:pt x="951850" y="34"/>
                  </a:moveTo>
                  <a:lnTo>
                    <a:pt x="910602" y="0"/>
                  </a:lnTo>
                  <a:lnTo>
                    <a:pt x="870692" y="738"/>
                  </a:lnTo>
                  <a:lnTo>
                    <a:pt x="830042" y="2102"/>
                  </a:lnTo>
                  <a:lnTo>
                    <a:pt x="682863" y="8467"/>
                  </a:lnTo>
                  <a:lnTo>
                    <a:pt x="558238" y="13013"/>
                  </a:lnTo>
                  <a:lnTo>
                    <a:pt x="409531" y="18954"/>
                  </a:lnTo>
                  <a:lnTo>
                    <a:pt x="365933" y="20377"/>
                  </a:lnTo>
                  <a:lnTo>
                    <a:pt x="322976" y="21332"/>
                  </a:lnTo>
                  <a:lnTo>
                    <a:pt x="279256" y="21704"/>
                  </a:lnTo>
                  <a:lnTo>
                    <a:pt x="233367" y="21381"/>
                  </a:lnTo>
                  <a:lnTo>
                    <a:pt x="183903" y="20248"/>
                  </a:lnTo>
                  <a:lnTo>
                    <a:pt x="129457" y="18192"/>
                  </a:lnTo>
                  <a:lnTo>
                    <a:pt x="68625" y="15098"/>
                  </a:lnTo>
                  <a:lnTo>
                    <a:pt x="0" y="10854"/>
                  </a:lnTo>
                  <a:lnTo>
                    <a:pt x="368" y="17712"/>
                  </a:lnTo>
                  <a:lnTo>
                    <a:pt x="838" y="20379"/>
                  </a:lnTo>
                  <a:lnTo>
                    <a:pt x="0" y="29142"/>
                  </a:lnTo>
                  <a:lnTo>
                    <a:pt x="45458" y="28859"/>
                  </a:lnTo>
                  <a:lnTo>
                    <a:pt x="90440" y="28948"/>
                  </a:lnTo>
                  <a:lnTo>
                    <a:pt x="135398" y="29319"/>
                  </a:lnTo>
                  <a:lnTo>
                    <a:pt x="375736" y="32326"/>
                  </a:lnTo>
                  <a:lnTo>
                    <a:pt x="430092" y="32538"/>
                  </a:lnTo>
                  <a:lnTo>
                    <a:pt x="487604" y="32415"/>
                  </a:lnTo>
                  <a:lnTo>
                    <a:pt x="548725" y="31866"/>
                  </a:lnTo>
                  <a:lnTo>
                    <a:pt x="613911" y="30805"/>
                  </a:lnTo>
                  <a:lnTo>
                    <a:pt x="752500" y="27631"/>
                  </a:lnTo>
                  <a:lnTo>
                    <a:pt x="815466" y="26975"/>
                  </a:lnTo>
                  <a:lnTo>
                    <a:pt x="873273" y="27009"/>
                  </a:lnTo>
                  <a:lnTo>
                    <a:pt x="926680" y="27569"/>
                  </a:lnTo>
                  <a:lnTo>
                    <a:pt x="976446" y="28490"/>
                  </a:lnTo>
                  <a:lnTo>
                    <a:pt x="1111493" y="31778"/>
                  </a:lnTo>
                  <a:lnTo>
                    <a:pt x="1154289" y="32501"/>
                  </a:lnTo>
                  <a:lnTo>
                    <a:pt x="1197240" y="32763"/>
                  </a:lnTo>
                  <a:lnTo>
                    <a:pt x="1241105" y="32400"/>
                  </a:lnTo>
                  <a:lnTo>
                    <a:pt x="1286645" y="31248"/>
                  </a:lnTo>
                  <a:lnTo>
                    <a:pt x="1389114" y="26534"/>
                  </a:lnTo>
                  <a:lnTo>
                    <a:pt x="1437021" y="24855"/>
                  </a:lnTo>
                  <a:lnTo>
                    <a:pt x="1480254" y="23969"/>
                  </a:lnTo>
                  <a:lnTo>
                    <a:pt x="1520731" y="23740"/>
                  </a:lnTo>
                  <a:lnTo>
                    <a:pt x="1560369" y="24033"/>
                  </a:lnTo>
                  <a:lnTo>
                    <a:pt x="1748882" y="27705"/>
                  </a:lnTo>
                  <a:lnTo>
                    <a:pt x="1813086" y="28570"/>
                  </a:lnTo>
                  <a:lnTo>
                    <a:pt x="1887956" y="29142"/>
                  </a:lnTo>
                  <a:lnTo>
                    <a:pt x="1950953" y="29032"/>
                  </a:lnTo>
                  <a:lnTo>
                    <a:pt x="2012795" y="28269"/>
                  </a:lnTo>
                  <a:lnTo>
                    <a:pt x="2073316" y="27021"/>
                  </a:lnTo>
                  <a:lnTo>
                    <a:pt x="2132349" y="25454"/>
                  </a:lnTo>
                  <a:lnTo>
                    <a:pt x="2298849" y="20522"/>
                  </a:lnTo>
                  <a:lnTo>
                    <a:pt x="2350260" y="19358"/>
                  </a:lnTo>
                  <a:lnTo>
                    <a:pt x="2399348" y="18714"/>
                  </a:lnTo>
                  <a:lnTo>
                    <a:pt x="2445947" y="18756"/>
                  </a:lnTo>
                  <a:lnTo>
                    <a:pt x="2489889" y="19653"/>
                  </a:lnTo>
                  <a:lnTo>
                    <a:pt x="2531009" y="21571"/>
                  </a:lnTo>
                  <a:lnTo>
                    <a:pt x="2569137" y="24678"/>
                  </a:lnTo>
                  <a:lnTo>
                    <a:pt x="2604109" y="29142"/>
                  </a:lnTo>
                  <a:lnTo>
                    <a:pt x="2643462" y="33860"/>
                  </a:lnTo>
                  <a:lnTo>
                    <a:pt x="2688930" y="37017"/>
                  </a:lnTo>
                  <a:lnTo>
                    <a:pt x="2739333" y="38824"/>
                  </a:lnTo>
                  <a:lnTo>
                    <a:pt x="2793490" y="39493"/>
                  </a:lnTo>
                  <a:lnTo>
                    <a:pt x="2850221" y="39235"/>
                  </a:lnTo>
                  <a:lnTo>
                    <a:pt x="2908347" y="38261"/>
                  </a:lnTo>
                  <a:lnTo>
                    <a:pt x="2966686" y="36783"/>
                  </a:lnTo>
                  <a:lnTo>
                    <a:pt x="3178573" y="30046"/>
                  </a:lnTo>
                  <a:lnTo>
                    <a:pt x="3220276" y="29213"/>
                  </a:lnTo>
                  <a:lnTo>
                    <a:pt x="3255111" y="29142"/>
                  </a:lnTo>
                  <a:lnTo>
                    <a:pt x="3255492" y="20252"/>
                  </a:lnTo>
                  <a:lnTo>
                    <a:pt x="3254857" y="15299"/>
                  </a:lnTo>
                  <a:lnTo>
                    <a:pt x="3255111" y="10854"/>
                  </a:lnTo>
                  <a:lnTo>
                    <a:pt x="3201431" y="15877"/>
                  </a:lnTo>
                  <a:lnTo>
                    <a:pt x="3146572" y="18987"/>
                  </a:lnTo>
                  <a:lnTo>
                    <a:pt x="3090931" y="20461"/>
                  </a:lnTo>
                  <a:lnTo>
                    <a:pt x="3034903" y="20575"/>
                  </a:lnTo>
                  <a:lnTo>
                    <a:pt x="2978886" y="19603"/>
                  </a:lnTo>
                  <a:lnTo>
                    <a:pt x="2923275" y="17822"/>
                  </a:lnTo>
                  <a:lnTo>
                    <a:pt x="2868467" y="15507"/>
                  </a:lnTo>
                  <a:lnTo>
                    <a:pt x="2712821" y="8117"/>
                  </a:lnTo>
                  <a:lnTo>
                    <a:pt x="2665186" y="6423"/>
                  </a:lnTo>
                  <a:lnTo>
                    <a:pt x="2620335" y="5575"/>
                  </a:lnTo>
                  <a:lnTo>
                    <a:pt x="2578663" y="5847"/>
                  </a:lnTo>
                  <a:lnTo>
                    <a:pt x="2540568" y="7515"/>
                  </a:lnTo>
                  <a:lnTo>
                    <a:pt x="2463404" y="15123"/>
                  </a:lnTo>
                  <a:lnTo>
                    <a:pt x="2415044" y="17539"/>
                  </a:lnTo>
                  <a:lnTo>
                    <a:pt x="2362498" y="18427"/>
                  </a:lnTo>
                  <a:lnTo>
                    <a:pt x="2306896" y="18107"/>
                  </a:lnTo>
                  <a:lnTo>
                    <a:pt x="2249372" y="16904"/>
                  </a:lnTo>
                  <a:lnTo>
                    <a:pt x="2191057" y="15140"/>
                  </a:lnTo>
                  <a:lnTo>
                    <a:pt x="2076584" y="11221"/>
                  </a:lnTo>
                  <a:lnTo>
                    <a:pt x="2022689" y="9711"/>
                  </a:lnTo>
                  <a:lnTo>
                    <a:pt x="1972532" y="8931"/>
                  </a:lnTo>
                  <a:lnTo>
                    <a:pt x="1927243" y="9205"/>
                  </a:lnTo>
                  <a:lnTo>
                    <a:pt x="1887956" y="10854"/>
                  </a:lnTo>
                  <a:lnTo>
                    <a:pt x="1854779" y="12937"/>
                  </a:lnTo>
                  <a:lnTo>
                    <a:pt x="1817095" y="14953"/>
                  </a:lnTo>
                  <a:lnTo>
                    <a:pt x="1775340" y="16838"/>
                  </a:lnTo>
                  <a:lnTo>
                    <a:pt x="1729950" y="18530"/>
                  </a:lnTo>
                  <a:lnTo>
                    <a:pt x="1681358" y="19964"/>
                  </a:lnTo>
                  <a:lnTo>
                    <a:pt x="1630001" y="21078"/>
                  </a:lnTo>
                  <a:lnTo>
                    <a:pt x="1576314" y="21808"/>
                  </a:lnTo>
                  <a:lnTo>
                    <a:pt x="1520731" y="22091"/>
                  </a:lnTo>
                  <a:lnTo>
                    <a:pt x="1463689" y="21863"/>
                  </a:lnTo>
                  <a:lnTo>
                    <a:pt x="1405621" y="21062"/>
                  </a:lnTo>
                  <a:lnTo>
                    <a:pt x="1346963" y="19624"/>
                  </a:lnTo>
                  <a:lnTo>
                    <a:pt x="1288151" y="17486"/>
                  </a:lnTo>
                  <a:lnTo>
                    <a:pt x="1229619" y="14583"/>
                  </a:lnTo>
                  <a:lnTo>
                    <a:pt x="1104413" y="6251"/>
                  </a:lnTo>
                  <a:lnTo>
                    <a:pt x="1046677" y="3012"/>
                  </a:lnTo>
                  <a:lnTo>
                    <a:pt x="996515" y="989"/>
                  </a:lnTo>
                  <a:lnTo>
                    <a:pt x="951850" y="34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077" y="4393596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716"/>
                  </a:moveTo>
                  <a:lnTo>
                    <a:pt x="59841" y="10671"/>
                  </a:lnTo>
                  <a:lnTo>
                    <a:pt x="118551" y="6632"/>
                  </a:lnTo>
                  <a:lnTo>
                    <a:pt x="176169" y="3571"/>
                  </a:lnTo>
                  <a:lnTo>
                    <a:pt x="232532" y="1464"/>
                  </a:lnTo>
                  <a:lnTo>
                    <a:pt x="287476" y="282"/>
                  </a:lnTo>
                  <a:lnTo>
                    <a:pt x="340839" y="0"/>
                  </a:lnTo>
                  <a:lnTo>
                    <a:pt x="392457" y="590"/>
                  </a:lnTo>
                  <a:lnTo>
                    <a:pt x="442167" y="2028"/>
                  </a:lnTo>
                  <a:lnTo>
                    <a:pt x="489807" y="4286"/>
                  </a:lnTo>
                  <a:lnTo>
                    <a:pt x="535212" y="7337"/>
                  </a:lnTo>
                  <a:lnTo>
                    <a:pt x="578220" y="11156"/>
                  </a:lnTo>
                  <a:lnTo>
                    <a:pt x="618667" y="15716"/>
                  </a:lnTo>
                  <a:lnTo>
                    <a:pt x="655567" y="19595"/>
                  </a:lnTo>
                  <a:lnTo>
                    <a:pt x="694145" y="22301"/>
                  </a:lnTo>
                  <a:lnTo>
                    <a:pt x="734543" y="23977"/>
                  </a:lnTo>
                  <a:lnTo>
                    <a:pt x="776902" y="24768"/>
                  </a:lnTo>
                  <a:lnTo>
                    <a:pt x="821363" y="24817"/>
                  </a:lnTo>
                  <a:lnTo>
                    <a:pt x="868067" y="24267"/>
                  </a:lnTo>
                  <a:lnTo>
                    <a:pt x="917156" y="23262"/>
                  </a:lnTo>
                  <a:lnTo>
                    <a:pt x="968771" y="21945"/>
                  </a:lnTo>
                  <a:lnTo>
                    <a:pt x="1023052" y="20460"/>
                  </a:lnTo>
                  <a:lnTo>
                    <a:pt x="1080141" y="18952"/>
                  </a:lnTo>
                  <a:lnTo>
                    <a:pt x="1140180" y="17562"/>
                  </a:lnTo>
                  <a:lnTo>
                    <a:pt x="1203309" y="16436"/>
                  </a:lnTo>
                  <a:lnTo>
                    <a:pt x="1269669" y="15716"/>
                  </a:lnTo>
                  <a:lnTo>
                    <a:pt x="1335545" y="15489"/>
                  </a:lnTo>
                  <a:lnTo>
                    <a:pt x="1397446" y="15678"/>
                  </a:lnTo>
                  <a:lnTo>
                    <a:pt x="1455852" y="16179"/>
                  </a:lnTo>
                  <a:lnTo>
                    <a:pt x="1511244" y="16889"/>
                  </a:lnTo>
                  <a:lnTo>
                    <a:pt x="1564101" y="17707"/>
                  </a:lnTo>
                  <a:lnTo>
                    <a:pt x="1614903" y="18527"/>
                  </a:lnTo>
                  <a:lnTo>
                    <a:pt x="1664131" y="19248"/>
                  </a:lnTo>
                  <a:lnTo>
                    <a:pt x="1712264" y="19767"/>
                  </a:lnTo>
                  <a:lnTo>
                    <a:pt x="1759782" y="19980"/>
                  </a:lnTo>
                  <a:lnTo>
                    <a:pt x="1807166" y="19784"/>
                  </a:lnTo>
                  <a:lnTo>
                    <a:pt x="1854895" y="19077"/>
                  </a:lnTo>
                  <a:lnTo>
                    <a:pt x="1903450" y="17755"/>
                  </a:lnTo>
                  <a:lnTo>
                    <a:pt x="1953310" y="15716"/>
                  </a:lnTo>
                  <a:lnTo>
                    <a:pt x="2004981" y="13847"/>
                  </a:lnTo>
                  <a:lnTo>
                    <a:pt x="2058413" y="13030"/>
                  </a:lnTo>
                  <a:lnTo>
                    <a:pt x="2113167" y="13062"/>
                  </a:lnTo>
                  <a:lnTo>
                    <a:pt x="2168804" y="13743"/>
                  </a:lnTo>
                  <a:lnTo>
                    <a:pt x="2224885" y="14869"/>
                  </a:lnTo>
                  <a:lnTo>
                    <a:pt x="2280971" y="16240"/>
                  </a:lnTo>
                  <a:lnTo>
                    <a:pt x="2336623" y="17653"/>
                  </a:lnTo>
                  <a:lnTo>
                    <a:pt x="2391401" y="18907"/>
                  </a:lnTo>
                  <a:lnTo>
                    <a:pt x="2444867" y="19799"/>
                  </a:lnTo>
                  <a:lnTo>
                    <a:pt x="2496581" y="20128"/>
                  </a:lnTo>
                  <a:lnTo>
                    <a:pt x="2546105" y="19691"/>
                  </a:lnTo>
                  <a:lnTo>
                    <a:pt x="2592999" y="18288"/>
                  </a:lnTo>
                  <a:lnTo>
                    <a:pt x="2636824" y="15716"/>
                  </a:lnTo>
                  <a:lnTo>
                    <a:pt x="2684804" y="12856"/>
                  </a:lnTo>
                  <a:lnTo>
                    <a:pt x="2736763" y="11191"/>
                  </a:lnTo>
                  <a:lnTo>
                    <a:pt x="2791703" y="10519"/>
                  </a:lnTo>
                  <a:lnTo>
                    <a:pt x="2848623" y="10636"/>
                  </a:lnTo>
                  <a:lnTo>
                    <a:pt x="2906523" y="11340"/>
                  </a:lnTo>
                  <a:lnTo>
                    <a:pt x="2964405" y="12430"/>
                  </a:lnTo>
                  <a:lnTo>
                    <a:pt x="3021268" y="13702"/>
                  </a:lnTo>
                  <a:lnTo>
                    <a:pt x="3076113" y="14954"/>
                  </a:lnTo>
                  <a:lnTo>
                    <a:pt x="3127939" y="15984"/>
                  </a:lnTo>
                  <a:lnTo>
                    <a:pt x="3175748" y="16589"/>
                  </a:lnTo>
                  <a:lnTo>
                    <a:pt x="3218540" y="16567"/>
                  </a:lnTo>
                  <a:lnTo>
                    <a:pt x="3255314" y="15716"/>
                  </a:lnTo>
                  <a:lnTo>
                    <a:pt x="3254552" y="23844"/>
                  </a:lnTo>
                  <a:lnTo>
                    <a:pt x="3254933" y="27781"/>
                  </a:lnTo>
                  <a:lnTo>
                    <a:pt x="3255314" y="34004"/>
                  </a:lnTo>
                  <a:lnTo>
                    <a:pt x="3216198" y="34740"/>
                  </a:lnTo>
                  <a:lnTo>
                    <a:pt x="3170970" y="34950"/>
                  </a:lnTo>
                  <a:lnTo>
                    <a:pt x="3120696" y="34737"/>
                  </a:lnTo>
                  <a:lnTo>
                    <a:pt x="3066439" y="34204"/>
                  </a:lnTo>
                  <a:lnTo>
                    <a:pt x="3009265" y="33454"/>
                  </a:lnTo>
                  <a:lnTo>
                    <a:pt x="2950240" y="32591"/>
                  </a:lnTo>
                  <a:lnTo>
                    <a:pt x="2890427" y="31718"/>
                  </a:lnTo>
                  <a:lnTo>
                    <a:pt x="2830893" y="30938"/>
                  </a:lnTo>
                  <a:lnTo>
                    <a:pt x="2772701" y="30355"/>
                  </a:lnTo>
                  <a:lnTo>
                    <a:pt x="2716918" y="30072"/>
                  </a:lnTo>
                  <a:lnTo>
                    <a:pt x="2664607" y="30192"/>
                  </a:lnTo>
                  <a:lnTo>
                    <a:pt x="2616834" y="30818"/>
                  </a:lnTo>
                  <a:lnTo>
                    <a:pt x="2574664" y="32054"/>
                  </a:lnTo>
                  <a:lnTo>
                    <a:pt x="2539161" y="34004"/>
                  </a:lnTo>
                  <a:lnTo>
                    <a:pt x="2505762" y="35610"/>
                  </a:lnTo>
                  <a:lnTo>
                    <a:pt x="2429730" y="35333"/>
                  </a:lnTo>
                  <a:lnTo>
                    <a:pt x="2387286" y="33948"/>
                  </a:lnTo>
                  <a:lnTo>
                    <a:pt x="2342017" y="32067"/>
                  </a:lnTo>
                  <a:lnTo>
                    <a:pt x="2294016" y="29938"/>
                  </a:lnTo>
                  <a:lnTo>
                    <a:pt x="2243378" y="27813"/>
                  </a:lnTo>
                  <a:lnTo>
                    <a:pt x="2190198" y="25939"/>
                  </a:lnTo>
                  <a:lnTo>
                    <a:pt x="2134569" y="24569"/>
                  </a:lnTo>
                  <a:lnTo>
                    <a:pt x="2076587" y="23951"/>
                  </a:lnTo>
                  <a:lnTo>
                    <a:pt x="2016345" y="24336"/>
                  </a:lnTo>
                  <a:lnTo>
                    <a:pt x="1953939" y="25973"/>
                  </a:lnTo>
                  <a:lnTo>
                    <a:pt x="1889462" y="29112"/>
                  </a:lnTo>
                  <a:lnTo>
                    <a:pt x="1823008" y="34004"/>
                  </a:lnTo>
                  <a:lnTo>
                    <a:pt x="1755041" y="39381"/>
                  </a:lnTo>
                  <a:lnTo>
                    <a:pt x="1695316" y="43107"/>
                  </a:lnTo>
                  <a:lnTo>
                    <a:pt x="1642398" y="45387"/>
                  </a:lnTo>
                  <a:lnTo>
                    <a:pt x="1594852" y="46427"/>
                  </a:lnTo>
                  <a:lnTo>
                    <a:pt x="1551244" y="46434"/>
                  </a:lnTo>
                  <a:lnTo>
                    <a:pt x="1510139" y="45614"/>
                  </a:lnTo>
                  <a:lnTo>
                    <a:pt x="1470104" y="44172"/>
                  </a:lnTo>
                  <a:lnTo>
                    <a:pt x="1429703" y="42314"/>
                  </a:lnTo>
                  <a:lnTo>
                    <a:pt x="1387502" y="40247"/>
                  </a:lnTo>
                  <a:lnTo>
                    <a:pt x="1342066" y="38176"/>
                  </a:lnTo>
                  <a:lnTo>
                    <a:pt x="1291961" y="36308"/>
                  </a:lnTo>
                  <a:lnTo>
                    <a:pt x="1235753" y="34849"/>
                  </a:lnTo>
                  <a:lnTo>
                    <a:pt x="1172006" y="34004"/>
                  </a:lnTo>
                  <a:lnTo>
                    <a:pt x="1133450" y="33851"/>
                  </a:lnTo>
                  <a:lnTo>
                    <a:pt x="1094538" y="33934"/>
                  </a:lnTo>
                  <a:lnTo>
                    <a:pt x="1055160" y="34222"/>
                  </a:lnTo>
                  <a:lnTo>
                    <a:pt x="1015206" y="34682"/>
                  </a:lnTo>
                  <a:lnTo>
                    <a:pt x="974566" y="35283"/>
                  </a:lnTo>
                  <a:lnTo>
                    <a:pt x="933129" y="35994"/>
                  </a:lnTo>
                  <a:lnTo>
                    <a:pt x="890786" y="36781"/>
                  </a:lnTo>
                  <a:lnTo>
                    <a:pt x="847426" y="37615"/>
                  </a:lnTo>
                  <a:lnTo>
                    <a:pt x="802940" y="38462"/>
                  </a:lnTo>
                  <a:lnTo>
                    <a:pt x="757218" y="39292"/>
                  </a:lnTo>
                  <a:lnTo>
                    <a:pt x="710148" y="40072"/>
                  </a:lnTo>
                  <a:lnTo>
                    <a:pt x="661622" y="40770"/>
                  </a:lnTo>
                  <a:lnTo>
                    <a:pt x="611529" y="41356"/>
                  </a:lnTo>
                  <a:lnTo>
                    <a:pt x="559759" y="41796"/>
                  </a:lnTo>
                  <a:lnTo>
                    <a:pt x="506202" y="42060"/>
                  </a:lnTo>
                  <a:lnTo>
                    <a:pt x="450748" y="42116"/>
                  </a:lnTo>
                  <a:lnTo>
                    <a:pt x="393286" y="41931"/>
                  </a:lnTo>
                  <a:lnTo>
                    <a:pt x="333708" y="41475"/>
                  </a:lnTo>
                  <a:lnTo>
                    <a:pt x="271902" y="40715"/>
                  </a:lnTo>
                  <a:lnTo>
                    <a:pt x="207758" y="39620"/>
                  </a:lnTo>
                  <a:lnTo>
                    <a:pt x="141168" y="38157"/>
                  </a:lnTo>
                  <a:lnTo>
                    <a:pt x="72019" y="36296"/>
                  </a:lnTo>
                  <a:lnTo>
                    <a:pt x="203" y="34004"/>
                  </a:lnTo>
                  <a:lnTo>
                    <a:pt x="152" y="28162"/>
                  </a:lnTo>
                  <a:lnTo>
                    <a:pt x="0" y="22193"/>
                  </a:lnTo>
                  <a:lnTo>
                    <a:pt x="203" y="15716"/>
                  </a:lnTo>
                  <a:close/>
                </a:path>
              </a:pathLst>
            </a:custGeom>
            <a:ln w="38100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342" y="675817"/>
            <a:ext cx="8054467" cy="50959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93590" y="321690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Models</a:t>
            </a:r>
            <a:r>
              <a:rPr sz="1800" u="sng" spc="-4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-</a:t>
            </a:r>
            <a:r>
              <a:rPr sz="1800" u="sng" spc="-4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OpenAI</a:t>
            </a:r>
            <a:r>
              <a:rPr sz="1800" u="sng" spc="-3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/>
              <a:t>Sora:</a:t>
            </a:r>
            <a:r>
              <a:rPr sz="3350" spc="5"/>
              <a:t> </a:t>
            </a:r>
            <a:r>
              <a:rPr sz="3350" spc="-70"/>
              <a:t>Text-</a:t>
            </a:r>
            <a:r>
              <a:rPr sz="3350" spc="-10"/>
              <a:t>to-</a:t>
            </a:r>
            <a:r>
              <a:rPr sz="3350"/>
              <a:t>video</a:t>
            </a:r>
            <a:r>
              <a:rPr sz="3350" spc="10"/>
              <a:t> </a:t>
            </a:r>
            <a:r>
              <a:rPr sz="3350" spc="-10"/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767587" y="1115397"/>
            <a:ext cx="10523855" cy="5829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7804" indent="-205104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17804" algn="l"/>
              </a:tabLst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Sora: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OpenAI’s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text-to-video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realistic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imaginative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scenes</a:t>
            </a:r>
            <a:r>
              <a:rPr sz="16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endParaRPr sz="1650">
              <a:latin typeface="Segoe UI"/>
              <a:cs typeface="Segoe UI"/>
            </a:endParaRPr>
          </a:p>
          <a:p>
            <a:pPr marL="218440">
              <a:lnSpc>
                <a:spcPct val="100000"/>
              </a:lnSpc>
              <a:spcBef>
                <a:spcPts val="21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instructions.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2257" y="2018652"/>
            <a:ext cx="7047483" cy="39818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25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5058359"/>
            <a:ext cx="10523220" cy="1614805"/>
            <a:chOff x="824166" y="5058359"/>
            <a:chExt cx="10523220" cy="1614805"/>
          </a:xfrm>
        </p:grpSpPr>
        <p:sp>
          <p:nvSpPr>
            <p:cNvPr id="3" name="object 3"/>
            <p:cNvSpPr/>
            <p:nvPr/>
          </p:nvSpPr>
          <p:spPr>
            <a:xfrm>
              <a:off x="827341" y="6346405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150" y="5058359"/>
              <a:ext cx="2857754" cy="161467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spc="-10"/>
              <a:t>GPT-</a:t>
            </a:r>
            <a:r>
              <a:rPr sz="3350"/>
              <a:t>o1:</a:t>
            </a:r>
            <a:r>
              <a:rPr sz="3350" spc="-75"/>
              <a:t> </a:t>
            </a:r>
            <a:r>
              <a:rPr sz="3350"/>
              <a:t>OpenAI's</a:t>
            </a:r>
            <a:r>
              <a:rPr sz="3350" spc="-80"/>
              <a:t> </a:t>
            </a:r>
            <a:r>
              <a:rPr sz="3350"/>
              <a:t>New</a:t>
            </a:r>
            <a:r>
              <a:rPr sz="3350" spc="-80"/>
              <a:t> </a:t>
            </a:r>
            <a:r>
              <a:rPr sz="3350"/>
              <a:t>Reasoning</a:t>
            </a:r>
            <a:r>
              <a:rPr sz="3350" spc="-90"/>
              <a:t> </a:t>
            </a:r>
            <a:r>
              <a:rPr sz="3350" spc="-10"/>
              <a:t>Model</a:t>
            </a:r>
            <a:endParaRPr sz="3350"/>
          </a:p>
        </p:txBody>
      </p:sp>
      <p:sp>
        <p:nvSpPr>
          <p:cNvPr id="8" name="object 8"/>
          <p:cNvSpPr txBox="1"/>
          <p:nvPr/>
        </p:nvSpPr>
        <p:spPr>
          <a:xfrm>
            <a:off x="767587" y="1108464"/>
            <a:ext cx="10480675" cy="385000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GPT-</a:t>
            </a:r>
            <a:r>
              <a:rPr sz="1400" b="1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o1</a:t>
            </a:r>
            <a:r>
              <a:rPr sz="1400" b="1" u="none" spc="-25">
                <a:solidFill>
                  <a:srgbClr val="333333"/>
                </a:solidFill>
                <a:latin typeface="Segoe UI"/>
                <a:cs typeface="Segoe UI"/>
              </a:rPr>
              <a:t>?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next-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excel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math,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coding,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science.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predecessor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4o,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takes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"think"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responding,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harder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greater</a:t>
            </a:r>
            <a:endParaRPr sz="1400">
              <a:latin typeface="Segoe UI"/>
              <a:cs typeface="Segoe UI"/>
            </a:endParaRPr>
          </a:p>
          <a:p>
            <a:pPr marL="12700" marR="60325">
              <a:lnSpc>
                <a:spcPct val="130700"/>
              </a:lnSpc>
              <a:spcBef>
                <a:spcPts val="10"/>
              </a:spcBef>
            </a:pP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reinforcement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4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chain-of-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breaking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smaller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steps,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enhances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logical,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step-by-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solutions.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ts val="2210"/>
              </a:lnSpc>
              <a:spcBef>
                <a:spcPts val="15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ranks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89th</a:t>
            </a:r>
            <a:r>
              <a:rPr sz="1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percentile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competitive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programming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(Codeforces),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places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among</a:t>
            </a:r>
            <a:r>
              <a:rPr sz="14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top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500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students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qualifier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Math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Olympiad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(AIME) and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exceeds human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PhD-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level</a:t>
            </a:r>
            <a:r>
              <a:rPr sz="14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accuracy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benchmark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physics,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biology,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chemistry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(GPQA).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long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responding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difficult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question,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endParaRPr sz="1400">
              <a:latin typeface="Segoe UI"/>
              <a:cs typeface="Segoe UI"/>
            </a:endParaRPr>
          </a:p>
          <a:p>
            <a:pPr marL="12700" marR="211454">
              <a:lnSpc>
                <a:spcPct val="130700"/>
              </a:lnSpc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attempting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problem.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reinforcement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learning,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hone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it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uses.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recognize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correct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mistakes.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tricky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simpler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ones.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try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current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isn’t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working.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dramatically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improves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model’s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reason.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8656" y="5058463"/>
            <a:ext cx="4294759" cy="170370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26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350" y="0"/>
            <a:ext cx="12033885" cy="6858000"/>
            <a:chOff x="160350" y="0"/>
            <a:chExt cx="12033885" cy="685800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350" y="5182006"/>
              <a:ext cx="2272919" cy="1240510"/>
            </a:xfrm>
            <a:prstGeom prst="rect">
              <a:avLst/>
            </a:prstGeom>
          </p:spPr>
        </p:pic>
        <p:pic>
          <p:nvPicPr>
            <p:cNvPr id="7" name="object 7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15527" y="3827902"/>
              <a:ext cx="2911728" cy="2307041"/>
            </a:xfrm>
            <a:prstGeom prst="rect">
              <a:avLst/>
            </a:prstGeom>
          </p:spPr>
        </p:pic>
        <p:pic>
          <p:nvPicPr>
            <p:cNvPr id="8" name="object 8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684" y="296418"/>
              <a:ext cx="2142109" cy="1464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30718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660" y="2228723"/>
              <a:ext cx="7540625" cy="2339975"/>
            </a:xfrm>
            <a:custGeom>
              <a:avLst/>
              <a:gdLst/>
              <a:ahLst/>
              <a:cxnLst/>
              <a:rect l="l" t="t" r="r" b="b"/>
              <a:pathLst>
                <a:path w="7540625" h="2339975">
                  <a:moveTo>
                    <a:pt x="0" y="0"/>
                  </a:moveTo>
                  <a:lnTo>
                    <a:pt x="2877058" y="0"/>
                  </a:lnTo>
                </a:path>
                <a:path w="7540625" h="2339975">
                  <a:moveTo>
                    <a:pt x="2877058" y="1200277"/>
                  </a:moveTo>
                  <a:lnTo>
                    <a:pt x="7540498" y="1200277"/>
                  </a:lnTo>
                </a:path>
                <a:path w="7540625" h="2339975">
                  <a:moveTo>
                    <a:pt x="0" y="2339466"/>
                  </a:moveTo>
                  <a:lnTo>
                    <a:pt x="2877058" y="2339466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8690" y="513969"/>
              <a:ext cx="3673729" cy="25093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3881" y="5316080"/>
              <a:ext cx="1664208" cy="9331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73528" y="3670414"/>
              <a:ext cx="1590675" cy="12091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4728" y="3670414"/>
              <a:ext cx="1854073" cy="12091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1069" y="4744796"/>
              <a:ext cx="2682239" cy="482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53660" y="5464962"/>
              <a:ext cx="2726943" cy="91476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2063" y="1126363"/>
            <a:ext cx="2861310" cy="233870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95"/>
              </a:spcBef>
            </a:pPr>
            <a:r>
              <a:rPr sz="4100" spc="-60"/>
              <a:t>Top</a:t>
            </a:r>
            <a:r>
              <a:rPr sz="4100" spc="-204"/>
              <a:t> </a:t>
            </a:r>
            <a:r>
              <a:rPr sz="4100" spc="-25"/>
              <a:t>AI </a:t>
            </a:r>
            <a:r>
              <a:rPr sz="4100"/>
              <a:t>models</a:t>
            </a:r>
            <a:r>
              <a:rPr sz="4100" spc="-40"/>
              <a:t> </a:t>
            </a:r>
            <a:r>
              <a:rPr sz="4100" spc="-25"/>
              <a:t>and </a:t>
            </a:r>
            <a:r>
              <a:rPr sz="4100" spc="-10"/>
              <a:t>Chat-based </a:t>
            </a:r>
            <a:r>
              <a:rPr sz="4100"/>
              <a:t>AI</a:t>
            </a:r>
            <a:r>
              <a:rPr sz="4100" spc="-45"/>
              <a:t> </a:t>
            </a:r>
            <a:r>
              <a:rPr sz="4100" spc="-10"/>
              <a:t>tools</a:t>
            </a:r>
            <a:endParaRPr sz="4100"/>
          </a:p>
        </p:txBody>
      </p:sp>
      <p:pic>
        <p:nvPicPr>
          <p:cNvPr id="18" name="object 18">
            <a:hlinkClick r:id="rId15"/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16086" y="3116070"/>
            <a:ext cx="2057092" cy="48717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097259" y="6427910"/>
            <a:ext cx="177800" cy="2120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5">
                <a:solidFill>
                  <a:srgbClr val="666666"/>
                </a:solidFill>
                <a:latin typeface="Segoe UI"/>
                <a:cs typeface="Segoe UI"/>
              </a:rPr>
              <a:t>27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27028" y="6626758"/>
            <a:ext cx="5130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>
                <a:latin typeface="Calibri"/>
                <a:cs typeface="Calibri"/>
              </a:rPr>
              <a:t>General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AI</a:t>
            </a:r>
            <a:r>
              <a:rPr sz="2150" spc="-5"/>
              <a:t> </a:t>
            </a:r>
            <a:r>
              <a:rPr sz="2150"/>
              <a:t>tools</a:t>
            </a:r>
            <a:r>
              <a:rPr sz="2150" spc="5"/>
              <a:t> </a:t>
            </a:r>
            <a:r>
              <a:rPr sz="2150" spc="-10"/>
              <a:t>Capabilities</a:t>
            </a:r>
            <a:endParaRPr sz="2150"/>
          </a:p>
        </p:txBody>
      </p:sp>
      <p:sp>
        <p:nvSpPr>
          <p:cNvPr id="7" name="object 7"/>
          <p:cNvSpPr txBox="1"/>
          <p:nvPr/>
        </p:nvSpPr>
        <p:spPr>
          <a:xfrm>
            <a:off x="11527028" y="6626758"/>
            <a:ext cx="5130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>
                <a:latin typeface="Calibri"/>
                <a:cs typeface="Calibri"/>
              </a:rPr>
              <a:t>General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28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587" y="1083154"/>
            <a:ext cx="10547350" cy="43668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b="1">
                <a:latin typeface="Segoe UI"/>
                <a:cs typeface="Segoe UI"/>
              </a:rPr>
              <a:t>AI</a:t>
            </a:r>
            <a:r>
              <a:rPr sz="1800" b="1" spc="-1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tools</a:t>
            </a:r>
            <a:r>
              <a:rPr sz="1800" b="1" spc="-20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capabilities</a:t>
            </a:r>
            <a:r>
              <a:rPr sz="1800" b="1" spc="-4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and</a:t>
            </a:r>
            <a:r>
              <a:rPr sz="1800" b="1" spc="-40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use</a:t>
            </a:r>
            <a:r>
              <a:rPr sz="1800" b="1" spc="-25">
                <a:latin typeface="Segoe UI"/>
                <a:cs typeface="Segoe UI"/>
              </a:rPr>
              <a:t> </a:t>
            </a:r>
            <a:r>
              <a:rPr sz="1800" b="1" spc="-10">
                <a:latin typeface="Segoe UI"/>
                <a:cs typeface="Segoe UI"/>
              </a:rPr>
              <a:t>cases: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Text</a:t>
            </a:r>
            <a:r>
              <a:rPr sz="1600" b="1" spc="16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generation:</a:t>
            </a:r>
            <a:r>
              <a:rPr sz="1600" b="1" spc="1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generate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based</a:t>
            </a:r>
            <a:r>
              <a:rPr sz="1600" spc="1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on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</a:t>
            </a:r>
            <a:r>
              <a:rPr sz="1600" spc="17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given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prompt,</a:t>
            </a:r>
            <a:r>
              <a:rPr sz="1600" spc="1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including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full</a:t>
            </a:r>
            <a:r>
              <a:rPr sz="1600" spc="1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sentences,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paragraphs,</a:t>
            </a:r>
            <a:r>
              <a:rPr sz="1600" spc="1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 spc="-20">
                <a:latin typeface="Segoe UI"/>
                <a:cs typeface="Segoe UI"/>
              </a:rPr>
              <a:t>even</a:t>
            </a:r>
            <a:endParaRPr sz="16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960"/>
              </a:spcBef>
            </a:pPr>
            <a:r>
              <a:rPr sz="1600" spc="-10">
                <a:latin typeface="Segoe UI"/>
                <a:cs typeface="Segoe UI"/>
              </a:rPr>
              <a:t>articles.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Conversational</a:t>
            </a:r>
            <a:r>
              <a:rPr sz="1600" b="1" spc="14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AI:</a:t>
            </a:r>
            <a:r>
              <a:rPr sz="1600" b="1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1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used</a:t>
            </a:r>
            <a:r>
              <a:rPr sz="1600" spc="1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build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chatbots</a:t>
            </a:r>
            <a:r>
              <a:rPr sz="1600" spc="1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conversational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interfaces,</a:t>
            </a:r>
            <a:r>
              <a:rPr sz="1600" spc="1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allowing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it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handle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various</a:t>
            </a:r>
            <a:endParaRPr sz="16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965"/>
              </a:spcBef>
            </a:pPr>
            <a:r>
              <a:rPr sz="1600">
                <a:latin typeface="Segoe UI"/>
                <a:cs typeface="Segoe UI"/>
              </a:rPr>
              <a:t>types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of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user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inputs,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such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natural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language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questions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commands.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Sentiment</a:t>
            </a:r>
            <a:r>
              <a:rPr sz="1600" b="1" spc="-45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Analysis:</a:t>
            </a:r>
            <a:r>
              <a:rPr sz="1600" b="1" spc="-7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determine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the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sentiment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of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given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text,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whether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it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is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positive,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negative,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or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neutral.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 spc="-10">
                <a:latin typeface="Segoe UI"/>
                <a:cs typeface="Segoe UI"/>
              </a:rPr>
              <a:t>Translation: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translate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from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one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language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another,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supporting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multiple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languages.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Question</a:t>
            </a:r>
            <a:r>
              <a:rPr sz="1600" b="1" spc="-6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Answering: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provide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answers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questions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asked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natural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language.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Content</a:t>
            </a:r>
            <a:r>
              <a:rPr sz="1600" b="1" spc="-2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creation:</a:t>
            </a:r>
            <a:r>
              <a:rPr sz="1600" b="1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used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content,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such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articles,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stories,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poems.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 spc="-35">
                <a:latin typeface="Segoe UI"/>
                <a:cs typeface="Segoe UI"/>
              </a:rPr>
              <a:t>Text </a:t>
            </a:r>
            <a:r>
              <a:rPr sz="1600" b="1" spc="-10">
                <a:latin typeface="Segoe UI"/>
                <a:cs typeface="Segoe UI"/>
              </a:rPr>
              <a:t>Classification:</a:t>
            </a:r>
            <a:r>
              <a:rPr sz="1600" b="1" spc="-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classify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into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different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categories,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such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topics,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genres,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sentiments.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Code</a:t>
            </a:r>
            <a:r>
              <a:rPr sz="1600" b="1" spc="-45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Generation:</a:t>
            </a:r>
            <a:r>
              <a:rPr sz="1600" b="1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code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snippets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based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on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given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natural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language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descriptions.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And</a:t>
            </a:r>
            <a:r>
              <a:rPr sz="1600" b="1" spc="-25">
                <a:latin typeface="Segoe UI"/>
                <a:cs typeface="Segoe UI"/>
              </a:rPr>
              <a:t> </a:t>
            </a:r>
            <a:r>
              <a:rPr sz="1600" b="1" spc="-20">
                <a:latin typeface="Segoe UI"/>
                <a:cs typeface="Segoe UI"/>
              </a:rPr>
              <a:t>more…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49B2A">
              <a:alpha val="70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9818" y="321640"/>
            <a:ext cx="79178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/>
              <a:t>ChatGPT</a:t>
            </a:r>
            <a:r>
              <a:rPr sz="4200" spc="-50"/>
              <a:t> </a:t>
            </a:r>
            <a:r>
              <a:rPr sz="4200"/>
              <a:t>features</a:t>
            </a:r>
            <a:r>
              <a:rPr sz="4200" spc="-30"/>
              <a:t> </a:t>
            </a:r>
            <a:r>
              <a:rPr sz="4200"/>
              <a:t>and</a:t>
            </a:r>
            <a:r>
              <a:rPr sz="4200" spc="-50"/>
              <a:t> </a:t>
            </a:r>
            <a:r>
              <a:rPr sz="4200"/>
              <a:t>use</a:t>
            </a:r>
            <a:r>
              <a:rPr sz="4200" spc="-45"/>
              <a:t> </a:t>
            </a:r>
            <a:r>
              <a:rPr sz="4200" spc="-10"/>
              <a:t>cases</a:t>
            </a:r>
            <a:endParaRPr sz="4200"/>
          </a:p>
        </p:txBody>
      </p:sp>
      <p:sp>
        <p:nvSpPr>
          <p:cNvPr id="5" name="object 5"/>
          <p:cNvSpPr txBox="1"/>
          <p:nvPr/>
        </p:nvSpPr>
        <p:spPr>
          <a:xfrm>
            <a:off x="11827767" y="3343147"/>
            <a:ext cx="193675" cy="162560"/>
          </a:xfrm>
          <a:prstGeom prst="rect">
            <a:avLst/>
          </a:prstGeom>
        </p:spPr>
        <p:txBody>
          <a:bodyPr vert="vert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5">
                <a:solidFill>
                  <a:srgbClr val="8F8F8F"/>
                </a:solidFill>
                <a:latin typeface="Segoe UI"/>
                <a:cs typeface="Segoe UI"/>
              </a:rPr>
              <a:t>29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8594" y="1137158"/>
            <a:ext cx="10702290" cy="4008120"/>
            <a:chOff x="688594" y="1137158"/>
            <a:chExt cx="10702290" cy="4008120"/>
          </a:xfrm>
        </p:grpSpPr>
        <p:sp>
          <p:nvSpPr>
            <p:cNvPr id="7" name="object 7"/>
            <p:cNvSpPr/>
            <p:nvPr/>
          </p:nvSpPr>
          <p:spPr>
            <a:xfrm>
              <a:off x="688594" y="1143508"/>
              <a:ext cx="10702290" cy="0"/>
            </a:xfrm>
            <a:custGeom>
              <a:avLst/>
              <a:gdLst/>
              <a:ahLst/>
              <a:cxnLst/>
              <a:rect l="l" t="t" r="r" b="b"/>
              <a:pathLst>
                <a:path w="10702290">
                  <a:moveTo>
                    <a:pt x="0" y="0"/>
                  </a:moveTo>
                  <a:lnTo>
                    <a:pt x="10702163" y="0"/>
                  </a:lnTo>
                </a:path>
              </a:pathLst>
            </a:custGeom>
            <a:ln w="12700">
              <a:solidFill>
                <a:srgbClr val="AC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29051" y="1543050"/>
              <a:ext cx="8561705" cy="3596004"/>
            </a:xfrm>
            <a:custGeom>
              <a:avLst/>
              <a:gdLst/>
              <a:ahLst/>
              <a:cxnLst/>
              <a:rect l="l" t="t" r="r" b="b"/>
              <a:pathLst>
                <a:path w="8561705" h="3596004">
                  <a:moveTo>
                    <a:pt x="0" y="0"/>
                  </a:moveTo>
                  <a:lnTo>
                    <a:pt x="8561705" y="0"/>
                  </a:lnTo>
                </a:path>
                <a:path w="8561705" h="3596004">
                  <a:moveTo>
                    <a:pt x="0" y="399541"/>
                  </a:moveTo>
                  <a:lnTo>
                    <a:pt x="8561705" y="399541"/>
                  </a:lnTo>
                </a:path>
                <a:path w="8561705" h="3596004">
                  <a:moveTo>
                    <a:pt x="0" y="799084"/>
                  </a:moveTo>
                  <a:lnTo>
                    <a:pt x="8561705" y="799084"/>
                  </a:lnTo>
                </a:path>
                <a:path w="8561705" h="3596004">
                  <a:moveTo>
                    <a:pt x="0" y="1198626"/>
                  </a:moveTo>
                  <a:lnTo>
                    <a:pt x="8561705" y="1198626"/>
                  </a:lnTo>
                </a:path>
                <a:path w="8561705" h="3596004">
                  <a:moveTo>
                    <a:pt x="0" y="1598167"/>
                  </a:moveTo>
                  <a:lnTo>
                    <a:pt x="8561705" y="1598167"/>
                  </a:lnTo>
                </a:path>
                <a:path w="8561705" h="3596004">
                  <a:moveTo>
                    <a:pt x="0" y="1997583"/>
                  </a:moveTo>
                  <a:lnTo>
                    <a:pt x="8561705" y="1997583"/>
                  </a:lnTo>
                </a:path>
                <a:path w="8561705" h="3596004">
                  <a:moveTo>
                    <a:pt x="0" y="2397125"/>
                  </a:moveTo>
                  <a:lnTo>
                    <a:pt x="8561705" y="2397125"/>
                  </a:lnTo>
                </a:path>
                <a:path w="8561705" h="3596004">
                  <a:moveTo>
                    <a:pt x="0" y="2796667"/>
                  </a:moveTo>
                  <a:lnTo>
                    <a:pt x="8561705" y="2796667"/>
                  </a:lnTo>
                </a:path>
                <a:path w="8561705" h="3596004">
                  <a:moveTo>
                    <a:pt x="0" y="3196209"/>
                  </a:moveTo>
                  <a:lnTo>
                    <a:pt x="8561705" y="3196209"/>
                  </a:lnTo>
                </a:path>
                <a:path w="8561705" h="3596004">
                  <a:moveTo>
                    <a:pt x="0" y="3595751"/>
                  </a:moveTo>
                  <a:lnTo>
                    <a:pt x="8561705" y="3595751"/>
                  </a:lnTo>
                </a:path>
              </a:pathLst>
            </a:custGeom>
            <a:ln w="12700">
              <a:solidFill>
                <a:srgbClr val="DBBC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4105" y="1227531"/>
            <a:ext cx="1893570" cy="3326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3100" b="1" spc="-10">
                <a:solidFill>
                  <a:srgbClr val="333333"/>
                </a:solidFill>
                <a:latin typeface="Segoe UI"/>
                <a:cs typeface="Segoe UI"/>
              </a:rPr>
              <a:t>Exploring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ChatGPT</a:t>
            </a:r>
            <a:r>
              <a:rPr sz="3100" b="1" spc="-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50">
                <a:solidFill>
                  <a:srgbClr val="333333"/>
                </a:solidFill>
                <a:latin typeface="Segoe UI"/>
                <a:cs typeface="Segoe UI"/>
              </a:rPr>
              <a:t>-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31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31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25">
                <a:solidFill>
                  <a:srgbClr val="333333"/>
                </a:solidFill>
                <a:latin typeface="Segoe UI"/>
                <a:cs typeface="Segoe UI"/>
              </a:rPr>
              <a:t>of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31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20">
                <a:solidFill>
                  <a:srgbClr val="333333"/>
                </a:solidFill>
                <a:latin typeface="Segoe UI"/>
                <a:cs typeface="Segoe UI"/>
              </a:rPr>
              <a:t>most </a:t>
            </a:r>
            <a:r>
              <a:rPr sz="3100" b="1" spc="-10">
                <a:solidFill>
                  <a:srgbClr val="333333"/>
                </a:solidFill>
                <a:latin typeface="Segoe UI"/>
                <a:cs typeface="Segoe UI"/>
              </a:rPr>
              <a:t>known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3100" b="1" spc="-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50">
                <a:solidFill>
                  <a:srgbClr val="333333"/>
                </a:solidFill>
                <a:latin typeface="Segoe UI"/>
                <a:cs typeface="Segoe UI"/>
              </a:rPr>
              <a:t>- </a:t>
            </a:r>
            <a:r>
              <a:rPr sz="3100" b="1" spc="-10">
                <a:solidFill>
                  <a:srgbClr val="333333"/>
                </a:solidFill>
                <a:latin typeface="Segoe UI"/>
                <a:cs typeface="Segoe UI"/>
              </a:rPr>
              <a:t>features:</a:t>
            </a:r>
            <a:endParaRPr sz="31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38348" y="1200404"/>
            <a:ext cx="4490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Image</a:t>
            </a:r>
            <a:r>
              <a:rPr sz="16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6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6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capabilities.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8348" y="1599946"/>
            <a:ext cx="1360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analytics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8348" y="1999614"/>
            <a:ext cx="1717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ChatGPT</a:t>
            </a:r>
            <a:r>
              <a:rPr sz="1600" b="1" spc="-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Memory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8348" y="2399156"/>
            <a:ext cx="1935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Custom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8348" y="2798825"/>
            <a:ext cx="1271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Custom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GPTs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8348" y="3198367"/>
            <a:ext cx="3565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interpreter</a:t>
            </a:r>
            <a:r>
              <a:rPr sz="16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6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files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38348" y="3597909"/>
            <a:ext cx="1400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Web</a:t>
            </a:r>
            <a:r>
              <a:rPr sz="16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browsing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38348" y="3997578"/>
            <a:ext cx="2120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Advanced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voice</a:t>
            </a:r>
            <a:r>
              <a:rPr sz="16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mode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8348" y="4397121"/>
            <a:ext cx="1466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6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38348" y="4796485"/>
            <a:ext cx="1905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4o with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canvas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94585" y="2768930"/>
            <a:ext cx="7404734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>
                <a:solidFill>
                  <a:srgbClr val="000000"/>
                </a:solidFill>
                <a:latin typeface="Segoe UI"/>
                <a:cs typeface="Segoe UI"/>
              </a:rPr>
              <a:t>Prompt</a:t>
            </a:r>
            <a:r>
              <a:rPr sz="6600" b="0" spc="-15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600" b="0" spc="-10">
                <a:solidFill>
                  <a:srgbClr val="000000"/>
                </a:solidFill>
                <a:latin typeface="Segoe UI"/>
                <a:cs typeface="Segoe UI"/>
              </a:rPr>
              <a:t>Engineering</a:t>
            </a:r>
            <a:endParaRPr sz="66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Introducing</a:t>
            </a:r>
            <a:r>
              <a:rPr sz="2150" spc="-5"/>
              <a:t> </a:t>
            </a:r>
            <a:r>
              <a:rPr sz="2150"/>
              <a:t>prompt</a:t>
            </a:r>
            <a:r>
              <a:rPr sz="2150" spc="-25"/>
              <a:t> </a:t>
            </a:r>
            <a:r>
              <a:rPr sz="2150" spc="-10"/>
              <a:t>engineering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46715" cy="470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art</a:t>
            </a:r>
            <a:r>
              <a:rPr sz="19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science</a:t>
            </a:r>
            <a:r>
              <a:rPr sz="190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crafting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inputs</a:t>
            </a:r>
            <a:r>
              <a:rPr sz="190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(prompts)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AI,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especially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90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90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crucial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skill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interacting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GPT-3 or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4.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9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Matters?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quality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 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influences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AI's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Good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lead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accurate,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relevant,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outputs.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Clarity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Clear,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concise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background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Creativity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Creative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elicit more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insightful, engaging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responses.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Challenges: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Balancing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specificity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openness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Avoiding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biases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ethical 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interactions.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8053" y="1984120"/>
            <a:ext cx="3037458" cy="17357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31</a:t>
            </a:fld>
            <a:endParaRPr spc="-25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Elements</a:t>
            </a:r>
            <a:r>
              <a:rPr sz="2150" spc="-30"/>
              <a:t> </a:t>
            </a:r>
            <a:r>
              <a:rPr sz="2150"/>
              <a:t>of</a:t>
            </a:r>
            <a:r>
              <a:rPr sz="2150" spc="-15"/>
              <a:t> </a:t>
            </a:r>
            <a:r>
              <a:rPr sz="2150"/>
              <a:t>a</a:t>
            </a:r>
            <a:r>
              <a:rPr sz="2150" spc="-10"/>
              <a:t> Prompt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9729470" cy="2659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contains</a:t>
            </a:r>
            <a:r>
              <a:rPr sz="1900" b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perform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additional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steer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endParaRPr sz="1900">
              <a:latin typeface="Segoe UI"/>
              <a:cs typeface="Segoe UI"/>
            </a:endParaRPr>
          </a:p>
          <a:p>
            <a:pPr marL="424180">
              <a:lnSpc>
                <a:spcPct val="100000"/>
              </a:lnSpc>
              <a:spcBef>
                <a:spcPts val="25"/>
              </a:spcBef>
            </a:pP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responses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 question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interested</a:t>
            </a:r>
            <a:r>
              <a:rPr sz="19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find a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Indicator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output.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2731" y="4038558"/>
            <a:ext cx="6332998" cy="22060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32</a:t>
            </a:fld>
            <a:endParaRPr spc="-25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15"/>
              <a:t> </a:t>
            </a:r>
            <a:r>
              <a:rPr sz="2150"/>
              <a:t>techniques</a:t>
            </a:r>
            <a:r>
              <a:rPr sz="2150" spc="-10"/>
              <a:t> </a:t>
            </a:r>
            <a:r>
              <a:rPr sz="2150"/>
              <a:t>and</a:t>
            </a:r>
            <a:r>
              <a:rPr sz="2150" spc="-20"/>
              <a:t> </a:t>
            </a:r>
            <a:r>
              <a:rPr sz="2150"/>
              <a:t>approaches</a:t>
            </a:r>
            <a:r>
              <a:rPr sz="2150" spc="-30"/>
              <a:t> </a:t>
            </a:r>
            <a:r>
              <a:rPr sz="2150" spc="-10"/>
              <a:t>[Zero-</a:t>
            </a:r>
            <a:r>
              <a:rPr sz="2150"/>
              <a:t>shot</a:t>
            </a:r>
            <a:r>
              <a:rPr sz="2150" spc="-5"/>
              <a:t> </a:t>
            </a:r>
            <a:r>
              <a:rPr sz="2150" spc="-10"/>
              <a:t>prompting]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33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07980" cy="423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6525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Zero-shot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prompting:</a:t>
            </a:r>
            <a:r>
              <a:rPr sz="1900" b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presenting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without any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specific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 relies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trained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generate 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often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used in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situations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needs 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generalize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new,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unseen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tasks.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include language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translation, answering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factual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questions,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performing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hasn't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been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"Assess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social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media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teenage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mental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health.“</a:t>
            </a:r>
            <a:endParaRPr sz="1650">
              <a:latin typeface="Segoe UI"/>
              <a:cs typeface="Segoe UI"/>
            </a:endParaRPr>
          </a:p>
          <a:p>
            <a:pPr marL="12700" marR="5426710">
              <a:lnSpc>
                <a:spcPct val="203600"/>
              </a:lnSpc>
              <a:spcBef>
                <a:spcPts val="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"Describe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basic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principles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quantum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mechanics.“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"Translate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'Hello,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you?'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French."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20"/>
              <a:t> </a:t>
            </a:r>
            <a:r>
              <a:rPr sz="2150"/>
              <a:t>techniques</a:t>
            </a:r>
            <a:r>
              <a:rPr sz="2150" spc="-5"/>
              <a:t> </a:t>
            </a:r>
            <a:r>
              <a:rPr sz="2150"/>
              <a:t>and</a:t>
            </a:r>
            <a:r>
              <a:rPr sz="2150" spc="-20"/>
              <a:t> </a:t>
            </a:r>
            <a:r>
              <a:rPr sz="2150"/>
              <a:t>approaches</a:t>
            </a:r>
            <a:r>
              <a:rPr sz="2150" spc="-35"/>
              <a:t> </a:t>
            </a:r>
            <a:r>
              <a:rPr sz="2150" spc="-10"/>
              <a:t>[Few-</a:t>
            </a:r>
            <a:r>
              <a:rPr sz="2150"/>
              <a:t>shot</a:t>
            </a:r>
            <a:r>
              <a:rPr sz="2150" spc="-5"/>
              <a:t> </a:t>
            </a:r>
            <a:r>
              <a:rPr sz="2150" spc="-10"/>
              <a:t>prompting]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34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23855" cy="5001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695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Few-shot</a:t>
            </a:r>
            <a:r>
              <a:rPr sz="1900" b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prompting:</a:t>
            </a:r>
            <a:r>
              <a:rPr sz="1900" b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number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'learn'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from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before responding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 the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 when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greatly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aids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model's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performance.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commonly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more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sentiment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analysis,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categorization,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is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desired.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20320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"Generate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interview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[Software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Developer]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emphasis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[backend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development].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'Can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explain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difference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REST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SOAP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APIs?'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Technical.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'Describe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situation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optimize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query.'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Behavioral.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interview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[design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patterns]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[database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optimization]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role.“</a:t>
            </a:r>
            <a:endParaRPr sz="1650">
              <a:latin typeface="Segoe UI"/>
              <a:cs typeface="Segoe UI"/>
            </a:endParaRPr>
          </a:p>
          <a:p>
            <a:pPr marL="12700" marR="149860">
              <a:lnSpc>
                <a:spcPct val="101899"/>
              </a:lnSpc>
              <a:spcBef>
                <a:spcPts val="2014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"Classify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customer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reviews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positive,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negative,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neutral.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'This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product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amazing;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>
                <a:solidFill>
                  <a:srgbClr val="333333"/>
                </a:solidFill>
                <a:latin typeface="Segoe UI"/>
                <a:cs typeface="Segoe UI"/>
              </a:rPr>
              <a:t>I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highly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recommend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it!'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Positive.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'I'm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really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disappointed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purchase.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didn't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meet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my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expectations.'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Negative.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classify: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was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okay,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nothing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special.'"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5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[CoT]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bottlenecks.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suggest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optimizations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analysis."</a:t>
            </a:r>
            <a:endParaRPr sz="1450">
              <a:latin typeface="Segoe UI"/>
              <a:cs typeface="Segoe UI"/>
            </a:endParaRPr>
          </a:p>
          <a:p>
            <a:pPr marL="243204">
              <a:lnSpc>
                <a:spcPct val="100000"/>
              </a:lnSpc>
              <a:spcBef>
                <a:spcPts val="1175"/>
              </a:spcBef>
            </a:pPr>
            <a:fld id="{81D60167-4931-47E6-BA6A-407CBD079E47}" type="slidenum">
              <a:rPr spc="-25" dirty="0"/>
              <a:t>35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02265" cy="4856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4975" algn="just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CoT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(Chain</a:t>
            </a:r>
            <a:r>
              <a:rPr sz="1900" b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Thought):</a:t>
            </a:r>
            <a:r>
              <a:rPr sz="19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structuring</a:t>
            </a:r>
            <a:r>
              <a:rPr sz="19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way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leads 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 through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step-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by-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process.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idea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make 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"think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aloud,"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thought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moves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towards an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answer.</a:t>
            </a:r>
            <a:endParaRPr sz="19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It’s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solution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requires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steps 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layers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9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2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mathematical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problems,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logical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puzzles,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planning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tasks.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ts val="2300"/>
              </a:lnSpc>
              <a:spcBef>
                <a:spcPts val="8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"Explain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[describe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problem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question].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Start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considering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[initial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factor],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[next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factor],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continue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until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conclusion.“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93980">
              <a:lnSpc>
                <a:spcPts val="1730"/>
              </a:lnSpc>
              <a:spcBef>
                <a:spcPts val="70"/>
              </a:spcBef>
            </a:pP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"Outline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take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increase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smartphone.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identifying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market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smartphone.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features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appeal</a:t>
            </a:r>
            <a:r>
              <a:rPr sz="1450" i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market.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these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customers.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detail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channels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promotional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offers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50" i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could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sales.“</a:t>
            </a:r>
            <a:endParaRPr sz="1450">
              <a:latin typeface="Segoe UI"/>
              <a:cs typeface="Segoe UI"/>
            </a:endParaRPr>
          </a:p>
          <a:p>
            <a:pPr marL="12700" marR="461009">
              <a:lnSpc>
                <a:spcPts val="1730"/>
              </a:lnSpc>
              <a:spcBef>
                <a:spcPts val="1725"/>
              </a:spcBef>
            </a:pP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"Describe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optimizing</a:t>
            </a:r>
            <a:r>
              <a:rPr sz="1450" i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SQL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database.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examining</a:t>
            </a:r>
            <a:r>
              <a:rPr sz="1450" i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unnecessary</a:t>
            </a:r>
            <a:r>
              <a:rPr sz="145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joins</a:t>
            </a:r>
            <a:r>
              <a:rPr sz="145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nested subqueries.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indexing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columns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clause.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analyze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execution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identify</a:t>
            </a:r>
            <a:endParaRPr sz="14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4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[RTF]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8673465" cy="507428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285750">
              <a:lnSpc>
                <a:spcPct val="101099"/>
              </a:lnSpc>
              <a:spcBef>
                <a:spcPts val="95"/>
              </a:spcBef>
              <a:tabLst>
                <a:tab pos="298767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RTF</a:t>
            </a:r>
            <a:r>
              <a:rPr sz="19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(Role,</a:t>
            </a:r>
            <a:r>
              <a:rPr sz="19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Task,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Format):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one 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know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approaches,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construction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focusing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three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key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aspects: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Defining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persona or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capacity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respond.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Specifying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particular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action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 is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expected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endParaRPr sz="190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perform.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take].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me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task]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format]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format.“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213360">
              <a:lnSpc>
                <a:spcPts val="2020"/>
              </a:lnSpc>
              <a:spcBef>
                <a:spcPts val="65"/>
              </a:spcBef>
            </a:pP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“Act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skilled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software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developer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specializing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Python. Your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write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script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automates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extraction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given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CSV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files</a:t>
            </a:r>
            <a:r>
              <a:rPr sz="165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summarizes</a:t>
            </a:r>
            <a:r>
              <a:rPr sz="165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report.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snippet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comments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explaining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process.”</a:t>
            </a:r>
            <a:endParaRPr sz="1650">
              <a:latin typeface="Segoe UI"/>
              <a:cs typeface="Segoe UI"/>
            </a:endParaRPr>
          </a:p>
          <a:p>
            <a:pPr marL="12700" marR="297180">
              <a:lnSpc>
                <a:spcPct val="101800"/>
              </a:lnSpc>
              <a:spcBef>
                <a:spcPts val="1940"/>
              </a:spcBef>
            </a:pP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"As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social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media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marketer,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brief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increasing</a:t>
            </a:r>
            <a:r>
              <a:rPr sz="1650" i="1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engagement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eco-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friendly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themes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posts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ideal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posting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times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table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format."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7257" y="1143508"/>
            <a:ext cx="2574671" cy="2326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321" y="6356949"/>
            <a:ext cx="172085" cy="2063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38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5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[RISEN]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37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69289"/>
            <a:ext cx="10431780" cy="518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RISEN</a:t>
            </a:r>
            <a:r>
              <a:rPr sz="2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(Role,</a:t>
            </a:r>
            <a:r>
              <a:rPr sz="2400" b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Instructions,</a:t>
            </a:r>
            <a:r>
              <a:rPr sz="24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Steps,</a:t>
            </a:r>
            <a:r>
              <a:rPr sz="2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End</a:t>
            </a:r>
            <a:r>
              <a:rPr sz="2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goal,</a:t>
            </a:r>
            <a:r>
              <a:rPr sz="2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 spc="-10">
                <a:solidFill>
                  <a:srgbClr val="333333"/>
                </a:solidFill>
                <a:latin typeface="Segoe UI"/>
                <a:cs typeface="Segoe UI"/>
              </a:rPr>
              <a:t>Narrowing):</a:t>
            </a:r>
            <a:endParaRPr sz="2400">
              <a:latin typeface="Segoe UI"/>
              <a:cs typeface="Segoe UI"/>
            </a:endParaRPr>
          </a:p>
          <a:p>
            <a:pPr marL="12700" marR="1574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constrained tasks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into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actionable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components.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structured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executing tasks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layers,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blog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posts,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research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projects,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business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plans.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"Role:</a:t>
            </a:r>
            <a:r>
              <a:rPr sz="190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take.]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Main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complete.]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complete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numbered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list</a:t>
            </a:r>
            <a:r>
              <a:rPr sz="190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follow.]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Goal: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goal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output]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Constraints: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[Enter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constraints].“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ts val="2020"/>
              </a:lnSpc>
              <a:spcBef>
                <a:spcPts val="70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[Marketing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Strategist].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[comprehensive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strategy]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eco-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friendly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household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[identifying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audience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preferences],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move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[creating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ts val="1939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messaging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aligns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audience's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values].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[choose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endParaRPr sz="1650">
              <a:latin typeface="Segoe UI"/>
              <a:cs typeface="Segoe UI"/>
            </a:endParaRPr>
          </a:p>
          <a:p>
            <a:pPr marL="12700" marR="18542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channels],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[outline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launch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includes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timeline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activities].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Ensure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[focuses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specifically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eco-conscious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consumers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emphasizes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sustainability]."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Rephrase</a:t>
            </a:r>
            <a:r>
              <a:rPr sz="2150" spc="-50"/>
              <a:t> </a:t>
            </a:r>
            <a:r>
              <a:rPr sz="2150"/>
              <a:t>and</a:t>
            </a:r>
            <a:r>
              <a:rPr sz="2150" spc="-35"/>
              <a:t> </a:t>
            </a:r>
            <a:r>
              <a:rPr sz="2150"/>
              <a:t>Respond</a:t>
            </a:r>
            <a:r>
              <a:rPr sz="2150" spc="-35"/>
              <a:t> </a:t>
            </a:r>
            <a:r>
              <a:rPr sz="2150"/>
              <a:t>Prompting</a:t>
            </a:r>
            <a:r>
              <a:rPr sz="2150" spc="-40"/>
              <a:t> </a:t>
            </a:r>
            <a:r>
              <a:rPr sz="2150" spc="-10"/>
              <a:t>(RaR)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/>
              <a:t>Overview</a:t>
            </a:r>
            <a:endParaRPr sz="1400"/>
          </a:p>
          <a:p>
            <a:pPr marL="12700" marR="73025">
              <a:lnSpc>
                <a:spcPct val="100000"/>
              </a:lnSpc>
            </a:pPr>
            <a:r>
              <a:rPr sz="1400" b="0">
                <a:latin typeface="Segoe UI"/>
                <a:cs typeface="Segoe UI"/>
              </a:rPr>
              <a:t>Rephrase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Respond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(RaR)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is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new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that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aims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to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enhance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LLM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performance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by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allowing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them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to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rephrase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 spc="-25">
                <a:latin typeface="Segoe UI"/>
                <a:cs typeface="Segoe UI"/>
              </a:rPr>
              <a:t>and </a:t>
            </a:r>
            <a:r>
              <a:rPr sz="1400" b="0">
                <a:latin typeface="Segoe UI"/>
                <a:cs typeface="Segoe UI"/>
              </a:rPr>
              <a:t>expand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prompts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before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generating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response.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This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bridges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gap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between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how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humans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 spc="-20">
                <a:latin typeface="Segoe UI"/>
                <a:cs typeface="Segoe UI"/>
              </a:rPr>
              <a:t>LLMs </a:t>
            </a:r>
            <a:r>
              <a:rPr sz="1400" b="0">
                <a:latin typeface="Segoe UI"/>
                <a:cs typeface="Segoe UI"/>
              </a:rPr>
              <a:t>understand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engage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with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information.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400" b="0" spc="-20">
                <a:latin typeface="Segoe UI"/>
                <a:cs typeface="Segoe UI"/>
              </a:rPr>
              <a:t>Moreover,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RaR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is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complementary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to CoT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these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two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techniques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can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be</a:t>
            </a:r>
            <a:r>
              <a:rPr sz="1400" b="0" spc="-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combined </a:t>
            </a:r>
            <a:r>
              <a:rPr sz="1400" b="0">
                <a:latin typeface="Segoe UI"/>
                <a:cs typeface="Segoe UI"/>
              </a:rPr>
              <a:t>to</a:t>
            </a:r>
            <a:r>
              <a:rPr sz="1400" b="0" spc="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further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enhance</a:t>
            </a:r>
            <a:r>
              <a:rPr sz="1400" b="0" spc="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performance.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0">
                <a:latin typeface="Segoe UI"/>
                <a:cs typeface="Segoe UI"/>
              </a:rPr>
              <a:t>RaR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involves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two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steps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namely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Rephrasing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Responding:</a:t>
            </a:r>
            <a:endParaRPr sz="1400">
              <a:latin typeface="Segoe UI"/>
              <a:cs typeface="Segoe UI"/>
            </a:endParaRPr>
          </a:p>
          <a:p>
            <a:pPr marL="299085" marR="249554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0">
                <a:latin typeface="Segoe UI"/>
                <a:cs typeface="Segoe UI"/>
              </a:rPr>
              <a:t>Rephrase: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LLM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analyzes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generates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paraphrased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version, potentially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clarifying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ambiguities,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breaking</a:t>
            </a:r>
            <a:r>
              <a:rPr sz="1400" b="0" spc="-20">
                <a:latin typeface="Segoe UI"/>
                <a:cs typeface="Segoe UI"/>
              </a:rPr>
              <a:t> down </a:t>
            </a:r>
            <a:r>
              <a:rPr sz="1400" b="0">
                <a:latin typeface="Segoe UI"/>
                <a:cs typeface="Segoe UI"/>
              </a:rPr>
              <a:t>complex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tasks,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or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expanding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on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implicit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assumptions.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0">
                <a:latin typeface="Segoe UI"/>
                <a:cs typeface="Segoe UI"/>
              </a:rPr>
              <a:t>Respond: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LLM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based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on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original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rephrased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versions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of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prompt,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generates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response.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396" y="3862882"/>
            <a:ext cx="8692873" cy="22913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38</a:t>
            </a:fld>
            <a:endParaRPr spc="-25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Emotion</a:t>
            </a:r>
            <a:r>
              <a:rPr sz="2150" spc="5"/>
              <a:t> </a:t>
            </a:r>
            <a:r>
              <a:rPr sz="2150" spc="-10"/>
              <a:t>Prompting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/>
              <a:t>Overview</a:t>
            </a:r>
            <a:endParaRPr sz="1600"/>
          </a:p>
          <a:p>
            <a:pPr marL="12700" marR="193675">
              <a:lnSpc>
                <a:spcPct val="100000"/>
              </a:lnSpc>
            </a:pPr>
            <a:r>
              <a:rPr sz="1600" b="0">
                <a:latin typeface="Segoe UI"/>
                <a:cs typeface="Segoe UI"/>
              </a:rPr>
              <a:t>Emotion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prompting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technique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that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involves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adding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prompts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given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large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language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models </a:t>
            </a:r>
            <a:r>
              <a:rPr sz="1600" b="0">
                <a:latin typeface="Segoe UI"/>
                <a:cs typeface="Segoe UI"/>
              </a:rPr>
              <a:t>(LLMs).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example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“This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2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very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important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my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career”.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600"/>
              <a:t>How</a:t>
            </a:r>
            <a:r>
              <a:rPr sz="1600" spc="-40"/>
              <a:t> </a:t>
            </a:r>
            <a:r>
              <a:rPr sz="1600"/>
              <a:t>it</a:t>
            </a:r>
            <a:r>
              <a:rPr sz="1600" spc="-35"/>
              <a:t> </a:t>
            </a:r>
            <a:r>
              <a:rPr sz="1600" spc="-10"/>
              <a:t>works</a:t>
            </a:r>
            <a:endParaRPr sz="1600"/>
          </a:p>
          <a:p>
            <a:pPr marL="12700" marR="5080">
              <a:lnSpc>
                <a:spcPct val="100000"/>
              </a:lnSpc>
            </a:pPr>
            <a:r>
              <a:rPr sz="1600" b="0">
                <a:latin typeface="Segoe UI"/>
                <a:cs typeface="Segoe UI"/>
              </a:rPr>
              <a:t>This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prompting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approach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proposed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based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on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previous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psychological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studies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that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have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shown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beneficial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impact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stimuli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related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expectancy,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confidence,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and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social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influence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individuals.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part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emotion </a:t>
            </a:r>
            <a:r>
              <a:rPr sz="1600" b="0">
                <a:latin typeface="Segoe UI"/>
                <a:cs typeface="Segoe UI"/>
              </a:rPr>
              <a:t>prompting,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cues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are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appended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2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and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then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given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20">
                <a:latin typeface="Segoe UI"/>
                <a:cs typeface="Segoe UI"/>
              </a:rPr>
              <a:t>LLM.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324" y="3486734"/>
            <a:ext cx="5230335" cy="26064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39</a:t>
            </a:fld>
            <a:endParaRPr spc="-25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Enhancing</a:t>
            </a:r>
            <a:r>
              <a:rPr sz="2150" spc="-15"/>
              <a:t> </a:t>
            </a:r>
            <a:r>
              <a:rPr sz="2150"/>
              <a:t>Model</a:t>
            </a:r>
            <a:r>
              <a:rPr sz="2150" spc="-25"/>
              <a:t> </a:t>
            </a:r>
            <a:r>
              <a:rPr sz="2150"/>
              <a:t>Interaction</a:t>
            </a:r>
            <a:r>
              <a:rPr sz="2150" spc="-20"/>
              <a:t> </a:t>
            </a:r>
            <a:r>
              <a:rPr sz="2150"/>
              <a:t>with</a:t>
            </a:r>
            <a:r>
              <a:rPr sz="2150" spc="-30"/>
              <a:t> </a:t>
            </a:r>
            <a:r>
              <a:rPr sz="2150"/>
              <a:t>Emotional</a:t>
            </a:r>
            <a:r>
              <a:rPr sz="2150" spc="-20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Motivational</a:t>
            </a:r>
            <a:r>
              <a:rPr sz="2150" spc="-20"/>
              <a:t> </a:t>
            </a:r>
            <a:r>
              <a:rPr sz="2150" spc="-10"/>
              <a:t>Language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8279">
              <a:lnSpc>
                <a:spcPct val="100499"/>
              </a:lnSpc>
              <a:spcBef>
                <a:spcPts val="95"/>
              </a:spcBef>
            </a:pPr>
            <a:r>
              <a:t>Utilizing</a:t>
            </a:r>
            <a:r>
              <a:rPr spc="-15"/>
              <a:t> </a:t>
            </a:r>
            <a:r>
              <a:t>emotional</a:t>
            </a:r>
            <a:r>
              <a:rPr spc="-10"/>
              <a:t> </a:t>
            </a:r>
            <a:r>
              <a:t>and</a:t>
            </a:r>
            <a:r>
              <a:rPr spc="-15"/>
              <a:t> </a:t>
            </a:r>
            <a:r>
              <a:t>motivating</a:t>
            </a:r>
            <a:r>
              <a:rPr spc="-20"/>
              <a:t> </a:t>
            </a:r>
            <a:r>
              <a:t>language</a:t>
            </a:r>
            <a:r>
              <a:rPr spc="-5"/>
              <a:t> </a:t>
            </a:r>
            <a:r>
              <a:t>when</a:t>
            </a:r>
            <a:r>
              <a:rPr spc="-20"/>
              <a:t> </a:t>
            </a:r>
            <a:r>
              <a:t>interacting</a:t>
            </a:r>
            <a:r>
              <a:rPr spc="-20"/>
              <a:t> </a:t>
            </a:r>
            <a:r>
              <a:t>with</a:t>
            </a:r>
            <a:r>
              <a:rPr spc="-20"/>
              <a:t> </a:t>
            </a:r>
            <a:r>
              <a:t>the</a:t>
            </a:r>
            <a:r>
              <a:rPr spc="-20"/>
              <a:t> </a:t>
            </a:r>
            <a:r>
              <a:rPr spc="-10"/>
              <a:t>models </a:t>
            </a:r>
            <a:r>
              <a:t>can</a:t>
            </a:r>
            <a:r>
              <a:rPr spc="-5"/>
              <a:t> </a:t>
            </a:r>
            <a:r>
              <a:t>yield</a:t>
            </a:r>
            <a:r>
              <a:rPr spc="-30"/>
              <a:t> </a:t>
            </a:r>
            <a:r>
              <a:t>improved</a:t>
            </a:r>
            <a:r>
              <a:rPr spc="-30"/>
              <a:t> </a:t>
            </a:r>
            <a:r>
              <a:t>outcomes.</a:t>
            </a:r>
            <a:r>
              <a:rPr spc="10"/>
              <a:t> </a:t>
            </a:r>
            <a:r>
              <a:t>For</a:t>
            </a:r>
            <a:r>
              <a:rPr spc="-20"/>
              <a:t> </a:t>
            </a:r>
            <a:r>
              <a:rPr spc="-10"/>
              <a:t>instance::</a:t>
            </a:r>
          </a:p>
          <a:p>
            <a:pPr marL="354965" indent="-34226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 spc="-50">
                <a:latin typeface="Segoe UI"/>
                <a:cs typeface="Segoe UI"/>
              </a:rPr>
              <a:t>Take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deep</a:t>
            </a:r>
            <a:r>
              <a:rPr sz="1900" b="0" spc="-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breath,</a:t>
            </a:r>
            <a:r>
              <a:rPr sz="1900" b="0" spc="-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let's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think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step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by </a:t>
            </a:r>
            <a:r>
              <a:rPr sz="1900" b="0" spc="-20">
                <a:latin typeface="Segoe UI"/>
                <a:cs typeface="Segoe UI"/>
              </a:rPr>
              <a:t>step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>
                <a:latin typeface="Segoe UI"/>
                <a:cs typeface="Segoe UI"/>
              </a:rPr>
              <a:t>This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is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very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important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for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my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career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>
                <a:latin typeface="Segoe UI"/>
                <a:cs typeface="Segoe UI"/>
              </a:rPr>
              <a:t>I'll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generously</a:t>
            </a:r>
            <a:r>
              <a:rPr sz="1900" b="0" spc="-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reward</a:t>
            </a:r>
            <a:r>
              <a:rPr sz="1900" b="0" spc="-3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with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$20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 spc="-20">
                <a:latin typeface="Segoe UI"/>
                <a:cs typeface="Segoe UI"/>
              </a:rPr>
              <a:t>tip.</a:t>
            </a:r>
            <a:endParaRPr sz="1900">
              <a:latin typeface="Segoe UI"/>
              <a:cs typeface="Segoe UI"/>
            </a:endParaRPr>
          </a:p>
          <a:p>
            <a:pPr marL="355600" marR="394970" indent="-342900">
              <a:lnSpc>
                <a:spcPts val="2300"/>
              </a:lnSpc>
              <a:spcBef>
                <a:spcPts val="85"/>
              </a:spcBef>
              <a:buFont typeface="Arial"/>
              <a:buChar char="•"/>
              <a:tabLst>
                <a:tab pos="355600" algn="l"/>
              </a:tabLst>
            </a:pPr>
            <a:r>
              <a:rPr sz="1900" b="0">
                <a:latin typeface="Segoe UI"/>
                <a:cs typeface="Segoe UI"/>
              </a:rPr>
              <a:t>Are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absolutely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certain?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Is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this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your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definitive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response?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It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could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be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beneficial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to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review </a:t>
            </a:r>
            <a:r>
              <a:rPr sz="1900" b="0">
                <a:latin typeface="Segoe UI"/>
                <a:cs typeface="Segoe UI"/>
              </a:rPr>
              <a:t>once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more.</a:t>
            </a:r>
            <a:endParaRPr sz="1900">
              <a:latin typeface="Segoe UI"/>
              <a:cs typeface="Segoe UI"/>
            </a:endParaRPr>
          </a:p>
          <a:p>
            <a:pPr marL="355600" marR="5080" indent="-342900">
              <a:lnSpc>
                <a:spcPts val="2300"/>
              </a:lnSpc>
              <a:spcBef>
                <a:spcPts val="10"/>
              </a:spcBef>
              <a:buFont typeface="Arial"/>
              <a:buChar char="•"/>
              <a:tabLst>
                <a:tab pos="355600" algn="l"/>
              </a:tabLst>
            </a:pPr>
            <a:r>
              <a:rPr sz="1900" b="0">
                <a:latin typeface="Segoe UI"/>
                <a:cs typeface="Segoe UI"/>
              </a:rPr>
              <a:t>Embrace 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work with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pride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and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exert 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utmost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effort.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Have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faith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in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capabilities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 spc="-25">
                <a:latin typeface="Segoe UI"/>
                <a:cs typeface="Segoe UI"/>
              </a:rPr>
              <a:t>and </a:t>
            </a:r>
            <a:r>
              <a:rPr sz="1900" b="0">
                <a:latin typeface="Segoe UI"/>
                <a:cs typeface="Segoe UI"/>
              </a:rPr>
              <a:t>aim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for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excellence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800" y="3928224"/>
            <a:ext cx="3208753" cy="23672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9958" y="4197225"/>
            <a:ext cx="6836251" cy="21031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40</a:t>
            </a:fld>
            <a:endParaRPr spc="-25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5"/>
              <a:t> </a:t>
            </a:r>
            <a:r>
              <a:rPr sz="2150" spc="-10"/>
              <a:t>cheatsheets</a:t>
            </a:r>
            <a:endParaRPr sz="21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" y="1188669"/>
            <a:ext cx="3379978" cy="50794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6378" y="1080427"/>
            <a:ext cx="4214622" cy="52156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0827" y="1120724"/>
            <a:ext cx="3736721" cy="514743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41</a:t>
            </a:fld>
            <a:endParaRPr spc="-25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General</a:t>
            </a:r>
            <a:r>
              <a:rPr sz="2150" spc="-30"/>
              <a:t> </a:t>
            </a:r>
            <a:r>
              <a:rPr sz="2150"/>
              <a:t>prompting</a:t>
            </a:r>
            <a:r>
              <a:rPr sz="2150" spc="-25"/>
              <a:t> </a:t>
            </a:r>
            <a:r>
              <a:rPr sz="2150" spc="-20"/>
              <a:t>Tips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42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36675"/>
            <a:ext cx="10376535" cy="53086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latest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Put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beginning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###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"""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separate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6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specific,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descriptive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possible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context,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outcome,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length,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format,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style,</a:t>
            </a:r>
            <a:r>
              <a:rPr sz="16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etc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Reduce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“fluffy”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imprecise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descriptions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context: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question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Articulate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(example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1,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2).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sample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answers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show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you're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looking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for.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(Few-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shot)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Iterative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approach: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hesitate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iterate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Experiment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phrasings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endParaRPr sz="1600">
              <a:latin typeface="Segoe UI"/>
              <a:cs typeface="Segoe UI"/>
            </a:endParaRPr>
          </a:p>
          <a:p>
            <a:pPr marL="424180">
              <a:lnSpc>
                <a:spcPct val="100000"/>
              </a:lnSpc>
              <a:spcBef>
                <a:spcPts val="685"/>
              </a:spcBef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structures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see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ones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yield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best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results.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 startAt="9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just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saying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do,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say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do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endParaRPr sz="1600">
              <a:latin typeface="Segoe UI"/>
              <a:cs typeface="Segoe UI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AutoNum type="arabicPeriod" startAt="9"/>
              <a:tabLst>
                <a:tab pos="478790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“leading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words”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nudge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toward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pattern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Clr>
                <a:srgbClr val="333333"/>
              </a:buClr>
              <a:buFont typeface="Segoe UI"/>
              <a:buAutoNum type="arabicPeriod" startAt="9"/>
            </a:pP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Resource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70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https://www.promptingguide.ai/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85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https://llmnanban.akmmusai.pro/Introductory/What-is-a-prompt/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85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https://help.openai.com/en/articles/6654000-best-practices-for-prompt-engineering-with-</a:t>
            </a:r>
            <a:r>
              <a:rPr sz="1600" u="sng" spc="-2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openai-</a:t>
            </a:r>
            <a:r>
              <a:rPr sz="1600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api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20036" y="2291537"/>
            <a:ext cx="8551545" cy="205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5475"/>
              </a:lnSpc>
              <a:spcBef>
                <a:spcPts val="100"/>
              </a:spcBef>
            </a:pP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Beyond</a:t>
            </a:r>
            <a:r>
              <a:rPr sz="4800" b="0" spc="-3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Gen</a:t>
            </a:r>
            <a:r>
              <a:rPr sz="4800" b="0" spc="-3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r>
              <a:rPr sz="4800" b="0" spc="-3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 spc="-10">
                <a:solidFill>
                  <a:srgbClr val="000000"/>
                </a:solidFill>
                <a:latin typeface="Segoe UI"/>
                <a:cs typeface="Segoe UI"/>
              </a:rPr>
              <a:t>Tools:</a:t>
            </a:r>
            <a:endParaRPr sz="4800">
              <a:latin typeface="Segoe UI"/>
              <a:cs typeface="Segoe UI"/>
            </a:endParaRPr>
          </a:p>
          <a:p>
            <a:pPr marL="12700" marR="5080" algn="ctr">
              <a:lnSpc>
                <a:spcPts val="5050"/>
              </a:lnSpc>
              <a:spcBef>
                <a:spcPts val="475"/>
              </a:spcBef>
            </a:pP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The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Future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of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r>
              <a:rPr sz="4800" b="0" spc="-12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 spc="-25">
                <a:solidFill>
                  <a:srgbClr val="000000"/>
                </a:solidFill>
                <a:latin typeface="Segoe UI"/>
                <a:cs typeface="Segoe UI"/>
              </a:rPr>
              <a:t>and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Emerging</a:t>
            </a:r>
            <a:r>
              <a:rPr sz="4800" b="0" spc="-17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 spc="-10">
                <a:solidFill>
                  <a:srgbClr val="000000"/>
                </a:solidFill>
                <a:latin typeface="Segoe UI"/>
                <a:cs typeface="Segoe UI"/>
              </a:rPr>
              <a:t>Technologies</a:t>
            </a:r>
            <a:endParaRPr sz="48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10"/>
              <a:t>Multimodal</a:t>
            </a:r>
            <a:r>
              <a:rPr sz="2400" spc="-70"/>
              <a:t> </a:t>
            </a:r>
            <a:r>
              <a:rPr sz="2400" spc="-25"/>
              <a:t>AI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98956" y="983589"/>
            <a:ext cx="10194290" cy="290703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AI?</a:t>
            </a:r>
            <a:endParaRPr sz="1400">
              <a:latin typeface="Segoe UI"/>
              <a:cs typeface="Segoe UI"/>
            </a:endParaRPr>
          </a:p>
          <a:p>
            <a:pPr marL="12700" marR="9525">
              <a:lnSpc>
                <a:spcPct val="150000"/>
              </a:lnSpc>
              <a:spcBef>
                <a:spcPts val="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refers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systems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"modalities,"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audio,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video,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more.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traditional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focus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AI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integrates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4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richer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comprehensive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4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world.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Matters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represents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next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evolution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combining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forms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interactive,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dynamic,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contextually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systems.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technology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advances,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industries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healthcare,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entertainment,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marketing,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intuitive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human-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interactions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machines.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7231" y="3828313"/>
            <a:ext cx="3554729" cy="23698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44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71013" y="2340990"/>
            <a:ext cx="6652259" cy="191262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19835" marR="5080" indent="-1207770">
              <a:lnSpc>
                <a:spcPts val="6940"/>
              </a:lnSpc>
              <a:spcBef>
                <a:spcPts val="1145"/>
              </a:spcBef>
            </a:pPr>
            <a:r>
              <a:rPr sz="6600">
                <a:solidFill>
                  <a:srgbClr val="000000"/>
                </a:solidFill>
              </a:rPr>
              <a:t>Data</a:t>
            </a:r>
            <a:r>
              <a:rPr sz="6600" spc="-50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privacy</a:t>
            </a:r>
            <a:r>
              <a:rPr sz="6600" spc="-50">
                <a:solidFill>
                  <a:srgbClr val="000000"/>
                </a:solidFill>
              </a:rPr>
              <a:t> </a:t>
            </a:r>
            <a:r>
              <a:rPr sz="6600" spc="-25">
                <a:solidFill>
                  <a:srgbClr val="000000"/>
                </a:solidFill>
              </a:rPr>
              <a:t>and </a:t>
            </a:r>
            <a:r>
              <a:rPr sz="6600" spc="-10">
                <a:solidFill>
                  <a:srgbClr val="000000"/>
                </a:solidFill>
              </a:rPr>
              <a:t>limitations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5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Data</a:t>
            </a:r>
            <a:r>
              <a:rPr spc="40"/>
              <a:t> </a:t>
            </a:r>
            <a:r>
              <a:t>security</a:t>
            </a:r>
            <a:r>
              <a:rPr spc="40"/>
              <a:t> </a:t>
            </a:r>
            <a:r>
              <a:t>and</a:t>
            </a:r>
            <a:r>
              <a:rPr spc="45"/>
              <a:t> </a:t>
            </a:r>
            <a:r>
              <a:t>privacy</a:t>
            </a:r>
            <a:r>
              <a:rPr spc="50"/>
              <a:t> </a:t>
            </a:r>
            <a:r>
              <a:t>guidelines</a:t>
            </a:r>
            <a:r>
              <a:rPr spc="40"/>
              <a:t> </a:t>
            </a:r>
            <a:r>
              <a:t>for</a:t>
            </a:r>
            <a:r>
              <a:rPr spc="40"/>
              <a:t> </a:t>
            </a:r>
            <a:r>
              <a:t>using</a:t>
            </a:r>
            <a:r>
              <a:rPr spc="30"/>
              <a:t> </a:t>
            </a:r>
            <a:r>
              <a:t>AI</a:t>
            </a:r>
            <a:r>
              <a:rPr spc="55"/>
              <a:t> </a:t>
            </a:r>
            <a:r>
              <a:rPr spc="-10"/>
              <a:t>tools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587" y="1134872"/>
            <a:ext cx="10526395" cy="437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Rules</a:t>
            </a:r>
            <a:r>
              <a:rPr sz="1650" b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b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65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650" b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650" b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spc="-10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ts val="2020"/>
              </a:lnSpc>
              <a:spcBef>
                <a:spcPts val="7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mindful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b="1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share:</a:t>
            </a:r>
            <a:r>
              <a:rPr sz="1650" b="1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29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submit</a:t>
            </a:r>
            <a:r>
              <a:rPr sz="1650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training,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store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limit</a:t>
            </a:r>
            <a:r>
              <a:rPr sz="1650" spc="2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share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2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2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229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personal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company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confidential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355600" marR="5080" indent="-342900" algn="just">
              <a:lnSpc>
                <a:spcPct val="101800"/>
              </a:lnSpc>
              <a:spcBef>
                <a:spcPts val="1935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50" b="1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trust</a:t>
            </a:r>
            <a:r>
              <a:rPr sz="1650" b="1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b="1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blindly:</a:t>
            </a:r>
            <a:r>
              <a:rPr sz="1650" b="1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correct.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receive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incorrect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ChatGPT,</a:t>
            </a:r>
            <a:r>
              <a:rPr sz="16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were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you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double-check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it.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ct val="101800"/>
              </a:lnSpc>
              <a:spcBef>
                <a:spcPts val="202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limitations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perfect,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mistakes,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be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biased,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much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limitations.</a:t>
            </a:r>
            <a:endParaRPr sz="1650">
              <a:latin typeface="Segoe UI"/>
              <a:cs typeface="Segoe UI"/>
            </a:endParaRPr>
          </a:p>
          <a:p>
            <a:pPr marL="355600" marR="7620" indent="-342900" algn="just">
              <a:lnSpc>
                <a:spcPct val="101800"/>
              </a:lnSpc>
              <a:spcBef>
                <a:spcPts val="2014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Read</a:t>
            </a:r>
            <a:r>
              <a:rPr sz="1650" b="1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terms</a:t>
            </a:r>
            <a:r>
              <a:rPr sz="1650" b="1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b="1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b="1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privacy</a:t>
            </a:r>
            <a:r>
              <a:rPr sz="1650" b="1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policy</a:t>
            </a:r>
            <a:r>
              <a:rPr sz="1650" b="1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carefully:</a:t>
            </a:r>
            <a:r>
              <a:rPr sz="1650" b="1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6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will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used.</a:t>
            </a:r>
            <a:endParaRPr sz="1650">
              <a:latin typeface="Segoe UI"/>
              <a:cs typeface="Segoe UI"/>
            </a:endParaRPr>
          </a:p>
          <a:p>
            <a:pPr marL="355600" marR="5715" indent="-342900" algn="just">
              <a:lnSpc>
                <a:spcPct val="101800"/>
              </a:lnSpc>
              <a:spcBef>
                <a:spcPts val="202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b="1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3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b="1" spc="3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reputable</a:t>
            </a:r>
            <a:r>
              <a:rPr sz="1650" b="1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companies:</a:t>
            </a:r>
            <a:r>
              <a:rPr sz="1650" b="1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companies</a:t>
            </a:r>
            <a:r>
              <a:rPr sz="1650" spc="3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likely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safeguards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place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protect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66925" y="2340990"/>
            <a:ext cx="8057515" cy="191262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15390" marR="5080" indent="-1203325">
              <a:lnSpc>
                <a:spcPts val="6940"/>
              </a:lnSpc>
              <a:spcBef>
                <a:spcPts val="1145"/>
              </a:spcBef>
            </a:pPr>
            <a:r>
              <a:rPr sz="6600">
                <a:solidFill>
                  <a:srgbClr val="000000"/>
                </a:solidFill>
              </a:rPr>
              <a:t>Use</a:t>
            </a:r>
            <a:r>
              <a:rPr sz="6600" spc="-45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cases</a:t>
            </a:r>
            <a:r>
              <a:rPr sz="6600" spc="-40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in</a:t>
            </a:r>
            <a:r>
              <a:rPr sz="6600" spc="-40">
                <a:solidFill>
                  <a:srgbClr val="000000"/>
                </a:solidFill>
              </a:rPr>
              <a:t> </a:t>
            </a:r>
            <a:r>
              <a:rPr sz="6600" spc="-10">
                <a:solidFill>
                  <a:srgbClr val="000000"/>
                </a:solidFill>
              </a:rPr>
              <a:t>training </a:t>
            </a:r>
            <a:r>
              <a:rPr sz="6600">
                <a:solidFill>
                  <a:srgbClr val="000000"/>
                </a:solidFill>
              </a:rPr>
              <a:t>and</a:t>
            </a:r>
            <a:r>
              <a:rPr sz="6600" spc="-20">
                <a:solidFill>
                  <a:srgbClr val="000000"/>
                </a:solidFill>
              </a:rPr>
              <a:t> </a:t>
            </a:r>
            <a:r>
              <a:rPr sz="6600" spc="-10">
                <a:solidFill>
                  <a:srgbClr val="000000"/>
                </a:solidFill>
              </a:rPr>
              <a:t>education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44144"/>
            <a:ext cx="71945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>
                <a:solidFill>
                  <a:srgbClr val="000000"/>
                </a:solidFill>
                <a:latin typeface="Arial"/>
                <a:cs typeface="Arial"/>
              </a:rPr>
              <a:t>Use</a:t>
            </a:r>
            <a:r>
              <a:rPr sz="5400" b="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>
                <a:solidFill>
                  <a:srgbClr val="000000"/>
                </a:solidFill>
                <a:latin typeface="Arial"/>
                <a:cs typeface="Arial"/>
              </a:rPr>
              <a:t>cases</a:t>
            </a:r>
            <a:r>
              <a:rPr sz="5400" b="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5400" b="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 spc="-10">
                <a:solidFill>
                  <a:srgbClr val="000000"/>
                </a:solidFill>
                <a:latin typeface="Arial"/>
                <a:cs typeface="Arial"/>
              </a:rPr>
              <a:t>Education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4083" y="1635308"/>
            <a:ext cx="11934711" cy="99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5687" y="1742444"/>
            <a:ext cx="10419080" cy="38862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Creating</a:t>
            </a:r>
            <a:r>
              <a:rPr sz="1800" spc="-4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learning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plans,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learning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paths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content.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  <a:tab pos="3085465" algn="l"/>
              </a:tabLst>
            </a:pPr>
            <a:r>
              <a:rPr sz="1800" spc="-10">
                <a:latin typeface="Arial"/>
                <a:cs typeface="Arial"/>
              </a:rPr>
              <a:t>Self-</a:t>
            </a:r>
            <a:r>
              <a:rPr sz="1800">
                <a:latin typeface="Arial"/>
                <a:cs typeface="Arial"/>
              </a:rPr>
              <a:t>assessment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exercises</a:t>
            </a:r>
            <a:r>
              <a:rPr sz="1800">
                <a:latin typeface="Arial"/>
                <a:cs typeface="Arial"/>
              </a:rPr>
              <a:t>	enabling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students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to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assess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their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comprehension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of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the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studies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topics.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Generating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questions,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exams,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interview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questions,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quizzes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assignments.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Answering</a:t>
            </a:r>
            <a:r>
              <a:rPr sz="1800" spc="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trainees’</a:t>
            </a:r>
            <a:r>
              <a:rPr sz="1800" spc="-8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questions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act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virtual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mentor.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Language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learning,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translation,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conversational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practice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25">
                <a:latin typeface="Arial"/>
                <a:cs typeface="Arial"/>
              </a:rPr>
              <a:t> real-</a:t>
            </a:r>
            <a:r>
              <a:rPr sz="1800">
                <a:latin typeface="Arial"/>
                <a:cs typeface="Arial"/>
              </a:rPr>
              <a:t>time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language</a:t>
            </a:r>
            <a:r>
              <a:rPr sz="1800" spc="-10">
                <a:latin typeface="Arial"/>
                <a:cs typeface="Arial"/>
              </a:rPr>
              <a:t> feedback.</a:t>
            </a:r>
            <a:endParaRPr sz="1800">
              <a:latin typeface="Arial"/>
              <a:cs typeface="Arial"/>
            </a:endParaRPr>
          </a:p>
          <a:p>
            <a:pPr marL="241300" marR="5080" indent="-228600">
              <a:lnSpc>
                <a:spcPts val="1939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sz="1800">
                <a:latin typeface="Arial"/>
                <a:cs typeface="Arial"/>
              </a:rPr>
              <a:t>Simplified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Explanation</a:t>
            </a:r>
            <a:r>
              <a:rPr sz="1800" spc="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explaining</a:t>
            </a:r>
            <a:r>
              <a:rPr sz="1800" spc="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complex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topics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very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easy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way customized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for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students’</a:t>
            </a:r>
            <a:r>
              <a:rPr sz="1800" spc="-80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level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background.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Finding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fixing</a:t>
            </a:r>
            <a:r>
              <a:rPr sz="1800" spc="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errors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bugs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</a:t>
            </a:r>
            <a:r>
              <a:rPr sz="1800" spc="-10">
                <a:latin typeface="Arial"/>
                <a:cs typeface="Arial"/>
              </a:rPr>
              <a:t> trainees’</a:t>
            </a:r>
            <a:r>
              <a:rPr sz="1800" spc="-75">
                <a:latin typeface="Arial"/>
                <a:cs typeface="Arial"/>
              </a:rPr>
              <a:t> </a:t>
            </a:r>
            <a:r>
              <a:rPr sz="1800" spc="-20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ts val="2050"/>
              </a:lnSpc>
              <a:spcBef>
                <a:spcPts val="78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Arial"/>
                <a:cs typeface="Arial"/>
              </a:rPr>
              <a:t>In</a:t>
            </a:r>
            <a:r>
              <a:rPr sz="1800" b="1" spc="-3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Soft</a:t>
            </a:r>
            <a:r>
              <a:rPr sz="1800" b="1" spc="-4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skills</a:t>
            </a:r>
            <a:r>
              <a:rPr sz="1800">
                <a:latin typeface="Arial"/>
                <a:cs typeface="Arial"/>
              </a:rPr>
              <a:t>: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Practicing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communication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skills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by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acting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as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conversation</a:t>
            </a:r>
            <a:r>
              <a:rPr sz="1800" spc="-10">
                <a:latin typeface="Arial"/>
                <a:cs typeface="Arial"/>
              </a:rPr>
              <a:t> partner,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practicing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ts val="2050"/>
              </a:lnSpc>
            </a:pPr>
            <a:r>
              <a:rPr sz="1800">
                <a:latin typeface="Arial"/>
                <a:cs typeface="Arial"/>
              </a:rPr>
              <a:t>interviewing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skills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by</a:t>
            </a:r>
            <a:r>
              <a:rPr sz="1800" spc="-5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simulating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interviews,</a:t>
            </a:r>
            <a:r>
              <a:rPr sz="1800" spc="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4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creating</a:t>
            </a:r>
            <a:r>
              <a:rPr sz="1800" spc="-40">
                <a:latin typeface="Arial"/>
                <a:cs typeface="Arial"/>
              </a:rPr>
              <a:t> </a:t>
            </a:r>
            <a:r>
              <a:rPr sz="1800" spc="-20">
                <a:latin typeface="Arial"/>
                <a:cs typeface="Arial"/>
              </a:rPr>
              <a:t>CVs.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Arial"/>
                <a:cs typeface="Arial"/>
              </a:rPr>
              <a:t>In</a:t>
            </a:r>
            <a:r>
              <a:rPr sz="1800" b="1" spc="-3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Freelancing:</a:t>
            </a:r>
            <a:r>
              <a:rPr sz="1800" b="1" spc="-5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Help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creating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profiles,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writing</a:t>
            </a:r>
            <a:r>
              <a:rPr sz="1800" spc="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good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proposals,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for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conversations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with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clients.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1275029"/>
            <a:ext cx="670179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/>
              <a:t>Use</a:t>
            </a:r>
            <a:r>
              <a:rPr sz="5000" spc="-30"/>
              <a:t> </a:t>
            </a:r>
            <a:r>
              <a:rPr sz="5000"/>
              <a:t>cases</a:t>
            </a:r>
            <a:r>
              <a:rPr sz="5000" spc="-25"/>
              <a:t> </a:t>
            </a:r>
            <a:r>
              <a:rPr sz="5000"/>
              <a:t>for</a:t>
            </a:r>
            <a:r>
              <a:rPr sz="5000" spc="-5"/>
              <a:t> </a:t>
            </a:r>
            <a:r>
              <a:rPr sz="5000" spc="-10"/>
              <a:t>learning:</a:t>
            </a:r>
            <a:endParaRPr sz="5000"/>
          </a:p>
        </p:txBody>
      </p:sp>
      <p:grpSp>
        <p:nvGrpSpPr>
          <p:cNvPr id="3" name="object 3"/>
          <p:cNvGrpSpPr/>
          <p:nvPr/>
        </p:nvGrpSpPr>
        <p:grpSpPr>
          <a:xfrm>
            <a:off x="738085" y="2354754"/>
            <a:ext cx="4286250" cy="87630"/>
            <a:chOff x="738085" y="2354754"/>
            <a:chExt cx="4286250" cy="87630"/>
          </a:xfrm>
        </p:grpSpPr>
        <p:sp>
          <p:nvSpPr>
            <p:cNvPr id="4" name="object 4"/>
            <p:cNvSpPr/>
            <p:nvPr/>
          </p:nvSpPr>
          <p:spPr>
            <a:xfrm>
              <a:off x="758494" y="2381923"/>
              <a:ext cx="4244340" cy="48895"/>
            </a:xfrm>
            <a:custGeom>
              <a:avLst/>
              <a:gdLst/>
              <a:ahLst/>
              <a:cxnLst/>
              <a:rect l="l" t="t" r="r" b="b"/>
              <a:pathLst>
                <a:path w="4244340" h="48894">
                  <a:moveTo>
                    <a:pt x="2873539" y="21932"/>
                  </a:moveTo>
                  <a:lnTo>
                    <a:pt x="2039537" y="21932"/>
                  </a:lnTo>
                  <a:lnTo>
                    <a:pt x="2085019" y="23184"/>
                  </a:lnTo>
                  <a:lnTo>
                    <a:pt x="2143910" y="26529"/>
                  </a:lnTo>
                  <a:lnTo>
                    <a:pt x="2143461" y="26529"/>
                  </a:lnTo>
                  <a:lnTo>
                    <a:pt x="2276896" y="37472"/>
                  </a:lnTo>
                  <a:lnTo>
                    <a:pt x="2334391" y="41695"/>
                  </a:lnTo>
                  <a:lnTo>
                    <a:pt x="2386667" y="44843"/>
                  </a:lnTo>
                  <a:lnTo>
                    <a:pt x="2434726" y="46998"/>
                  </a:lnTo>
                  <a:lnTo>
                    <a:pt x="2482766" y="48332"/>
                  </a:lnTo>
                  <a:lnTo>
                    <a:pt x="2522214" y="48660"/>
                  </a:lnTo>
                  <a:lnTo>
                    <a:pt x="2563650" y="48332"/>
                  </a:lnTo>
                  <a:lnTo>
                    <a:pt x="2604886" y="47340"/>
                  </a:lnTo>
                  <a:lnTo>
                    <a:pt x="2690772" y="43699"/>
                  </a:lnTo>
                  <a:lnTo>
                    <a:pt x="2966256" y="29332"/>
                  </a:lnTo>
                  <a:lnTo>
                    <a:pt x="3024445" y="27517"/>
                  </a:lnTo>
                  <a:lnTo>
                    <a:pt x="3079166" y="26529"/>
                  </a:lnTo>
                  <a:lnTo>
                    <a:pt x="3775656" y="26238"/>
                  </a:lnTo>
                  <a:lnTo>
                    <a:pt x="3791688" y="25615"/>
                  </a:lnTo>
                  <a:lnTo>
                    <a:pt x="3769668" y="25615"/>
                  </a:lnTo>
                  <a:lnTo>
                    <a:pt x="3692027" y="24829"/>
                  </a:lnTo>
                  <a:lnTo>
                    <a:pt x="3704108" y="24829"/>
                  </a:lnTo>
                  <a:lnTo>
                    <a:pt x="3661029" y="23820"/>
                  </a:lnTo>
                  <a:lnTo>
                    <a:pt x="3659157" y="23820"/>
                  </a:lnTo>
                  <a:lnTo>
                    <a:pt x="3620404" y="22367"/>
                  </a:lnTo>
                  <a:lnTo>
                    <a:pt x="2891716" y="22367"/>
                  </a:lnTo>
                  <a:lnTo>
                    <a:pt x="2873539" y="21932"/>
                  </a:lnTo>
                  <a:close/>
                </a:path>
                <a:path w="4244340" h="48894">
                  <a:moveTo>
                    <a:pt x="817076" y="1961"/>
                  </a:moveTo>
                  <a:lnTo>
                    <a:pt x="765176" y="1961"/>
                  </a:lnTo>
                  <a:lnTo>
                    <a:pt x="717894" y="3333"/>
                  </a:lnTo>
                  <a:lnTo>
                    <a:pt x="663566" y="5806"/>
                  </a:lnTo>
                  <a:lnTo>
                    <a:pt x="449188" y="17864"/>
                  </a:lnTo>
                  <a:lnTo>
                    <a:pt x="343065" y="22735"/>
                  </a:lnTo>
                  <a:lnTo>
                    <a:pt x="380506" y="24118"/>
                  </a:lnTo>
                  <a:lnTo>
                    <a:pt x="448038" y="27517"/>
                  </a:lnTo>
                  <a:lnTo>
                    <a:pt x="586977" y="36116"/>
                  </a:lnTo>
                  <a:lnTo>
                    <a:pt x="643719" y="38872"/>
                  </a:lnTo>
                  <a:lnTo>
                    <a:pt x="693904" y="40514"/>
                  </a:lnTo>
                  <a:lnTo>
                    <a:pt x="740596" y="41214"/>
                  </a:lnTo>
                  <a:lnTo>
                    <a:pt x="774555" y="41214"/>
                  </a:lnTo>
                  <a:lnTo>
                    <a:pt x="823966" y="40301"/>
                  </a:lnTo>
                  <a:lnTo>
                    <a:pt x="1342675" y="26529"/>
                  </a:lnTo>
                  <a:lnTo>
                    <a:pt x="1340364" y="26529"/>
                  </a:lnTo>
                  <a:lnTo>
                    <a:pt x="1389522" y="25900"/>
                  </a:lnTo>
                  <a:lnTo>
                    <a:pt x="1383678" y="25900"/>
                  </a:lnTo>
                  <a:lnTo>
                    <a:pt x="1704724" y="25615"/>
                  </a:lnTo>
                  <a:lnTo>
                    <a:pt x="1657482" y="24599"/>
                  </a:lnTo>
                  <a:lnTo>
                    <a:pt x="1655911" y="24599"/>
                  </a:lnTo>
                  <a:lnTo>
                    <a:pt x="1609138" y="22367"/>
                  </a:lnTo>
                  <a:lnTo>
                    <a:pt x="1564957" y="18851"/>
                  </a:lnTo>
                  <a:lnTo>
                    <a:pt x="1559829" y="18248"/>
                  </a:lnTo>
                  <a:lnTo>
                    <a:pt x="1111238" y="18248"/>
                  </a:lnTo>
                  <a:lnTo>
                    <a:pt x="1060218" y="17464"/>
                  </a:lnTo>
                  <a:lnTo>
                    <a:pt x="1056913" y="17464"/>
                  </a:lnTo>
                  <a:lnTo>
                    <a:pt x="1000709" y="13804"/>
                  </a:lnTo>
                  <a:lnTo>
                    <a:pt x="943737" y="8732"/>
                  </a:lnTo>
                  <a:lnTo>
                    <a:pt x="894692" y="5075"/>
                  </a:lnTo>
                  <a:lnTo>
                    <a:pt x="850581" y="2769"/>
                  </a:lnTo>
                  <a:lnTo>
                    <a:pt x="817076" y="1961"/>
                  </a:lnTo>
                  <a:close/>
                </a:path>
                <a:path w="4244340" h="48894">
                  <a:moveTo>
                    <a:pt x="2660132" y="1961"/>
                  </a:moveTo>
                  <a:lnTo>
                    <a:pt x="2453809" y="1961"/>
                  </a:lnTo>
                  <a:lnTo>
                    <a:pt x="1848124" y="23501"/>
                  </a:lnTo>
                  <a:lnTo>
                    <a:pt x="1847536" y="23501"/>
                  </a:lnTo>
                  <a:lnTo>
                    <a:pt x="1798355" y="24829"/>
                  </a:lnTo>
                  <a:lnTo>
                    <a:pt x="1746885" y="25615"/>
                  </a:lnTo>
                  <a:lnTo>
                    <a:pt x="1537508" y="25900"/>
                  </a:lnTo>
                  <a:lnTo>
                    <a:pt x="1536612" y="25900"/>
                  </a:lnTo>
                  <a:lnTo>
                    <a:pt x="1631616" y="27964"/>
                  </a:lnTo>
                  <a:lnTo>
                    <a:pt x="1786547" y="33959"/>
                  </a:lnTo>
                  <a:lnTo>
                    <a:pt x="1828712" y="34120"/>
                  </a:lnTo>
                  <a:lnTo>
                    <a:pt x="1863116" y="32985"/>
                  </a:lnTo>
                  <a:lnTo>
                    <a:pt x="1892122" y="30963"/>
                  </a:lnTo>
                  <a:lnTo>
                    <a:pt x="1943382" y="25900"/>
                  </a:lnTo>
                  <a:lnTo>
                    <a:pt x="1968656" y="23820"/>
                  </a:lnTo>
                  <a:lnTo>
                    <a:pt x="1967393" y="23820"/>
                  </a:lnTo>
                  <a:lnTo>
                    <a:pt x="1998137" y="22367"/>
                  </a:lnTo>
                  <a:lnTo>
                    <a:pt x="1982367" y="22367"/>
                  </a:lnTo>
                  <a:lnTo>
                    <a:pt x="2873539" y="21932"/>
                  </a:lnTo>
                  <a:lnTo>
                    <a:pt x="2846693" y="21288"/>
                  </a:lnTo>
                  <a:lnTo>
                    <a:pt x="2811047" y="18610"/>
                  </a:lnTo>
                  <a:lnTo>
                    <a:pt x="2739271" y="8214"/>
                  </a:lnTo>
                  <a:lnTo>
                    <a:pt x="2698421" y="4220"/>
                  </a:lnTo>
                  <a:lnTo>
                    <a:pt x="2660132" y="1961"/>
                  </a:lnTo>
                  <a:close/>
                </a:path>
                <a:path w="4244340" h="48894">
                  <a:moveTo>
                    <a:pt x="3749028" y="27266"/>
                  </a:moveTo>
                  <a:lnTo>
                    <a:pt x="3229987" y="27266"/>
                  </a:lnTo>
                  <a:lnTo>
                    <a:pt x="3277566" y="28294"/>
                  </a:lnTo>
                  <a:lnTo>
                    <a:pt x="3276788" y="28294"/>
                  </a:lnTo>
                  <a:lnTo>
                    <a:pt x="3497425" y="32845"/>
                  </a:lnTo>
                  <a:lnTo>
                    <a:pt x="3541283" y="32845"/>
                  </a:lnTo>
                  <a:lnTo>
                    <a:pt x="3595446" y="32092"/>
                  </a:lnTo>
                  <a:lnTo>
                    <a:pt x="3749028" y="27266"/>
                  </a:lnTo>
                  <a:close/>
                </a:path>
                <a:path w="4244340" h="48894">
                  <a:moveTo>
                    <a:pt x="457" y="13804"/>
                  </a:moveTo>
                  <a:lnTo>
                    <a:pt x="340" y="15876"/>
                  </a:lnTo>
                  <a:lnTo>
                    <a:pt x="228" y="17864"/>
                  </a:lnTo>
                  <a:lnTo>
                    <a:pt x="107" y="20027"/>
                  </a:lnTo>
                  <a:lnTo>
                    <a:pt x="0" y="21932"/>
                  </a:lnTo>
                  <a:lnTo>
                    <a:pt x="1219" y="24599"/>
                  </a:lnTo>
                  <a:lnTo>
                    <a:pt x="1150" y="25270"/>
                  </a:lnTo>
                  <a:lnTo>
                    <a:pt x="1052" y="26238"/>
                  </a:lnTo>
                  <a:lnTo>
                    <a:pt x="947" y="27266"/>
                  </a:lnTo>
                  <a:lnTo>
                    <a:pt x="877" y="27964"/>
                  </a:lnTo>
                  <a:lnTo>
                    <a:pt x="771" y="29005"/>
                  </a:lnTo>
                  <a:lnTo>
                    <a:pt x="695" y="29748"/>
                  </a:lnTo>
                  <a:lnTo>
                    <a:pt x="572" y="30963"/>
                  </a:lnTo>
                  <a:lnTo>
                    <a:pt x="457" y="32092"/>
                  </a:lnTo>
                  <a:lnTo>
                    <a:pt x="36745" y="28294"/>
                  </a:lnTo>
                  <a:lnTo>
                    <a:pt x="36572" y="28294"/>
                  </a:lnTo>
                  <a:lnTo>
                    <a:pt x="73738" y="25270"/>
                  </a:lnTo>
                  <a:lnTo>
                    <a:pt x="72747" y="25270"/>
                  </a:lnTo>
                  <a:lnTo>
                    <a:pt x="111347" y="23028"/>
                  </a:lnTo>
                  <a:lnTo>
                    <a:pt x="85902" y="21646"/>
                  </a:lnTo>
                  <a:lnTo>
                    <a:pt x="43094" y="18248"/>
                  </a:lnTo>
                  <a:lnTo>
                    <a:pt x="457" y="13804"/>
                  </a:lnTo>
                  <a:close/>
                </a:path>
                <a:path w="4244340" h="48894">
                  <a:moveTo>
                    <a:pt x="4244035" y="13804"/>
                  </a:moveTo>
                  <a:lnTo>
                    <a:pt x="4198922" y="14646"/>
                  </a:lnTo>
                  <a:lnTo>
                    <a:pt x="4106081" y="17464"/>
                  </a:lnTo>
                  <a:lnTo>
                    <a:pt x="4106315" y="17464"/>
                  </a:lnTo>
                  <a:lnTo>
                    <a:pt x="4024554" y="20442"/>
                  </a:lnTo>
                  <a:lnTo>
                    <a:pt x="4044829" y="20442"/>
                  </a:lnTo>
                  <a:lnTo>
                    <a:pt x="4095306" y="21646"/>
                  </a:lnTo>
                  <a:lnTo>
                    <a:pt x="4094362" y="21646"/>
                  </a:lnTo>
                  <a:lnTo>
                    <a:pt x="4142485" y="23820"/>
                  </a:lnTo>
                  <a:lnTo>
                    <a:pt x="4192638" y="27266"/>
                  </a:lnTo>
                  <a:lnTo>
                    <a:pt x="4244035" y="32092"/>
                  </a:lnTo>
                  <a:lnTo>
                    <a:pt x="4244035" y="13804"/>
                  </a:lnTo>
                  <a:close/>
                </a:path>
                <a:path w="4244340" h="48894">
                  <a:moveTo>
                    <a:pt x="3775656" y="26238"/>
                  </a:moveTo>
                  <a:lnTo>
                    <a:pt x="3130737" y="26238"/>
                  </a:lnTo>
                  <a:lnTo>
                    <a:pt x="3184091" y="26529"/>
                  </a:lnTo>
                  <a:lnTo>
                    <a:pt x="3181402" y="26529"/>
                  </a:lnTo>
                  <a:lnTo>
                    <a:pt x="3231413" y="27266"/>
                  </a:lnTo>
                  <a:lnTo>
                    <a:pt x="3749210" y="27266"/>
                  </a:lnTo>
                  <a:lnTo>
                    <a:pt x="3775656" y="26238"/>
                  </a:lnTo>
                  <a:close/>
                </a:path>
                <a:path w="4244340" h="48894">
                  <a:moveTo>
                    <a:pt x="224853" y="20442"/>
                  </a:moveTo>
                  <a:lnTo>
                    <a:pt x="205433" y="20442"/>
                  </a:lnTo>
                  <a:lnTo>
                    <a:pt x="160312" y="21107"/>
                  </a:lnTo>
                  <a:lnTo>
                    <a:pt x="161285" y="21107"/>
                  </a:lnTo>
                  <a:lnTo>
                    <a:pt x="115640" y="22735"/>
                  </a:lnTo>
                  <a:lnTo>
                    <a:pt x="116385" y="22735"/>
                  </a:lnTo>
                  <a:lnTo>
                    <a:pt x="111347" y="23028"/>
                  </a:lnTo>
                  <a:lnTo>
                    <a:pt x="128298" y="23949"/>
                  </a:lnTo>
                  <a:lnTo>
                    <a:pt x="172694" y="25270"/>
                  </a:lnTo>
                  <a:lnTo>
                    <a:pt x="219505" y="25615"/>
                  </a:lnTo>
                  <a:lnTo>
                    <a:pt x="285124" y="24829"/>
                  </a:lnTo>
                  <a:lnTo>
                    <a:pt x="276306" y="24829"/>
                  </a:lnTo>
                  <a:lnTo>
                    <a:pt x="324029" y="23501"/>
                  </a:lnTo>
                  <a:lnTo>
                    <a:pt x="343065" y="22735"/>
                  </a:lnTo>
                  <a:lnTo>
                    <a:pt x="321299" y="21932"/>
                  </a:lnTo>
                  <a:lnTo>
                    <a:pt x="323157" y="21932"/>
                  </a:lnTo>
                  <a:lnTo>
                    <a:pt x="267122" y="20718"/>
                  </a:lnTo>
                  <a:lnTo>
                    <a:pt x="287078" y="20718"/>
                  </a:lnTo>
                  <a:lnTo>
                    <a:pt x="224853" y="20442"/>
                  </a:lnTo>
                  <a:close/>
                </a:path>
                <a:path w="4244340" h="48894">
                  <a:moveTo>
                    <a:pt x="3996783" y="20195"/>
                  </a:moveTo>
                  <a:lnTo>
                    <a:pt x="3947197" y="20718"/>
                  </a:lnTo>
                  <a:lnTo>
                    <a:pt x="3948115" y="20718"/>
                  </a:lnTo>
                  <a:lnTo>
                    <a:pt x="3895156" y="21932"/>
                  </a:lnTo>
                  <a:lnTo>
                    <a:pt x="3896760" y="21932"/>
                  </a:lnTo>
                  <a:lnTo>
                    <a:pt x="3857356" y="23184"/>
                  </a:lnTo>
                  <a:lnTo>
                    <a:pt x="3856665" y="23184"/>
                  </a:lnTo>
                  <a:lnTo>
                    <a:pt x="3800407" y="25270"/>
                  </a:lnTo>
                  <a:lnTo>
                    <a:pt x="3800549" y="25270"/>
                  </a:lnTo>
                  <a:lnTo>
                    <a:pt x="3791688" y="25615"/>
                  </a:lnTo>
                  <a:lnTo>
                    <a:pt x="3811519" y="25615"/>
                  </a:lnTo>
                  <a:lnTo>
                    <a:pt x="3917913" y="23820"/>
                  </a:lnTo>
                  <a:lnTo>
                    <a:pt x="3918857" y="23820"/>
                  </a:lnTo>
                  <a:lnTo>
                    <a:pt x="3968507" y="22367"/>
                  </a:lnTo>
                  <a:lnTo>
                    <a:pt x="4024554" y="20442"/>
                  </a:lnTo>
                  <a:lnTo>
                    <a:pt x="4044829" y="20442"/>
                  </a:lnTo>
                  <a:lnTo>
                    <a:pt x="3996783" y="20195"/>
                  </a:lnTo>
                  <a:close/>
                </a:path>
                <a:path w="4244340" h="48894">
                  <a:moveTo>
                    <a:pt x="3270025" y="6899"/>
                  </a:moveTo>
                  <a:lnTo>
                    <a:pt x="3211426" y="7750"/>
                  </a:lnTo>
                  <a:lnTo>
                    <a:pt x="3156194" y="9599"/>
                  </a:lnTo>
                  <a:lnTo>
                    <a:pt x="3102048" y="12197"/>
                  </a:lnTo>
                  <a:lnTo>
                    <a:pt x="3102378" y="12197"/>
                  </a:lnTo>
                  <a:lnTo>
                    <a:pt x="2964696" y="20027"/>
                  </a:lnTo>
                  <a:lnTo>
                    <a:pt x="2923390" y="21646"/>
                  </a:lnTo>
                  <a:lnTo>
                    <a:pt x="2870691" y="22367"/>
                  </a:lnTo>
                  <a:lnTo>
                    <a:pt x="3620404" y="22367"/>
                  </a:lnTo>
                  <a:lnTo>
                    <a:pt x="3596240" y="21461"/>
                  </a:lnTo>
                  <a:lnTo>
                    <a:pt x="3534566" y="18248"/>
                  </a:lnTo>
                  <a:lnTo>
                    <a:pt x="3534364" y="18248"/>
                  </a:lnTo>
                  <a:lnTo>
                    <a:pt x="3398481" y="9599"/>
                  </a:lnTo>
                  <a:lnTo>
                    <a:pt x="3398760" y="9599"/>
                  </a:lnTo>
                  <a:lnTo>
                    <a:pt x="3332195" y="7392"/>
                  </a:lnTo>
                  <a:lnTo>
                    <a:pt x="3270025" y="6899"/>
                  </a:lnTo>
                  <a:close/>
                </a:path>
                <a:path w="4244340" h="48894">
                  <a:moveTo>
                    <a:pt x="1473010" y="8732"/>
                  </a:moveTo>
                  <a:lnTo>
                    <a:pt x="1317809" y="8732"/>
                  </a:lnTo>
                  <a:lnTo>
                    <a:pt x="1214221" y="14646"/>
                  </a:lnTo>
                  <a:lnTo>
                    <a:pt x="1213845" y="14646"/>
                  </a:lnTo>
                  <a:lnTo>
                    <a:pt x="1163307" y="17036"/>
                  </a:lnTo>
                  <a:lnTo>
                    <a:pt x="1109231" y="18248"/>
                  </a:lnTo>
                  <a:lnTo>
                    <a:pt x="1559829" y="18248"/>
                  </a:lnTo>
                  <a:lnTo>
                    <a:pt x="1522044" y="13804"/>
                  </a:lnTo>
                  <a:lnTo>
                    <a:pt x="1473010" y="8732"/>
                  </a:lnTo>
                  <a:close/>
                </a:path>
                <a:path w="4244340" h="48894">
                  <a:moveTo>
                    <a:pt x="1420752" y="6452"/>
                  </a:moveTo>
                  <a:lnTo>
                    <a:pt x="1370006" y="6731"/>
                  </a:lnTo>
                  <a:lnTo>
                    <a:pt x="1317246" y="8732"/>
                  </a:lnTo>
                  <a:lnTo>
                    <a:pt x="1475411" y="8732"/>
                  </a:lnTo>
                  <a:lnTo>
                    <a:pt x="1420752" y="6452"/>
                  </a:lnTo>
                  <a:close/>
                </a:path>
                <a:path w="4244340" h="48894">
                  <a:moveTo>
                    <a:pt x="2559875" y="0"/>
                  </a:moveTo>
                  <a:lnTo>
                    <a:pt x="2509406" y="577"/>
                  </a:lnTo>
                  <a:lnTo>
                    <a:pt x="2452520" y="1961"/>
                  </a:lnTo>
                  <a:lnTo>
                    <a:pt x="2665720" y="1961"/>
                  </a:lnTo>
                  <a:lnTo>
                    <a:pt x="2608410" y="294"/>
                  </a:lnTo>
                  <a:lnTo>
                    <a:pt x="2559875" y="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8723" y="2375392"/>
              <a:ext cx="4244975" cy="46355"/>
            </a:xfrm>
            <a:custGeom>
              <a:avLst/>
              <a:gdLst/>
              <a:ahLst/>
              <a:cxnLst/>
              <a:rect l="l" t="t" r="r" b="b"/>
              <a:pathLst>
                <a:path w="4244975" h="46355">
                  <a:moveTo>
                    <a:pt x="228" y="20335"/>
                  </a:moveTo>
                  <a:lnTo>
                    <a:pt x="67209" y="14218"/>
                  </a:lnTo>
                  <a:lnTo>
                    <a:pt x="126968" y="9792"/>
                  </a:lnTo>
                  <a:lnTo>
                    <a:pt x="181124" y="6986"/>
                  </a:lnTo>
                  <a:lnTo>
                    <a:pt x="231298" y="5733"/>
                  </a:lnTo>
                  <a:lnTo>
                    <a:pt x="279110" y="5963"/>
                  </a:lnTo>
                  <a:lnTo>
                    <a:pt x="326181" y="7607"/>
                  </a:lnTo>
                  <a:lnTo>
                    <a:pt x="374130" y="10597"/>
                  </a:lnTo>
                  <a:lnTo>
                    <a:pt x="424578" y="14862"/>
                  </a:lnTo>
                  <a:lnTo>
                    <a:pt x="479145" y="20335"/>
                  </a:lnTo>
                  <a:lnTo>
                    <a:pt x="530795" y="24176"/>
                  </a:lnTo>
                  <a:lnTo>
                    <a:pt x="582622" y="25273"/>
                  </a:lnTo>
                  <a:lnTo>
                    <a:pt x="634246" y="24336"/>
                  </a:lnTo>
                  <a:lnTo>
                    <a:pt x="685287" y="22073"/>
                  </a:lnTo>
                  <a:lnTo>
                    <a:pt x="735368" y="19192"/>
                  </a:lnTo>
                  <a:lnTo>
                    <a:pt x="784107" y="16403"/>
                  </a:lnTo>
                  <a:lnTo>
                    <a:pt x="831125" y="14415"/>
                  </a:lnTo>
                  <a:lnTo>
                    <a:pt x="876043" y="13935"/>
                  </a:lnTo>
                  <a:lnTo>
                    <a:pt x="918482" y="15672"/>
                  </a:lnTo>
                  <a:lnTo>
                    <a:pt x="958062" y="20335"/>
                  </a:lnTo>
                  <a:lnTo>
                    <a:pt x="994802" y="25683"/>
                  </a:lnTo>
                  <a:lnTo>
                    <a:pt x="1035626" y="30120"/>
                  </a:lnTo>
                  <a:lnTo>
                    <a:pt x="1080140" y="33595"/>
                  </a:lnTo>
                  <a:lnTo>
                    <a:pt x="1127949" y="36053"/>
                  </a:lnTo>
                  <a:lnTo>
                    <a:pt x="1178661" y="37442"/>
                  </a:lnTo>
                  <a:lnTo>
                    <a:pt x="1231881" y="37708"/>
                  </a:lnTo>
                  <a:lnTo>
                    <a:pt x="1287215" y="36798"/>
                  </a:lnTo>
                  <a:lnTo>
                    <a:pt x="1344269" y="34659"/>
                  </a:lnTo>
                  <a:lnTo>
                    <a:pt x="1402650" y="31238"/>
                  </a:lnTo>
                  <a:lnTo>
                    <a:pt x="1461963" y="26481"/>
                  </a:lnTo>
                  <a:lnTo>
                    <a:pt x="1521815" y="20335"/>
                  </a:lnTo>
                  <a:lnTo>
                    <a:pt x="1569086" y="15276"/>
                  </a:lnTo>
                  <a:lnTo>
                    <a:pt x="1616636" y="10891"/>
                  </a:lnTo>
                  <a:lnTo>
                    <a:pt x="1664476" y="7208"/>
                  </a:lnTo>
                  <a:lnTo>
                    <a:pt x="1712617" y="4251"/>
                  </a:lnTo>
                  <a:lnTo>
                    <a:pt x="1761070" y="2047"/>
                  </a:lnTo>
                  <a:lnTo>
                    <a:pt x="1809844" y="621"/>
                  </a:lnTo>
                  <a:lnTo>
                    <a:pt x="1858952" y="0"/>
                  </a:lnTo>
                  <a:lnTo>
                    <a:pt x="1908405" y="208"/>
                  </a:lnTo>
                  <a:lnTo>
                    <a:pt x="1958212" y="1272"/>
                  </a:lnTo>
                  <a:lnTo>
                    <a:pt x="2008384" y="3218"/>
                  </a:lnTo>
                  <a:lnTo>
                    <a:pt x="2058934" y="6072"/>
                  </a:lnTo>
                  <a:lnTo>
                    <a:pt x="2109870" y="9858"/>
                  </a:lnTo>
                  <a:lnTo>
                    <a:pt x="2161205" y="14604"/>
                  </a:lnTo>
                  <a:lnTo>
                    <a:pt x="2212949" y="20335"/>
                  </a:lnTo>
                  <a:lnTo>
                    <a:pt x="2281728" y="27272"/>
                  </a:lnTo>
                  <a:lnTo>
                    <a:pt x="2343441" y="31040"/>
                  </a:lnTo>
                  <a:lnTo>
                    <a:pt x="2399351" y="32249"/>
                  </a:lnTo>
                  <a:lnTo>
                    <a:pt x="2450720" y="31509"/>
                  </a:lnTo>
                  <a:lnTo>
                    <a:pt x="2498810" y="29432"/>
                  </a:lnTo>
                  <a:lnTo>
                    <a:pt x="2544885" y="26626"/>
                  </a:lnTo>
                  <a:lnTo>
                    <a:pt x="2590208" y="23704"/>
                  </a:lnTo>
                  <a:lnTo>
                    <a:pt x="2636040" y="21274"/>
                  </a:lnTo>
                  <a:lnTo>
                    <a:pt x="2683645" y="19948"/>
                  </a:lnTo>
                  <a:lnTo>
                    <a:pt x="2734284" y="20335"/>
                  </a:lnTo>
                  <a:lnTo>
                    <a:pt x="2787201" y="21145"/>
                  </a:lnTo>
                  <a:lnTo>
                    <a:pt x="2840624" y="20896"/>
                  </a:lnTo>
                  <a:lnTo>
                    <a:pt x="2894298" y="19919"/>
                  </a:lnTo>
                  <a:lnTo>
                    <a:pt x="2947969" y="18543"/>
                  </a:lnTo>
                  <a:lnTo>
                    <a:pt x="3001381" y="17097"/>
                  </a:lnTo>
                  <a:lnTo>
                    <a:pt x="3054278" y="15910"/>
                  </a:lnTo>
                  <a:lnTo>
                    <a:pt x="3106406" y="15311"/>
                  </a:lnTo>
                  <a:lnTo>
                    <a:pt x="3157509" y="15629"/>
                  </a:lnTo>
                  <a:lnTo>
                    <a:pt x="3207332" y="17194"/>
                  </a:lnTo>
                  <a:lnTo>
                    <a:pt x="3255619" y="20335"/>
                  </a:lnTo>
                  <a:lnTo>
                    <a:pt x="3283893" y="22163"/>
                  </a:lnTo>
                  <a:lnTo>
                    <a:pt x="3318329" y="23436"/>
                  </a:lnTo>
                  <a:lnTo>
                    <a:pt x="3358305" y="24217"/>
                  </a:lnTo>
                  <a:lnTo>
                    <a:pt x="3403200" y="24568"/>
                  </a:lnTo>
                  <a:lnTo>
                    <a:pt x="3452390" y="24550"/>
                  </a:lnTo>
                  <a:lnTo>
                    <a:pt x="3505254" y="24226"/>
                  </a:lnTo>
                  <a:lnTo>
                    <a:pt x="3561170" y="23658"/>
                  </a:lnTo>
                  <a:lnTo>
                    <a:pt x="3619517" y="22907"/>
                  </a:lnTo>
                  <a:lnTo>
                    <a:pt x="3679671" y="22035"/>
                  </a:lnTo>
                  <a:lnTo>
                    <a:pt x="3741011" y="21105"/>
                  </a:lnTo>
                  <a:lnTo>
                    <a:pt x="3802915" y="20179"/>
                  </a:lnTo>
                  <a:lnTo>
                    <a:pt x="3864761" y="19318"/>
                  </a:lnTo>
                  <a:lnTo>
                    <a:pt x="3925927" y="18585"/>
                  </a:lnTo>
                  <a:lnTo>
                    <a:pt x="3985790" y="18041"/>
                  </a:lnTo>
                  <a:lnTo>
                    <a:pt x="4043730" y="17749"/>
                  </a:lnTo>
                  <a:lnTo>
                    <a:pt x="4099123" y="17770"/>
                  </a:lnTo>
                  <a:lnTo>
                    <a:pt x="4151349" y="18167"/>
                  </a:lnTo>
                  <a:lnTo>
                    <a:pt x="4199783" y="19002"/>
                  </a:lnTo>
                  <a:lnTo>
                    <a:pt x="4243806" y="20335"/>
                  </a:lnTo>
                  <a:lnTo>
                    <a:pt x="4244695" y="29352"/>
                  </a:lnTo>
                  <a:lnTo>
                    <a:pt x="4243298" y="29733"/>
                  </a:lnTo>
                  <a:lnTo>
                    <a:pt x="4243806" y="38623"/>
                  </a:lnTo>
                  <a:lnTo>
                    <a:pt x="4201716" y="40923"/>
                  </a:lnTo>
                  <a:lnTo>
                    <a:pt x="4160360" y="41996"/>
                  </a:lnTo>
                  <a:lnTo>
                    <a:pt x="4119184" y="42073"/>
                  </a:lnTo>
                  <a:lnTo>
                    <a:pt x="4077632" y="41383"/>
                  </a:lnTo>
                  <a:lnTo>
                    <a:pt x="4035151" y="40156"/>
                  </a:lnTo>
                  <a:lnTo>
                    <a:pt x="3991184" y="38623"/>
                  </a:lnTo>
                  <a:lnTo>
                    <a:pt x="3945177" y="37014"/>
                  </a:lnTo>
                  <a:lnTo>
                    <a:pt x="3896575" y="35557"/>
                  </a:lnTo>
                  <a:lnTo>
                    <a:pt x="3844823" y="34484"/>
                  </a:lnTo>
                  <a:lnTo>
                    <a:pt x="3789366" y="34024"/>
                  </a:lnTo>
                  <a:lnTo>
                    <a:pt x="3729650" y="34408"/>
                  </a:lnTo>
                  <a:lnTo>
                    <a:pt x="3665118" y="35864"/>
                  </a:lnTo>
                  <a:lnTo>
                    <a:pt x="3595217" y="38623"/>
                  </a:lnTo>
                  <a:lnTo>
                    <a:pt x="3523392" y="41374"/>
                  </a:lnTo>
                  <a:lnTo>
                    <a:pt x="3464163" y="42328"/>
                  </a:lnTo>
                  <a:lnTo>
                    <a:pt x="3415298" y="41874"/>
                  </a:lnTo>
                  <a:lnTo>
                    <a:pt x="3374566" y="40401"/>
                  </a:lnTo>
                  <a:lnTo>
                    <a:pt x="3339737" y="38299"/>
                  </a:lnTo>
                  <a:lnTo>
                    <a:pt x="3308578" y="35956"/>
                  </a:lnTo>
                  <a:lnTo>
                    <a:pt x="3278859" y="33762"/>
                  </a:lnTo>
                  <a:lnTo>
                    <a:pt x="3248347" y="32104"/>
                  </a:lnTo>
                  <a:lnTo>
                    <a:pt x="3214812" y="31372"/>
                  </a:lnTo>
                  <a:lnTo>
                    <a:pt x="3176023" y="31956"/>
                  </a:lnTo>
                  <a:lnTo>
                    <a:pt x="3129748" y="34243"/>
                  </a:lnTo>
                  <a:lnTo>
                    <a:pt x="3073755" y="38623"/>
                  </a:lnTo>
                  <a:lnTo>
                    <a:pt x="3010929" y="43264"/>
                  </a:lnTo>
                  <a:lnTo>
                    <a:pt x="2955813" y="45409"/>
                  </a:lnTo>
                  <a:lnTo>
                    <a:pt x="2906866" y="45583"/>
                  </a:lnTo>
                  <a:lnTo>
                    <a:pt x="2862546" y="44306"/>
                  </a:lnTo>
                  <a:lnTo>
                    <a:pt x="2821313" y="42101"/>
                  </a:lnTo>
                  <a:lnTo>
                    <a:pt x="2781625" y="39491"/>
                  </a:lnTo>
                  <a:lnTo>
                    <a:pt x="2741940" y="36996"/>
                  </a:lnTo>
                  <a:lnTo>
                    <a:pt x="2700719" y="35140"/>
                  </a:lnTo>
                  <a:lnTo>
                    <a:pt x="2656419" y="34445"/>
                  </a:lnTo>
                  <a:lnTo>
                    <a:pt x="2607500" y="35432"/>
                  </a:lnTo>
                  <a:lnTo>
                    <a:pt x="2552420" y="38623"/>
                  </a:lnTo>
                  <a:lnTo>
                    <a:pt x="2503754" y="41866"/>
                  </a:lnTo>
                  <a:lnTo>
                    <a:pt x="2456716" y="44113"/>
                  </a:lnTo>
                  <a:lnTo>
                    <a:pt x="2410806" y="45491"/>
                  </a:lnTo>
                  <a:lnTo>
                    <a:pt x="2365526" y="46121"/>
                  </a:lnTo>
                  <a:lnTo>
                    <a:pt x="2320374" y="46129"/>
                  </a:lnTo>
                  <a:lnTo>
                    <a:pt x="2274852" y="45637"/>
                  </a:lnTo>
                  <a:lnTo>
                    <a:pt x="2228459" y="44771"/>
                  </a:lnTo>
                  <a:lnTo>
                    <a:pt x="2180695" y="43653"/>
                  </a:lnTo>
                  <a:lnTo>
                    <a:pt x="2131062" y="42407"/>
                  </a:lnTo>
                  <a:lnTo>
                    <a:pt x="2079059" y="41157"/>
                  </a:lnTo>
                  <a:lnTo>
                    <a:pt x="2024186" y="40027"/>
                  </a:lnTo>
                  <a:lnTo>
                    <a:pt x="1965943" y="39142"/>
                  </a:lnTo>
                  <a:lnTo>
                    <a:pt x="1903831" y="38623"/>
                  </a:lnTo>
                  <a:lnTo>
                    <a:pt x="1847226" y="38472"/>
                  </a:lnTo>
                  <a:lnTo>
                    <a:pt x="1796007" y="38530"/>
                  </a:lnTo>
                  <a:lnTo>
                    <a:pt x="1749105" y="38752"/>
                  </a:lnTo>
                  <a:lnTo>
                    <a:pt x="1705453" y="39090"/>
                  </a:lnTo>
                  <a:lnTo>
                    <a:pt x="1663983" y="39498"/>
                  </a:lnTo>
                  <a:lnTo>
                    <a:pt x="1623626" y="39930"/>
                  </a:lnTo>
                  <a:lnTo>
                    <a:pt x="1583315" y="40338"/>
                  </a:lnTo>
                  <a:lnTo>
                    <a:pt x="1541981" y="40676"/>
                  </a:lnTo>
                  <a:lnTo>
                    <a:pt x="1498557" y="40898"/>
                  </a:lnTo>
                  <a:lnTo>
                    <a:pt x="1451974" y="40956"/>
                  </a:lnTo>
                  <a:lnTo>
                    <a:pt x="1401165" y="40804"/>
                  </a:lnTo>
                  <a:lnTo>
                    <a:pt x="1345061" y="40396"/>
                  </a:lnTo>
                  <a:lnTo>
                    <a:pt x="1282594" y="39685"/>
                  </a:lnTo>
                  <a:lnTo>
                    <a:pt x="1212697" y="38623"/>
                  </a:lnTo>
                  <a:lnTo>
                    <a:pt x="1119210" y="37132"/>
                  </a:lnTo>
                  <a:lnTo>
                    <a:pt x="1043859" y="36124"/>
                  </a:lnTo>
                  <a:lnTo>
                    <a:pt x="983643" y="35543"/>
                  </a:lnTo>
                  <a:lnTo>
                    <a:pt x="935561" y="35332"/>
                  </a:lnTo>
                  <a:lnTo>
                    <a:pt x="896610" y="35433"/>
                  </a:lnTo>
                  <a:lnTo>
                    <a:pt x="863789" y="35789"/>
                  </a:lnTo>
                  <a:lnTo>
                    <a:pt x="834098" y="36343"/>
                  </a:lnTo>
                  <a:lnTo>
                    <a:pt x="804533" y="37038"/>
                  </a:lnTo>
                  <a:lnTo>
                    <a:pt x="772095" y="37818"/>
                  </a:lnTo>
                  <a:lnTo>
                    <a:pt x="733780" y="38623"/>
                  </a:lnTo>
                  <a:lnTo>
                    <a:pt x="699672" y="39066"/>
                  </a:lnTo>
                  <a:lnTo>
                    <a:pt x="658427" y="39277"/>
                  </a:lnTo>
                  <a:lnTo>
                    <a:pt x="611128" y="39297"/>
                  </a:lnTo>
                  <a:lnTo>
                    <a:pt x="558855" y="39168"/>
                  </a:lnTo>
                  <a:lnTo>
                    <a:pt x="502687" y="38930"/>
                  </a:lnTo>
                  <a:lnTo>
                    <a:pt x="443706" y="38623"/>
                  </a:lnTo>
                  <a:lnTo>
                    <a:pt x="382992" y="38290"/>
                  </a:lnTo>
                  <a:lnTo>
                    <a:pt x="321625" y="37970"/>
                  </a:lnTo>
                  <a:lnTo>
                    <a:pt x="260686" y="37705"/>
                  </a:lnTo>
                  <a:lnTo>
                    <a:pt x="201256" y="37535"/>
                  </a:lnTo>
                  <a:lnTo>
                    <a:pt x="144414" y="37501"/>
                  </a:lnTo>
                  <a:lnTo>
                    <a:pt x="91242" y="37644"/>
                  </a:lnTo>
                  <a:lnTo>
                    <a:pt x="42820" y="38004"/>
                  </a:lnTo>
                  <a:lnTo>
                    <a:pt x="228" y="38623"/>
                  </a:lnTo>
                  <a:lnTo>
                    <a:pt x="0" y="34559"/>
                  </a:lnTo>
                  <a:lnTo>
                    <a:pt x="736" y="26177"/>
                  </a:lnTo>
                  <a:lnTo>
                    <a:pt x="228" y="20335"/>
                  </a:lnTo>
                  <a:close/>
                </a:path>
              </a:pathLst>
            </a:custGeom>
            <a:ln w="41275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819" y="2659507"/>
            <a:ext cx="6692900" cy="31565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-10">
                <a:solidFill>
                  <a:srgbClr val="333333"/>
                </a:solidFill>
                <a:latin typeface="Segoe UI"/>
                <a:cs typeface="Segoe UI"/>
              </a:rPr>
              <a:t>Udacity-</a:t>
            </a:r>
            <a:r>
              <a:rPr sz="1200" b="1" spc="-20">
                <a:solidFill>
                  <a:srgbClr val="333333"/>
                </a:solidFill>
                <a:latin typeface="Segoe UI"/>
                <a:cs typeface="Segoe UI"/>
              </a:rPr>
              <a:t>GPT: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chatbot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powered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(GPT-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4)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2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enhance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experience.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Learners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get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support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whenever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it;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chatbot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complement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our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mentors,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who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available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throughout</a:t>
            </a:r>
            <a:r>
              <a:rPr sz="12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learner’s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journey</a:t>
            </a:r>
            <a:r>
              <a:rPr sz="12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2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valuable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feedback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support.</a:t>
            </a:r>
            <a:r>
              <a:rPr sz="12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our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global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mentor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network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combined.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333333"/>
              </a:buClr>
              <a:buFont typeface="Arial"/>
              <a:buChar char="•"/>
            </a:pP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>
                <a:solidFill>
                  <a:srgbClr val="333333"/>
                </a:solidFill>
                <a:latin typeface="Segoe UI"/>
                <a:cs typeface="Segoe UI"/>
              </a:rPr>
              <a:t>Udacity-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2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enhancing</a:t>
            </a:r>
            <a:r>
              <a:rPr sz="12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experience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>
                <a:solidFill>
                  <a:srgbClr val="333333"/>
                </a:solidFill>
                <a:latin typeface="Segoe UI"/>
                <a:cs typeface="Segoe UI"/>
              </a:rPr>
              <a:t>students: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Summarize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concepts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Pose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deeper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Translate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another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Fix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errors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in your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more…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63840" y="915288"/>
            <a:ext cx="4014470" cy="4107179"/>
            <a:chOff x="7863840" y="915288"/>
            <a:chExt cx="4014470" cy="410717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3840" y="915288"/>
              <a:ext cx="4014215" cy="22579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2128" y="3154299"/>
              <a:ext cx="3995928" cy="186804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181" y="5612574"/>
            <a:ext cx="3606358" cy="76220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91305" y="2768930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Thank you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1075FE-1891-A68D-7B66-5A6459ED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3956B-F76B-7634-F4F7-85A05EEA0C2C}"/>
              </a:ext>
            </a:extLst>
          </p:cNvPr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F0F16A9-FD01-DCE9-B5B8-AFFF5B85C0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98" y="6263789"/>
            <a:ext cx="12187111" cy="59421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18829BBC-E6AE-2C53-86C0-2FD22EA7A799}"/>
              </a:ext>
            </a:extLst>
          </p:cNvPr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E4F0337-0DA5-C185-1A71-E4599C2F241C}"/>
              </a:ext>
            </a:extLst>
          </p:cNvPr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DDD73D5-9068-49CC-7DC1-5E8C1E7276FC}"/>
              </a:ext>
            </a:extLst>
          </p:cNvPr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C97AFD-CFB8-589D-2EBC-B5B8169D65CA}"/>
              </a:ext>
            </a:extLst>
          </p:cNvPr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D868D92-FF96-E970-3D03-94FF6A460D90}"/>
              </a:ext>
            </a:extLst>
          </p:cNvPr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C044A67-0043-AFF2-E01F-164431B7212C}"/>
              </a:ext>
            </a:extLst>
          </p:cNvPr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44105C6-04D5-7A9F-2523-9C4BBA86BDB8}"/>
              </a:ext>
            </a:extLst>
          </p:cNvPr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4258033-3988-5233-57B4-345F179E0E79}"/>
              </a:ext>
            </a:extLst>
          </p:cNvPr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E05C171-4CA6-C525-811F-0B9B7E430E7C}"/>
              </a:ext>
            </a:extLst>
          </p:cNvPr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3A00CA5-F44F-84AE-8E10-BC817E720A24}"/>
              </a:ext>
            </a:extLst>
          </p:cNvPr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68118F5-63EA-24ED-D52A-2630E405D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587" y="412750"/>
            <a:ext cx="1065682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s (Self Study)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ABC8CFC-F201-B160-E4B3-5902531BD85B}"/>
              </a:ext>
            </a:extLst>
          </p:cNvPr>
          <p:cNvSpPr txBox="1"/>
          <p:nvPr/>
        </p:nvSpPr>
        <p:spPr>
          <a:xfrm>
            <a:off x="365275" y="1052969"/>
            <a:ext cx="11456670" cy="3429144"/>
          </a:xfrm>
          <a:prstGeom prst="rect">
            <a:avLst/>
          </a:prstGeom>
        </p:spPr>
        <p:txBody>
          <a:bodyPr vert="horz" wrap="square" lIns="0" tIns="134620" rIns="0" bIns="0" rtlCol="0" anchor="t">
            <a:spAutoFit/>
          </a:bodyPr>
          <a:lstStyle/>
          <a:p>
            <a:endParaRPr lang="en-US" sz="1800"/>
          </a:p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Advanced Prompt Engineering for Everyone:</a:t>
            </a:r>
          </a:p>
          <a:p>
            <a:r>
              <a:rPr lang="en-US" sz="1800">
                <a:hlinkClick r:id="rId4"/>
              </a:rPr>
              <a:t>	https://www.coursera.org/learn/advanced-prompt-engineering-for-everyone</a:t>
            </a:r>
            <a:endParaRPr lang="en-US" sz="1800"/>
          </a:p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 ChatGPT Prompt Engineering for Developers:</a:t>
            </a:r>
          </a:p>
          <a:p>
            <a:r>
              <a:rPr lang="en-US" sz="1800" u="sng">
                <a:hlinkClick r:id="rId5"/>
              </a:rPr>
              <a:t>	https://learn.deeplearning.ai/courses/chatgpt-prompt-eng/lesson/dfbds/introduction\</a:t>
            </a:r>
            <a:endParaRPr lang="en-US" sz="1800" u="sng"/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1800"/>
            </a:br>
            <a:r>
              <a:rPr lang="en-US" sz="1800"/>
              <a:t>Prompt Engineering with Llama 2&amp;3</a:t>
            </a:r>
          </a:p>
          <a:p>
            <a:r>
              <a:rPr lang="en-US" sz="1800"/>
              <a:t>	</a:t>
            </a:r>
            <a:r>
              <a:rPr lang="en-US">
                <a:hlinkClick r:id="rId6"/>
              </a:rPr>
              <a:t>Prompt Engineering with Llama 2 &amp; 3 - DeepLearning.AI</a:t>
            </a:r>
            <a:endParaRPr lang="en-US" sz="1800">
              <a:hlinkClick r:id="rId7"/>
            </a:endParaRPr>
          </a:p>
          <a:p>
            <a:endParaRPr lang="en-US" sz="1800"/>
          </a:p>
          <a:p>
            <a:endParaRPr sz="16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952567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2D5654-86E4-9563-C4F0-D96B7D80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94B8F86-CA4C-61EA-C4B8-5B86EA0397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6F34A29C-A493-ABBE-25C6-999671BE9007}"/>
              </a:ext>
            </a:extLst>
          </p:cNvPr>
          <p:cNvGrpSpPr/>
          <p:nvPr/>
        </p:nvGrpSpPr>
        <p:grpSpPr>
          <a:xfrm>
            <a:off x="762000" y="-148896"/>
            <a:ext cx="10177780" cy="6867525"/>
            <a:chOff x="905145" y="-4762"/>
            <a:chExt cx="10177780" cy="68675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C861DBE-36AF-E5CC-7C8B-B909B26454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483680-7E40-AAEF-F65E-D931B6A3A0A5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6E1DAC-3FEF-E917-9B8B-7EC1857D9528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64AEB77-6C0C-5737-61D2-BA4B49888524}"/>
                </a:ext>
              </a:extLst>
            </p:cNvPr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FEFD5E0-4ABC-B6D4-4893-677A1C402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8327" y="1142497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Lab</a:t>
            </a:r>
            <a:endParaRPr sz="66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6356202-45A7-2517-12CC-E10F9064C8B4}"/>
              </a:ext>
            </a:extLst>
          </p:cNvPr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5FE0ABE-E524-E09A-D5B6-031056F8FB47}"/>
              </a:ext>
            </a:extLst>
          </p:cNvPr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Picture 11" descr="A yellow sticky note with red push pin&#10;&#10;AI-generated content may be incorrect.">
            <a:extLst>
              <a:ext uri="{FF2B5EF4-FFF2-40B4-BE49-F238E27FC236}">
                <a16:creationId xmlns:a16="http://schemas.microsoft.com/office/drawing/2014/main" id="{B8195E93-6EE8-F5E2-FC98-3145873E9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7187" y="2180148"/>
            <a:ext cx="4423682" cy="311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07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575CC3-5FC5-01D1-A492-2E58D6E3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4439BD-D15C-58FC-4C28-B9F6D5F82584}"/>
              </a:ext>
            </a:extLst>
          </p:cNvPr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A8C2CAA-9765-42D1-7B3A-F2610FE7CB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BD75D96-8ED1-FDDA-315E-DE1AE22D0F96}"/>
              </a:ext>
            </a:extLst>
          </p:cNvPr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7C3C27-2431-5211-DCDA-F5F4310FFBD7}"/>
              </a:ext>
            </a:extLst>
          </p:cNvPr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E66224-386A-FEF4-5FBC-27A770C3D243}"/>
              </a:ext>
            </a:extLst>
          </p:cNvPr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CF7893-C64B-405F-8B6D-FE487AF48F94}"/>
              </a:ext>
            </a:extLst>
          </p:cNvPr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983D5E2-97D8-3954-A3F6-3654F24C931D}"/>
              </a:ext>
            </a:extLst>
          </p:cNvPr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0A68FA3-C4DE-7525-96AC-57610ADB8B04}"/>
              </a:ext>
            </a:extLst>
          </p:cNvPr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34DB192-6A0B-CCB7-C8E8-4C4D83404C63}"/>
              </a:ext>
            </a:extLst>
          </p:cNvPr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58E614D-9E03-D5F7-6D1A-D5ED42E19714}"/>
              </a:ext>
            </a:extLst>
          </p:cNvPr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876ECEE-9FD7-9F8E-4004-FC7BEB0C0F79}"/>
              </a:ext>
            </a:extLst>
          </p:cNvPr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598A60F-EFF2-DB20-8688-8F66E74375A6}"/>
              </a:ext>
            </a:extLst>
          </p:cNvPr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0E7D51E-8EEC-C63D-DD9A-4B0F707CF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587" y="412750"/>
            <a:ext cx="1065682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29D6C5-0449-06C3-8A13-E593DEBA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407" y="-3407764"/>
            <a:ext cx="12194298" cy="68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26f9f-2a6a-403d-9984-0f17e3e6377d">
      <Terms xmlns="http://schemas.microsoft.com/office/infopath/2007/PartnerControls"/>
    </lcf76f155ced4ddcb4097134ff3c332f>
    <TaxCatchAll xmlns="7473d3bc-240f-4a29-9442-65c9b41a6a6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eab151aa0dcf0e19900e4f9f5a2634e6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a698e43cfee7f2d6bb3820b53aec397f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9942AE-00F2-46AD-843D-51BEAF2FA418}">
  <ds:schemaRefs>
    <ds:schemaRef ds:uri="4aa6b211-24cb-420a-a400-0fc6e804ce30"/>
    <ds:schemaRef ds:uri="7473d3bc-240f-4a29-9442-65c9b41a6a64"/>
    <ds:schemaRef ds:uri="a9426f9f-2a6a-403d-9984-0f17e3e6377d"/>
    <ds:schemaRef ds:uri="cd178955-e352-40f1-a8e0-81fca703ef1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13E28A-EE62-4883-8F13-39D5E8D01F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37126-60C2-4C73-9CA2-56155DF76DBE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PowerPoint Presentation</vt:lpstr>
      <vt:lpstr>Course Outline</vt:lpstr>
      <vt:lpstr>Why do we need to know about Gen AI?</vt:lpstr>
      <vt:lpstr>History of AI</vt:lpstr>
      <vt:lpstr>What’s Generative AI?</vt:lpstr>
      <vt:lpstr>Who should learn about Gen AI?</vt:lpstr>
      <vt:lpstr>Will AI Replace Jobs / employees?</vt:lpstr>
      <vt:lpstr>Gen-AI Tools in Work Statistics</vt:lpstr>
      <vt:lpstr>PowerPoint Presentation</vt:lpstr>
      <vt:lpstr>Sample GenAI Freelancing jobs</vt:lpstr>
      <vt:lpstr>Gen-AI based startups and real products</vt:lpstr>
      <vt:lpstr>How to use the AI tools responsibly?</vt:lpstr>
      <vt:lpstr>Introducing Generative AI</vt:lpstr>
      <vt:lpstr>What’s Generative AI?</vt:lpstr>
      <vt:lpstr>PowerPoint Presentation</vt:lpstr>
      <vt:lpstr>AI terms</vt:lpstr>
      <vt:lpstr>AI terms (Cont.)</vt:lpstr>
      <vt:lpstr>AI terms (Cont.)</vt:lpstr>
      <vt:lpstr>LLM evolutionary tree</vt:lpstr>
      <vt:lpstr>How it works?</vt:lpstr>
      <vt:lpstr>How it works? (Cont.)</vt:lpstr>
      <vt:lpstr>Gen AI Usefulness</vt:lpstr>
      <vt:lpstr>Models and Tools</vt:lpstr>
      <vt:lpstr>OpenAI Models</vt:lpstr>
      <vt:lpstr>Sora: Text-to-video model</vt:lpstr>
      <vt:lpstr>GPT-o1: OpenAI's New Reasoning Model</vt:lpstr>
      <vt:lpstr>Top AI models and Chat-based AI tools</vt:lpstr>
      <vt:lpstr>AI tools Capabilities</vt:lpstr>
      <vt:lpstr>ChatGPT features and use cases</vt:lpstr>
      <vt:lpstr>Prompt Engineering</vt:lpstr>
      <vt:lpstr>Introducing prompt engineering</vt:lpstr>
      <vt:lpstr>Elements of a Prompt</vt:lpstr>
      <vt:lpstr>Prompt Engineering techniques and approaches [Zero-shot prompting]</vt:lpstr>
      <vt:lpstr>Prompt Engineering techniques and approaches [Few-shot prompting]</vt:lpstr>
      <vt:lpstr>Prompt Engineering techniques and approaches [CoT]</vt:lpstr>
      <vt:lpstr>Prompt Engineering techniques and approaches [RTF]</vt:lpstr>
      <vt:lpstr>Prompt Engineering techniques and approaches [RISEN]</vt:lpstr>
      <vt:lpstr>Rephrase and Respond Prompting (RaR)</vt:lpstr>
      <vt:lpstr>Emotion Prompting</vt:lpstr>
      <vt:lpstr>Enhancing Model Interaction with Emotional and Motivational Language</vt:lpstr>
      <vt:lpstr>Prompt Engineering cheatsheets</vt:lpstr>
      <vt:lpstr>General prompting Tips</vt:lpstr>
      <vt:lpstr>Beyond Gen AI Tools: The Future of Generative AI and Emerging Technologies</vt:lpstr>
      <vt:lpstr>Multimodal AI</vt:lpstr>
      <vt:lpstr>Data privacy and limitations</vt:lpstr>
      <vt:lpstr>Data security and privacy guidelines for using AI tools</vt:lpstr>
      <vt:lpstr>Use cases in training and education</vt:lpstr>
      <vt:lpstr>Use cases in Education</vt:lpstr>
      <vt:lpstr>Use cases for learning:</vt:lpstr>
      <vt:lpstr>Thank you</vt:lpstr>
      <vt:lpstr>Courses (Self Study)</vt:lpstr>
      <vt:lpstr>Lab</vt:lpstr>
      <vt:lpstr>Courses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Institute</dc:title>
  <dc:creator>BEU-Ramiz</dc:creator>
  <cp:revision>4</cp:revision>
  <dcterms:created xsi:type="dcterms:W3CDTF">2025-06-19T21:21:44Z</dcterms:created>
  <dcterms:modified xsi:type="dcterms:W3CDTF">2026-01-08T10:34:59Z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0x010100E569843BE9C8A54687BECE1C962241DE</vt:lpwstr>
  </property>
  <property fmtid="{D5CDD505-2E9C-101B-9397-08002B2CF9AE}" pid="7" name="MediaServiceImageTags">
    <vt:lpwstr/>
  </property>
</Properties>
</file>