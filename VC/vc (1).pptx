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12192000" cy="6858000"/>
  <p:embeddedFontLst>
    <p:embeddedFont>
      <p:font typeface="Lucida Sans" panose="020B0604020202020204" charset="0"/>
      <p:regular r:id="rId37"/>
      <p:bold r:id="rId38"/>
      <p:italic r:id="rId39"/>
      <p:boldItalic r:id="rId40"/>
    </p:embeddedFont>
    <p:embeddedFont>
      <p:font typeface="Noto Sans Symbols" panose="020B0604020202020204" charset="0"/>
      <p:regular r:id="rId41"/>
      <p:bold r:id="rId42"/>
    </p:embeddedFont>
    <p:embeddedFont>
      <p:font typeface="Trebuchet MS" panose="020B060302020202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8576E-C693-D98B-9C2D-D113D2272625}" v="1" dt="2025-12-01T12:03:07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alosman2410" userId="S::belalosman2410_gmail.com#ext#@itihub.onmicrosoft.com::3363bc09-390e-4a91-b999-9fd488957274" providerId="AD" clId="Web-{ABC8576E-C693-D98B-9C2D-D113D2272625}"/>
    <pc:docChg chg="modSld">
      <pc:chgData name="belalosman2410" userId="S::belalosman2410_gmail.com#ext#@itihub.onmicrosoft.com::3363bc09-390e-4a91-b999-9fd488957274" providerId="AD" clId="Web-{ABC8576E-C693-D98B-9C2D-D113D2272625}" dt="2025-12-01T12:03:07.952" v="0" actId="1076"/>
      <pc:docMkLst>
        <pc:docMk/>
      </pc:docMkLst>
      <pc:sldChg chg="modSp">
        <pc:chgData name="belalosman2410" userId="S::belalosman2410_gmail.com#ext#@itihub.onmicrosoft.com::3363bc09-390e-4a91-b999-9fd488957274" providerId="AD" clId="Web-{ABC8576E-C693-D98B-9C2D-D113D2272625}" dt="2025-12-01T12:03:07.952" v="0" actId="1076"/>
        <pc:sldMkLst>
          <pc:docMk/>
          <pc:sldMk cId="0" sldId="275"/>
        </pc:sldMkLst>
        <pc:picChg chg="mod">
          <ac:chgData name="belalosman2410" userId="S::belalosman2410_gmail.com#ext#@itihub.onmicrosoft.com::3363bc09-390e-4a91-b999-9fd488957274" providerId="AD" clId="Web-{ABC8576E-C693-D98B-9C2D-D113D2272625}" dt="2025-12-01T12:03:07.952" v="0" actId="1076"/>
          <ac:picMkLst>
            <pc:docMk/>
            <pc:sldMk cId="0" sldId="275"/>
            <ac:picMk id="17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072aa7c5e_0_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5072aa7c5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756310" y="2062957"/>
            <a:ext cx="7727315" cy="270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ctrTitle"/>
          </p:nvPr>
        </p:nvSpPr>
        <p:spPr>
          <a:xfrm>
            <a:off x="756310" y="631063"/>
            <a:ext cx="548894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7426452" y="1524"/>
            <a:ext cx="4763770" cy="6858634"/>
          </a:xfrm>
          <a:custGeom>
            <a:avLst/>
            <a:gdLst/>
            <a:ahLst/>
            <a:cxnLst/>
            <a:rect l="l" t="t" r="r" b="b"/>
            <a:pathLst>
              <a:path w="4763770" h="6858634" extrusionOk="0">
                <a:moveTo>
                  <a:pt x="1944624" y="0"/>
                </a:moveTo>
                <a:lnTo>
                  <a:pt x="3163824" y="6857999"/>
                </a:lnTo>
              </a:path>
              <a:path w="4763770" h="6858634" extrusionOk="0">
                <a:moveTo>
                  <a:pt x="4763516" y="3681983"/>
                </a:moveTo>
                <a:lnTo>
                  <a:pt x="0" y="6858570"/>
                </a:lnTo>
              </a:path>
            </a:pathLst>
          </a:custGeom>
          <a:noFill/>
          <a:ln w="9525" cap="flat" cmpd="sng">
            <a:solidFill>
              <a:srgbClr val="5FCA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9180576" y="0"/>
            <a:ext cx="3008630" cy="6858000"/>
          </a:xfrm>
          <a:custGeom>
            <a:avLst/>
            <a:gdLst/>
            <a:ahLst/>
            <a:cxnLst/>
            <a:rect l="l" t="t" r="r" b="b"/>
            <a:pathLst>
              <a:path w="3008629" h="6858000" extrusionOk="0">
                <a:moveTo>
                  <a:pt x="3008375" y="0"/>
                </a:moveTo>
                <a:lnTo>
                  <a:pt x="2043499" y="0"/>
                </a:lnTo>
                <a:lnTo>
                  <a:pt x="0" y="6858000"/>
                </a:lnTo>
                <a:lnTo>
                  <a:pt x="3008375" y="6858000"/>
                </a:lnTo>
                <a:lnTo>
                  <a:pt x="3008375" y="0"/>
                </a:lnTo>
                <a:close/>
              </a:path>
            </a:pathLst>
          </a:custGeom>
          <a:solidFill>
            <a:srgbClr val="5FCAEE">
              <a:alpha val="35686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9605858" y="0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 extrusionOk="0">
                <a:moveTo>
                  <a:pt x="2586142" y="0"/>
                </a:moveTo>
                <a:lnTo>
                  <a:pt x="0" y="0"/>
                </a:lnTo>
                <a:lnTo>
                  <a:pt x="1207430" y="6857999"/>
                </a:lnTo>
                <a:lnTo>
                  <a:pt x="2586142" y="6857999"/>
                </a:lnTo>
                <a:lnTo>
                  <a:pt x="2586142" y="0"/>
                </a:lnTo>
                <a:close/>
              </a:path>
            </a:pathLst>
          </a:custGeom>
          <a:solidFill>
            <a:srgbClr val="5FCAEE">
              <a:alpha val="1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8933688" y="3048000"/>
            <a:ext cx="3258820" cy="3810000"/>
          </a:xfrm>
          <a:custGeom>
            <a:avLst/>
            <a:gdLst/>
            <a:ahLst/>
            <a:cxnLst/>
            <a:rect l="l" t="t" r="r" b="b"/>
            <a:pathLst>
              <a:path w="3258820" h="3810000" extrusionOk="0">
                <a:moveTo>
                  <a:pt x="3258311" y="0"/>
                </a:moveTo>
                <a:lnTo>
                  <a:pt x="0" y="3809999"/>
                </a:lnTo>
                <a:lnTo>
                  <a:pt x="3258311" y="3809999"/>
                </a:lnTo>
                <a:lnTo>
                  <a:pt x="3258311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9339312" y="0"/>
            <a:ext cx="2849880" cy="6858000"/>
          </a:xfrm>
          <a:custGeom>
            <a:avLst/>
            <a:gdLst/>
            <a:ahLst/>
            <a:cxnLst/>
            <a:rect l="l" t="t" r="r" b="b"/>
            <a:pathLst>
              <a:path w="2849879" h="6858000" extrusionOk="0">
                <a:moveTo>
                  <a:pt x="2849639" y="0"/>
                </a:moveTo>
                <a:lnTo>
                  <a:pt x="0" y="0"/>
                </a:lnTo>
                <a:lnTo>
                  <a:pt x="2466226" y="6858000"/>
                </a:lnTo>
                <a:lnTo>
                  <a:pt x="2849639" y="6858000"/>
                </a:lnTo>
                <a:lnTo>
                  <a:pt x="2849639" y="0"/>
                </a:lnTo>
                <a:close/>
              </a:path>
            </a:pathLst>
          </a:custGeom>
          <a:solidFill>
            <a:srgbClr val="17AFE3">
              <a:alpha val="4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10899648" y="0"/>
            <a:ext cx="1289685" cy="6858000"/>
          </a:xfrm>
          <a:custGeom>
            <a:avLst/>
            <a:gdLst/>
            <a:ahLst/>
            <a:cxnLst/>
            <a:rect l="l" t="t" r="r" b="b"/>
            <a:pathLst>
              <a:path w="1289684" h="6858000" extrusionOk="0">
                <a:moveTo>
                  <a:pt x="1289303" y="0"/>
                </a:moveTo>
                <a:lnTo>
                  <a:pt x="1017691" y="0"/>
                </a:lnTo>
                <a:lnTo>
                  <a:pt x="0" y="6858000"/>
                </a:lnTo>
                <a:lnTo>
                  <a:pt x="1289303" y="6858000"/>
                </a:lnTo>
                <a:lnTo>
                  <a:pt x="1289303" y="0"/>
                </a:lnTo>
                <a:close/>
              </a:path>
            </a:pathLst>
          </a:custGeom>
          <a:solidFill>
            <a:srgbClr val="2D83C3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 extrusionOk="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226192">
              <a:alpha val="79607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 extrusionOk="0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17AFE3">
              <a:alpha val="6549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4014215"/>
            <a:ext cx="448309" cy="2844165"/>
          </a:xfrm>
          <a:custGeom>
            <a:avLst/>
            <a:gdLst/>
            <a:ahLst/>
            <a:cxnLst/>
            <a:rect l="l" t="t" r="r" b="b"/>
            <a:pathLst>
              <a:path w="448309" h="2844165" extrusionOk="0">
                <a:moveTo>
                  <a:pt x="0" y="0"/>
                </a:moveTo>
                <a:lnTo>
                  <a:pt x="0" y="2843783"/>
                </a:lnTo>
                <a:lnTo>
                  <a:pt x="448056" y="2843783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756310" y="2062957"/>
            <a:ext cx="7727315" cy="270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nm4378586@gmail.co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609600"/>
            <a:ext cx="8598408" cy="384657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7"/>
          <p:cNvSpPr txBox="1"/>
          <p:nvPr/>
        </p:nvSpPr>
        <p:spPr>
          <a:xfrm>
            <a:off x="7304658" y="4484065"/>
            <a:ext cx="1707514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rebuchet MS"/>
                <a:ea typeface="Trebuchet MS"/>
                <a:cs typeface="Trebuchet MS"/>
                <a:sym typeface="Trebuchet MS"/>
              </a:rPr>
              <a:t>By Nada Mostafa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What is version control?</a:t>
            </a:r>
            <a:endParaRPr/>
          </a:p>
        </p:txBody>
      </p:sp>
      <p:sp>
        <p:nvSpPr>
          <p:cNvPr id="59" name="Google Shape;59;p8"/>
          <p:cNvSpPr txBox="1"/>
          <p:nvPr/>
        </p:nvSpPr>
        <p:spPr>
          <a:xfrm>
            <a:off x="756310" y="2188286"/>
            <a:ext cx="8427720" cy="198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 control, also known as source control, is the practice of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tracking and managing changes to software code.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marR="5080" lvl="0" indent="-344805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2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 control software keeps track of every modification to the code in a special kind of database. If a mistake is made, developers can turn back the clock and compare earlier versions of the code to help fix the mistake.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Version Control	Terminologies</a:t>
            </a:r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756310" y="2062957"/>
            <a:ext cx="8018145" cy="363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Repository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Branch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Local Repo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Remote Repo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(snapshot or save records(changes))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Clone (from local or remote)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Push (upload local changes to remote)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Pull (you pull changes from remote repo to your local)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Pull request (tell other about your changes to pull it from local to remote)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/>
        </p:nvSpPr>
        <p:spPr>
          <a:xfrm>
            <a:off x="756310" y="4576064"/>
            <a:ext cx="3051175" cy="122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50" rIns="0" bIns="0" anchor="t" anchorCtr="0">
            <a:spAutoFit/>
          </a:bodyPr>
          <a:lstStyle/>
          <a:p>
            <a:pPr marL="28575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rebuchet MS"/>
              <a:buAutoNum type="arabicPlain"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local version control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7305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rebuchet MS"/>
              <a:buAutoNum type="arabicPlain"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centralized version control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lvl="0" indent="-27305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rebuchet MS"/>
              <a:buAutoNum type="arabicPlain"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distributed version control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609600"/>
            <a:ext cx="8598408" cy="3404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3791" y="1225296"/>
            <a:ext cx="6678168" cy="525475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/>
        </p:nvSpPr>
        <p:spPr>
          <a:xfrm>
            <a:off x="1464055" y="528015"/>
            <a:ext cx="230251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Trebuchet MS"/>
                <a:ea typeface="Trebuchet MS"/>
                <a:cs typeface="Trebuchet MS"/>
                <a:sym typeface="Trebuchet MS"/>
              </a:rPr>
              <a:t>Local Version Control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423" y="1374647"/>
            <a:ext cx="7528559" cy="526084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 txBox="1"/>
          <p:nvPr/>
        </p:nvSpPr>
        <p:spPr>
          <a:xfrm>
            <a:off x="307340" y="390855"/>
            <a:ext cx="8787130" cy="84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FCAEE"/>
                </a:solidFill>
                <a:latin typeface="Arial"/>
                <a:ea typeface="Arial"/>
                <a:cs typeface="Arial"/>
                <a:sym typeface="Arial"/>
              </a:rPr>
              <a:t>Centralized version control systems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are based on the idea that there is a single “central”  copy  of  your  project  on  a  server,  and  programmers  will  “</a:t>
            </a:r>
            <a:r>
              <a:rPr lang="en-US" sz="1800">
                <a:solidFill>
                  <a:srgbClr val="DE4B36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”  their changes to this central copy.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Disadvantages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56310" y="2062957"/>
            <a:ext cx="7738745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main server goes down, developers can’t save versioned changes.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Need internet connection to commit the changes.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Distributed VCS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67944" y="1297685"/>
            <a:ext cx="4501515" cy="3169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29083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These systems do not necessarily rely on a central server to store all the versions of a project’s files. Instead, every developer “clones” a copy of a repository and has the full history of the project on their own hard drive.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marR="508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act of getting new changes from a repository is usually called “pulling”, and the act of moving your own changes to a repository is called “pushing.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2288" y="609600"/>
            <a:ext cx="6352032" cy="6007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80" y="911351"/>
            <a:ext cx="8964168" cy="5035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756310" y="1623516"/>
            <a:ext cx="8109584" cy="287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Committing new changes can be done locally without anyone else seeing them. Once you have a group of changes ready, you can push all of them at once.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 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Everything but pushing and pulling can be done without an internet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just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connection. So you can work on a plane.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marR="172720" lvl="0" indent="-344805" algn="just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  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Since each programmer has a full copy of the project repository, they can share changes with one or two other people at a time if they want to get some feedback before showing the changes to everyone.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756310" y="631063"/>
            <a:ext cx="548894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Distributed VCS Examples</a:t>
            </a:r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756310" y="2148332"/>
            <a:ext cx="68008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9847" y="1929383"/>
            <a:ext cx="3700272" cy="370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history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1819655"/>
            <a:ext cx="8494776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19527"/>
            <a:ext cx="5580888" cy="2642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Advantages of git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756310" y="1636267"/>
            <a:ext cx="133985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others VC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7319264" y="2788107"/>
            <a:ext cx="441959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3223" y="3413759"/>
            <a:ext cx="5288280" cy="2642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756310" y="1516507"/>
            <a:ext cx="8155940" cy="315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Git Version Control System uses SHA-1 checksums on the contents of all change commits. In fact, the checksum is used as commit identifier and commonly referred to as "the SHA".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Git's checksums include metadata about the commit including the author,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date, and the previous commit's SHA.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marR="357505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assures the integrity of the data being stored by using checksums as identifiers. If someone were to try to alter a commit or its meta data, it would change the SHA used to identify it. It would become a different commit.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495" y="1798319"/>
            <a:ext cx="8976359" cy="3261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file states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756310" y="2188286"/>
            <a:ext cx="8279130" cy="312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Un Tracked (U)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2065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Git has three main states that your files can reside in:	Tracked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 b="1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Modified 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means that you have changed the file but have not committed it to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your database yet.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 b="1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Committed (unmodified) 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means that the data is safely stored in your local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database.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 b="1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Staged 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means that you have marked a modified file in its current version to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go into your next commit snapshot.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First Time Git Setup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756310" y="2188286"/>
            <a:ext cx="8388985" cy="205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first thing you should do when you install Git is to set your user name and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email address.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important because every Git commit uses this information, and it’s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immutably baked into commits you start creating.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 b="1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config --global user.name “your name”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 b="1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config --global user.email “your e-mail”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Starting a repo</a:t>
            </a:r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756310" y="2062957"/>
            <a:ext cx="5443855" cy="3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mkdir firstdemo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0705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Make a directory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cd firstdemo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0705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directory to the above directory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git init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0705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Initialize an empty Git repository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ls –a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560705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List all the files &amp; dir and the hidden files &amp; dir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a new file</a:t>
            </a:r>
            <a:endParaRPr/>
          </a:p>
        </p:txBody>
      </p:sp>
      <p:sp>
        <p:nvSpPr>
          <p:cNvPr id="163" name="Google Shape;163;p25"/>
          <p:cNvSpPr txBox="1"/>
          <p:nvPr/>
        </p:nvSpPr>
        <p:spPr>
          <a:xfrm>
            <a:off x="756310" y="2062957"/>
            <a:ext cx="3952240" cy="203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touch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628015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new file called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echo “hello git” &lt;&lt; new.txt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628015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write in new.txt file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status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4288535"/>
            <a:ext cx="903732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Add to Staging Area</a:t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756310" y="2062957"/>
            <a:ext cx="3590290" cy="12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add new.txt	/git add * /.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2418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Staging the new.txt file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status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935" y="3735831"/>
            <a:ext cx="7482840" cy="142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rebuchet MS"/>
                <a:ea typeface="Trebuchet MS"/>
                <a:cs typeface="Trebuchet MS"/>
                <a:sym typeface="Trebuchet MS"/>
              </a:rPr>
              <a:t>Commit changes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769721" y="2062957"/>
            <a:ext cx="3797935" cy="12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 -m “the first commit”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23215" lvl="0" indent="0" algn="ctr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Commit the changes	with msg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2472055" lvl="0" indent="0" algn="ctr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status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8" name="Google Shape;17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3621023"/>
            <a:ext cx="6879335" cy="1167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latin typeface="Trebuchet MS"/>
                <a:ea typeface="Trebuchet MS"/>
                <a:cs typeface="Trebuchet MS"/>
                <a:sym typeface="Trebuchet MS"/>
              </a:rPr>
              <a:t>Add &amp; Commit</a:t>
            </a:r>
            <a:endParaRPr sz="3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756310" y="2062957"/>
            <a:ext cx="5619115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commit -a -m “ commit”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Add the changes &amp; commit the changes in one line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56310" y="3665186"/>
            <a:ext cx="6784975" cy="829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0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But , notice that this command doesn’t add new files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7AFE3"/>
                </a:solidFill>
                <a:latin typeface="Trebuchet MS"/>
                <a:ea typeface="Trebuchet MS"/>
                <a:cs typeface="Trebuchet MS"/>
                <a:sym typeface="Trebuchet MS"/>
              </a:rPr>
              <a:t>It only works with the changes that made inside the files itself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186372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Git	Logs</a:t>
            </a:r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756310" y="2188286"/>
            <a:ext cx="1012190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log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756310" y="4597654"/>
            <a:ext cx="200342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log --oneline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655" y="2764535"/>
            <a:ext cx="7696200" cy="159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888" y="1612391"/>
            <a:ext cx="7543800" cy="4636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diff</a:t>
            </a:r>
            <a:endParaRPr/>
          </a:p>
        </p:txBody>
      </p:sp>
      <p:sp>
        <p:nvSpPr>
          <p:cNvPr id="204" name="Google Shape;204;p31"/>
          <p:cNvSpPr txBox="1"/>
          <p:nvPr/>
        </p:nvSpPr>
        <p:spPr>
          <a:xfrm>
            <a:off x="756310" y="2062957"/>
            <a:ext cx="8219440" cy="2294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diff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2418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Show the unstaged differences since the last commit	(working tree &amp; stage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area)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diff --staged	||	--cached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90855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Show the staged differences since the last commit (stage area &amp; repo)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33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</a:t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756310" y="2188286"/>
            <a:ext cx="8171815" cy="137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is an Internet hosting service for software development and version control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is source for project and sources	[gitlab, bitbucket]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simplify using 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1" name="Google Shape;21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0888" y="3977640"/>
            <a:ext cx="2295143" cy="2295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756310" y="631063"/>
            <a:ext cx="459486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Clone	a Remote Repo</a:t>
            </a:r>
            <a:endParaRPr/>
          </a:p>
        </p:txBody>
      </p:sp>
      <p:sp>
        <p:nvSpPr>
          <p:cNvPr id="217" name="Google Shape;217;p33"/>
          <p:cNvSpPr txBox="1"/>
          <p:nvPr/>
        </p:nvSpPr>
        <p:spPr>
          <a:xfrm>
            <a:off x="756310" y="2062957"/>
            <a:ext cx="4378325" cy="203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Https or ssh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clone https://github.com/****/*****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marR="54610" lvl="0" indent="0" algn="l" rtl="0">
              <a:lnSpc>
                <a:spcPct val="145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clone the entire repository to your local machine in a new directory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rebuchet MS"/>
                <a:ea typeface="Trebuchet MS"/>
                <a:cs typeface="Trebuchet MS"/>
                <a:sym typeface="Trebuchet MS"/>
              </a:rPr>
              <a:t>Git SSH Keys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756310" y="2188286"/>
            <a:ext cx="8245475" cy="325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6870" marR="5080" lvl="0" indent="-3448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SSH keys come in pairs, public key that gets shared with services like GitHub and a private key that is stored only on your computer. If the keys match, you’re granted access.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2065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Generate a new SSH key pairs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ssh-keygen -t ed25519 -C "your e-mail“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None/>
            </a:pP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Copy the public key to your GitHub account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cat ~/.ssh/id_ed25519.pub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0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5FCAEE"/>
                </a:solidFill>
                <a:latin typeface="Trebuchet MS"/>
                <a:ea typeface="Trebuchet MS"/>
                <a:cs typeface="Trebuchet MS"/>
                <a:sym typeface="Trebuchet MS"/>
              </a:rPr>
              <a:t>Add / Remove Remote Repo from existing project</a:t>
            </a:r>
            <a:endParaRPr sz="3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756310" y="2062957"/>
            <a:ext cx="7476600" cy="28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add origin https://github.com/Nadamostafa2/anyrepo.git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add a remote repository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-v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list the remote repositories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97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1F2228"/>
                </a:solidFill>
                <a:latin typeface="Trebuchet MS"/>
                <a:ea typeface="Trebuchet MS"/>
                <a:cs typeface="Trebuchet MS"/>
                <a:sym typeface="Trebuchet MS"/>
              </a:rPr>
              <a:t>git remote rm origin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469900" lvl="0" indent="0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to remove the remote repo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use version control?</a:t>
            </a:r>
            <a:endParaRPr/>
          </a:p>
        </p:txBody>
      </p:sp>
      <p:sp>
        <p:nvSpPr>
          <p:cNvPr id="235" name="Google Shape;235;p36"/>
          <p:cNvSpPr txBox="1"/>
          <p:nvPr/>
        </p:nvSpPr>
        <p:spPr>
          <a:xfrm>
            <a:off x="756310" y="1833969"/>
            <a:ext cx="8304530" cy="2430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1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Developers contribute to the same project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helps teams collaborate to fix issues &amp; create new features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You can control and backup your code (revert changes)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Accelerates product delivery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Keeping Track of All the Modifications Made to the Code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 sz="18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Working on a new features without affecting the working code	by branching</a:t>
            </a:r>
            <a:endParaRPr sz="18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>
            <a:spLocks noGrp="1"/>
          </p:cNvSpPr>
          <p:nvPr>
            <p:ph type="title"/>
          </p:nvPr>
        </p:nvSpPr>
        <p:spPr>
          <a:xfrm>
            <a:off x="756310" y="631062"/>
            <a:ext cx="65551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Lab</a:t>
            </a:r>
            <a:endParaRPr/>
          </a:p>
        </p:txBody>
      </p:sp>
      <p:sp>
        <p:nvSpPr>
          <p:cNvPr id="241" name="Google Shape;241;p37"/>
          <p:cNvSpPr txBox="1">
            <a:spLocks noGrp="1"/>
          </p:cNvSpPr>
          <p:nvPr>
            <p:ph type="body" idx="1"/>
          </p:nvPr>
        </p:nvSpPr>
        <p:spPr>
          <a:xfrm>
            <a:off x="756310" y="2062957"/>
            <a:ext cx="7727400" cy="29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8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/>
              <a:t>Install Git.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/>
              <a:t>Create an account on GitHub.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/>
              <a:t>Create a new local repo and a remote repo on GitHub, then make a file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  <a:p>
            <a:pPr marL="35687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/>
              <a:t>contains your full name , then push it to the remote repo .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/>
              <a:t>Create a new remote repo on GitHub and clone it.</a:t>
            </a:r>
            <a:endParaRPr sz="1450">
              <a:latin typeface="Lucida Sans"/>
              <a:ea typeface="Lucida Sans"/>
              <a:cs typeface="Lucida Sans"/>
              <a:sym typeface="Lucid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2065"/>
              </a:spcBef>
              <a:spcAft>
                <a:spcPts val="0"/>
              </a:spcAft>
              <a:buNone/>
            </a:pPr>
            <a:endParaRPr sz="1450">
              <a:latin typeface="Lucida Sans"/>
              <a:ea typeface="Lucida Sans"/>
              <a:cs typeface="Lucida Sans"/>
              <a:sym typeface="Lucida Sans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5FCAEE"/>
                </a:solidFill>
                <a:latin typeface="Lucida Sans"/>
                <a:ea typeface="Lucida Sans"/>
                <a:cs typeface="Lucida Sans"/>
                <a:sym typeface="Lucida Sans"/>
              </a:rPr>
              <a:t>▶	</a:t>
            </a:r>
            <a:r>
              <a:rPr lang="en-US"/>
              <a:t>Send me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🡺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/>
              <a:t>nadamostafa44127</a:t>
            </a:r>
            <a:r>
              <a:rPr lang="en-US" u="sng">
                <a:solidFill>
                  <a:schemeClr val="hlink"/>
                </a:solidFill>
                <a:hlinkClick r:id="rId3"/>
              </a:rPr>
              <a:t>@gmail.com</a:t>
            </a:r>
            <a:r>
              <a:rPr lang="en-US" sz="14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1" ma:contentTypeDescription="Create a new document." ma:contentTypeScope="" ma:versionID="eab151aa0dcf0e19900e4f9f5a2634e6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a698e43cfee7f2d6bb3820b53aec397f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94b558b-03e8-420f-8500-4935e605024d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1FF3D5-A6A6-470B-BED2-E0094F73B8B4}">
  <ds:schemaRefs>
    <ds:schemaRef ds:uri="7473d3bc-240f-4a29-9442-65c9b41a6a64"/>
    <ds:schemaRef ds:uri="a9426f9f-2a6a-403d-9984-0f17e3e6377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2CE428C-5025-4816-858D-E4DD892B1F35}">
  <ds:schemaRefs>
    <ds:schemaRef ds:uri="7473d3bc-240f-4a29-9442-65c9b41a6a64"/>
    <ds:schemaRef ds:uri="a9426f9f-2a6a-403d-9984-0f17e3e637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6C3DEB-23F4-4259-8EE3-5F22C83B35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31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What is version control?</vt:lpstr>
      <vt:lpstr>Version Control Terminologies</vt:lpstr>
      <vt:lpstr>PowerPoint Presentation</vt:lpstr>
      <vt:lpstr>PowerPoint Presentation</vt:lpstr>
      <vt:lpstr>PowerPoint Presentation</vt:lpstr>
      <vt:lpstr>Disadvantages</vt:lpstr>
      <vt:lpstr>Distributed VCS</vt:lpstr>
      <vt:lpstr>PowerPoint Presentation</vt:lpstr>
      <vt:lpstr>Advantages</vt:lpstr>
      <vt:lpstr>Distributed VCS Examples</vt:lpstr>
      <vt:lpstr>Git history</vt:lpstr>
      <vt:lpstr>Advantages of git</vt:lpstr>
      <vt:lpstr>PowerPoint Presentation</vt:lpstr>
      <vt:lpstr>PowerPoint Presentation</vt:lpstr>
      <vt:lpstr>Git file states</vt:lpstr>
      <vt:lpstr>First Time Git Setup</vt:lpstr>
      <vt:lpstr>Starting a repo</vt:lpstr>
      <vt:lpstr>Create a new file</vt:lpstr>
      <vt:lpstr>Add to Staging Area</vt:lpstr>
      <vt:lpstr>Commit changes</vt:lpstr>
      <vt:lpstr>Add &amp; Commit</vt:lpstr>
      <vt:lpstr>Git Logs</vt:lpstr>
      <vt:lpstr>PowerPoint Presentation</vt:lpstr>
      <vt:lpstr>Git diff</vt:lpstr>
      <vt:lpstr>Github</vt:lpstr>
      <vt:lpstr>Clone a Remote Repo</vt:lpstr>
      <vt:lpstr>Git SSH Keys</vt:lpstr>
      <vt:lpstr>Add / Remove Remote Repo from existing project</vt:lpstr>
      <vt:lpstr>Why use version control?</vt:lpstr>
      <vt:lpstr>Lab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2025-12-01T12:03:09Z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  <property fmtid="{D5CDD505-2E9C-101B-9397-08002B2CF9AE}" pid="3" name="MediaServiceImageTags">
    <vt:lpwstr/>
  </property>
</Properties>
</file>