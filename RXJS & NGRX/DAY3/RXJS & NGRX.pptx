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39"/>
  </p:notesMasterIdLst>
  <p:sldIdLst>
    <p:sldId id="257" r:id="rId4"/>
    <p:sldId id="320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40"/>
    <p:sldId id="292" r:id="rId41"/>
    <p:sldId id="321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</p:sldIdLst>
  <p:sldSz cx="12192000" cy="68580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AF3EC6"/>
    <a:srgbClr val="C00000"/>
    <a:srgbClr val="F2B800"/>
    <a:srgbClr val="AC0000"/>
    <a:srgbClr val="F6DEF3"/>
    <a:srgbClr val="DCA8E6"/>
    <a:srgbClr val="2B2B2B"/>
    <a:srgbClr val="DEA900"/>
    <a:srgbClr val="FFF3CD"/>
    <a:srgbClr val="FFED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2" Type="http://schemas.openxmlformats.org/officeDocument/2006/relationships/tableStyles" Target="tableStyles.xml"/><Relationship Id="rId71" Type="http://schemas.openxmlformats.org/officeDocument/2006/relationships/viewProps" Target="viewProps.xml"/><Relationship Id="rId70" Type="http://schemas.openxmlformats.org/officeDocument/2006/relationships/presProps" Target="presProps.xml"/><Relationship Id="rId7" Type="http://schemas.openxmlformats.org/officeDocument/2006/relationships/slide" Target="slides/slide4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notesMaster" Target="notesMasters/notesMaster1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6T14:31: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0.000 1.000 24575,'0.000'0.000'-8191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6T14:31: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1.000 1.000 24575,'0.000'0.000'-8191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6T14:31: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0.000 1.000 24575,'0.000'0.000'-8191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15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EEB88-225B-4C9B-836B-EE08D8B1DD68}" type="datetimeFigureOut">
              <a:rPr lang="en-US" smtClean="0"/>
            </a:fld>
            <a:endParaRPr lang="en-US"/>
          </a:p>
        </p:txBody>
      </p:sp>
      <p:sp>
        <p:nvSpPr>
          <p:cNvPr id="104915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endParaRPr lang="en-US"/>
          </a:p>
        </p:txBody>
      </p:sp>
      <p:sp>
        <p:nvSpPr>
          <p:cNvPr id="104915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15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15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64914-9343-486A-84B2-3F25239F480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90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6C964914-9343-486A-84B2-3F25239F480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1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6C964914-9343-486A-84B2-3F25239F480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2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2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6C964914-9343-486A-84B2-3F25239F480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4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6C964914-9343-486A-84B2-3F25239F480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4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9047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6C964914-9343-486A-84B2-3F25239F480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6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9061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6C964914-9343-486A-84B2-3F25239F480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7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9071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6C964914-9343-486A-84B2-3F25239F480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8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9083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6C964914-9343-486A-84B2-3F25239F480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9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9093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6C964914-9343-486A-84B2-3F25239F480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10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1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1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4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125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912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12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130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131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13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13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3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5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136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9137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13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9139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14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14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4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10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10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0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14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4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6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147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148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914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15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5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3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114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9115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911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11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1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12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1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1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03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10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10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10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10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1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1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4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125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912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12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130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131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13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13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3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5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136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9137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13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9139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14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14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4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10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10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0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14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4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6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147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148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914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15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5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3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114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9115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911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11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1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12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1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1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03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10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10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10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1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9.png"/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5.png"/><Relationship Id="rId3" Type="http://schemas.openxmlformats.org/officeDocument/2006/relationships/image" Target="../media/image6.png"/><Relationship Id="rId2" Type="http://schemas.openxmlformats.org/officeDocument/2006/relationships/image" Target="../media/image24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Relationship Id="rId3" Type="http://schemas.openxmlformats.org/officeDocument/2006/relationships/image" Target="../media/image26.png"/><Relationship Id="rId2" Type="http://schemas.openxmlformats.org/officeDocument/2006/relationships/customXml" Target="../ink/ink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4.jpeg"/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jpe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jpe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7.jpe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jpe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9.jpe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0.jpe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1.jpe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2.jpeg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3.jpeg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4.jpeg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5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6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3.jpeg"/><Relationship Id="rId3" Type="http://schemas.openxmlformats.org/officeDocument/2006/relationships/image" Target="../media/image52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4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1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2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4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5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6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7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8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1.jpeg"/><Relationship Id="rId4" Type="http://schemas.openxmlformats.org/officeDocument/2006/relationships/image" Target="../media/image70.jpeg"/><Relationship Id="rId3" Type="http://schemas.openxmlformats.org/officeDocument/2006/relationships/image" Target="../media/image69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2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4.png"/><Relationship Id="rId1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84.png"/><Relationship Id="rId1" Type="http://schemas.openxmlformats.org/officeDocument/2006/relationships/hyperlink" Target="http://www.linkedin.com/in/mahmoud-abdelaziz-11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Freeform 3"/>
          <p:cNvSpPr/>
          <p:nvPr/>
        </p:nvSpPr>
        <p:spPr>
          <a:xfrm rot="18900000">
            <a:off x="4445444" y="2389469"/>
            <a:ext cx="3533828" cy="1278603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18999"/>
            </a:blip>
            <a:stretch>
              <a:fillRect/>
            </a:stretch>
          </a:blipFill>
        </p:spPr>
      </p:sp>
      <p:sp>
        <p:nvSpPr>
          <p:cNvPr id="1048651" name="Title 1"/>
          <p:cNvSpPr>
            <a:spLocks noGrp="1"/>
          </p:cNvSpPr>
          <p:nvPr>
            <p:ph type="ctrTitle"/>
          </p:nvPr>
        </p:nvSpPr>
        <p:spPr>
          <a:xfrm>
            <a:off x="3776138" y="3006043"/>
            <a:ext cx="4504266" cy="896993"/>
          </a:xfrm>
        </p:spPr>
        <p:txBody>
          <a:bodyPr>
            <a:normAutofit fontScale="90000"/>
          </a:bodyPr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RXJS &amp; NGRX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8652" name="Subtitle 2"/>
          <p:cNvSpPr>
            <a:spLocks noGrp="1"/>
          </p:cNvSpPr>
          <p:nvPr>
            <p:ph type="subTitle" idx="1"/>
          </p:nvPr>
        </p:nvSpPr>
        <p:spPr>
          <a:xfrm>
            <a:off x="3679659" y="5406877"/>
            <a:ext cx="5065398" cy="422213"/>
          </a:xfrm>
        </p:spPr>
        <p:txBody>
          <a:bodyPr>
            <a:normAutofit fontScale="83333" lnSpcReduction="10000"/>
          </a:bodyPr>
          <a:p>
            <a:r>
              <a:rPr lang="en-US" dirty="0">
                <a:solidFill>
                  <a:srgbClr val="2B2B2B"/>
                </a:solidFill>
                <a:latin typeface="Bahnschrift" panose="020B0502040204020203" pitchFamily="34" charset="0"/>
              </a:rPr>
              <a:t>By : Mahmoud Abdelaziz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 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a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n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d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 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O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m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a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r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 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W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a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l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i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d</a:t>
            </a:r>
            <a:endParaRPr lang="zh-CN" altLang="en-US"/>
          </a:p>
        </p:txBody>
      </p:sp>
      <p:sp>
        <p:nvSpPr>
          <p:cNvPr id="104865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p>
            <a:endParaRPr lang="en-US"/>
          </a:p>
        </p:txBody>
      </p:sp>
      <p:pic>
        <p:nvPicPr>
          <p:cNvPr id="2097167" name="Graphic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071" y="800191"/>
            <a:ext cx="1766545" cy="1858739"/>
          </a:xfrm>
          <a:prstGeom prst="rect">
            <a:avLst/>
          </a:prstGeom>
        </p:spPr>
      </p:pic>
      <p:pic>
        <p:nvPicPr>
          <p:cNvPr id="2097168" name="Graphic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524" y="887347"/>
            <a:ext cx="1766544" cy="1868345"/>
          </a:xfrm>
          <a:prstGeom prst="rect">
            <a:avLst/>
          </a:prstGeom>
        </p:spPr>
      </p:pic>
      <p:sp>
        <p:nvSpPr>
          <p:cNvPr id="1048654" name="TextBox 14"/>
          <p:cNvSpPr txBox="1"/>
          <p:nvPr/>
        </p:nvSpPr>
        <p:spPr>
          <a:xfrm>
            <a:off x="2350370" y="4566344"/>
            <a:ext cx="8667819" cy="358141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Reactive Extensions Library for JavaScript &amp; 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Angular Reactive Extensions (Redux)</a:t>
            </a:r>
            <a:endParaRPr lang="en-US" dirty="0"/>
          </a:p>
        </p:txBody>
      </p:sp>
      <p:sp>
        <p:nvSpPr>
          <p:cNvPr id="1048655" name="Freeform 6"/>
          <p:cNvSpPr/>
          <p:nvPr/>
        </p:nvSpPr>
        <p:spPr>
          <a:xfrm rot="13500000">
            <a:off x="4543609" y="3751913"/>
            <a:ext cx="289686" cy="834174"/>
          </a:xfrm>
          <a:custGeom>
            <a:avLst/>
            <a:gdLst/>
            <a:ahLst/>
            <a:cxnLst/>
            <a:rect l="l" t="t" r="r" b="b"/>
            <a:pathLst>
              <a:path w="665118" h="1915261">
                <a:moveTo>
                  <a:pt x="0" y="0"/>
                </a:moveTo>
                <a:lnTo>
                  <a:pt x="665117" y="0"/>
                </a:lnTo>
                <a:lnTo>
                  <a:pt x="665117" y="1915260"/>
                </a:lnTo>
                <a:lnTo>
                  <a:pt x="0" y="1915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48656" name="Freeform 5"/>
          <p:cNvSpPr/>
          <p:nvPr/>
        </p:nvSpPr>
        <p:spPr>
          <a:xfrm rot="18367702" flipH="1">
            <a:off x="7559127" y="3768399"/>
            <a:ext cx="248228" cy="741986"/>
          </a:xfrm>
          <a:custGeom>
            <a:avLst/>
            <a:gdLst/>
            <a:ahLst/>
            <a:cxnLst/>
            <a:rect l="l" t="t" r="r" b="b"/>
            <a:pathLst>
              <a:path w="469811" h="1404327">
                <a:moveTo>
                  <a:pt x="469811" y="0"/>
                </a:moveTo>
                <a:lnTo>
                  <a:pt x="0" y="0"/>
                </a:lnTo>
                <a:lnTo>
                  <a:pt x="0" y="1404326"/>
                </a:lnTo>
                <a:lnTo>
                  <a:pt x="469811" y="1404326"/>
                </a:lnTo>
                <a:lnTo>
                  <a:pt x="469811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48657" name="Freeform 8"/>
          <p:cNvSpPr/>
          <p:nvPr/>
        </p:nvSpPr>
        <p:spPr>
          <a:xfrm rot="20917505" flipH="1">
            <a:off x="9945050" y="4640721"/>
            <a:ext cx="190661" cy="278892"/>
          </a:xfrm>
          <a:custGeom>
            <a:avLst/>
            <a:gdLst/>
            <a:ahLst/>
            <a:cxnLst/>
            <a:rect l="l" t="t" r="r" b="b"/>
            <a:pathLst>
              <a:path w="740886" h="1083743">
                <a:moveTo>
                  <a:pt x="740886" y="0"/>
                </a:moveTo>
                <a:lnTo>
                  <a:pt x="0" y="0"/>
                </a:lnTo>
                <a:lnTo>
                  <a:pt x="0" y="1083743"/>
                </a:lnTo>
                <a:lnTo>
                  <a:pt x="740886" y="1083743"/>
                </a:lnTo>
                <a:lnTo>
                  <a:pt x="740886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p>
            <a:r>
              <a:rPr lang="zh-CN" altLang="en-US"/>
              <a:t>
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86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8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8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486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8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48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486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48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48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486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5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Freeform 3"/>
          <p:cNvSpPr/>
          <p:nvPr/>
        </p:nvSpPr>
        <p:spPr>
          <a:xfrm rot="18900000">
            <a:off x="4445444" y="2389469"/>
            <a:ext cx="3533828" cy="1278603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18999"/>
            </a:blip>
            <a:stretch>
              <a:fillRect/>
            </a:stretch>
          </a:blipFill>
        </p:spPr>
      </p:sp>
      <p:sp>
        <p:nvSpPr>
          <p:cNvPr id="1048651" name="Title 1"/>
          <p:cNvSpPr>
            <a:spLocks noGrp="1"/>
          </p:cNvSpPr>
          <p:nvPr>
            <p:ph type="ctrTitle"/>
          </p:nvPr>
        </p:nvSpPr>
        <p:spPr>
          <a:xfrm>
            <a:off x="3776138" y="3006043"/>
            <a:ext cx="4504266" cy="896993"/>
          </a:xfrm>
        </p:spPr>
        <p:txBody>
          <a:bodyPr>
            <a:normAutofit fontScale="90000"/>
          </a:bodyPr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Day 01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865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p>
            <a:endParaRPr lang="en-US"/>
          </a:p>
        </p:txBody>
      </p:sp>
      <p:sp>
        <p:nvSpPr>
          <p:cNvPr id="1048657" name="Freeform 8"/>
          <p:cNvSpPr/>
          <p:nvPr/>
        </p:nvSpPr>
        <p:spPr>
          <a:xfrm rot="20917505" flipH="1">
            <a:off x="9945050" y="4640721"/>
            <a:ext cx="190661" cy="278892"/>
          </a:xfrm>
          <a:custGeom>
            <a:avLst/>
            <a:gdLst/>
            <a:ahLst/>
            <a:cxnLst/>
            <a:rect l="l" t="t" r="r" b="b"/>
            <a:pathLst>
              <a:path w="740886" h="1083743">
                <a:moveTo>
                  <a:pt x="740886" y="0"/>
                </a:moveTo>
                <a:lnTo>
                  <a:pt x="0" y="0"/>
                </a:lnTo>
                <a:lnTo>
                  <a:pt x="0" y="1083743"/>
                </a:lnTo>
                <a:lnTo>
                  <a:pt x="740886" y="1083743"/>
                </a:lnTo>
                <a:lnTo>
                  <a:pt x="740886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p>
            <a:r>
              <a:rPr lang="zh-CN" altLang="en-US"/>
              <a:t>
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86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9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58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Synchronous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</a:t>
            </a:r>
            <a:r>
              <a:rPr lang="en-US" sz="3200" dirty="0">
                <a:solidFill>
                  <a:srgbClr val="EE0000"/>
                </a:solidFill>
                <a:latin typeface="Bahnschrift" panose="020B0502040204020203" pitchFamily="34" charset="0"/>
              </a:rPr>
              <a:t>vs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Asynchronous</a:t>
            </a:r>
            <a:endParaRPr lang="en-US" sz="3200" dirty="0">
              <a:latin typeface="Google Sans"/>
            </a:endParaRPr>
          </a:p>
        </p:txBody>
      </p:sp>
      <p:sp>
        <p:nvSpPr>
          <p:cNvPr id="1048659" name="Oval 7"/>
          <p:cNvSpPr/>
          <p:nvPr/>
        </p:nvSpPr>
        <p:spPr>
          <a:xfrm>
            <a:off x="501985" y="6074244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660" name="TextBox 8"/>
          <p:cNvSpPr txBox="1"/>
          <p:nvPr/>
        </p:nvSpPr>
        <p:spPr>
          <a:xfrm>
            <a:off x="545671" y="6101652"/>
            <a:ext cx="325583" cy="3581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1</a:t>
            </a:r>
            <a:endParaRPr lang="zh-CN" altLang="en-US"/>
          </a:p>
        </p:txBody>
      </p:sp>
      <p:pic>
        <p:nvPicPr>
          <p:cNvPr id="2097170" name="Picture 2097169"/>
          <p:cNvPicPr/>
          <p:nvPr/>
        </p:nvPicPr>
        <p:blipFill>
          <a:blip r:embed="rId2"/>
          <a:stretch>
            <a:fillRect/>
          </a:stretch>
        </p:blipFill>
        <p:spPr>
          <a:xfrm>
            <a:off x="1462655" y="1139914"/>
            <a:ext cx="9131224" cy="57180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61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Synchronous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</a:t>
            </a:r>
            <a:r>
              <a:rPr lang="en-US" sz="3200" dirty="0">
                <a:solidFill>
                  <a:srgbClr val="EE0000"/>
                </a:solidFill>
                <a:latin typeface="Bahnschrift" panose="020B0502040204020203" pitchFamily="34" charset="0"/>
              </a:rPr>
              <a:t>vs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Asynchronous</a:t>
            </a:r>
            <a:endParaRPr lang="en-US" sz="3200" dirty="0">
              <a:latin typeface="Google Sans"/>
            </a:endParaRPr>
          </a:p>
        </p:txBody>
      </p:sp>
      <p:pic>
        <p:nvPicPr>
          <p:cNvPr id="2097172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359" y="1230760"/>
            <a:ext cx="9333816" cy="4847272"/>
          </a:xfrm>
          <a:prstGeom prst="rect">
            <a:avLst/>
          </a:prstGeom>
        </p:spPr>
      </p:pic>
      <p:sp>
        <p:nvSpPr>
          <p:cNvPr id="1048662" name="Oval 7"/>
          <p:cNvSpPr/>
          <p:nvPr/>
        </p:nvSpPr>
        <p:spPr>
          <a:xfrm>
            <a:off x="341573" y="6051073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663" name="TextBox 8"/>
          <p:cNvSpPr txBox="1"/>
          <p:nvPr/>
        </p:nvSpPr>
        <p:spPr>
          <a:xfrm>
            <a:off x="393110" y="6078481"/>
            <a:ext cx="309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2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3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64" name="Rectangle: Rounded Corners 7"/>
          <p:cNvSpPr/>
          <p:nvPr/>
        </p:nvSpPr>
        <p:spPr>
          <a:xfrm>
            <a:off x="1669144" y="285452"/>
            <a:ext cx="869889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 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Introduction</a:t>
            </a:r>
            <a:endParaRPr lang="en-US" sz="3200" dirty="0">
              <a:latin typeface="Google Sans"/>
            </a:endParaRPr>
          </a:p>
        </p:txBody>
      </p:sp>
      <p:pic>
        <p:nvPicPr>
          <p:cNvPr id="2097174" name="Graphic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03" y="6081533"/>
            <a:ext cx="458164" cy="458164"/>
          </a:xfrm>
          <a:prstGeom prst="rect">
            <a:avLst/>
          </a:prstGeom>
        </p:spPr>
      </p:pic>
      <p:sp>
        <p:nvSpPr>
          <p:cNvPr id="1048665" name="TextBox 10"/>
          <p:cNvSpPr txBox="1"/>
          <p:nvPr/>
        </p:nvSpPr>
        <p:spPr>
          <a:xfrm>
            <a:off x="1436914" y="1117344"/>
            <a:ext cx="2544837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400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Callback Hell:</a:t>
            </a:r>
            <a:endParaRPr lang="en-US" sz="2400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pic>
        <p:nvPicPr>
          <p:cNvPr id="209717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876" y="1652322"/>
            <a:ext cx="8631162" cy="4516975"/>
          </a:xfrm>
          <a:prstGeom prst="rect">
            <a:avLst/>
          </a:prstGeom>
        </p:spPr>
      </p:pic>
      <p:sp>
        <p:nvSpPr>
          <p:cNvPr id="1048666" name="Isosceles Triangle 6"/>
          <p:cNvSpPr/>
          <p:nvPr/>
        </p:nvSpPr>
        <p:spPr>
          <a:xfrm rot="5400000">
            <a:off x="2115804" y="2937387"/>
            <a:ext cx="2546941" cy="2366208"/>
          </a:xfrm>
          <a:prstGeom prst="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Freeform 4"/>
          <p:cNvSpPr/>
          <p:nvPr/>
        </p:nvSpPr>
        <p:spPr>
          <a:xfrm rot="4352485" flipH="1">
            <a:off x="4421060" y="2220681"/>
            <a:ext cx="908483" cy="1746117"/>
          </a:xfrm>
          <a:custGeom>
            <a:avLst/>
            <a:gdLst/>
            <a:ahLst/>
            <a:cxnLst/>
            <a:rect l="l" t="t" r="r" b="b"/>
            <a:pathLst>
              <a:path w="1308604" h="2080151">
                <a:moveTo>
                  <a:pt x="1308604" y="0"/>
                </a:moveTo>
                <a:lnTo>
                  <a:pt x="0" y="0"/>
                </a:lnTo>
                <a:lnTo>
                  <a:pt x="0" y="2080151"/>
                </a:lnTo>
                <a:lnTo>
                  <a:pt x="1308604" y="2080151"/>
                </a:lnTo>
                <a:lnTo>
                  <a:pt x="1308604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>
            <a:endParaRPr lang="en-US" dirty="0"/>
          </a:p>
        </p:txBody>
      </p:sp>
      <p:sp>
        <p:nvSpPr>
          <p:cNvPr id="1048668" name="TextBox 10"/>
          <p:cNvSpPr txBox="1"/>
          <p:nvPr/>
        </p:nvSpPr>
        <p:spPr>
          <a:xfrm>
            <a:off x="5528177" y="1775324"/>
            <a:ext cx="147596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400" spc="178" dirty="0">
                <a:solidFill>
                  <a:srgbClr val="425259"/>
                </a:solidFill>
                <a:latin typeface="Cavolini" panose="020B0502040204020203" pitchFamily="66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Coding</a:t>
            </a:r>
            <a:endParaRPr lang="en-US" sz="2400" spc="178" dirty="0">
              <a:solidFill>
                <a:srgbClr val="425259"/>
              </a:solidFill>
              <a:latin typeface="Cavolini" panose="020B0502040204020203" pitchFamily="66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pic>
        <p:nvPicPr>
          <p:cNvPr id="2097176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69" name="Rectangle: Rounded Corners 7"/>
          <p:cNvSpPr/>
          <p:nvPr/>
        </p:nvSpPr>
        <p:spPr>
          <a:xfrm>
            <a:off x="1669144" y="285452"/>
            <a:ext cx="869889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 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Introduction</a:t>
            </a:r>
            <a:endParaRPr lang="en-US" sz="3200" dirty="0">
              <a:latin typeface="Google Sans"/>
            </a:endParaRPr>
          </a:p>
        </p:txBody>
      </p:sp>
      <p:sp>
        <p:nvSpPr>
          <p:cNvPr id="1048670" name="Freeform 2"/>
          <p:cNvSpPr/>
          <p:nvPr/>
        </p:nvSpPr>
        <p:spPr>
          <a:xfrm>
            <a:off x="2695977" y="3782945"/>
            <a:ext cx="2160321" cy="1349830"/>
          </a:xfrm>
          <a:custGeom>
            <a:avLst/>
            <a:gdLst/>
            <a:ahLst/>
            <a:cxnLst/>
            <a:rect l="l" t="t" r="r" b="b"/>
            <a:pathLst>
              <a:path w="4593864" h="4142830">
                <a:moveTo>
                  <a:pt x="0" y="0"/>
                </a:moveTo>
                <a:lnTo>
                  <a:pt x="4593864" y="0"/>
                </a:lnTo>
                <a:lnTo>
                  <a:pt x="4593864" y="4142830"/>
                </a:lnTo>
                <a:lnTo>
                  <a:pt x="0" y="4142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71" name="Freeform 4"/>
          <p:cNvSpPr/>
          <p:nvPr/>
        </p:nvSpPr>
        <p:spPr>
          <a:xfrm rot="17547060">
            <a:off x="6812781" y="2306951"/>
            <a:ext cx="884158" cy="1618206"/>
          </a:xfrm>
          <a:custGeom>
            <a:avLst/>
            <a:gdLst/>
            <a:ahLst/>
            <a:cxnLst/>
            <a:rect l="l" t="t" r="r" b="b"/>
            <a:pathLst>
              <a:path w="1308604" h="2080151">
                <a:moveTo>
                  <a:pt x="1308604" y="0"/>
                </a:moveTo>
                <a:lnTo>
                  <a:pt x="0" y="0"/>
                </a:lnTo>
                <a:lnTo>
                  <a:pt x="0" y="2080151"/>
                </a:lnTo>
                <a:lnTo>
                  <a:pt x="1308604" y="2080151"/>
                </a:lnTo>
                <a:lnTo>
                  <a:pt x="1308604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>
            <a:endParaRPr lang="en-US" dirty="0"/>
          </a:p>
        </p:txBody>
      </p:sp>
      <p:sp>
        <p:nvSpPr>
          <p:cNvPr id="1048672" name="Freeform 2"/>
          <p:cNvSpPr/>
          <p:nvPr/>
        </p:nvSpPr>
        <p:spPr>
          <a:xfrm>
            <a:off x="5152461" y="1284514"/>
            <a:ext cx="2160321" cy="1349830"/>
          </a:xfrm>
          <a:custGeom>
            <a:avLst/>
            <a:gdLst/>
            <a:ahLst/>
            <a:cxnLst/>
            <a:rect l="l" t="t" r="r" b="b"/>
            <a:pathLst>
              <a:path w="4593864" h="4142830">
                <a:moveTo>
                  <a:pt x="0" y="0"/>
                </a:moveTo>
                <a:lnTo>
                  <a:pt x="4593864" y="0"/>
                </a:lnTo>
                <a:lnTo>
                  <a:pt x="4593864" y="4142830"/>
                </a:lnTo>
                <a:lnTo>
                  <a:pt x="0" y="4142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73" name="Freeform 2"/>
          <p:cNvSpPr/>
          <p:nvPr/>
        </p:nvSpPr>
        <p:spPr>
          <a:xfrm>
            <a:off x="7091305" y="3894666"/>
            <a:ext cx="2160321" cy="1349830"/>
          </a:xfrm>
          <a:custGeom>
            <a:avLst/>
            <a:gdLst/>
            <a:ahLst/>
            <a:cxnLst/>
            <a:rect l="l" t="t" r="r" b="b"/>
            <a:pathLst>
              <a:path w="4593864" h="4142830">
                <a:moveTo>
                  <a:pt x="0" y="0"/>
                </a:moveTo>
                <a:lnTo>
                  <a:pt x="4593864" y="0"/>
                </a:lnTo>
                <a:lnTo>
                  <a:pt x="4593864" y="4142830"/>
                </a:lnTo>
                <a:lnTo>
                  <a:pt x="0" y="4142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74" name="TextBox 10"/>
          <p:cNvSpPr txBox="1"/>
          <p:nvPr/>
        </p:nvSpPr>
        <p:spPr>
          <a:xfrm>
            <a:off x="2940374" y="4276215"/>
            <a:ext cx="1780708" cy="33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200" spc="178" dirty="0">
                <a:solidFill>
                  <a:srgbClr val="425259"/>
                </a:solidFill>
                <a:latin typeface="Cavolini" panose="020B0502040204020203" pitchFamily="66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Callback</a:t>
            </a:r>
            <a:endParaRPr lang="en-US" sz="2200" spc="178" dirty="0">
              <a:solidFill>
                <a:srgbClr val="425259"/>
              </a:solidFill>
              <a:latin typeface="Cavolini" panose="020B0502040204020203" pitchFamily="66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675" name="TextBox 10"/>
          <p:cNvSpPr txBox="1"/>
          <p:nvPr/>
        </p:nvSpPr>
        <p:spPr>
          <a:xfrm>
            <a:off x="7483094" y="4415692"/>
            <a:ext cx="1680258" cy="33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200" spc="178" dirty="0">
                <a:solidFill>
                  <a:srgbClr val="425259"/>
                </a:solidFill>
                <a:latin typeface="Cavolini" panose="020B0502040204020203" pitchFamily="66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Promise</a:t>
            </a:r>
            <a:endParaRPr lang="en-US" sz="2200" spc="178" dirty="0">
              <a:solidFill>
                <a:srgbClr val="425259"/>
              </a:solidFill>
              <a:latin typeface="Cavolini" panose="020B0502040204020203" pitchFamily="66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pic>
        <p:nvPicPr>
          <p:cNvPr id="2097177" name="Graphic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503" y="6094444"/>
            <a:ext cx="458164" cy="4581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86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8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8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486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8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48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486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48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48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71" grpId="0" animBg="1"/>
      <p:bldP spid="10486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8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76" name="Rectangle: Rounded Corners 7"/>
          <p:cNvSpPr/>
          <p:nvPr/>
        </p:nvSpPr>
        <p:spPr>
          <a:xfrm>
            <a:off x="1669144" y="285452"/>
            <a:ext cx="869889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 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Introduction</a:t>
            </a:r>
            <a:endParaRPr lang="en-US" sz="3200" dirty="0">
              <a:latin typeface="Google Sans"/>
            </a:endParaRPr>
          </a:p>
        </p:txBody>
      </p:sp>
      <p:sp>
        <p:nvSpPr>
          <p:cNvPr id="1048677" name="TextBox 10"/>
          <p:cNvSpPr txBox="1"/>
          <p:nvPr/>
        </p:nvSpPr>
        <p:spPr>
          <a:xfrm>
            <a:off x="1436915" y="1117344"/>
            <a:ext cx="211908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400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Promises: </a:t>
            </a:r>
            <a:endParaRPr lang="en-US" sz="2400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pic>
        <p:nvPicPr>
          <p:cNvPr id="209717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27" y="1579971"/>
            <a:ext cx="8752113" cy="4608774"/>
          </a:xfrm>
          <a:prstGeom prst="rect">
            <a:avLst/>
          </a:prstGeom>
        </p:spPr>
      </p:pic>
      <p:pic>
        <p:nvPicPr>
          <p:cNvPr id="2097180" name="Graphic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77" y="6088282"/>
            <a:ext cx="439839" cy="4398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1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78" name="Rectangle: Rounded Corners 7"/>
          <p:cNvSpPr/>
          <p:nvPr/>
        </p:nvSpPr>
        <p:spPr>
          <a:xfrm>
            <a:off x="1669144" y="285452"/>
            <a:ext cx="869889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 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Introduction</a:t>
            </a:r>
            <a:endParaRPr lang="en-US" sz="3200" dirty="0">
              <a:latin typeface="Google Sans"/>
            </a:endParaRPr>
          </a:p>
        </p:txBody>
      </p:sp>
      <p:sp>
        <p:nvSpPr>
          <p:cNvPr id="1048679" name="TextBox 10"/>
          <p:cNvSpPr txBox="1"/>
          <p:nvPr/>
        </p:nvSpPr>
        <p:spPr>
          <a:xfrm>
            <a:off x="1436915" y="1117344"/>
            <a:ext cx="211908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400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Promises: </a:t>
            </a:r>
            <a:endParaRPr lang="en-US" sz="2400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pic>
        <p:nvPicPr>
          <p:cNvPr id="2097182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44" y="1987781"/>
            <a:ext cx="4698470" cy="3218009"/>
          </a:xfrm>
          <a:prstGeom prst="rect">
            <a:avLst/>
          </a:prstGeom>
        </p:spPr>
      </p:pic>
      <p:pic>
        <p:nvPicPr>
          <p:cNvPr id="2097183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943" y="1444404"/>
            <a:ext cx="3438095" cy="4304762"/>
          </a:xfrm>
          <a:prstGeom prst="rect">
            <a:avLst/>
          </a:prstGeom>
        </p:spPr>
      </p:pic>
      <p:pic>
        <p:nvPicPr>
          <p:cNvPr id="2097184" name="Graphic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49" y="6078032"/>
            <a:ext cx="461665" cy="4616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Freeform 4"/>
          <p:cNvSpPr/>
          <p:nvPr/>
        </p:nvSpPr>
        <p:spPr>
          <a:xfrm rot="4352485" flipH="1">
            <a:off x="4421060" y="2220681"/>
            <a:ext cx="908483" cy="1746117"/>
          </a:xfrm>
          <a:custGeom>
            <a:avLst/>
            <a:gdLst/>
            <a:ahLst/>
            <a:cxnLst/>
            <a:rect l="l" t="t" r="r" b="b"/>
            <a:pathLst>
              <a:path w="1308604" h="2080151">
                <a:moveTo>
                  <a:pt x="1308604" y="0"/>
                </a:moveTo>
                <a:lnTo>
                  <a:pt x="0" y="0"/>
                </a:lnTo>
                <a:lnTo>
                  <a:pt x="0" y="2080151"/>
                </a:lnTo>
                <a:lnTo>
                  <a:pt x="1308604" y="2080151"/>
                </a:lnTo>
                <a:lnTo>
                  <a:pt x="1308604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>
            <a:endParaRPr lang="en-US" dirty="0"/>
          </a:p>
        </p:txBody>
      </p:sp>
      <p:sp>
        <p:nvSpPr>
          <p:cNvPr id="1048681" name="TextBox 10"/>
          <p:cNvSpPr txBox="1"/>
          <p:nvPr/>
        </p:nvSpPr>
        <p:spPr>
          <a:xfrm>
            <a:off x="5528177" y="1775324"/>
            <a:ext cx="147596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400" spc="178" dirty="0">
                <a:solidFill>
                  <a:srgbClr val="425259"/>
                </a:solidFill>
                <a:latin typeface="Cavolini" panose="020B0502040204020203" pitchFamily="66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Coding</a:t>
            </a:r>
            <a:endParaRPr lang="en-US" sz="2400" spc="178" dirty="0">
              <a:solidFill>
                <a:srgbClr val="425259"/>
              </a:solidFill>
              <a:latin typeface="Cavolini" panose="020B0502040204020203" pitchFamily="66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pic>
        <p:nvPicPr>
          <p:cNvPr id="2097185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82" name="Rectangle: Rounded Corners 7"/>
          <p:cNvSpPr/>
          <p:nvPr/>
        </p:nvSpPr>
        <p:spPr>
          <a:xfrm>
            <a:off x="1669144" y="285452"/>
            <a:ext cx="869889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 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Introduction</a:t>
            </a:r>
            <a:endParaRPr lang="en-US" sz="3200" dirty="0">
              <a:latin typeface="Google Sans"/>
            </a:endParaRPr>
          </a:p>
        </p:txBody>
      </p:sp>
      <p:sp>
        <p:nvSpPr>
          <p:cNvPr id="1048683" name="Freeform 2"/>
          <p:cNvSpPr/>
          <p:nvPr/>
        </p:nvSpPr>
        <p:spPr>
          <a:xfrm>
            <a:off x="2695977" y="3782945"/>
            <a:ext cx="2160321" cy="1349830"/>
          </a:xfrm>
          <a:custGeom>
            <a:avLst/>
            <a:gdLst/>
            <a:ahLst/>
            <a:cxnLst/>
            <a:rect l="l" t="t" r="r" b="b"/>
            <a:pathLst>
              <a:path w="4593864" h="4142830">
                <a:moveTo>
                  <a:pt x="0" y="0"/>
                </a:moveTo>
                <a:lnTo>
                  <a:pt x="4593864" y="0"/>
                </a:lnTo>
                <a:lnTo>
                  <a:pt x="4593864" y="4142830"/>
                </a:lnTo>
                <a:lnTo>
                  <a:pt x="0" y="4142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84" name="Freeform 4"/>
          <p:cNvSpPr/>
          <p:nvPr/>
        </p:nvSpPr>
        <p:spPr>
          <a:xfrm rot="17547060">
            <a:off x="6812781" y="2306951"/>
            <a:ext cx="884158" cy="1618206"/>
          </a:xfrm>
          <a:custGeom>
            <a:avLst/>
            <a:gdLst/>
            <a:ahLst/>
            <a:cxnLst/>
            <a:rect l="l" t="t" r="r" b="b"/>
            <a:pathLst>
              <a:path w="1308604" h="2080151">
                <a:moveTo>
                  <a:pt x="1308604" y="0"/>
                </a:moveTo>
                <a:lnTo>
                  <a:pt x="0" y="0"/>
                </a:lnTo>
                <a:lnTo>
                  <a:pt x="0" y="2080151"/>
                </a:lnTo>
                <a:lnTo>
                  <a:pt x="1308604" y="2080151"/>
                </a:lnTo>
                <a:lnTo>
                  <a:pt x="1308604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>
            <a:endParaRPr lang="en-US" dirty="0"/>
          </a:p>
        </p:txBody>
      </p:sp>
      <p:sp>
        <p:nvSpPr>
          <p:cNvPr id="1048685" name="Freeform 2"/>
          <p:cNvSpPr/>
          <p:nvPr/>
        </p:nvSpPr>
        <p:spPr>
          <a:xfrm>
            <a:off x="5152461" y="1284514"/>
            <a:ext cx="2160321" cy="1349830"/>
          </a:xfrm>
          <a:custGeom>
            <a:avLst/>
            <a:gdLst/>
            <a:ahLst/>
            <a:cxnLst/>
            <a:rect l="l" t="t" r="r" b="b"/>
            <a:pathLst>
              <a:path w="4593864" h="4142830">
                <a:moveTo>
                  <a:pt x="0" y="0"/>
                </a:moveTo>
                <a:lnTo>
                  <a:pt x="4593864" y="0"/>
                </a:lnTo>
                <a:lnTo>
                  <a:pt x="4593864" y="4142830"/>
                </a:lnTo>
                <a:lnTo>
                  <a:pt x="0" y="4142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86" name="Freeform 2"/>
          <p:cNvSpPr/>
          <p:nvPr/>
        </p:nvSpPr>
        <p:spPr>
          <a:xfrm>
            <a:off x="7091305" y="3894666"/>
            <a:ext cx="2160321" cy="1349830"/>
          </a:xfrm>
          <a:custGeom>
            <a:avLst/>
            <a:gdLst/>
            <a:ahLst/>
            <a:cxnLst/>
            <a:rect l="l" t="t" r="r" b="b"/>
            <a:pathLst>
              <a:path w="4593864" h="4142830">
                <a:moveTo>
                  <a:pt x="0" y="0"/>
                </a:moveTo>
                <a:lnTo>
                  <a:pt x="4593864" y="0"/>
                </a:lnTo>
                <a:lnTo>
                  <a:pt x="4593864" y="4142830"/>
                </a:lnTo>
                <a:lnTo>
                  <a:pt x="0" y="4142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87" name="TextBox 10"/>
          <p:cNvSpPr txBox="1"/>
          <p:nvPr/>
        </p:nvSpPr>
        <p:spPr>
          <a:xfrm>
            <a:off x="2940374" y="4276215"/>
            <a:ext cx="1780708" cy="33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200" spc="178" dirty="0">
                <a:solidFill>
                  <a:srgbClr val="425259"/>
                </a:solidFill>
                <a:latin typeface="Cavolini" panose="020B0502040204020203" pitchFamily="66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Callback</a:t>
            </a:r>
            <a:endParaRPr lang="en-US" sz="2200" spc="178" dirty="0">
              <a:solidFill>
                <a:srgbClr val="425259"/>
              </a:solidFill>
              <a:latin typeface="Cavolini" panose="020B0502040204020203" pitchFamily="66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688" name="TextBox 10"/>
          <p:cNvSpPr txBox="1"/>
          <p:nvPr/>
        </p:nvSpPr>
        <p:spPr>
          <a:xfrm>
            <a:off x="7483094" y="4415692"/>
            <a:ext cx="1680258" cy="33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200" spc="178" dirty="0">
                <a:solidFill>
                  <a:srgbClr val="425259"/>
                </a:solidFill>
                <a:latin typeface="Cavolini" panose="020B0502040204020203" pitchFamily="66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Promise</a:t>
            </a:r>
            <a:endParaRPr lang="en-US" sz="2200" spc="178" dirty="0">
              <a:solidFill>
                <a:srgbClr val="425259"/>
              </a:solidFill>
              <a:latin typeface="Cavolini" panose="020B0502040204020203" pitchFamily="66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pic>
        <p:nvPicPr>
          <p:cNvPr id="2097186" name="Graphic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27051">
            <a:off x="5961359" y="2615636"/>
            <a:ext cx="274214" cy="2277530"/>
          </a:xfrm>
          <a:prstGeom prst="rect">
            <a:avLst/>
          </a:prstGeom>
        </p:spPr>
      </p:pic>
      <p:sp>
        <p:nvSpPr>
          <p:cNvPr id="1048689" name="TextBox 10"/>
          <p:cNvSpPr txBox="1"/>
          <p:nvPr/>
        </p:nvSpPr>
        <p:spPr>
          <a:xfrm>
            <a:off x="5280608" y="5364146"/>
            <a:ext cx="147596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400" spc="178" dirty="0">
                <a:solidFill>
                  <a:srgbClr val="7030A0"/>
                </a:solidFill>
                <a:latin typeface="Cavolini" panose="020B0502040204020203" pitchFamily="66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RXJS</a:t>
            </a:r>
            <a:endParaRPr lang="en-US" sz="2400" spc="178" dirty="0">
              <a:solidFill>
                <a:srgbClr val="7030A0"/>
              </a:solidFill>
              <a:latin typeface="Cavolini" panose="020B0502040204020203" pitchFamily="66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690" name="Freeform 2"/>
          <p:cNvSpPr/>
          <p:nvPr/>
        </p:nvSpPr>
        <p:spPr>
          <a:xfrm>
            <a:off x="5142571" y="4823867"/>
            <a:ext cx="1662461" cy="1499238"/>
          </a:xfrm>
          <a:custGeom>
            <a:avLst/>
            <a:gdLst/>
            <a:ahLst/>
            <a:cxnLst/>
            <a:rect l="l" t="t" r="r" b="b"/>
            <a:pathLst>
              <a:path w="4593864" h="4142830">
                <a:moveTo>
                  <a:pt x="0" y="0"/>
                </a:moveTo>
                <a:lnTo>
                  <a:pt x="4593864" y="0"/>
                </a:lnTo>
                <a:lnTo>
                  <a:pt x="4593864" y="4142831"/>
                </a:lnTo>
                <a:lnTo>
                  <a:pt x="0" y="41428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2097187" name="Graphic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623" y="6057708"/>
            <a:ext cx="461666" cy="4616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97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97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97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486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8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48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486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48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48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8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8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91" name="Rectangle: Rounded Corners 7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 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RXJS  [</a:t>
            </a:r>
            <a:r>
              <a:rPr lang="en-US" sz="3000" dirty="0">
                <a:solidFill>
                  <a:srgbClr val="EE0000"/>
                </a:solidFill>
                <a:latin typeface="Bahnschrift" panose="020B0502040204020203" pitchFamily="34" charset="0"/>
              </a:rPr>
              <a:t>R</a:t>
            </a:r>
            <a:r>
              <a:rPr lang="en-US" sz="3000" dirty="0">
                <a:solidFill>
                  <a:schemeClr val="bg2"/>
                </a:solidFill>
                <a:latin typeface="Bahnschrift" panose="020B0502040204020203" pitchFamily="34" charset="0"/>
              </a:rPr>
              <a:t>eactive </a:t>
            </a:r>
            <a:r>
              <a:rPr lang="en-US" sz="3000" dirty="0">
                <a:solidFill>
                  <a:srgbClr val="EE0000"/>
                </a:solidFill>
                <a:latin typeface="Bahnschrift" panose="020B0502040204020203" pitchFamily="34" charset="0"/>
              </a:rPr>
              <a:t>E</a:t>
            </a:r>
            <a:r>
              <a:rPr lang="en-US" sz="3000" dirty="0">
                <a:solidFill>
                  <a:schemeClr val="bg2"/>
                </a:solidFill>
                <a:latin typeface="Bahnschrift" panose="020B0502040204020203" pitchFamily="34" charset="0"/>
              </a:rPr>
              <a:t>xtensions Library for </a:t>
            </a:r>
            <a:r>
              <a:rPr lang="en-US" sz="3000" dirty="0">
                <a:solidFill>
                  <a:srgbClr val="EE0000"/>
                </a:solidFill>
                <a:latin typeface="Bahnschrift" panose="020B0502040204020203" pitchFamily="34" charset="0"/>
              </a:rPr>
              <a:t>J</a:t>
            </a:r>
            <a:r>
              <a:rPr lang="en-US" sz="3000" dirty="0">
                <a:solidFill>
                  <a:schemeClr val="bg2"/>
                </a:solidFill>
                <a:latin typeface="Bahnschrift" panose="020B0502040204020203" pitchFamily="34" charset="0"/>
              </a:rPr>
              <a:t>avaScript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]</a:t>
            </a:r>
            <a:endParaRPr lang="en-US" sz="3200" dirty="0">
              <a:latin typeface="Google Sans"/>
            </a:endParaRPr>
          </a:p>
        </p:txBody>
      </p:sp>
      <p:pic>
        <p:nvPicPr>
          <p:cNvPr id="2097189" name="Graphic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46" y="4383310"/>
            <a:ext cx="3083756" cy="961953"/>
          </a:xfrm>
          <a:prstGeom prst="rect">
            <a:avLst/>
          </a:prstGeom>
        </p:spPr>
      </p:pic>
      <p:pic>
        <p:nvPicPr>
          <p:cNvPr id="2097190" name="Graphic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291" y="4397743"/>
            <a:ext cx="3083756" cy="947521"/>
          </a:xfrm>
          <a:prstGeom prst="rect">
            <a:avLst/>
          </a:prstGeom>
        </p:spPr>
      </p:pic>
      <p:pic>
        <p:nvPicPr>
          <p:cNvPr id="2097191" name="Graphic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236" y="4421934"/>
            <a:ext cx="3083756" cy="899139"/>
          </a:xfrm>
          <a:prstGeom prst="rect">
            <a:avLst/>
          </a:prstGeom>
        </p:spPr>
      </p:pic>
      <p:sp>
        <p:nvSpPr>
          <p:cNvPr id="1048692" name="TextBox 10"/>
          <p:cNvSpPr txBox="1"/>
          <p:nvPr/>
        </p:nvSpPr>
        <p:spPr>
          <a:xfrm>
            <a:off x="1156304" y="1511989"/>
            <a:ext cx="9743924" cy="71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r>
              <a:rPr lang="en-US" sz="2400" b="1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RXJS</a:t>
            </a:r>
            <a:r>
              <a:rPr lang="en-US" sz="2400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is a library for </a:t>
            </a:r>
            <a:r>
              <a:rPr lang="en-US" sz="2400" spc="178" dirty="0">
                <a:solidFill>
                  <a:srgbClr val="EE000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Composing</a:t>
            </a:r>
            <a:r>
              <a:rPr lang="en-US" sz="2400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</a:t>
            </a:r>
            <a:r>
              <a:rPr lang="en-US" sz="2400" spc="178" dirty="0">
                <a:solidFill>
                  <a:srgbClr val="7030A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Asynchronous</a:t>
            </a:r>
            <a:r>
              <a:rPr lang="en-US" sz="2400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and event-based programs by using </a:t>
            </a:r>
            <a:r>
              <a:rPr lang="en-US" sz="2400" spc="178" dirty="0">
                <a:solidFill>
                  <a:srgbClr val="3594FF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Observable</a:t>
            </a:r>
            <a:r>
              <a:rPr lang="en-US" sz="2400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sequences.</a:t>
            </a:r>
            <a:endParaRPr lang="en-US" sz="2400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693" name="TextBox 10"/>
          <p:cNvSpPr txBox="1"/>
          <p:nvPr/>
        </p:nvSpPr>
        <p:spPr>
          <a:xfrm>
            <a:off x="1122435" y="4397743"/>
            <a:ext cx="256902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000" b="1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Stream </a:t>
            </a:r>
            <a:endParaRPr lang="en-US" sz="2000" b="1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pPr algn="ctr"/>
            <a:r>
              <a:rPr lang="en-US" sz="2000" b="1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vs </a:t>
            </a:r>
            <a:endParaRPr lang="en-US" sz="2000" b="1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pPr algn="ctr"/>
            <a:r>
              <a:rPr lang="en-US" sz="2000" b="1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Reactive Stream</a:t>
            </a:r>
            <a:endParaRPr lang="en-US" sz="2000" b="1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694" name="TextBox 10"/>
          <p:cNvSpPr txBox="1"/>
          <p:nvPr/>
        </p:nvSpPr>
        <p:spPr>
          <a:xfrm>
            <a:off x="4731654" y="4575821"/>
            <a:ext cx="256902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000" b="1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Pull vs Push </a:t>
            </a:r>
            <a:r>
              <a:rPr lang="en-US" sz="2000" b="1" spc="178" dirty="0">
                <a:solidFill>
                  <a:srgbClr val="C0000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Systems</a:t>
            </a:r>
            <a:endParaRPr lang="en-US" sz="2000" b="1" spc="178" dirty="0">
              <a:solidFill>
                <a:srgbClr val="C00000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695" name="TextBox 10"/>
          <p:cNvSpPr txBox="1"/>
          <p:nvPr/>
        </p:nvSpPr>
        <p:spPr>
          <a:xfrm>
            <a:off x="8338454" y="4695285"/>
            <a:ext cx="256902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000" b="1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Sync vs Async</a:t>
            </a:r>
            <a:endParaRPr lang="en-US" sz="2000" b="1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696" name="Freeform 4"/>
          <p:cNvSpPr/>
          <p:nvPr/>
        </p:nvSpPr>
        <p:spPr>
          <a:xfrm rot="9596214" flipH="1">
            <a:off x="7232488" y="2246810"/>
            <a:ext cx="908483" cy="2285407"/>
          </a:xfrm>
          <a:custGeom>
            <a:avLst/>
            <a:gdLst/>
            <a:ahLst/>
            <a:cxnLst/>
            <a:rect l="l" t="t" r="r" b="b"/>
            <a:pathLst>
              <a:path w="1308604" h="2080151">
                <a:moveTo>
                  <a:pt x="1308604" y="0"/>
                </a:moveTo>
                <a:lnTo>
                  <a:pt x="0" y="0"/>
                </a:lnTo>
                <a:lnTo>
                  <a:pt x="0" y="2080151"/>
                </a:lnTo>
                <a:lnTo>
                  <a:pt x="1308604" y="2080151"/>
                </a:lnTo>
                <a:lnTo>
                  <a:pt x="13086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>
            <a:endParaRPr lang="en-US" dirty="0"/>
          </a:p>
        </p:txBody>
      </p:sp>
      <p:sp>
        <p:nvSpPr>
          <p:cNvPr id="1048697" name="Freeform 4"/>
          <p:cNvSpPr/>
          <p:nvPr/>
        </p:nvSpPr>
        <p:spPr>
          <a:xfrm rot="12408659" flipH="1">
            <a:off x="3976972" y="2184180"/>
            <a:ext cx="908483" cy="2285407"/>
          </a:xfrm>
          <a:custGeom>
            <a:avLst/>
            <a:gdLst/>
            <a:ahLst/>
            <a:cxnLst/>
            <a:rect l="l" t="t" r="r" b="b"/>
            <a:pathLst>
              <a:path w="1308604" h="2080151">
                <a:moveTo>
                  <a:pt x="1308604" y="0"/>
                </a:moveTo>
                <a:lnTo>
                  <a:pt x="0" y="0"/>
                </a:lnTo>
                <a:lnTo>
                  <a:pt x="0" y="2080151"/>
                </a:lnTo>
                <a:lnTo>
                  <a:pt x="1308604" y="2080151"/>
                </a:lnTo>
                <a:lnTo>
                  <a:pt x="13086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scene3d>
            <a:camera prst="orthographicFront">
              <a:rot lat="0" lon="10800000" rev="0"/>
            </a:camera>
            <a:lightRig rig="threePt" dir="t"/>
          </a:scene3d>
        </p:spPr>
        <p:txBody>
          <a:bodyPr/>
          <a:p>
            <a:endParaRPr lang="en-US" dirty="0"/>
          </a:p>
        </p:txBody>
      </p:sp>
      <p:pic>
        <p:nvPicPr>
          <p:cNvPr id="2097192" name="Graphic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058871">
            <a:off x="6028357" y="2320995"/>
            <a:ext cx="274214" cy="2006406"/>
          </a:xfrm>
          <a:prstGeom prst="rect">
            <a:avLst/>
          </a:prstGeom>
        </p:spPr>
      </p:pic>
      <p:sp>
        <p:nvSpPr>
          <p:cNvPr id="1048698" name="Speech Bubble: Oval 29"/>
          <p:cNvSpPr/>
          <p:nvPr/>
        </p:nvSpPr>
        <p:spPr>
          <a:xfrm>
            <a:off x="3338286" y="70880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48699" name="Speech Bubble: Oval 30"/>
          <p:cNvSpPr/>
          <p:nvPr/>
        </p:nvSpPr>
        <p:spPr>
          <a:xfrm>
            <a:off x="5063067" y="1162514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2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48700" name="Speech Bubble: Oval 31"/>
          <p:cNvSpPr/>
          <p:nvPr/>
        </p:nvSpPr>
        <p:spPr>
          <a:xfrm>
            <a:off x="7121677" y="1171629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3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48701" name="Speech Bubble: Oval 32"/>
          <p:cNvSpPr/>
          <p:nvPr/>
        </p:nvSpPr>
        <p:spPr>
          <a:xfrm>
            <a:off x="5520266" y="2228842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48702" name="Speech Bubble: Oval 33"/>
          <p:cNvSpPr/>
          <p:nvPr/>
        </p:nvSpPr>
        <p:spPr>
          <a:xfrm>
            <a:off x="2338176" y="3929433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?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48703" name="Speech Bubble: Oval 34"/>
          <p:cNvSpPr/>
          <p:nvPr/>
        </p:nvSpPr>
        <p:spPr>
          <a:xfrm>
            <a:off x="5266266" y="3968344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?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48704" name="Speech Bubble: Oval 35"/>
          <p:cNvSpPr/>
          <p:nvPr/>
        </p:nvSpPr>
        <p:spPr>
          <a:xfrm>
            <a:off x="9066490" y="3973178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?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pic>
        <p:nvPicPr>
          <p:cNvPr id="2097193" name="Graphic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935" y="6168146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86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8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8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486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8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48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487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48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48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487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48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48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487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48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48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487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48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48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487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48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48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486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48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48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097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97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97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486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48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48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96" grpId="0" animBg="1"/>
      <p:bldP spid="1048697" grpId="0" animBg="1"/>
      <p:bldP spid="1048698" grpId="0" animBg="1"/>
      <p:bldP spid="1048699" grpId="0" animBg="1"/>
      <p:bldP spid="1048700" grpId="0" animBg="1"/>
      <p:bldP spid="1048701" grpId="0" animBg="1"/>
      <p:bldP spid="1048702" grpId="0" animBg="1"/>
      <p:bldP spid="1048703" grpId="0" animBg="1"/>
      <p:bldP spid="104870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4" name="Table 5"/>
          <p:cNvGraphicFramePr>
            <a:graphicFrameLocks noGrp="1"/>
          </p:cNvGraphicFramePr>
          <p:nvPr/>
        </p:nvGraphicFramePr>
        <p:xfrm>
          <a:off x="1458685" y="1964266"/>
          <a:ext cx="9274629" cy="257697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74060"/>
                <a:gridCol w="2374060"/>
                <a:gridCol w="2374060"/>
                <a:gridCol w="2152449"/>
              </a:tblGrid>
              <a:tr h="362995">
                <a:tc gridSpan="2">
                  <a:txBody>
                    <a:bodyPr/>
                    <a:p>
                      <a:pPr algn="ctr"/>
                      <a:r>
                        <a:rPr lang="en-US" sz="2000" dirty="0">
                          <a:latin typeface="Bahnschrift" panose="020B0502040204020203" pitchFamily="34" charset="0"/>
                        </a:rPr>
                        <a:t>Pull</a:t>
                      </a:r>
                      <a:endParaRPr lang="en-US" sz="20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p>
                      <a:pPr algn="ctr"/>
                      <a:r>
                        <a:rPr lang="en-US" sz="2000" dirty="0">
                          <a:latin typeface="Bahnschrift" panose="020B0502040204020203" pitchFamily="34" charset="0"/>
                        </a:rPr>
                        <a:t>Push</a:t>
                      </a:r>
                      <a:endParaRPr lang="en-US" sz="20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cPr/>
                </a:tc>
              </a:tr>
              <a:tr h="1451982">
                <a:tc gridSpan="2">
                  <a:txBody>
                    <a:bodyPr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Consumers </a:t>
                      </a:r>
                      <a:r>
                        <a:rPr lang="en-US" sz="1600" b="1" dirty="0"/>
                        <a:t>pull</a:t>
                      </a:r>
                      <a:r>
                        <a:rPr lang="en-US" sz="1600" dirty="0"/>
                        <a:t> (request) data from a producer.</a:t>
                      </a:r>
                      <a:endParaRPr lang="en-US" sz="16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Consumer controls when data is requested.</a:t>
                      </a:r>
                      <a:endParaRPr 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Data is </a:t>
                      </a:r>
                      <a:r>
                        <a:rPr lang="en-US" sz="1600" b="1" dirty="0"/>
                        <a:t>pushed</a:t>
                      </a:r>
                      <a:r>
                        <a:rPr lang="en-US" sz="1600" dirty="0"/>
                        <a:t> to consumers asynchronously.</a:t>
                      </a:r>
                      <a:endParaRPr lang="en-US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Producer controls when data is sent.</a:t>
                      </a:r>
                      <a:endParaRPr lang="en-US" sz="16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cPr/>
                </a:tc>
              </a:tr>
              <a:tr h="362995">
                <a:tc>
                  <a:txBody>
                    <a:bodyPr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Single</a:t>
                      </a:r>
                      <a:endParaRPr lang="en-US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Multi</a:t>
                      </a:r>
                      <a:endParaRPr lang="en-US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Single</a:t>
                      </a:r>
                      <a:endParaRPr lang="en-US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Multi</a:t>
                      </a:r>
                      <a:endParaRPr lang="en-US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995"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+mj-lt"/>
                        </a:rPr>
                        <a:t>Regular Fun</a:t>
                      </a:r>
                      <a:endParaRPr lang="en-US" sz="1600" dirty="0"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+mj-lt"/>
                        </a:rPr>
                        <a:t>Fun Generator</a:t>
                      </a:r>
                      <a:endParaRPr lang="en-US" sz="1600" dirty="0"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+mj-lt"/>
                        </a:rPr>
                        <a:t>Promise</a:t>
                      </a:r>
                      <a:endParaRPr lang="en-US" sz="1600" dirty="0"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+mj-lt"/>
                        </a:rPr>
                        <a:t>Observable</a:t>
                      </a:r>
                      <a:endParaRPr lang="en-US" sz="1600" dirty="0"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097194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705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 Push  </a:t>
            </a:r>
            <a:r>
              <a:rPr lang="en-US" sz="3200" dirty="0">
                <a:solidFill>
                  <a:srgbClr val="EE0000"/>
                </a:solidFill>
                <a:latin typeface="Bahnschrift" panose="020B0502040204020203" pitchFamily="34" charset="0"/>
              </a:rPr>
              <a:t>vs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Pull  Systems</a:t>
            </a:r>
            <a:endParaRPr lang="en-US" sz="3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048706" name="Freeform 17"/>
          <p:cNvSpPr/>
          <p:nvPr/>
        </p:nvSpPr>
        <p:spPr>
          <a:xfrm rot="20917505" flipH="1">
            <a:off x="5808621" y="3359628"/>
            <a:ext cx="253324" cy="370554"/>
          </a:xfrm>
          <a:custGeom>
            <a:avLst/>
            <a:gdLst/>
            <a:ahLst/>
            <a:cxnLst/>
            <a:rect l="l" t="t" r="r" b="b"/>
            <a:pathLst>
              <a:path w="740886" h="1083743">
                <a:moveTo>
                  <a:pt x="740886" y="0"/>
                </a:moveTo>
                <a:lnTo>
                  <a:pt x="0" y="0"/>
                </a:lnTo>
                <a:lnTo>
                  <a:pt x="0" y="1083742"/>
                </a:lnTo>
                <a:lnTo>
                  <a:pt x="740886" y="1083742"/>
                </a:lnTo>
                <a:lnTo>
                  <a:pt x="740886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48707" name="Freeform 8"/>
          <p:cNvSpPr/>
          <p:nvPr/>
        </p:nvSpPr>
        <p:spPr>
          <a:xfrm rot="20917505" flipH="1">
            <a:off x="10452199" y="2435085"/>
            <a:ext cx="247804" cy="362479"/>
          </a:xfrm>
          <a:custGeom>
            <a:avLst/>
            <a:gdLst/>
            <a:ahLst/>
            <a:cxnLst/>
            <a:rect l="l" t="t" r="r" b="b"/>
            <a:pathLst>
              <a:path w="740886" h="1083743">
                <a:moveTo>
                  <a:pt x="740886" y="0"/>
                </a:moveTo>
                <a:lnTo>
                  <a:pt x="0" y="0"/>
                </a:lnTo>
                <a:lnTo>
                  <a:pt x="0" y="1083743"/>
                </a:lnTo>
                <a:lnTo>
                  <a:pt x="740886" y="1083743"/>
                </a:lnTo>
                <a:lnTo>
                  <a:pt x="740886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scene3d>
            <a:camera prst="orthographicFront">
              <a:rot lat="0" lon="10800000" rev="0"/>
            </a:camera>
            <a:lightRig rig="threePt" dir="t"/>
          </a:scene3d>
        </p:spPr>
      </p:sp>
      <p:pic>
        <p:nvPicPr>
          <p:cNvPr id="2097195" name="Graphic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49" y="6081532"/>
            <a:ext cx="435015" cy="4350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6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708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 Stream </a:t>
            </a:r>
            <a:r>
              <a:rPr lang="en-US" sz="3200" dirty="0">
                <a:solidFill>
                  <a:srgbClr val="EE0000"/>
                </a:solidFill>
                <a:latin typeface="Bahnschrift" panose="020B0502040204020203" pitchFamily="34" charset="0"/>
              </a:rPr>
              <a:t>vs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Reactive Stream</a:t>
            </a:r>
            <a:endParaRPr lang="en-US" sz="3200" dirty="0">
              <a:latin typeface="Bahnschrift" panose="020B0502040204020203" pitchFamily="34" charset="0"/>
            </a:endParaRPr>
          </a:p>
        </p:txBody>
      </p:sp>
      <p:graphicFrame>
        <p:nvGraphicFramePr>
          <p:cNvPr id="4194305" name="Table 4"/>
          <p:cNvGraphicFramePr>
            <a:graphicFrameLocks noGrp="1"/>
          </p:cNvGraphicFramePr>
          <p:nvPr/>
        </p:nvGraphicFramePr>
        <p:xfrm>
          <a:off x="1666724" y="1846943"/>
          <a:ext cx="8858552" cy="111542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470400"/>
                <a:gridCol w="4388152"/>
              </a:tblGrid>
              <a:tr h="373743">
                <a:tc>
                  <a:txBody>
                    <a:bodyPr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Stream</a:t>
                      </a:r>
                      <a:endParaRPr lang="en-US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Reactive Stream</a:t>
                      </a:r>
                      <a:endParaRPr lang="en-US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en-US" dirty="0"/>
                        <a:t>Collection Of Data [Size Predetermined]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dirty="0"/>
                        <a:t>Event [Size Unknown]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en-US" dirty="0"/>
                        <a:t>Iterable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dirty="0"/>
                        <a:t>Observable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2097197" name="Graphic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754" y="3855957"/>
            <a:ext cx="1548190" cy="961953"/>
          </a:xfrm>
          <a:prstGeom prst="rect">
            <a:avLst/>
          </a:prstGeom>
        </p:spPr>
      </p:pic>
      <p:pic>
        <p:nvPicPr>
          <p:cNvPr id="2097198" name="Graphic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337" y="3855957"/>
            <a:ext cx="1987930" cy="961953"/>
          </a:xfrm>
          <a:prstGeom prst="rect">
            <a:avLst/>
          </a:prstGeom>
        </p:spPr>
      </p:pic>
      <p:pic>
        <p:nvPicPr>
          <p:cNvPr id="2097199" name="Graphic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023" y="3899501"/>
            <a:ext cx="1830693" cy="961953"/>
          </a:xfrm>
          <a:prstGeom prst="rect">
            <a:avLst/>
          </a:prstGeom>
        </p:spPr>
      </p:pic>
      <p:sp>
        <p:nvSpPr>
          <p:cNvPr id="1048709" name="TextBox 10"/>
          <p:cNvSpPr txBox="1"/>
          <p:nvPr/>
        </p:nvSpPr>
        <p:spPr>
          <a:xfrm>
            <a:off x="2169888" y="4136572"/>
            <a:ext cx="1361922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b="1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Timers</a:t>
            </a:r>
            <a:endParaRPr lang="en-US" sz="2000" b="1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10" name="TextBox 10"/>
          <p:cNvSpPr txBox="1"/>
          <p:nvPr/>
        </p:nvSpPr>
        <p:spPr>
          <a:xfrm>
            <a:off x="4040337" y="4226587"/>
            <a:ext cx="1925035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b="1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Event-Based</a:t>
            </a:r>
            <a:endParaRPr lang="en-US" b="1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11" name="TextBox 10"/>
          <p:cNvSpPr txBox="1"/>
          <p:nvPr/>
        </p:nvSpPr>
        <p:spPr>
          <a:xfrm>
            <a:off x="7672405" y="4226587"/>
            <a:ext cx="154792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b="1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Observable</a:t>
            </a:r>
            <a:endParaRPr lang="en-US" sz="2000" b="1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12" name="Oval 8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713" name="TextBox 8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10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0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714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Composing</a:t>
            </a:r>
            <a:endParaRPr lang="en-US" sz="3200" dirty="0">
              <a:latin typeface="Bahnschrift" panose="020B0502040204020203" pitchFamily="34" charset="0"/>
            </a:endParaRPr>
          </a:p>
        </p:txBody>
      </p:sp>
      <p:sp>
        <p:nvSpPr>
          <p:cNvPr id="1048715" name="Rectangle 11"/>
          <p:cNvSpPr/>
          <p:nvPr/>
        </p:nvSpPr>
        <p:spPr>
          <a:xfrm>
            <a:off x="1257905" y="2215848"/>
            <a:ext cx="4431695" cy="2322285"/>
          </a:xfrm>
          <a:prstGeom prst="rect">
            <a:avLst/>
          </a:prstGeom>
          <a:solidFill>
            <a:srgbClr val="F1F9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16" name="Rectangle 12"/>
          <p:cNvSpPr/>
          <p:nvPr/>
        </p:nvSpPr>
        <p:spPr>
          <a:xfrm>
            <a:off x="6139543" y="2211009"/>
            <a:ext cx="4666343" cy="2322285"/>
          </a:xfrm>
          <a:prstGeom prst="rect">
            <a:avLst/>
          </a:prstGeom>
          <a:solidFill>
            <a:srgbClr val="FFF9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717" name="Oval 14"/>
          <p:cNvSpPr/>
          <p:nvPr/>
        </p:nvSpPr>
        <p:spPr>
          <a:xfrm>
            <a:off x="1504647" y="2768600"/>
            <a:ext cx="943428" cy="1320800"/>
          </a:xfrm>
          <a:prstGeom prst="ellipse">
            <a:avLst/>
          </a:prstGeom>
          <a:solidFill>
            <a:srgbClr val="EADB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 dirty="0">
                <a:solidFill>
                  <a:schemeClr val="tx1"/>
                </a:solidFill>
              </a:rPr>
              <a:t>X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48718" name="Oval 15"/>
          <p:cNvSpPr/>
          <p:nvPr/>
        </p:nvSpPr>
        <p:spPr>
          <a:xfrm>
            <a:off x="2919790" y="2768600"/>
            <a:ext cx="943428" cy="1320800"/>
          </a:xfrm>
          <a:prstGeom prst="ellipse">
            <a:avLst/>
          </a:prstGeom>
          <a:solidFill>
            <a:srgbClr val="F8D4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 dirty="0">
                <a:solidFill>
                  <a:schemeClr val="tx1"/>
                </a:solidFill>
              </a:rPr>
              <a:t>g(x)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48719" name="Oval 16"/>
          <p:cNvSpPr/>
          <p:nvPr/>
        </p:nvSpPr>
        <p:spPr>
          <a:xfrm>
            <a:off x="4165600" y="2768600"/>
            <a:ext cx="1123648" cy="1320800"/>
          </a:xfrm>
          <a:prstGeom prst="ellipse">
            <a:avLst/>
          </a:prstGeom>
          <a:solidFill>
            <a:srgbClr val="D6F6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 dirty="0">
                <a:solidFill>
                  <a:schemeClr val="tx1"/>
                </a:solidFill>
              </a:rPr>
              <a:t>f(g(x))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48720" name="Oval 17"/>
          <p:cNvSpPr/>
          <p:nvPr/>
        </p:nvSpPr>
        <p:spPr>
          <a:xfrm>
            <a:off x="6318552" y="2847215"/>
            <a:ext cx="1059543" cy="1059543"/>
          </a:xfrm>
          <a:prstGeom prst="ellipse">
            <a:avLst/>
          </a:prstGeom>
          <a:solidFill>
            <a:srgbClr val="EBF3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21" name="Oval 18"/>
          <p:cNvSpPr/>
          <p:nvPr/>
        </p:nvSpPr>
        <p:spPr>
          <a:xfrm>
            <a:off x="7973181" y="2847215"/>
            <a:ext cx="1059543" cy="105954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22" name="Oval 19"/>
          <p:cNvSpPr/>
          <p:nvPr/>
        </p:nvSpPr>
        <p:spPr>
          <a:xfrm>
            <a:off x="9627810" y="2847215"/>
            <a:ext cx="1059543" cy="105954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3145739" name="Connector: Curved 38"/>
          <p:cNvCxnSpPr>
            <a:stCxn id="1048717" idx="7"/>
            <a:endCxn id="1048718" idx="1"/>
          </p:cNvCxnSpPr>
          <p:nvPr/>
        </p:nvCxnSpPr>
        <p:spPr>
          <a:xfrm rot="5400000" flipH="1" flipV="1">
            <a:off x="2683932" y="2588008"/>
            <a:ext cx="12700" cy="748039"/>
          </a:xfrm>
          <a:prstGeom prst="curvedConnector3">
            <a:avLst>
              <a:gd name="adj1" fmla="val 332304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45740" name="Connector: Curved 42"/>
          <p:cNvCxnSpPr/>
          <p:nvPr/>
        </p:nvCxnSpPr>
        <p:spPr>
          <a:xfrm rot="5400000" flipH="1" flipV="1">
            <a:off x="4081840" y="2594358"/>
            <a:ext cx="12700" cy="748039"/>
          </a:xfrm>
          <a:prstGeom prst="curvedConnector3">
            <a:avLst>
              <a:gd name="adj1" fmla="val 2789701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45741" name="Connector: Curved 54"/>
          <p:cNvCxnSpPr/>
          <p:nvPr/>
        </p:nvCxnSpPr>
        <p:spPr>
          <a:xfrm rot="5400000" flipH="1" flipV="1">
            <a:off x="7681352" y="2512475"/>
            <a:ext cx="12700" cy="1654629"/>
          </a:xfrm>
          <a:prstGeom prst="curvedConnector3">
            <a:avLst>
              <a:gd name="adj1" fmla="val 19904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42" name="Connector: Curved 55"/>
          <p:cNvCxnSpPr/>
          <p:nvPr/>
        </p:nvCxnSpPr>
        <p:spPr>
          <a:xfrm rot="5400000" flipH="1" flipV="1">
            <a:off x="9323917" y="2477101"/>
            <a:ext cx="12700" cy="1654629"/>
          </a:xfrm>
          <a:prstGeom prst="curvedConnector3">
            <a:avLst>
              <a:gd name="adj1" fmla="val 164758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097201" name="Ink 64"/>
              <p14:cNvContentPartPr/>
              <p14:nvPr/>
            </p14:nvContentPartPr>
            <p14:xfrm>
              <a:off x="6860387" y="3352714"/>
              <a:ext cx="360" cy="360"/>
            </p14:xfrm>
          </p:contentPart>
        </mc:Choice>
        <mc:Fallback xmlns="">
          <p:pic>
            <p:nvPicPr>
              <p:cNvPr id="2097201" name="Ink 64"/>
            </p:nvPicPr>
            <p:blipFill>
              <a:blip r:embed="rId3"/>
            </p:blipFill>
            <p:spPr>
              <a:xfrm>
                <a:off x="6860387" y="3352714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097202" name="Ink 65"/>
              <p14:cNvContentPartPr/>
              <p14:nvPr/>
            </p14:nvContentPartPr>
            <p14:xfrm>
              <a:off x="8500547" y="3381514"/>
              <a:ext cx="360" cy="360"/>
            </p14:xfrm>
          </p:contentPart>
        </mc:Choice>
        <mc:Fallback xmlns="">
          <p:pic>
            <p:nvPicPr>
              <p:cNvPr id="2097202" name="Ink 65"/>
            </p:nvPicPr>
            <p:blipFill>
              <a:blip r:embed="rId3"/>
            </p:blipFill>
            <p:spPr>
              <a:xfrm>
                <a:off x="8500547" y="3381514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097203" name="Ink 66"/>
              <p14:cNvContentPartPr/>
              <p14:nvPr/>
            </p14:nvContentPartPr>
            <p14:xfrm>
              <a:off x="10160147" y="3347674"/>
              <a:ext cx="360" cy="360"/>
            </p14:xfrm>
          </p:contentPart>
        </mc:Choice>
        <mc:Fallback xmlns="">
          <p:pic>
            <p:nvPicPr>
              <p:cNvPr id="2097203" name="Ink 66"/>
            </p:nvPicPr>
            <p:blipFill>
              <a:blip r:embed="rId3"/>
            </p:blipFill>
            <p:spPr>
              <a:xfrm>
                <a:off x="10160147" y="3347674"/>
                <a:ext cx="360" cy="360"/>
              </a:xfrm>
              <a:prstGeom prst="rect"/>
            </p:spPr>
          </p:pic>
        </mc:Fallback>
      </mc:AlternateContent>
      <p:cxnSp>
        <p:nvCxnSpPr>
          <p:cNvPr id="3145743" name="Connector: Curved 69"/>
          <p:cNvCxnSpPr/>
          <p:nvPr/>
        </p:nvCxnSpPr>
        <p:spPr>
          <a:xfrm rot="16200000" flipH="1">
            <a:off x="8494197" y="1745936"/>
            <a:ext cx="12700" cy="3309258"/>
          </a:xfrm>
          <a:prstGeom prst="curvedConnector3">
            <a:avLst>
              <a:gd name="adj1" fmla="val 522858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23" name="TextBox 78"/>
          <p:cNvSpPr txBox="1"/>
          <p:nvPr/>
        </p:nvSpPr>
        <p:spPr>
          <a:xfrm>
            <a:off x="6682251" y="2477883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/>
              <a:t>A</a:t>
            </a:r>
            <a:endParaRPr lang="en-US" b="1" dirty="0"/>
          </a:p>
        </p:txBody>
      </p:sp>
      <p:sp>
        <p:nvSpPr>
          <p:cNvPr id="1048724" name="TextBox 79"/>
          <p:cNvSpPr txBox="1"/>
          <p:nvPr/>
        </p:nvSpPr>
        <p:spPr>
          <a:xfrm>
            <a:off x="8309047" y="2463757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/>
              <a:t>B</a:t>
            </a:r>
            <a:endParaRPr lang="en-US" b="1" dirty="0"/>
          </a:p>
        </p:txBody>
      </p:sp>
      <p:sp>
        <p:nvSpPr>
          <p:cNvPr id="1048725" name="TextBox 80"/>
          <p:cNvSpPr txBox="1"/>
          <p:nvPr/>
        </p:nvSpPr>
        <p:spPr>
          <a:xfrm>
            <a:off x="9991509" y="2461246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/>
              <a:t>C</a:t>
            </a:r>
            <a:endParaRPr lang="en-US" b="1" dirty="0"/>
          </a:p>
        </p:txBody>
      </p:sp>
      <p:sp>
        <p:nvSpPr>
          <p:cNvPr id="1048726" name="TextBox 81"/>
          <p:cNvSpPr txBox="1"/>
          <p:nvPr/>
        </p:nvSpPr>
        <p:spPr>
          <a:xfrm>
            <a:off x="7515508" y="2745027"/>
            <a:ext cx="32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/>
              <a:t>f</a:t>
            </a:r>
            <a:endParaRPr lang="en-US" b="1" dirty="0"/>
          </a:p>
        </p:txBody>
      </p:sp>
      <p:sp>
        <p:nvSpPr>
          <p:cNvPr id="1048727" name="TextBox 82"/>
          <p:cNvSpPr txBox="1"/>
          <p:nvPr/>
        </p:nvSpPr>
        <p:spPr>
          <a:xfrm>
            <a:off x="9197970" y="2745027"/>
            <a:ext cx="32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/>
              <a:t>g</a:t>
            </a:r>
            <a:endParaRPr lang="en-US" b="1" dirty="0"/>
          </a:p>
        </p:txBody>
      </p:sp>
      <p:sp>
        <p:nvSpPr>
          <p:cNvPr id="1048728" name="TextBox 83"/>
          <p:cNvSpPr txBox="1"/>
          <p:nvPr/>
        </p:nvSpPr>
        <p:spPr>
          <a:xfrm>
            <a:off x="8234438" y="4079886"/>
            <a:ext cx="687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 err="1"/>
              <a:t>gof</a:t>
            </a:r>
            <a:endParaRPr lang="en-US" b="1" dirty="0"/>
          </a:p>
        </p:txBody>
      </p:sp>
      <p:sp>
        <p:nvSpPr>
          <p:cNvPr id="1048729" name="TextBox 84"/>
          <p:cNvSpPr txBox="1"/>
          <p:nvPr/>
        </p:nvSpPr>
        <p:spPr>
          <a:xfrm>
            <a:off x="6697727" y="2922383"/>
            <a:ext cx="32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/>
              <a:t>x</a:t>
            </a:r>
            <a:endParaRPr lang="en-US" b="1" dirty="0"/>
          </a:p>
        </p:txBody>
      </p:sp>
      <p:sp>
        <p:nvSpPr>
          <p:cNvPr id="1048730" name="TextBox 85"/>
          <p:cNvSpPr txBox="1"/>
          <p:nvPr/>
        </p:nvSpPr>
        <p:spPr>
          <a:xfrm>
            <a:off x="8234438" y="2901171"/>
            <a:ext cx="687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b="1" dirty="0"/>
              <a:t>f(x)</a:t>
            </a:r>
            <a:endParaRPr lang="en-US" sz="1600" b="1" dirty="0"/>
          </a:p>
        </p:txBody>
      </p:sp>
      <p:sp>
        <p:nvSpPr>
          <p:cNvPr id="1048731" name="TextBox 87"/>
          <p:cNvSpPr txBox="1"/>
          <p:nvPr/>
        </p:nvSpPr>
        <p:spPr>
          <a:xfrm>
            <a:off x="9829592" y="2870768"/>
            <a:ext cx="967375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b="1" dirty="0"/>
              <a:t>g(f(x))</a:t>
            </a:r>
            <a:endParaRPr lang="en-US" sz="1600" b="1" dirty="0"/>
          </a:p>
        </p:txBody>
      </p:sp>
      <p:sp>
        <p:nvSpPr>
          <p:cNvPr id="1048732" name="Oval 4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733" name="TextBox 6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11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87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8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8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487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8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48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487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48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48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487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48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48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1457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145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45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1457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145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145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487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48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48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487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48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48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487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48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48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487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48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48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1457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145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145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1457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145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145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097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97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97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097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097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097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0972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097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097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1457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45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145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0487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048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048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0487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048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048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0487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048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048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0487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048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048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0487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048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048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10487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048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048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0487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048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048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10487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048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048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10487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048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048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15" grpId="0" animBg="1"/>
      <p:bldP spid="1048716" grpId="0" animBg="1"/>
      <p:bldP spid="1048717" grpId="0" animBg="1"/>
      <p:bldP spid="1048718" grpId="0" animBg="1"/>
      <p:bldP spid="1048719" grpId="0" animBg="1"/>
      <p:bldP spid="1048720" grpId="0" animBg="1"/>
      <p:bldP spid="1048721" grpId="0" animBg="1"/>
      <p:bldP spid="1048722" grpId="0" animBg="1"/>
      <p:bldP spid="1048723" grpId="0"/>
      <p:bldP spid="1048724" grpId="0"/>
      <p:bldP spid="1048725" grpId="0"/>
      <p:bldP spid="1048726" grpId="0"/>
      <p:bldP spid="1048727" grpId="0"/>
      <p:bldP spid="1048728" grpId="0"/>
      <p:bldP spid="1048729" grpId="0"/>
      <p:bldP spid="1048730" grpId="0"/>
      <p:bldP spid="10487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4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734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Pull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</a:t>
            </a:r>
            <a:r>
              <a:rPr lang="en-US" sz="3200" dirty="0">
                <a:solidFill>
                  <a:srgbClr val="EE0000"/>
                </a:solidFill>
                <a:latin typeface="Bahnschrift" panose="020B0502040204020203" pitchFamily="34" charset="0"/>
              </a:rPr>
              <a:t>vs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Push Sys</a:t>
            </a:r>
            <a:endParaRPr lang="en-US" sz="3200" dirty="0">
              <a:latin typeface="Google Sans"/>
            </a:endParaRPr>
          </a:p>
        </p:txBody>
      </p:sp>
      <p:pic>
        <p:nvPicPr>
          <p:cNvPr id="2097205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498" y="3690663"/>
            <a:ext cx="4512732" cy="2619586"/>
          </a:xfrm>
          <a:prstGeom prst="rect">
            <a:avLst/>
          </a:prstGeom>
        </p:spPr>
      </p:pic>
      <p:pic>
        <p:nvPicPr>
          <p:cNvPr id="2097206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498" y="1335143"/>
            <a:ext cx="4880580" cy="2151624"/>
          </a:xfrm>
          <a:prstGeom prst="rect">
            <a:avLst/>
          </a:prstGeom>
        </p:spPr>
      </p:pic>
      <p:pic>
        <p:nvPicPr>
          <p:cNvPr id="2097207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6676" y="1423530"/>
            <a:ext cx="4633553" cy="1871416"/>
          </a:xfrm>
          <a:prstGeom prst="rect">
            <a:avLst/>
          </a:prstGeom>
        </p:spPr>
      </p:pic>
      <p:pic>
        <p:nvPicPr>
          <p:cNvPr id="2097208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7912" y="3410171"/>
            <a:ext cx="3986590" cy="2988209"/>
          </a:xfrm>
          <a:prstGeom prst="rect">
            <a:avLst/>
          </a:prstGeom>
        </p:spPr>
      </p:pic>
      <p:sp>
        <p:nvSpPr>
          <p:cNvPr id="1048735" name="TextBox 14"/>
          <p:cNvSpPr txBox="1"/>
          <p:nvPr/>
        </p:nvSpPr>
        <p:spPr>
          <a:xfrm>
            <a:off x="70311" y="1764624"/>
            <a:ext cx="1274679" cy="5847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sz="1800" dirty="0">
                <a:solidFill>
                  <a:srgbClr val="FF0000"/>
                </a:solidFill>
                <a:latin typeface="Bahnschrift" panose="020B0502040204020203" pitchFamily="34" charset="0"/>
              </a:rPr>
              <a:t>Pull</a:t>
            </a:r>
            <a:endParaRPr lang="en-US" sz="1800" dirty="0">
              <a:solidFill>
                <a:srgbClr val="FF0000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  <a:latin typeface="Bahnschrift" panose="020B0502040204020203" pitchFamily="34" charset="0"/>
              </a:rPr>
              <a:t>[</a:t>
            </a:r>
            <a:r>
              <a:rPr lang="en-US" sz="1400" dirty="0">
                <a:latin typeface="Bahnschrift" panose="020B0502040204020203" pitchFamily="34" charset="0"/>
              </a:rPr>
              <a:t>single Value</a:t>
            </a:r>
            <a:r>
              <a:rPr lang="en-US" sz="1400" dirty="0">
                <a:solidFill>
                  <a:srgbClr val="FF0000"/>
                </a:solidFill>
                <a:latin typeface="Bahnschrift" panose="020B0502040204020203" pitchFamily="34" charset="0"/>
              </a:rPr>
              <a:t>]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048736" name="TextBox 15"/>
          <p:cNvSpPr txBox="1"/>
          <p:nvPr/>
        </p:nvSpPr>
        <p:spPr>
          <a:xfrm>
            <a:off x="70310" y="4319500"/>
            <a:ext cx="1274679" cy="5847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sz="1800" dirty="0">
                <a:solidFill>
                  <a:srgbClr val="FF0000"/>
                </a:solidFill>
                <a:latin typeface="Bahnschrift" panose="020B0502040204020203" pitchFamily="34" charset="0"/>
              </a:rPr>
              <a:t>Pull</a:t>
            </a:r>
            <a:endParaRPr lang="en-US" sz="1800" dirty="0">
              <a:solidFill>
                <a:srgbClr val="FF0000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  <a:latin typeface="Bahnschrift" panose="020B0502040204020203" pitchFamily="34" charset="0"/>
              </a:rPr>
              <a:t>[</a:t>
            </a:r>
            <a:r>
              <a:rPr lang="en-US" sz="1400" dirty="0">
                <a:latin typeface="Bahnschrift" panose="020B0502040204020203" pitchFamily="34" charset="0"/>
              </a:rPr>
              <a:t>Multi Value</a:t>
            </a:r>
            <a:r>
              <a:rPr lang="en-US" sz="1400" dirty="0">
                <a:solidFill>
                  <a:srgbClr val="FF0000"/>
                </a:solidFill>
                <a:latin typeface="Bahnschrift" panose="020B0502040204020203" pitchFamily="34" charset="0"/>
              </a:rPr>
              <a:t>]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048737" name="TextBox 16"/>
          <p:cNvSpPr txBox="1"/>
          <p:nvPr/>
        </p:nvSpPr>
        <p:spPr>
          <a:xfrm>
            <a:off x="10847010" y="1636414"/>
            <a:ext cx="1274679" cy="5847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sz="1800" dirty="0">
                <a:solidFill>
                  <a:srgbClr val="FF0000"/>
                </a:solidFill>
                <a:latin typeface="Bahnschrift" panose="020B0502040204020203" pitchFamily="34" charset="0"/>
              </a:rPr>
              <a:t>Push</a:t>
            </a:r>
            <a:endParaRPr lang="en-US" sz="1800" dirty="0">
              <a:solidFill>
                <a:srgbClr val="FF0000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  <a:latin typeface="Bahnschrift" panose="020B0502040204020203" pitchFamily="34" charset="0"/>
              </a:rPr>
              <a:t>[</a:t>
            </a:r>
            <a:r>
              <a:rPr lang="en-US" sz="1400" dirty="0">
                <a:latin typeface="Bahnschrift" panose="020B0502040204020203" pitchFamily="34" charset="0"/>
              </a:rPr>
              <a:t>single Value</a:t>
            </a:r>
            <a:r>
              <a:rPr lang="en-US" sz="1400" dirty="0">
                <a:solidFill>
                  <a:srgbClr val="FF0000"/>
                </a:solidFill>
                <a:latin typeface="Bahnschrift" panose="020B0502040204020203" pitchFamily="34" charset="0"/>
              </a:rPr>
              <a:t>]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048738" name="TextBox 17"/>
          <p:cNvSpPr txBox="1"/>
          <p:nvPr/>
        </p:nvSpPr>
        <p:spPr>
          <a:xfrm>
            <a:off x="10808462" y="4223976"/>
            <a:ext cx="1274679" cy="5847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sz="1800" dirty="0">
                <a:solidFill>
                  <a:srgbClr val="FF0000"/>
                </a:solidFill>
                <a:latin typeface="Bahnschrift" panose="020B0502040204020203" pitchFamily="34" charset="0"/>
              </a:rPr>
              <a:t>Push</a:t>
            </a:r>
            <a:endParaRPr lang="en-US" sz="1800" dirty="0">
              <a:solidFill>
                <a:srgbClr val="FF0000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  <a:latin typeface="Bahnschrift" panose="020B0502040204020203" pitchFamily="34" charset="0"/>
              </a:rPr>
              <a:t>[</a:t>
            </a:r>
            <a:r>
              <a:rPr lang="en-US" sz="1400" dirty="0">
                <a:latin typeface="Bahnschrift" panose="020B0502040204020203" pitchFamily="34" charset="0"/>
              </a:rPr>
              <a:t>Multi Value</a:t>
            </a:r>
            <a:r>
              <a:rPr lang="en-US" sz="1400" dirty="0">
                <a:solidFill>
                  <a:srgbClr val="FF0000"/>
                </a:solidFill>
                <a:latin typeface="Bahnschrift" panose="020B0502040204020203" pitchFamily="34" charset="0"/>
              </a:rPr>
              <a:t>]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048739" name="Oval 7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740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en-US" altLang="en-GB" b="1" dirty="0">
                <a:solidFill>
                  <a:schemeClr val="bg1"/>
                </a:solidFill>
              </a:rPr>
              <a:t>2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9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741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</a:t>
            </a:r>
            <a:r>
              <a:rPr lang="en-US" sz="3200" dirty="0">
                <a:solidFill>
                  <a:srgbClr val="EE0000"/>
                </a:solidFill>
                <a:latin typeface="Bahnschrift" panose="020B0502040204020203" pitchFamily="34" charset="0"/>
              </a:rPr>
              <a:t>vs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Promises</a:t>
            </a:r>
            <a:endParaRPr lang="en-US" sz="3200" dirty="0">
              <a:latin typeface="Google Sans"/>
            </a:endParaRPr>
          </a:p>
        </p:txBody>
      </p:sp>
      <p:pic>
        <p:nvPicPr>
          <p:cNvPr id="2097210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047" y="1198606"/>
            <a:ext cx="6337905" cy="2756989"/>
          </a:xfrm>
          <a:prstGeom prst="rect">
            <a:avLst/>
          </a:prstGeom>
        </p:spPr>
      </p:pic>
      <p:graphicFrame>
        <p:nvGraphicFramePr>
          <p:cNvPr id="4194306" name="Table 7"/>
          <p:cNvGraphicFramePr>
            <a:graphicFrameLocks noGrp="1"/>
          </p:cNvGraphicFramePr>
          <p:nvPr/>
        </p:nvGraphicFramePr>
        <p:xfrm>
          <a:off x="3364895" y="4140014"/>
          <a:ext cx="532674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372"/>
                <a:gridCol w="2663372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Promises</a:t>
                      </a:r>
                      <a:endParaRPr lang="en-US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Observables</a:t>
                      </a:r>
                      <a:endParaRPr lang="en-US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Bahnschrift" panose="020B0502040204020203" pitchFamily="34" charset="0"/>
                        </a:rPr>
                        <a:t>Single Value</a:t>
                      </a:r>
                      <a:endParaRPr lang="en-US" sz="16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Bahnschrift" panose="020B0502040204020203" pitchFamily="34" charset="0"/>
                        </a:rPr>
                        <a:t>Multiple Value</a:t>
                      </a:r>
                      <a:endParaRPr lang="en-US" sz="16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Bahnschrift" panose="020B0502040204020203" pitchFamily="34" charset="0"/>
                        </a:rPr>
                        <a:t>Not Lazy</a:t>
                      </a:r>
                      <a:endParaRPr lang="en-US" sz="16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Bahnschrift" panose="020B0502040204020203" pitchFamily="34" charset="0"/>
                        </a:rPr>
                        <a:t>Lazy</a:t>
                      </a:r>
                      <a:endParaRPr lang="en-US" sz="16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Bahnschrift" panose="020B0502040204020203" pitchFamily="34" charset="0"/>
                        </a:rPr>
                        <a:t>Not Cancelable</a:t>
                      </a:r>
                      <a:endParaRPr lang="en-US" sz="16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Bahnschrift" panose="020B0502040204020203" pitchFamily="34" charset="0"/>
                        </a:rPr>
                        <a:t>Cancelable</a:t>
                      </a:r>
                      <a:endParaRPr lang="en-US" sz="1600" b="1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Bahnschrift" panose="020B0502040204020203" pitchFamily="34" charset="0"/>
                        </a:rPr>
                        <a:t>Not Completion Callback</a:t>
                      </a:r>
                      <a:endParaRPr lang="en-US" sz="16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Bahnschrift" panose="020B0502040204020203" pitchFamily="34" charset="0"/>
                        </a:rPr>
                        <a:t>Completion Callback</a:t>
                      </a:r>
                      <a:endParaRPr lang="en-US" sz="16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48742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743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en-US" altLang="en-GB" b="1" dirty="0">
                <a:solidFill>
                  <a:schemeClr val="bg1"/>
                </a:solidFill>
              </a:rPr>
              <a:t>3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1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744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</a:t>
            </a:r>
            <a:r>
              <a:rPr lang="en-US" sz="3200" dirty="0">
                <a:solidFill>
                  <a:srgbClr val="EE0000"/>
                </a:solidFill>
                <a:latin typeface="Bahnschrift" panose="020B0502040204020203" pitchFamily="34" charset="0"/>
              </a:rPr>
              <a:t>vs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Promises</a:t>
            </a:r>
            <a:endParaRPr lang="en-US" sz="3200" dirty="0">
              <a:latin typeface="Google Sans"/>
            </a:endParaRPr>
          </a:p>
        </p:txBody>
      </p:sp>
      <p:sp>
        <p:nvSpPr>
          <p:cNvPr id="1048745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746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747" name="Text Box 1048746"/>
          <p:cNvSpPr txBox="1"/>
          <p:nvPr/>
        </p:nvSpPr>
        <p:spPr>
          <a:xfrm>
            <a:off x="1156305" y="1726004"/>
            <a:ext cx="4000000" cy="51054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en-GB" sz="2800">
                <a:solidFill>
                  <a:srgbClr val="000000"/>
                </a:solidFill>
              </a:rPr>
              <a:t>O</a:t>
            </a:r>
            <a:r>
              <a:rPr lang="en-US" altLang="en-GB" sz="2800">
                <a:solidFill>
                  <a:srgbClr val="000000"/>
                </a:solidFill>
              </a:rPr>
              <a:t>b</a:t>
            </a:r>
            <a:r>
              <a:rPr lang="en-US" altLang="en-GB" sz="2800">
                <a:solidFill>
                  <a:srgbClr val="000000"/>
                </a:solidFill>
              </a:rPr>
              <a:t>s</a:t>
            </a:r>
            <a:r>
              <a:rPr lang="en-US" altLang="en-GB" sz="2800">
                <a:solidFill>
                  <a:srgbClr val="000000"/>
                </a:solidFill>
              </a:rPr>
              <a:t>e</a:t>
            </a:r>
            <a:r>
              <a:rPr lang="en-US" altLang="en-GB" sz="2800">
                <a:solidFill>
                  <a:srgbClr val="000000"/>
                </a:solidFill>
              </a:rPr>
              <a:t>r</a:t>
            </a:r>
            <a:r>
              <a:rPr lang="en-US" altLang="en-GB" sz="2800">
                <a:solidFill>
                  <a:srgbClr val="000000"/>
                </a:solidFill>
              </a:rPr>
              <a:t>v</a:t>
            </a:r>
            <a:r>
              <a:rPr lang="en-US" altLang="en-GB" sz="2800">
                <a:solidFill>
                  <a:srgbClr val="000000"/>
                </a:solidFill>
              </a:rPr>
              <a:t>a</a:t>
            </a:r>
            <a:r>
              <a:rPr lang="en-US" altLang="en-GB" sz="2800">
                <a:solidFill>
                  <a:srgbClr val="000000"/>
                </a:solidFill>
              </a:rPr>
              <a:t>b</a:t>
            </a:r>
            <a:r>
              <a:rPr lang="en-US" altLang="en-GB" sz="2800">
                <a:solidFill>
                  <a:srgbClr val="000000"/>
                </a:solidFill>
              </a:rPr>
              <a:t>l</a:t>
            </a:r>
            <a:r>
              <a:rPr lang="en-US" altLang="en-GB" sz="2800">
                <a:solidFill>
                  <a:srgbClr val="000000"/>
                </a:solidFill>
              </a:rPr>
              <a:t>e</a:t>
            </a:r>
            <a:endParaRPr lang="en-US" sz="2800">
              <a:solidFill>
                <a:srgbClr val="000000"/>
              </a:solidFill>
            </a:endParaRPr>
          </a:p>
        </p:txBody>
      </p:sp>
      <p:sp>
        <p:nvSpPr>
          <p:cNvPr id="1048748" name="Text Box 1048747"/>
          <p:cNvSpPr txBox="1"/>
          <p:nvPr/>
        </p:nvSpPr>
        <p:spPr>
          <a:xfrm>
            <a:off x="1156305" y="3734389"/>
            <a:ext cx="4000000" cy="510540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GB" sz="2800">
                <a:solidFill>
                  <a:srgbClr val="000000"/>
                </a:solidFill>
                <a:latin typeface="Aptos"/>
              </a:rPr>
              <a:t>O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b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s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e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r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v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e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r</a:t>
            </a:r>
            <a:endParaRPr lang="en-US" sz="2800">
              <a:solidFill>
                <a:srgbClr val="000000"/>
              </a:solidFill>
            </a:endParaRPr>
          </a:p>
        </p:txBody>
      </p:sp>
      <p:sp>
        <p:nvSpPr>
          <p:cNvPr id="1048749" name="Text Box 1048748"/>
          <p:cNvSpPr txBox="1"/>
          <p:nvPr/>
        </p:nvSpPr>
        <p:spPr>
          <a:xfrm>
            <a:off x="1156304" y="5742775"/>
            <a:ext cx="4000000" cy="510540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GB" sz="2800">
                <a:solidFill>
                  <a:srgbClr val="000000"/>
                </a:solidFill>
                <a:latin typeface="Aptos"/>
              </a:rPr>
              <a:t>S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u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b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s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c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r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i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p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t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i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o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n</a:t>
            </a:r>
            <a:endParaRPr lang="en-US" sz="2800">
              <a:solidFill>
                <a:srgbClr val="000000"/>
              </a:solidFill>
            </a:endParaRPr>
          </a:p>
        </p:txBody>
      </p:sp>
      <p:pic>
        <p:nvPicPr>
          <p:cNvPr id="2097212" name="Picture 2097211"/>
          <p:cNvPicPr/>
          <p:nvPr/>
        </p:nvPicPr>
        <p:blipFill>
          <a:blip r:embed="rId2"/>
          <a:stretch>
            <a:fillRect/>
          </a:stretch>
        </p:blipFill>
        <p:spPr>
          <a:xfrm>
            <a:off x="5042869" y="1450918"/>
            <a:ext cx="5601572" cy="1060710"/>
          </a:xfrm>
          <a:prstGeom prst="rect">
            <a:avLst/>
          </a:prstGeom>
        </p:spPr>
      </p:pic>
      <p:pic>
        <p:nvPicPr>
          <p:cNvPr id="2097213" name="Picture 2097212"/>
          <p:cNvPicPr/>
          <p:nvPr/>
        </p:nvPicPr>
        <p:blipFill>
          <a:blip r:embed="rId3"/>
          <a:stretch>
            <a:fillRect/>
          </a:stretch>
        </p:blipFill>
        <p:spPr>
          <a:xfrm>
            <a:off x="6438900" y="3546725"/>
            <a:ext cx="4205541" cy="885867"/>
          </a:xfrm>
          <a:prstGeom prst="rect">
            <a:avLst/>
          </a:prstGeom>
        </p:spPr>
      </p:pic>
      <p:pic>
        <p:nvPicPr>
          <p:cNvPr id="2097214" name="Picture 2097213"/>
          <p:cNvPicPr/>
          <p:nvPr/>
        </p:nvPicPr>
        <p:blipFill>
          <a:blip r:embed="rId4"/>
          <a:stretch>
            <a:fillRect/>
          </a:stretch>
        </p:blipFill>
        <p:spPr>
          <a:xfrm>
            <a:off x="6171765" y="5667448"/>
            <a:ext cx="4438213" cy="54783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5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750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751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752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15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753" name="Rectangle: Rounded Corners 2"/>
          <p:cNvSpPr/>
          <p:nvPr/>
        </p:nvSpPr>
        <p:spPr>
          <a:xfrm>
            <a:off x="2415654" y="3117355"/>
            <a:ext cx="2074459" cy="628953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Observable</a:t>
            </a:r>
            <a:endParaRPr lang="en-US" dirty="0"/>
          </a:p>
        </p:txBody>
      </p:sp>
      <p:cxnSp>
        <p:nvCxnSpPr>
          <p:cNvPr id="3145744" name="Connector: Elbow 5"/>
          <p:cNvCxnSpPr>
            <a:stCxn id="1048753" idx="0"/>
            <a:endCxn id="1048754" idx="1"/>
          </p:cNvCxnSpPr>
          <p:nvPr/>
        </p:nvCxnSpPr>
        <p:spPr>
          <a:xfrm rot="5400000" flipH="1" flipV="1">
            <a:off x="4533052" y="922061"/>
            <a:ext cx="1115126" cy="3275463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48754" name="Rectangle 10"/>
          <p:cNvSpPr/>
          <p:nvPr/>
        </p:nvSpPr>
        <p:spPr>
          <a:xfrm>
            <a:off x="6728347" y="1572325"/>
            <a:ext cx="1937981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55" name="Oval 12"/>
          <p:cNvSpPr/>
          <p:nvPr/>
        </p:nvSpPr>
        <p:spPr>
          <a:xfrm>
            <a:off x="6857999" y="1701978"/>
            <a:ext cx="1678675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dirty="0">
                <a:solidFill>
                  <a:schemeClr val="tx1"/>
                </a:solidFill>
                <a:latin typeface="Bahnschrift" panose="020B0502040204020203" pitchFamily="34" charset="0"/>
              </a:rPr>
              <a:t>Observable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48756" name="Rectangle 13"/>
          <p:cNvSpPr/>
          <p:nvPr/>
        </p:nvSpPr>
        <p:spPr>
          <a:xfrm>
            <a:off x="6728347" y="2999096"/>
            <a:ext cx="1937981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57" name="Oval 14"/>
          <p:cNvSpPr/>
          <p:nvPr/>
        </p:nvSpPr>
        <p:spPr>
          <a:xfrm>
            <a:off x="6857999" y="3128749"/>
            <a:ext cx="1678675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dirty="0">
                <a:solidFill>
                  <a:schemeClr val="tx1"/>
                </a:solidFill>
                <a:latin typeface="Bahnschrift" panose="020B0502040204020203" pitchFamily="34" charset="0"/>
              </a:rPr>
              <a:t>Observable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48758" name="Rectangle 15"/>
          <p:cNvSpPr/>
          <p:nvPr/>
        </p:nvSpPr>
        <p:spPr>
          <a:xfrm>
            <a:off x="6728347" y="4425867"/>
            <a:ext cx="1937981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59" name="Oval 16"/>
          <p:cNvSpPr/>
          <p:nvPr/>
        </p:nvSpPr>
        <p:spPr>
          <a:xfrm>
            <a:off x="6857999" y="4555520"/>
            <a:ext cx="1678675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dirty="0">
                <a:solidFill>
                  <a:schemeClr val="tx1"/>
                </a:solidFill>
                <a:latin typeface="Bahnschrift" panose="020B0502040204020203" pitchFamily="34" charset="0"/>
              </a:rPr>
              <a:t>Observable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3145745" name="Connector: Elbow 19"/>
          <p:cNvCxnSpPr>
            <a:stCxn id="1048753" idx="2"/>
            <a:endCxn id="1048758" idx="1"/>
          </p:cNvCxnSpPr>
          <p:nvPr/>
        </p:nvCxnSpPr>
        <p:spPr>
          <a:xfrm rot="16200000" flipH="1">
            <a:off x="4535884" y="2663307"/>
            <a:ext cx="1109463" cy="3275463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45746" name="Straight Arrow Connector 21"/>
          <p:cNvCxnSpPr>
            <a:stCxn id="1048753" idx="3"/>
            <a:endCxn id="1048756" idx="1"/>
          </p:cNvCxnSpPr>
          <p:nvPr/>
        </p:nvCxnSpPr>
        <p:spPr>
          <a:xfrm flipV="1">
            <a:off x="4490113" y="3429000"/>
            <a:ext cx="2238234" cy="28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48760" name="TextBox 10"/>
          <p:cNvSpPr txBox="1"/>
          <p:nvPr/>
        </p:nvSpPr>
        <p:spPr>
          <a:xfrm>
            <a:off x="6857998" y="1257851"/>
            <a:ext cx="1678675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Subscribe1</a:t>
            </a:r>
            <a:endParaRPr lang="en-US" sz="20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61" name="TextBox 10"/>
          <p:cNvSpPr txBox="1"/>
          <p:nvPr/>
        </p:nvSpPr>
        <p:spPr>
          <a:xfrm>
            <a:off x="6857997" y="2669319"/>
            <a:ext cx="1678675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Subscribe2</a:t>
            </a:r>
            <a:endParaRPr lang="en-US" sz="20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62" name="TextBox 10"/>
          <p:cNvSpPr txBox="1"/>
          <p:nvPr/>
        </p:nvSpPr>
        <p:spPr>
          <a:xfrm>
            <a:off x="6857996" y="4075195"/>
            <a:ext cx="1678675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Subscribe3</a:t>
            </a:r>
            <a:endParaRPr lang="en-US" sz="20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63" name="Rectangle 28"/>
          <p:cNvSpPr/>
          <p:nvPr/>
        </p:nvSpPr>
        <p:spPr>
          <a:xfrm>
            <a:off x="9241809" y="2919303"/>
            <a:ext cx="2160899" cy="110946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64" name="TextBox 10"/>
          <p:cNvSpPr txBox="1"/>
          <p:nvPr/>
        </p:nvSpPr>
        <p:spPr>
          <a:xfrm>
            <a:off x="9323697" y="3030423"/>
            <a:ext cx="2160899" cy="8128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Sub2.</a:t>
            </a:r>
            <a:r>
              <a:rPr lang="en-US" sz="1400" spc="178" dirty="0">
                <a:solidFill>
                  <a:srgbClr val="FF000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unsubscribe</a:t>
            </a:r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();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Means</a:t>
            </a:r>
            <a:r>
              <a:rPr lang="en-US" sz="1400" spc="178" dirty="0">
                <a:solidFill>
                  <a:srgbClr val="0070C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Sub2</a:t>
            </a:r>
            <a:endParaRPr lang="en-US" sz="1400" spc="178" dirty="0">
              <a:solidFill>
                <a:srgbClr val="0070C0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solidFill>
                  <a:srgbClr val="FF000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Stop</a:t>
            </a:r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getting Data From </a:t>
            </a:r>
            <a:r>
              <a:rPr lang="en-US" sz="1400" spc="178" dirty="0">
                <a:solidFill>
                  <a:srgbClr val="0070C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Observable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65" name="Rectangle 30"/>
          <p:cNvSpPr/>
          <p:nvPr/>
        </p:nvSpPr>
        <p:spPr>
          <a:xfrm>
            <a:off x="9241809" y="1572325"/>
            <a:ext cx="2160899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66" name="TextBox 10"/>
          <p:cNvSpPr txBox="1"/>
          <p:nvPr/>
        </p:nvSpPr>
        <p:spPr>
          <a:xfrm>
            <a:off x="9323697" y="1683444"/>
            <a:ext cx="2160899" cy="609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Sub1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solidFill>
                  <a:srgbClr val="FF000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Still</a:t>
            </a:r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getting Data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from </a:t>
            </a:r>
            <a:r>
              <a:rPr lang="en-US" sz="1400" spc="178" dirty="0">
                <a:solidFill>
                  <a:srgbClr val="0070C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Observable</a:t>
            </a:r>
            <a:endParaRPr lang="en-US" spc="178" dirty="0">
              <a:solidFill>
                <a:srgbClr val="0070C0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67" name="Rectangle 32"/>
          <p:cNvSpPr/>
          <p:nvPr/>
        </p:nvSpPr>
        <p:spPr>
          <a:xfrm>
            <a:off x="9241809" y="4502268"/>
            <a:ext cx="2160899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68" name="TextBox 10"/>
          <p:cNvSpPr txBox="1"/>
          <p:nvPr/>
        </p:nvSpPr>
        <p:spPr>
          <a:xfrm>
            <a:off x="9323697" y="4613387"/>
            <a:ext cx="2160899" cy="609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Sub3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solidFill>
                  <a:srgbClr val="FF000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Still</a:t>
            </a:r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getting Data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from </a:t>
            </a:r>
            <a:r>
              <a:rPr lang="en-US" sz="1400" spc="178" dirty="0">
                <a:solidFill>
                  <a:srgbClr val="0070C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Observable</a:t>
            </a:r>
            <a:endParaRPr lang="en-US" spc="178" dirty="0">
              <a:solidFill>
                <a:srgbClr val="0070C0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69" name="TextBox 10"/>
          <p:cNvSpPr txBox="1"/>
          <p:nvPr/>
        </p:nvSpPr>
        <p:spPr>
          <a:xfrm>
            <a:off x="9323698" y="2692572"/>
            <a:ext cx="216088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r>
              <a:rPr lang="en-US" sz="16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if</a:t>
            </a:r>
            <a:endParaRPr lang="en-US" sz="2000" spc="178" dirty="0">
              <a:solidFill>
                <a:srgbClr val="0070C0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8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8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8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8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48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48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8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48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8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8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63" grpId="0" animBg="1"/>
      <p:bldP spid="1048764" grpId="0"/>
      <p:bldP spid="1048765" grpId="0" animBg="1"/>
      <p:bldP spid="1048766" grpId="0"/>
      <p:bldP spid="1048767" grpId="0" animBg="1"/>
      <p:bldP spid="1048768" grpId="0"/>
      <p:bldP spid="104876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6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770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771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772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16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773" name="Rectangle: Rounded Corners 2"/>
          <p:cNvSpPr/>
          <p:nvPr/>
        </p:nvSpPr>
        <p:spPr>
          <a:xfrm>
            <a:off x="2524838" y="3117355"/>
            <a:ext cx="2074459" cy="628953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Observable</a:t>
            </a:r>
            <a:endParaRPr lang="en-US" dirty="0"/>
          </a:p>
        </p:txBody>
      </p:sp>
      <p:cxnSp>
        <p:nvCxnSpPr>
          <p:cNvPr id="3145747" name="Connector: Elbow 5"/>
          <p:cNvCxnSpPr>
            <a:stCxn id="1048773" idx="0"/>
            <a:endCxn id="1048774" idx="1"/>
          </p:cNvCxnSpPr>
          <p:nvPr/>
        </p:nvCxnSpPr>
        <p:spPr>
          <a:xfrm rot="5400000" flipH="1" flipV="1">
            <a:off x="4642236" y="922061"/>
            <a:ext cx="1115126" cy="3275463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48774" name="Rectangle 10"/>
          <p:cNvSpPr/>
          <p:nvPr/>
        </p:nvSpPr>
        <p:spPr>
          <a:xfrm>
            <a:off x="6837531" y="1572325"/>
            <a:ext cx="1937981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75" name="Oval 12"/>
          <p:cNvSpPr/>
          <p:nvPr/>
        </p:nvSpPr>
        <p:spPr>
          <a:xfrm>
            <a:off x="6967183" y="1701978"/>
            <a:ext cx="1678675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dirty="0">
                <a:solidFill>
                  <a:schemeClr val="tx1"/>
                </a:solidFill>
                <a:latin typeface="Bahnschrift" panose="020B0502040204020203" pitchFamily="34" charset="0"/>
              </a:rPr>
              <a:t>Observable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48776" name="Rectangle 13"/>
          <p:cNvSpPr/>
          <p:nvPr/>
        </p:nvSpPr>
        <p:spPr>
          <a:xfrm>
            <a:off x="6837531" y="2999096"/>
            <a:ext cx="1937981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77" name="Oval 14"/>
          <p:cNvSpPr/>
          <p:nvPr/>
        </p:nvSpPr>
        <p:spPr>
          <a:xfrm>
            <a:off x="6967183" y="3128749"/>
            <a:ext cx="1678675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dirty="0">
                <a:solidFill>
                  <a:schemeClr val="tx1"/>
                </a:solidFill>
                <a:latin typeface="Bahnschrift" panose="020B0502040204020203" pitchFamily="34" charset="0"/>
              </a:rPr>
              <a:t>Observable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48778" name="Rectangle 15"/>
          <p:cNvSpPr/>
          <p:nvPr/>
        </p:nvSpPr>
        <p:spPr>
          <a:xfrm>
            <a:off x="6837531" y="4425867"/>
            <a:ext cx="1937981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79" name="Oval 16"/>
          <p:cNvSpPr/>
          <p:nvPr/>
        </p:nvSpPr>
        <p:spPr>
          <a:xfrm>
            <a:off x="6967183" y="4555520"/>
            <a:ext cx="1678675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dirty="0">
                <a:solidFill>
                  <a:schemeClr val="tx1"/>
                </a:solidFill>
                <a:latin typeface="Bahnschrift" panose="020B0502040204020203" pitchFamily="34" charset="0"/>
              </a:rPr>
              <a:t>Observable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3145748" name="Connector: Elbow 19"/>
          <p:cNvCxnSpPr>
            <a:stCxn id="1048773" idx="2"/>
            <a:endCxn id="1048778" idx="1"/>
          </p:cNvCxnSpPr>
          <p:nvPr/>
        </p:nvCxnSpPr>
        <p:spPr>
          <a:xfrm rot="16200000" flipH="1">
            <a:off x="4645068" y="2663307"/>
            <a:ext cx="1109463" cy="3275463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45749" name="Straight Arrow Connector 21"/>
          <p:cNvCxnSpPr>
            <a:stCxn id="1048773" idx="3"/>
            <a:endCxn id="1048776" idx="1"/>
          </p:cNvCxnSpPr>
          <p:nvPr/>
        </p:nvCxnSpPr>
        <p:spPr>
          <a:xfrm flipV="1">
            <a:off x="4599297" y="3429000"/>
            <a:ext cx="2238234" cy="28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48780" name="TextBox 10"/>
          <p:cNvSpPr txBox="1"/>
          <p:nvPr/>
        </p:nvSpPr>
        <p:spPr>
          <a:xfrm>
            <a:off x="6967182" y="1257851"/>
            <a:ext cx="1678675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Subscribe1</a:t>
            </a:r>
            <a:endParaRPr lang="en-US" sz="20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81" name="TextBox 10"/>
          <p:cNvSpPr txBox="1"/>
          <p:nvPr/>
        </p:nvSpPr>
        <p:spPr>
          <a:xfrm>
            <a:off x="6967181" y="2669319"/>
            <a:ext cx="1678675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Subscribe2</a:t>
            </a:r>
            <a:endParaRPr lang="en-US" sz="20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82" name="TextBox 10"/>
          <p:cNvSpPr txBox="1"/>
          <p:nvPr/>
        </p:nvSpPr>
        <p:spPr>
          <a:xfrm>
            <a:off x="6967180" y="4075195"/>
            <a:ext cx="1678675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Subscribe3</a:t>
            </a:r>
            <a:endParaRPr lang="en-US" sz="20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83" name="Rectangle 28"/>
          <p:cNvSpPr/>
          <p:nvPr/>
        </p:nvSpPr>
        <p:spPr>
          <a:xfrm>
            <a:off x="9241809" y="3029802"/>
            <a:ext cx="1937981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84" name="TextBox 10"/>
          <p:cNvSpPr txBox="1"/>
          <p:nvPr/>
        </p:nvSpPr>
        <p:spPr>
          <a:xfrm>
            <a:off x="9323697" y="3140921"/>
            <a:ext cx="2160899" cy="609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Sub2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solidFill>
                  <a:srgbClr val="FF000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Stop</a:t>
            </a:r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getting Data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from </a:t>
            </a:r>
            <a:r>
              <a:rPr lang="en-US" sz="1400" spc="178" dirty="0">
                <a:solidFill>
                  <a:srgbClr val="0070C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Observable</a:t>
            </a:r>
            <a:endParaRPr lang="en-US" spc="178" dirty="0">
              <a:solidFill>
                <a:srgbClr val="0070C0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85" name="Rectangle 30"/>
          <p:cNvSpPr/>
          <p:nvPr/>
        </p:nvSpPr>
        <p:spPr>
          <a:xfrm>
            <a:off x="9241809" y="1572325"/>
            <a:ext cx="1937981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86" name="TextBox 10"/>
          <p:cNvSpPr txBox="1"/>
          <p:nvPr/>
        </p:nvSpPr>
        <p:spPr>
          <a:xfrm>
            <a:off x="9323697" y="1683444"/>
            <a:ext cx="2160899" cy="609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Sub1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solidFill>
                  <a:srgbClr val="FF000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Stop</a:t>
            </a:r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getting Data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from </a:t>
            </a:r>
            <a:r>
              <a:rPr lang="en-US" sz="1400" spc="178" dirty="0">
                <a:solidFill>
                  <a:srgbClr val="0070C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Observable</a:t>
            </a:r>
            <a:endParaRPr lang="en-US" spc="178" dirty="0">
              <a:solidFill>
                <a:srgbClr val="0070C0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87" name="Rectangle 32"/>
          <p:cNvSpPr/>
          <p:nvPr/>
        </p:nvSpPr>
        <p:spPr>
          <a:xfrm>
            <a:off x="9241809" y="4502268"/>
            <a:ext cx="1937981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88" name="TextBox 10"/>
          <p:cNvSpPr txBox="1"/>
          <p:nvPr/>
        </p:nvSpPr>
        <p:spPr>
          <a:xfrm>
            <a:off x="9323697" y="4613387"/>
            <a:ext cx="2160899" cy="609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Sub3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solidFill>
                  <a:srgbClr val="FF000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Stop</a:t>
            </a:r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getting Data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from </a:t>
            </a:r>
            <a:r>
              <a:rPr lang="en-US" sz="1400" spc="178" dirty="0">
                <a:solidFill>
                  <a:srgbClr val="0070C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Observable</a:t>
            </a:r>
            <a:endParaRPr lang="en-US" spc="178" dirty="0">
              <a:solidFill>
                <a:srgbClr val="0070C0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89" name="Rectangle 34"/>
          <p:cNvSpPr/>
          <p:nvPr/>
        </p:nvSpPr>
        <p:spPr>
          <a:xfrm>
            <a:off x="145571" y="2869441"/>
            <a:ext cx="2324675" cy="155642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90" name="TextBox 10"/>
          <p:cNvSpPr txBox="1"/>
          <p:nvPr/>
        </p:nvSpPr>
        <p:spPr>
          <a:xfrm>
            <a:off x="227459" y="2980561"/>
            <a:ext cx="2242787" cy="1016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observer. complete();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Means</a:t>
            </a:r>
            <a:r>
              <a:rPr lang="en-US" sz="1400" spc="178" dirty="0">
                <a:solidFill>
                  <a:srgbClr val="0070C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Observable</a:t>
            </a:r>
            <a:endParaRPr lang="en-US" sz="1400" spc="178" dirty="0">
              <a:solidFill>
                <a:srgbClr val="0070C0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Itself will </a:t>
            </a:r>
            <a:r>
              <a:rPr lang="en-US" sz="1400" spc="178" dirty="0">
                <a:solidFill>
                  <a:srgbClr val="FF000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not send any data</a:t>
            </a:r>
            <a:r>
              <a:rPr lang="en-US" sz="1400" spc="178" dirty="0">
                <a:solidFill>
                  <a:srgbClr val="0070C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</a:t>
            </a:r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to 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All Subscribers</a:t>
            </a:r>
            <a:endParaRPr lang="en-US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91" name="TextBox 10"/>
          <p:cNvSpPr txBox="1"/>
          <p:nvPr/>
        </p:nvSpPr>
        <p:spPr>
          <a:xfrm>
            <a:off x="237809" y="2595408"/>
            <a:ext cx="216088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r>
              <a:rPr lang="en-US" sz="16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if</a:t>
            </a:r>
            <a:endParaRPr lang="en-US" sz="2000" spc="178" dirty="0">
              <a:solidFill>
                <a:srgbClr val="0070C0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8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8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48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48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8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48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8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8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48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48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48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48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83" grpId="0" animBg="1"/>
      <p:bldP spid="1048784" grpId="0"/>
      <p:bldP spid="1048785" grpId="0" animBg="1"/>
      <p:bldP spid="1048786" grpId="0"/>
      <p:bldP spid="1048787" grpId="0" animBg="1"/>
      <p:bldP spid="1048788" grpId="0"/>
      <p:bldP spid="1048789" grpId="0" animBg="1"/>
      <p:bldP spid="1048790" grpId="0"/>
      <p:bldP spid="104879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7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792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793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794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en-US" altLang="en-GB" b="1" dirty="0">
                <a:solidFill>
                  <a:schemeClr val="bg1"/>
                </a:solidFill>
              </a:rPr>
              <a:t>7</a:t>
            </a:r>
            <a:endParaRPr lang="zh-CN" altLang="en-US"/>
          </a:p>
        </p:txBody>
      </p:sp>
      <p:cxnSp>
        <p:nvCxnSpPr>
          <p:cNvPr id="3145750" name="Straight Arrow Connector 3145749"/>
          <p:cNvCxnSpPr/>
          <p:nvPr/>
        </p:nvCxnSpPr>
        <p:spPr>
          <a:xfrm flipV="1">
            <a:off x="2356146" y="2362470"/>
            <a:ext cx="7344241" cy="43109"/>
          </a:xfrm>
          <a:prstGeom prst="straightConnector1">
            <a:avLst/>
          </a:prstGeom>
          <a:solidFill>
            <a:srgbClr val="FFFFFF"/>
          </a:solidFill>
          <a:ln w="25400">
            <a:solidFill>
              <a:srgbClr val="666666"/>
            </a:solidFill>
            <a:tailEnd type="triangle" w="lg" len="lg"/>
          </a:ln>
        </p:spPr>
      </p:cxnSp>
      <p:sp>
        <p:nvSpPr>
          <p:cNvPr id="1048795" name="Oval 1048794"/>
          <p:cNvSpPr/>
          <p:nvPr/>
        </p:nvSpPr>
        <p:spPr>
          <a:xfrm>
            <a:off x="2886077" y="2127770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p>
            <a:pPr algn="ctr"/>
            <a:r>
              <a:rPr lang="en-US" altLang="en-GB" b="1">
                <a:solidFill>
                  <a:srgbClr val="FF6600"/>
                </a:solidFill>
              </a:rPr>
              <a:t>A</a:t>
            </a:r>
            <a:endParaRPr lang="en-US" b="1">
              <a:solidFill>
                <a:srgbClr val="FF6600"/>
              </a:solidFill>
            </a:endParaRPr>
          </a:p>
        </p:txBody>
      </p:sp>
      <p:sp>
        <p:nvSpPr>
          <p:cNvPr id="1048796" name="Oval 1048795"/>
          <p:cNvSpPr/>
          <p:nvPr/>
        </p:nvSpPr>
        <p:spPr>
          <a:xfrm>
            <a:off x="5202565" y="2127769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0000FF"/>
                </a:solidFill>
              </a:rPr>
              <a:t>B</a:t>
            </a:r>
            <a:endParaRPr lang="en-US" b="1">
              <a:solidFill>
                <a:srgbClr val="0000FF"/>
              </a:solidFill>
            </a:endParaRPr>
          </a:p>
        </p:txBody>
      </p:sp>
      <p:sp>
        <p:nvSpPr>
          <p:cNvPr id="1048797" name="Oval 1048796"/>
          <p:cNvSpPr/>
          <p:nvPr/>
        </p:nvSpPr>
        <p:spPr>
          <a:xfrm>
            <a:off x="7519056" y="2127771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99CC00"/>
                </a:solidFill>
              </a:rPr>
              <a:t>C</a:t>
            </a:r>
            <a:endParaRPr lang="en-US" b="1">
              <a:solidFill>
                <a:srgbClr val="99CC00"/>
              </a:solidFill>
            </a:endParaRPr>
          </a:p>
        </p:txBody>
      </p:sp>
      <p:cxnSp>
        <p:nvCxnSpPr>
          <p:cNvPr id="3145751" name="Straight Arrow Connector 3145750"/>
          <p:cNvCxnSpPr/>
          <p:nvPr/>
        </p:nvCxnSpPr>
        <p:spPr>
          <a:xfrm flipV="1">
            <a:off x="2356145" y="3807765"/>
            <a:ext cx="7344241" cy="43109"/>
          </a:xfrm>
          <a:prstGeom prst="straightConnector1">
            <a:avLst/>
          </a:prstGeom>
          <a:solidFill>
            <a:srgbClr val="FFFFFF"/>
          </a:solidFill>
          <a:ln w="25400">
            <a:solidFill>
              <a:srgbClr val="666666"/>
            </a:solidFill>
            <a:tailEnd type="triangle" w="lg" len="lg"/>
          </a:ln>
        </p:spPr>
      </p:cxnSp>
      <p:sp>
        <p:nvSpPr>
          <p:cNvPr id="1048798" name="Oval 1048797"/>
          <p:cNvSpPr/>
          <p:nvPr/>
        </p:nvSpPr>
        <p:spPr>
          <a:xfrm>
            <a:off x="5202564" y="3573064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0000FF"/>
                </a:solidFill>
                <a:latin typeface="Aptos"/>
              </a:rPr>
              <a:t>B</a:t>
            </a:r>
            <a:endParaRPr lang="en-US" b="1">
              <a:solidFill>
                <a:srgbClr val="0000FF"/>
              </a:solidFill>
            </a:endParaRPr>
          </a:p>
        </p:txBody>
      </p:sp>
      <p:sp>
        <p:nvSpPr>
          <p:cNvPr id="1048799" name="Oval 1048798"/>
          <p:cNvSpPr/>
          <p:nvPr/>
        </p:nvSpPr>
        <p:spPr>
          <a:xfrm>
            <a:off x="7519055" y="3573066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99CC00"/>
                </a:solidFill>
                <a:latin typeface="Aptos"/>
              </a:rPr>
              <a:t>C</a:t>
            </a:r>
            <a:endParaRPr lang="en-US" b="1">
              <a:solidFill>
                <a:srgbClr val="99CC00"/>
              </a:solidFill>
            </a:endParaRPr>
          </a:p>
        </p:txBody>
      </p:sp>
      <p:sp>
        <p:nvSpPr>
          <p:cNvPr id="1048800" name="Oval 1048799"/>
          <p:cNvSpPr/>
          <p:nvPr/>
        </p:nvSpPr>
        <p:spPr>
          <a:xfrm>
            <a:off x="2886076" y="3573065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FF6600"/>
                </a:solidFill>
                <a:latin typeface="Aptos"/>
              </a:rPr>
              <a:t>A</a:t>
            </a:r>
            <a:endParaRPr lang="en-US" b="1">
              <a:solidFill>
                <a:srgbClr val="FF6600"/>
              </a:solidFill>
            </a:endParaRPr>
          </a:p>
        </p:txBody>
      </p:sp>
      <p:sp>
        <p:nvSpPr>
          <p:cNvPr id="1048801" name="Rectangle 1048800"/>
          <p:cNvSpPr/>
          <p:nvPr/>
        </p:nvSpPr>
        <p:spPr>
          <a:xfrm flipH="1">
            <a:off x="9165460" y="3458912"/>
            <a:ext cx="66914" cy="645970"/>
          </a:xfrm>
          <a:prstGeom prst="rect">
            <a:avLst/>
          </a:prstGeom>
          <a:solidFill>
            <a:srgbClr val="3399FF"/>
          </a:solidFill>
          <a:ln w="25400">
            <a:solidFill>
              <a:srgbClr val="0065CB"/>
            </a:solidFill>
            <a:prstDash val="solid"/>
          </a:ln>
        </p:spPr>
        <p:txBody>
          <a:bodyPr anchor="ctr"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48802" name="Text Box 1048801"/>
          <p:cNvSpPr txBox="1"/>
          <p:nvPr/>
        </p:nvSpPr>
        <p:spPr>
          <a:xfrm>
            <a:off x="8403571" y="3096259"/>
            <a:ext cx="1590692" cy="33274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en-GB" sz="1600" b="1">
                <a:solidFill>
                  <a:srgbClr val="000000"/>
                </a:solidFill>
              </a:rPr>
              <a:t>C</a:t>
            </a:r>
            <a:r>
              <a:rPr lang="en-US" altLang="en-GB" sz="1600" b="1">
                <a:solidFill>
                  <a:srgbClr val="000000"/>
                </a:solidFill>
              </a:rPr>
              <a:t>o</a:t>
            </a:r>
            <a:r>
              <a:rPr lang="en-US" altLang="en-GB" sz="1600" b="1">
                <a:solidFill>
                  <a:srgbClr val="000000"/>
                </a:solidFill>
              </a:rPr>
              <a:t>m</a:t>
            </a:r>
            <a:r>
              <a:rPr lang="en-US" altLang="en-GB" sz="1600" b="1">
                <a:solidFill>
                  <a:srgbClr val="000000"/>
                </a:solidFill>
              </a:rPr>
              <a:t>p</a:t>
            </a:r>
            <a:r>
              <a:rPr lang="en-US" altLang="en-GB" sz="1600" b="1">
                <a:solidFill>
                  <a:srgbClr val="000000"/>
                </a:solidFill>
              </a:rPr>
              <a:t>e</a:t>
            </a:r>
            <a:r>
              <a:rPr lang="en-US" altLang="en-GB" sz="1600" b="1">
                <a:solidFill>
                  <a:srgbClr val="000000"/>
                </a:solidFill>
              </a:rPr>
              <a:t>l</a:t>
            </a:r>
            <a:r>
              <a:rPr lang="en-US" altLang="en-GB" sz="1600" b="1">
                <a:solidFill>
                  <a:srgbClr val="000000"/>
                </a:solidFill>
              </a:rPr>
              <a:t>e</a:t>
            </a:r>
            <a:r>
              <a:rPr lang="en-US" altLang="en-GB" sz="1600" b="1">
                <a:solidFill>
                  <a:srgbClr val="000000"/>
                </a:solidFill>
              </a:rPr>
              <a:t>t</a:t>
            </a:r>
            <a:r>
              <a:rPr lang="en-US" altLang="en-GB" sz="1600" b="1">
                <a:solidFill>
                  <a:srgbClr val="000000"/>
                </a:solidFill>
              </a:rPr>
              <a:t>e</a:t>
            </a:r>
            <a:endParaRPr lang="en-US" sz="2800" b="1">
              <a:solidFill>
                <a:srgbClr val="000000"/>
              </a:solidFill>
            </a:endParaRPr>
          </a:p>
        </p:txBody>
      </p:sp>
      <p:cxnSp>
        <p:nvCxnSpPr>
          <p:cNvPr id="3145752" name="Straight Arrow Connector 3145751"/>
          <p:cNvCxnSpPr/>
          <p:nvPr/>
        </p:nvCxnSpPr>
        <p:spPr>
          <a:xfrm flipV="1">
            <a:off x="2356145" y="5323156"/>
            <a:ext cx="7344241" cy="43109"/>
          </a:xfrm>
          <a:prstGeom prst="straightConnector1">
            <a:avLst/>
          </a:prstGeom>
          <a:solidFill>
            <a:srgbClr val="FFFFFF"/>
          </a:solidFill>
          <a:ln w="25400">
            <a:solidFill>
              <a:srgbClr val="666666"/>
            </a:solidFill>
            <a:tailEnd type="triangle" w="lg" len="lg"/>
          </a:ln>
        </p:spPr>
      </p:cxnSp>
      <p:sp>
        <p:nvSpPr>
          <p:cNvPr id="1048803" name="Oval 1048802"/>
          <p:cNvSpPr/>
          <p:nvPr/>
        </p:nvSpPr>
        <p:spPr>
          <a:xfrm>
            <a:off x="5202564" y="5088455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0000FF"/>
                </a:solidFill>
                <a:latin typeface="Aptos"/>
              </a:rPr>
              <a:t>B</a:t>
            </a:r>
            <a:endParaRPr lang="en-US" b="1">
              <a:solidFill>
                <a:srgbClr val="0000FF"/>
              </a:solidFill>
            </a:endParaRPr>
          </a:p>
        </p:txBody>
      </p:sp>
      <p:sp>
        <p:nvSpPr>
          <p:cNvPr id="1048804" name="Oval 1048803"/>
          <p:cNvSpPr/>
          <p:nvPr/>
        </p:nvSpPr>
        <p:spPr>
          <a:xfrm>
            <a:off x="2886076" y="5088456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FF6600"/>
                </a:solidFill>
                <a:latin typeface="Aptos"/>
              </a:rPr>
              <a:t>A</a:t>
            </a:r>
            <a:endParaRPr lang="en-US" b="1">
              <a:solidFill>
                <a:srgbClr val="FF6600"/>
              </a:solidFill>
            </a:endParaRPr>
          </a:p>
        </p:txBody>
      </p:sp>
      <p:sp>
        <p:nvSpPr>
          <p:cNvPr id="1048805" name="Oval 1048804"/>
          <p:cNvSpPr/>
          <p:nvPr/>
        </p:nvSpPr>
        <p:spPr>
          <a:xfrm>
            <a:off x="7519055" y="5088457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99CC00"/>
                </a:solidFill>
                <a:latin typeface="Aptos"/>
              </a:rPr>
              <a:t>C</a:t>
            </a:r>
            <a:endParaRPr lang="en-US" b="1">
              <a:solidFill>
                <a:srgbClr val="99CC00"/>
              </a:solidFill>
            </a:endParaRPr>
          </a:p>
        </p:txBody>
      </p:sp>
      <p:sp>
        <p:nvSpPr>
          <p:cNvPr id="1048806" name="Text Box 1048805"/>
          <p:cNvSpPr txBox="1"/>
          <p:nvPr/>
        </p:nvSpPr>
        <p:spPr>
          <a:xfrm>
            <a:off x="8727868" y="4690197"/>
            <a:ext cx="991562" cy="332740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GB" sz="1600" b="1">
                <a:solidFill>
                  <a:srgbClr val="000000"/>
                </a:solidFill>
                <a:latin typeface="Aptos"/>
              </a:rPr>
              <a:t>E</a:t>
            </a:r>
            <a:r>
              <a:rPr lang="en-US" altLang="en-GB" sz="1600" b="1">
                <a:solidFill>
                  <a:srgbClr val="000000"/>
                </a:solidFill>
                <a:latin typeface="Aptos"/>
              </a:rPr>
              <a:t>r</a:t>
            </a:r>
            <a:r>
              <a:rPr lang="en-US" altLang="en-GB" sz="1600" b="1">
                <a:solidFill>
                  <a:srgbClr val="000000"/>
                </a:solidFill>
                <a:latin typeface="Aptos"/>
              </a:rPr>
              <a:t>o</a:t>
            </a:r>
            <a:r>
              <a:rPr lang="en-US" altLang="en-GB" sz="1600" b="1">
                <a:solidFill>
                  <a:srgbClr val="000000"/>
                </a:solidFill>
                <a:latin typeface="Aptos"/>
              </a:rPr>
              <a:t>r</a:t>
            </a:r>
            <a:r>
              <a:rPr lang="en-US" altLang="en-GB" sz="1600" b="1">
                <a:solidFill>
                  <a:srgbClr val="000000"/>
                </a:solidFill>
                <a:latin typeface="Aptos"/>
              </a:rPr>
              <a:t>r</a:t>
            </a:r>
            <a:endParaRPr lang="en-US" sz="2800" b="1">
              <a:solidFill>
                <a:srgbClr val="000000"/>
              </a:solidFill>
            </a:endParaRPr>
          </a:p>
        </p:txBody>
      </p:sp>
      <p:grpSp>
        <p:nvGrpSpPr>
          <p:cNvPr id="109" name="Group 108"/>
          <p:cNvGrpSpPr/>
          <p:nvPr/>
        </p:nvGrpSpPr>
        <p:grpSpPr>
          <a:xfrm>
            <a:off x="9016284" y="5000171"/>
            <a:ext cx="68389" cy="665988"/>
            <a:chOff x="9016284" y="5000171"/>
            <a:chExt cx="68389" cy="665988"/>
          </a:xfrm>
        </p:grpSpPr>
        <p:sp>
          <p:nvSpPr>
            <p:cNvPr id="1048807" name="Rectangle 1048806"/>
            <p:cNvSpPr/>
            <p:nvPr/>
          </p:nvSpPr>
          <p:spPr>
            <a:xfrm rot="19901346" flipH="1">
              <a:off x="9016284" y="5000171"/>
              <a:ext cx="66914" cy="645970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rgbClr val="990000"/>
              </a:solidFill>
              <a:prstDash val="solid"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48808" name="Rectangle 1048807"/>
            <p:cNvSpPr/>
            <p:nvPr/>
          </p:nvSpPr>
          <p:spPr>
            <a:xfrm rot="1679802" flipH="1">
              <a:off x="9017759" y="5020189"/>
              <a:ext cx="66914" cy="645970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rgbClr val="990000"/>
              </a:solidFill>
              <a:prstDash val="solid"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53" name="Straight Arrow Connector 3145752"/>
          <p:cNvCxnSpPr/>
          <p:nvPr/>
        </p:nvCxnSpPr>
        <p:spPr>
          <a:xfrm flipV="1">
            <a:off x="2136548" y="4280855"/>
            <a:ext cx="7344241" cy="43109"/>
          </a:xfrm>
          <a:prstGeom prst="straightConnector1">
            <a:avLst/>
          </a:prstGeom>
          <a:solidFill>
            <a:srgbClr val="FFFFFF"/>
          </a:solidFill>
          <a:ln w="25400">
            <a:solidFill>
              <a:srgbClr val="666666"/>
            </a:solidFill>
            <a:tailEnd type="triangle" w="lg" len="lg"/>
          </a:ln>
        </p:spPr>
      </p:cxnSp>
      <p:cxnSp>
        <p:nvCxnSpPr>
          <p:cNvPr id="3145754" name="Straight Arrow Connector 3145753"/>
          <p:cNvCxnSpPr/>
          <p:nvPr/>
        </p:nvCxnSpPr>
        <p:spPr>
          <a:xfrm flipV="1">
            <a:off x="2135107" y="5392179"/>
            <a:ext cx="7344241" cy="43109"/>
          </a:xfrm>
          <a:prstGeom prst="straightConnector1">
            <a:avLst/>
          </a:prstGeom>
          <a:solidFill>
            <a:srgbClr val="FFFFFF"/>
          </a:solidFill>
          <a:ln w="25400">
            <a:solidFill>
              <a:srgbClr val="666666"/>
            </a:solidFill>
            <a:tailEnd type="triangle" w="lg" len="lg"/>
          </a:ln>
        </p:spPr>
      </p:cxnSp>
      <p:cxnSp>
        <p:nvCxnSpPr>
          <p:cNvPr id="3145755" name="Straight Arrow Connector 3145754"/>
          <p:cNvCxnSpPr/>
          <p:nvPr/>
        </p:nvCxnSpPr>
        <p:spPr>
          <a:xfrm flipV="1">
            <a:off x="2135106" y="3126422"/>
            <a:ext cx="7344241" cy="43109"/>
          </a:xfrm>
          <a:prstGeom prst="straightConnector1">
            <a:avLst/>
          </a:prstGeom>
          <a:solidFill>
            <a:srgbClr val="FFFFFF"/>
          </a:solidFill>
          <a:ln w="25400">
            <a:solidFill>
              <a:srgbClr val="666666"/>
            </a:solidFill>
            <a:tailEnd type="triangle" w="lg" len="lg"/>
          </a:ln>
        </p:spPr>
      </p:cxnSp>
      <p:pic>
        <p:nvPicPr>
          <p:cNvPr id="2097218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09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810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11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en-US" altLang="en-GB" b="1" dirty="0">
                <a:solidFill>
                  <a:schemeClr val="bg1"/>
                </a:solidFill>
              </a:rPr>
              <a:t>8</a:t>
            </a:r>
            <a:endParaRPr lang="zh-CN" altLang="en-US"/>
          </a:p>
        </p:txBody>
      </p:sp>
      <p:cxnSp>
        <p:nvCxnSpPr>
          <p:cNvPr id="3145756" name="Straight Arrow Connector 3145755"/>
          <p:cNvCxnSpPr/>
          <p:nvPr/>
        </p:nvCxnSpPr>
        <p:spPr>
          <a:xfrm flipV="1">
            <a:off x="2135107" y="1971988"/>
            <a:ext cx="7344241" cy="43109"/>
          </a:xfrm>
          <a:prstGeom prst="straightConnector1">
            <a:avLst/>
          </a:prstGeom>
          <a:solidFill>
            <a:srgbClr val="FFFFFF"/>
          </a:solidFill>
          <a:ln w="25400">
            <a:solidFill>
              <a:srgbClr val="666666"/>
            </a:solidFill>
            <a:tailEnd type="triangle" w="lg" len="lg"/>
          </a:ln>
        </p:spPr>
      </p:cxnSp>
      <p:sp>
        <p:nvSpPr>
          <p:cNvPr id="1048812" name="Oval 1048811"/>
          <p:cNvSpPr/>
          <p:nvPr/>
        </p:nvSpPr>
        <p:spPr>
          <a:xfrm>
            <a:off x="2665038" y="1737288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p>
            <a:pPr algn="ctr"/>
            <a:r>
              <a:rPr lang="en-US" altLang="en-GB" b="1">
                <a:solidFill>
                  <a:srgbClr val="FF6600"/>
                </a:solidFill>
              </a:rPr>
              <a:t>A</a:t>
            </a:r>
            <a:endParaRPr lang="en-US" b="1">
              <a:solidFill>
                <a:srgbClr val="FF6600"/>
              </a:solidFill>
            </a:endParaRPr>
          </a:p>
        </p:txBody>
      </p:sp>
      <p:sp>
        <p:nvSpPr>
          <p:cNvPr id="1048813" name="Oval 1048812"/>
          <p:cNvSpPr/>
          <p:nvPr/>
        </p:nvSpPr>
        <p:spPr>
          <a:xfrm>
            <a:off x="3880373" y="1715736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0000FF"/>
                </a:solidFill>
              </a:rPr>
              <a:t>B</a:t>
            </a:r>
            <a:endParaRPr lang="en-US" b="1">
              <a:solidFill>
                <a:srgbClr val="0000FF"/>
              </a:solidFill>
            </a:endParaRPr>
          </a:p>
        </p:txBody>
      </p:sp>
      <p:sp>
        <p:nvSpPr>
          <p:cNvPr id="1048814" name="Oval 1048813"/>
          <p:cNvSpPr/>
          <p:nvPr/>
        </p:nvSpPr>
        <p:spPr>
          <a:xfrm>
            <a:off x="5164874" y="1715736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99CC00"/>
                </a:solidFill>
              </a:rPr>
              <a:t>C</a:t>
            </a:r>
            <a:endParaRPr lang="en-US" b="1">
              <a:solidFill>
                <a:srgbClr val="99CC00"/>
              </a:solidFill>
            </a:endParaRPr>
          </a:p>
        </p:txBody>
      </p:sp>
      <p:sp>
        <p:nvSpPr>
          <p:cNvPr id="1048815" name="Rectangle 1048814"/>
          <p:cNvSpPr/>
          <p:nvPr/>
        </p:nvSpPr>
        <p:spPr>
          <a:xfrm flipH="1">
            <a:off x="6506748" y="1649003"/>
            <a:ext cx="66914" cy="645970"/>
          </a:xfrm>
          <a:prstGeom prst="rect">
            <a:avLst/>
          </a:prstGeom>
          <a:solidFill>
            <a:srgbClr val="3399FF"/>
          </a:solidFill>
          <a:ln w="25400">
            <a:solidFill>
              <a:srgbClr val="0065CB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48816" name="Oval 1048815"/>
          <p:cNvSpPr/>
          <p:nvPr/>
        </p:nvSpPr>
        <p:spPr>
          <a:xfrm>
            <a:off x="7298016" y="1737287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008080"/>
                </a:solidFill>
                <a:latin typeface="Aptos"/>
              </a:rPr>
              <a:t>D</a:t>
            </a:r>
            <a:endParaRPr lang="en-US" b="1">
              <a:solidFill>
                <a:srgbClr val="008080"/>
              </a:solidFill>
            </a:endParaRPr>
          </a:p>
        </p:txBody>
      </p:sp>
      <p:sp>
        <p:nvSpPr>
          <p:cNvPr id="1048817" name="Oval 1048816"/>
          <p:cNvSpPr/>
          <p:nvPr/>
        </p:nvSpPr>
        <p:spPr>
          <a:xfrm>
            <a:off x="8368264" y="1715736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CC0066"/>
                </a:solidFill>
                <a:latin typeface="Aptos"/>
              </a:rPr>
              <a:t>E</a:t>
            </a:r>
            <a:endParaRPr lang="en-US" b="1">
              <a:solidFill>
                <a:srgbClr val="CC0066"/>
              </a:solidFill>
            </a:endParaRPr>
          </a:p>
        </p:txBody>
      </p:sp>
      <p:sp>
        <p:nvSpPr>
          <p:cNvPr id="1048818" name="Oval 1048817"/>
          <p:cNvSpPr/>
          <p:nvPr/>
        </p:nvSpPr>
        <p:spPr>
          <a:xfrm>
            <a:off x="2665037" y="2891722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FF6600"/>
                </a:solidFill>
                <a:latin typeface="Aptos"/>
              </a:rPr>
              <a:t>A</a:t>
            </a:r>
            <a:endParaRPr lang="en-US" b="1">
              <a:solidFill>
                <a:srgbClr val="FF6600"/>
              </a:solidFill>
            </a:endParaRPr>
          </a:p>
        </p:txBody>
      </p:sp>
      <p:sp>
        <p:nvSpPr>
          <p:cNvPr id="1048819" name="Oval 1048818"/>
          <p:cNvSpPr/>
          <p:nvPr/>
        </p:nvSpPr>
        <p:spPr>
          <a:xfrm>
            <a:off x="7298015" y="2891721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008080"/>
                </a:solidFill>
                <a:latin typeface="Aptos"/>
              </a:rPr>
              <a:t>D</a:t>
            </a:r>
            <a:endParaRPr lang="en-US" b="1">
              <a:solidFill>
                <a:srgbClr val="008080"/>
              </a:solidFill>
            </a:endParaRPr>
          </a:p>
        </p:txBody>
      </p:sp>
      <p:sp>
        <p:nvSpPr>
          <p:cNvPr id="1048820" name="Oval 1048819"/>
          <p:cNvSpPr/>
          <p:nvPr/>
        </p:nvSpPr>
        <p:spPr>
          <a:xfrm>
            <a:off x="5164873" y="2870170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99CC00"/>
                </a:solidFill>
                <a:latin typeface="Aptos"/>
              </a:rPr>
              <a:t>C</a:t>
            </a:r>
            <a:endParaRPr lang="en-US" b="1">
              <a:solidFill>
                <a:srgbClr val="99CC00"/>
              </a:solidFill>
            </a:endParaRPr>
          </a:p>
        </p:txBody>
      </p:sp>
      <p:sp>
        <p:nvSpPr>
          <p:cNvPr id="1048821" name="Oval 1048820"/>
          <p:cNvSpPr/>
          <p:nvPr/>
        </p:nvSpPr>
        <p:spPr>
          <a:xfrm>
            <a:off x="3880372" y="2870170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0000FF"/>
                </a:solidFill>
                <a:latin typeface="Aptos"/>
              </a:rPr>
              <a:t>B</a:t>
            </a:r>
            <a:endParaRPr lang="en-US" b="1">
              <a:solidFill>
                <a:srgbClr val="0000FF"/>
              </a:solidFill>
            </a:endParaRPr>
          </a:p>
        </p:txBody>
      </p:sp>
      <p:sp>
        <p:nvSpPr>
          <p:cNvPr id="1048822" name="Oval 1048821"/>
          <p:cNvSpPr/>
          <p:nvPr/>
        </p:nvSpPr>
        <p:spPr>
          <a:xfrm>
            <a:off x="8368263" y="2870170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CC0066"/>
                </a:solidFill>
                <a:latin typeface="Aptos"/>
              </a:rPr>
              <a:t>E</a:t>
            </a:r>
            <a:endParaRPr lang="en-US" b="1">
              <a:solidFill>
                <a:srgbClr val="CC0066"/>
              </a:solidFill>
            </a:endParaRPr>
          </a:p>
        </p:txBody>
      </p:sp>
      <p:sp>
        <p:nvSpPr>
          <p:cNvPr id="1048823" name="Oval 1048822"/>
          <p:cNvSpPr/>
          <p:nvPr/>
        </p:nvSpPr>
        <p:spPr>
          <a:xfrm>
            <a:off x="2666479" y="4046155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FF6600"/>
                </a:solidFill>
                <a:latin typeface="Aptos"/>
              </a:rPr>
              <a:t>A</a:t>
            </a:r>
            <a:endParaRPr lang="en-US" b="1">
              <a:solidFill>
                <a:srgbClr val="FF6600"/>
              </a:solidFill>
            </a:endParaRPr>
          </a:p>
        </p:txBody>
      </p:sp>
      <p:sp>
        <p:nvSpPr>
          <p:cNvPr id="1048824" name="Rectangle 1048823"/>
          <p:cNvSpPr/>
          <p:nvPr/>
        </p:nvSpPr>
        <p:spPr>
          <a:xfrm flipH="1">
            <a:off x="6508189" y="3957870"/>
            <a:ext cx="66914" cy="645970"/>
          </a:xfrm>
          <a:prstGeom prst="rect">
            <a:avLst/>
          </a:prstGeom>
          <a:solidFill>
            <a:srgbClr val="3399FF"/>
          </a:solidFill>
          <a:ln w="25400">
            <a:solidFill>
              <a:srgbClr val="0065CB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48825" name="Oval 1048824"/>
          <p:cNvSpPr/>
          <p:nvPr/>
        </p:nvSpPr>
        <p:spPr>
          <a:xfrm>
            <a:off x="5166315" y="4024603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99CC00"/>
                </a:solidFill>
                <a:latin typeface="Aptos"/>
              </a:rPr>
              <a:t>C</a:t>
            </a:r>
            <a:endParaRPr lang="en-US" b="1">
              <a:solidFill>
                <a:srgbClr val="99CC00"/>
              </a:solidFill>
            </a:endParaRPr>
          </a:p>
        </p:txBody>
      </p:sp>
      <p:sp>
        <p:nvSpPr>
          <p:cNvPr id="1048826" name="Oval 1048825"/>
          <p:cNvSpPr/>
          <p:nvPr/>
        </p:nvSpPr>
        <p:spPr>
          <a:xfrm>
            <a:off x="3881814" y="4024603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0000FF"/>
                </a:solidFill>
                <a:latin typeface="Aptos"/>
              </a:rPr>
              <a:t>B</a:t>
            </a:r>
            <a:endParaRPr lang="en-US" b="1">
              <a:solidFill>
                <a:srgbClr val="0000FF"/>
              </a:solidFill>
            </a:endParaRPr>
          </a:p>
        </p:txBody>
      </p:sp>
      <p:sp>
        <p:nvSpPr>
          <p:cNvPr id="1048827" name="Oval 1048826"/>
          <p:cNvSpPr/>
          <p:nvPr/>
        </p:nvSpPr>
        <p:spPr>
          <a:xfrm>
            <a:off x="2665038" y="5157479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FF6600"/>
                </a:solidFill>
                <a:latin typeface="Aptos"/>
              </a:rPr>
              <a:t>A</a:t>
            </a:r>
            <a:endParaRPr lang="en-US" b="1">
              <a:solidFill>
                <a:srgbClr val="FF6600"/>
              </a:solidFill>
            </a:endParaRPr>
          </a:p>
        </p:txBody>
      </p:sp>
      <p:sp>
        <p:nvSpPr>
          <p:cNvPr id="1048828" name="Rectangle 1048827"/>
          <p:cNvSpPr/>
          <p:nvPr/>
        </p:nvSpPr>
        <p:spPr>
          <a:xfrm flipH="1">
            <a:off x="8032033" y="5069194"/>
            <a:ext cx="66914" cy="645970"/>
          </a:xfrm>
          <a:prstGeom prst="rect">
            <a:avLst/>
          </a:prstGeom>
          <a:solidFill>
            <a:srgbClr val="3399FF"/>
          </a:solidFill>
          <a:ln w="25400">
            <a:solidFill>
              <a:srgbClr val="0065CB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48829" name="Oval 1048828"/>
          <p:cNvSpPr/>
          <p:nvPr/>
        </p:nvSpPr>
        <p:spPr>
          <a:xfrm>
            <a:off x="5164874" y="5135927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99CC00"/>
                </a:solidFill>
                <a:latin typeface="Aptos"/>
              </a:rPr>
              <a:t>C</a:t>
            </a:r>
            <a:endParaRPr lang="en-US" b="1">
              <a:solidFill>
                <a:srgbClr val="99CC00"/>
              </a:solidFill>
            </a:endParaRPr>
          </a:p>
        </p:txBody>
      </p:sp>
      <p:sp>
        <p:nvSpPr>
          <p:cNvPr id="1048830" name="Oval 1048829"/>
          <p:cNvSpPr/>
          <p:nvPr/>
        </p:nvSpPr>
        <p:spPr>
          <a:xfrm>
            <a:off x="3880373" y="5135927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0000FF"/>
                </a:solidFill>
                <a:latin typeface="Aptos"/>
              </a:rPr>
              <a:t>B</a:t>
            </a:r>
            <a:endParaRPr lang="en-US" b="1">
              <a:solidFill>
                <a:srgbClr val="0000FF"/>
              </a:solidFill>
            </a:endParaRPr>
          </a:p>
        </p:txBody>
      </p:sp>
      <p:grpSp>
        <p:nvGrpSpPr>
          <p:cNvPr id="111" name="Group 110"/>
          <p:cNvGrpSpPr/>
          <p:nvPr/>
        </p:nvGrpSpPr>
        <p:grpSpPr>
          <a:xfrm>
            <a:off x="6438359" y="2836534"/>
            <a:ext cx="68389" cy="665988"/>
            <a:chOff x="9016284" y="5000171"/>
            <a:chExt cx="68389" cy="665988"/>
          </a:xfrm>
        </p:grpSpPr>
        <p:sp>
          <p:nvSpPr>
            <p:cNvPr id="1048831" name="Rectangle 1048830"/>
            <p:cNvSpPr/>
            <p:nvPr/>
          </p:nvSpPr>
          <p:spPr>
            <a:xfrm rot="19901346" flipH="1">
              <a:off x="9016284" y="5000171"/>
              <a:ext cx="66914" cy="645970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rgbClr val="990000"/>
              </a:solidFill>
              <a:prstDash val="solid"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48832" name="Rectangle 1048831"/>
            <p:cNvSpPr/>
            <p:nvPr/>
          </p:nvSpPr>
          <p:spPr>
            <a:xfrm rot="1679802" flipH="1">
              <a:off x="9017759" y="5020189"/>
              <a:ext cx="66914" cy="645970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rgbClr val="990000"/>
              </a:solidFill>
              <a:prstDash val="solid"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8065492" y="3957870"/>
            <a:ext cx="68389" cy="665988"/>
            <a:chOff x="9016284" y="5000171"/>
            <a:chExt cx="68389" cy="665988"/>
          </a:xfrm>
        </p:grpSpPr>
        <p:sp>
          <p:nvSpPr>
            <p:cNvPr id="1048833" name="Rectangle 1048832"/>
            <p:cNvSpPr/>
            <p:nvPr/>
          </p:nvSpPr>
          <p:spPr>
            <a:xfrm rot="19901346" flipH="1">
              <a:off x="9016284" y="5000171"/>
              <a:ext cx="66914" cy="645970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rgbClr val="990000"/>
              </a:solidFill>
              <a:prstDash val="solid"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48834" name="Rectangle 1048833"/>
            <p:cNvSpPr/>
            <p:nvPr/>
          </p:nvSpPr>
          <p:spPr>
            <a:xfrm rot="1679802" flipH="1">
              <a:off x="9017759" y="5020189"/>
              <a:ext cx="66914" cy="645970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rgbClr val="990000"/>
              </a:solidFill>
              <a:prstDash val="solid"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6654447" y="5080739"/>
            <a:ext cx="68389" cy="665988"/>
            <a:chOff x="9016284" y="5000171"/>
            <a:chExt cx="68389" cy="665988"/>
          </a:xfrm>
        </p:grpSpPr>
        <p:sp>
          <p:nvSpPr>
            <p:cNvPr id="1048835" name="Rectangle 1048834"/>
            <p:cNvSpPr/>
            <p:nvPr/>
          </p:nvSpPr>
          <p:spPr>
            <a:xfrm rot="19901346" flipH="1">
              <a:off x="9016284" y="5000171"/>
              <a:ext cx="66914" cy="645970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rgbClr val="990000"/>
              </a:solidFill>
              <a:prstDash val="solid"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48836" name="Rectangle 1048835"/>
            <p:cNvSpPr/>
            <p:nvPr/>
          </p:nvSpPr>
          <p:spPr>
            <a:xfrm rot="1679802" flipH="1">
              <a:off x="9017759" y="5020189"/>
              <a:ext cx="66914" cy="645970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rgbClr val="990000"/>
              </a:solidFill>
              <a:prstDash val="solid"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9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37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838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39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en-US" altLang="en-GB" b="1" dirty="0">
                <a:solidFill>
                  <a:schemeClr val="bg1"/>
                </a:solidFill>
              </a:rPr>
              <a:t>9</a:t>
            </a:r>
            <a:endParaRPr lang="zh-CN" altLang="en-US"/>
          </a:p>
        </p:txBody>
      </p:sp>
      <p:pic>
        <p:nvPicPr>
          <p:cNvPr id="2097220" name="Picture 2097219"/>
          <p:cNvPicPr/>
          <p:nvPr/>
        </p:nvPicPr>
        <p:blipFill>
          <a:blip r:embed="rId2"/>
          <a:stretch>
            <a:fillRect/>
          </a:stretch>
        </p:blipFill>
        <p:spPr>
          <a:xfrm>
            <a:off x="2649547" y="1978275"/>
            <a:ext cx="6415923" cy="3963092"/>
          </a:xfrm>
          <a:prstGeom prst="rect">
            <a:avLst/>
          </a:prstGeom>
        </p:spPr>
      </p:pic>
      <p:sp>
        <p:nvSpPr>
          <p:cNvPr id="1048840" name="Text Box 1048839"/>
          <p:cNvSpPr txBox="1"/>
          <p:nvPr/>
        </p:nvSpPr>
        <p:spPr>
          <a:xfrm rot="13104">
            <a:off x="2785908" y="1335302"/>
            <a:ext cx="6143199" cy="396240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sz="2000" b="1">
                <a:solidFill>
                  <a:srgbClr val="FF0000"/>
                </a:solidFill>
                <a:latin typeface="Aptos"/>
              </a:rPr>
              <a:t>A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L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L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 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A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R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E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 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I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N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V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A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L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I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D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 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S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E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N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A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R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I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O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S</a:t>
            </a:r>
            <a:endParaRPr lang="en-US" sz="28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21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41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842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43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2</a:t>
            </a:r>
            <a:r>
              <a:rPr lang="en-US" altLang="en-GB" b="1" dirty="0">
                <a:solidFill>
                  <a:schemeClr val="bg1"/>
                </a:solidFill>
              </a:rPr>
              <a:t>0</a:t>
            </a:r>
            <a:endParaRPr lang="zh-CN" altLang="en-US"/>
          </a:p>
        </p:txBody>
      </p:sp>
      <p:pic>
        <p:nvPicPr>
          <p:cNvPr id="2097222" name="Picture 2097221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0" y="2094370"/>
            <a:ext cx="7620000" cy="266925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23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44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845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46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2</a:t>
            </a:r>
            <a:r>
              <a:rPr lang="en-US" altLang="en-GB" b="1" dirty="0">
                <a:solidFill>
                  <a:schemeClr val="bg1"/>
                </a:solidFill>
              </a:rPr>
              <a:t>1</a:t>
            </a:r>
            <a:endParaRPr lang="zh-CN" altLang="en-US"/>
          </a:p>
        </p:txBody>
      </p:sp>
      <p:pic>
        <p:nvPicPr>
          <p:cNvPr id="2097224" name="Picture 2097223"/>
          <p:cNvPicPr/>
          <p:nvPr/>
        </p:nvPicPr>
        <p:blipFill>
          <a:blip r:embed="rId2"/>
          <a:stretch>
            <a:fillRect/>
          </a:stretch>
        </p:blipFill>
        <p:spPr>
          <a:xfrm>
            <a:off x="2355802" y="1840849"/>
            <a:ext cx="7480396" cy="317630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25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47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848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49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2</a:t>
            </a:r>
            <a:r>
              <a:rPr lang="en-US" altLang="en-GB" b="1" dirty="0">
                <a:solidFill>
                  <a:schemeClr val="bg1"/>
                </a:solidFill>
              </a:rPr>
              <a:t>2</a:t>
            </a:r>
            <a:endParaRPr lang="zh-CN" altLang="en-US"/>
          </a:p>
        </p:txBody>
      </p:sp>
      <p:pic>
        <p:nvPicPr>
          <p:cNvPr id="2097226" name="Picture 2097225"/>
          <p:cNvPicPr/>
          <p:nvPr/>
        </p:nvPicPr>
        <p:blipFill>
          <a:blip r:embed="rId2"/>
          <a:stretch>
            <a:fillRect/>
          </a:stretch>
        </p:blipFill>
        <p:spPr>
          <a:xfrm>
            <a:off x="1942809" y="2368290"/>
            <a:ext cx="8306382" cy="21214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27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50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851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52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2</a:t>
            </a:r>
            <a:r>
              <a:rPr lang="en-US" altLang="en-GB" b="1" dirty="0">
                <a:solidFill>
                  <a:schemeClr val="bg1"/>
                </a:solidFill>
              </a:rPr>
              <a:t>3</a:t>
            </a:r>
            <a:endParaRPr lang="zh-CN" altLang="en-US"/>
          </a:p>
        </p:txBody>
      </p:sp>
      <p:pic>
        <p:nvPicPr>
          <p:cNvPr id="2097228" name="Picture 2097227"/>
          <p:cNvPicPr/>
          <p:nvPr/>
        </p:nvPicPr>
        <p:blipFill>
          <a:blip r:embed="rId2"/>
          <a:stretch>
            <a:fillRect/>
          </a:stretch>
        </p:blipFill>
        <p:spPr>
          <a:xfrm>
            <a:off x="2966565" y="1470766"/>
            <a:ext cx="6258870" cy="391646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29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53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854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55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2</a:t>
            </a:r>
            <a:r>
              <a:rPr lang="en-US" altLang="en-GB" b="1" dirty="0">
                <a:solidFill>
                  <a:schemeClr val="bg1"/>
                </a:solidFill>
              </a:rPr>
              <a:t>4</a:t>
            </a:r>
            <a:endParaRPr lang="zh-CN" altLang="en-US"/>
          </a:p>
        </p:txBody>
      </p:sp>
      <p:pic>
        <p:nvPicPr>
          <p:cNvPr id="2097230" name="Picture 2097229"/>
          <p:cNvPicPr/>
          <p:nvPr/>
        </p:nvPicPr>
        <p:blipFill>
          <a:blip r:embed="rId2"/>
          <a:stretch>
            <a:fillRect/>
          </a:stretch>
        </p:blipFill>
        <p:spPr>
          <a:xfrm>
            <a:off x="2504130" y="1980723"/>
            <a:ext cx="7183740" cy="289655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31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56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857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58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2</a:t>
            </a:r>
            <a:r>
              <a:rPr lang="en-US" altLang="en-GB" b="1" dirty="0">
                <a:solidFill>
                  <a:schemeClr val="bg1"/>
                </a:solidFill>
              </a:rPr>
              <a:t>5</a:t>
            </a:r>
            <a:endParaRPr lang="zh-CN" altLang="en-US"/>
          </a:p>
        </p:txBody>
      </p:sp>
      <p:pic>
        <p:nvPicPr>
          <p:cNvPr id="2097232" name="Picture 2097231"/>
          <p:cNvPicPr/>
          <p:nvPr/>
        </p:nvPicPr>
        <p:blipFill>
          <a:blip r:embed="rId2"/>
          <a:stretch>
            <a:fillRect/>
          </a:stretch>
        </p:blipFill>
        <p:spPr>
          <a:xfrm>
            <a:off x="2219107" y="1671835"/>
            <a:ext cx="7753786" cy="35143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33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59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860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61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2</a:t>
            </a:r>
            <a:r>
              <a:rPr lang="en-US" altLang="en-GB" b="1" dirty="0">
                <a:solidFill>
                  <a:schemeClr val="bg1"/>
                </a:solidFill>
              </a:rPr>
              <a:t>6</a:t>
            </a:r>
            <a:endParaRPr lang="zh-CN" altLang="en-US"/>
          </a:p>
        </p:txBody>
      </p:sp>
      <p:pic>
        <p:nvPicPr>
          <p:cNvPr id="2097234" name="Picture 2097233"/>
          <p:cNvPicPr/>
          <p:nvPr/>
        </p:nvPicPr>
        <p:blipFill>
          <a:blip r:embed="rId2"/>
          <a:stretch>
            <a:fillRect/>
          </a:stretch>
        </p:blipFill>
        <p:spPr>
          <a:xfrm>
            <a:off x="2207473" y="1951582"/>
            <a:ext cx="7777053" cy="295483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35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62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863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64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2</a:t>
            </a:r>
            <a:r>
              <a:rPr lang="en-US" altLang="en-GB" b="1" dirty="0">
                <a:solidFill>
                  <a:schemeClr val="bg1"/>
                </a:solidFill>
              </a:rPr>
              <a:t>7</a:t>
            </a:r>
            <a:endParaRPr lang="zh-CN" altLang="en-US"/>
          </a:p>
        </p:txBody>
      </p:sp>
      <p:pic>
        <p:nvPicPr>
          <p:cNvPr id="2097236" name="Picture 2097235"/>
          <p:cNvPicPr/>
          <p:nvPr/>
        </p:nvPicPr>
        <p:blipFill>
          <a:blip r:embed="rId2"/>
          <a:stretch>
            <a:fillRect/>
          </a:stretch>
        </p:blipFill>
        <p:spPr>
          <a:xfrm>
            <a:off x="2501221" y="1808794"/>
            <a:ext cx="7189557" cy="324041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37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65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866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67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2</a:t>
            </a:r>
            <a:r>
              <a:rPr lang="en-US" altLang="en-GB" b="1" dirty="0">
                <a:solidFill>
                  <a:schemeClr val="bg1"/>
                </a:solidFill>
              </a:rPr>
              <a:t>8</a:t>
            </a:r>
            <a:endParaRPr lang="zh-CN" altLang="en-US"/>
          </a:p>
        </p:txBody>
      </p:sp>
      <p:pic>
        <p:nvPicPr>
          <p:cNvPr id="2097238" name="Picture 2097237"/>
          <p:cNvPicPr/>
          <p:nvPr/>
        </p:nvPicPr>
        <p:blipFill>
          <a:blip r:embed="rId2"/>
          <a:stretch>
            <a:fillRect/>
          </a:stretch>
        </p:blipFill>
        <p:spPr>
          <a:xfrm>
            <a:off x="1890654" y="1469022"/>
            <a:ext cx="8275224" cy="460945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Freeform 3"/>
          <p:cNvSpPr/>
          <p:nvPr/>
        </p:nvSpPr>
        <p:spPr>
          <a:xfrm rot="18984511">
            <a:off x="2076445" y="3386329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8869" name="Freeform 3"/>
          <p:cNvSpPr/>
          <p:nvPr/>
        </p:nvSpPr>
        <p:spPr>
          <a:xfrm rot="18984511">
            <a:off x="5172479" y="332491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39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70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Creational 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8871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72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18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40" name="Picture 2097239"/>
          <p:cNvPicPr/>
          <p:nvPr/>
        </p:nvPicPr>
        <p:blipFill>
          <a:blip r:embed="rId3"/>
          <a:stretch>
            <a:fillRect/>
          </a:stretch>
        </p:blipFill>
        <p:spPr>
          <a:xfrm>
            <a:off x="2189183" y="1695767"/>
            <a:ext cx="7678168" cy="438271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3" name="Freeform 3"/>
          <p:cNvSpPr/>
          <p:nvPr/>
        </p:nvSpPr>
        <p:spPr>
          <a:xfrm rot="18984511">
            <a:off x="2076445" y="3386329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8874" name="Freeform 3"/>
          <p:cNvSpPr/>
          <p:nvPr/>
        </p:nvSpPr>
        <p:spPr>
          <a:xfrm rot="18984511">
            <a:off x="5172479" y="332491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41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75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Creational 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8876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77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18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42" name="Picture 2097241"/>
          <p:cNvPicPr/>
          <p:nvPr/>
        </p:nvPicPr>
        <p:blipFill>
          <a:blip r:embed="rId3"/>
          <a:srcRect t="15237" b="-13"/>
          <a:stretch>
            <a:fillRect/>
          </a:stretch>
        </p:blipFill>
        <p:spPr>
          <a:xfrm>
            <a:off x="1558901" y="2122715"/>
            <a:ext cx="9074197" cy="381925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43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78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8879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80" name="TextBox 9"/>
          <p:cNvSpPr txBox="1"/>
          <p:nvPr/>
        </p:nvSpPr>
        <p:spPr>
          <a:xfrm>
            <a:off x="393110" y="6078481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ar-EG" b="1" dirty="0">
                <a:solidFill>
                  <a:schemeClr val="bg1"/>
                </a:solidFill>
              </a:rPr>
              <a:t>7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881" name="Rectangle: Rounded Corners 4"/>
          <p:cNvSpPr/>
          <p:nvPr/>
        </p:nvSpPr>
        <p:spPr>
          <a:xfrm>
            <a:off x="5058770" y="1231405"/>
            <a:ext cx="2074459" cy="628953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Operators</a:t>
            </a:r>
            <a:endParaRPr lang="en-US" dirty="0"/>
          </a:p>
        </p:txBody>
      </p:sp>
      <p:sp>
        <p:nvSpPr>
          <p:cNvPr id="1048882" name="Oval 6"/>
          <p:cNvSpPr/>
          <p:nvPr/>
        </p:nvSpPr>
        <p:spPr>
          <a:xfrm>
            <a:off x="1980845" y="2828499"/>
            <a:ext cx="1678675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 dirty="0">
                <a:solidFill>
                  <a:schemeClr val="tx1"/>
                </a:solidFill>
                <a:latin typeface="Bahnschrift" panose="020B0502040204020203" pitchFamily="34" charset="0"/>
              </a:rPr>
              <a:t>Creational Operators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048883" name="Oval 7"/>
          <p:cNvSpPr/>
          <p:nvPr/>
        </p:nvSpPr>
        <p:spPr>
          <a:xfrm>
            <a:off x="8532482" y="2828498"/>
            <a:ext cx="1678675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 dirty="0">
                <a:solidFill>
                  <a:schemeClr val="tx1"/>
                </a:solidFill>
                <a:latin typeface="Bahnschrift" panose="020B0502040204020203" pitchFamily="34" charset="0"/>
              </a:rPr>
              <a:t>Pipeable Operators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048884" name="Rectangle 17"/>
          <p:cNvSpPr/>
          <p:nvPr/>
        </p:nvSpPr>
        <p:spPr>
          <a:xfrm>
            <a:off x="2114550" y="3786188"/>
            <a:ext cx="1544970" cy="1883718"/>
          </a:xfrm>
          <a:prstGeom prst="rect">
            <a:avLst/>
          </a:prstGeom>
          <a:solidFill>
            <a:srgbClr val="FFF3CD"/>
          </a:solidFill>
          <a:ln>
            <a:solidFill>
              <a:srgbClr val="F2B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Interval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Of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From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Timer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Range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8885" name="TextBox 20"/>
          <p:cNvSpPr txBox="1"/>
          <p:nvPr/>
        </p:nvSpPr>
        <p:spPr>
          <a:xfrm>
            <a:off x="1156305" y="3786188"/>
            <a:ext cx="996553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b="1" dirty="0">
                <a:solidFill>
                  <a:schemeClr val="tx1"/>
                </a:solidFill>
              </a:rPr>
              <a:t>EX</a:t>
            </a:r>
            <a:r>
              <a:rPr lang="en-US" dirty="0">
                <a:solidFill>
                  <a:schemeClr val="tx1"/>
                </a:solidFill>
              </a:rPr>
              <a:t> 👉</a:t>
            </a:r>
            <a:endParaRPr lang="en-US" dirty="0"/>
          </a:p>
        </p:txBody>
      </p:sp>
      <p:sp>
        <p:nvSpPr>
          <p:cNvPr id="1048886" name="Rectangle 22"/>
          <p:cNvSpPr/>
          <p:nvPr/>
        </p:nvSpPr>
        <p:spPr>
          <a:xfrm>
            <a:off x="8666187" y="3786188"/>
            <a:ext cx="1544970" cy="1883718"/>
          </a:xfrm>
          <a:prstGeom prst="rect">
            <a:avLst/>
          </a:prstGeom>
          <a:solidFill>
            <a:srgbClr val="FFF3CD"/>
          </a:solidFill>
          <a:ln>
            <a:solidFill>
              <a:srgbClr val="F2B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Map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Filter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First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Take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TakeUntil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8887" name="TextBox 23"/>
          <p:cNvSpPr txBox="1"/>
          <p:nvPr/>
        </p:nvSpPr>
        <p:spPr>
          <a:xfrm>
            <a:off x="10401952" y="3786188"/>
            <a:ext cx="996553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b="1" dirty="0">
                <a:solidFill>
                  <a:schemeClr val="tx1"/>
                </a:solidFill>
              </a:rPr>
              <a:t>👈 EX</a:t>
            </a:r>
            <a:endParaRPr lang="en-US" dirty="0"/>
          </a:p>
        </p:txBody>
      </p:sp>
      <p:cxnSp>
        <p:nvCxnSpPr>
          <p:cNvPr id="3145757" name="Connector: Elbow 36"/>
          <p:cNvCxnSpPr>
            <a:stCxn id="1048881" idx="2"/>
            <a:endCxn id="1048882" idx="0"/>
          </p:cNvCxnSpPr>
          <p:nvPr/>
        </p:nvCxnSpPr>
        <p:spPr>
          <a:xfrm rot="5400000">
            <a:off x="3974022" y="706520"/>
            <a:ext cx="968141" cy="3275817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45758" name="Connector: Elbow 38"/>
          <p:cNvCxnSpPr>
            <a:stCxn id="1048881" idx="2"/>
            <a:endCxn id="1048883" idx="0"/>
          </p:cNvCxnSpPr>
          <p:nvPr/>
        </p:nvCxnSpPr>
        <p:spPr>
          <a:xfrm rot="16200000" flipH="1">
            <a:off x="7249840" y="706518"/>
            <a:ext cx="968140" cy="3275820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48888" name="TextBox 43"/>
          <p:cNvSpPr txBox="1"/>
          <p:nvPr/>
        </p:nvSpPr>
        <p:spPr>
          <a:xfrm>
            <a:off x="10401952" y="2550844"/>
            <a:ext cx="681888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Pipe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48889" name="TextBox 45"/>
          <p:cNvSpPr txBox="1"/>
          <p:nvPr/>
        </p:nvSpPr>
        <p:spPr>
          <a:xfrm>
            <a:off x="10329399" y="2885374"/>
            <a:ext cx="2592091" cy="828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     ☝️ 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en-US" sz="1400" dirty="0">
                <a:latin typeface="Bahnschrift" panose="020B0502040204020203" pitchFamily="34" charset="0"/>
              </a:rPr>
              <a:t>first and then </a:t>
            </a:r>
            <a:endParaRPr lang="en-US" sz="1400" dirty="0">
              <a:latin typeface="Bahnschrift" panose="020B0502040204020203" pitchFamily="34" charset="0"/>
            </a:endParaRP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     👇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45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45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48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48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48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48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48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48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48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48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48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48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48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48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82" grpId="0" animBg="1"/>
      <p:bldP spid="1048883" grpId="0" animBg="1"/>
      <p:bldP spid="1048884" grpId="0" animBg="1"/>
      <p:bldP spid="1048885" grpId="0"/>
      <p:bldP spid="1048886" grpId="0" animBg="1"/>
      <p:bldP spid="1048887" grpId="0"/>
      <p:bldP spid="1048888" grpId="0"/>
      <p:bldP spid="104888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0" name="Freeform 3"/>
          <p:cNvSpPr/>
          <p:nvPr/>
        </p:nvSpPr>
        <p:spPr>
          <a:xfrm rot="18984511">
            <a:off x="2076445" y="3386329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8891" name="Freeform 3"/>
          <p:cNvSpPr/>
          <p:nvPr/>
        </p:nvSpPr>
        <p:spPr>
          <a:xfrm rot="18984511">
            <a:off x="5172479" y="332491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44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92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Creational 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8893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94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18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4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304" y="1393156"/>
            <a:ext cx="4721031" cy="1254024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2097246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18184"/>
            <a:ext cx="4804229" cy="127612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2097247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305" y="2887571"/>
            <a:ext cx="4721030" cy="1254024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2097248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7029" y="4446179"/>
            <a:ext cx="7137941" cy="19586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9724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887571"/>
            <a:ext cx="4804229" cy="12761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97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97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97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97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97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50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95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Event Observable</a:t>
            </a:r>
            <a:endParaRPr lang="en-US" sz="3200" dirty="0">
              <a:latin typeface="Google Sans"/>
            </a:endParaRPr>
          </a:p>
        </p:txBody>
      </p:sp>
      <p:sp>
        <p:nvSpPr>
          <p:cNvPr id="1048896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97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25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898" name="Oval 2"/>
          <p:cNvSpPr/>
          <p:nvPr/>
        </p:nvSpPr>
        <p:spPr>
          <a:xfrm>
            <a:off x="2367776" y="2044916"/>
            <a:ext cx="1938012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JavaScript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48899" name="Rectangle 4"/>
          <p:cNvSpPr/>
          <p:nvPr/>
        </p:nvSpPr>
        <p:spPr>
          <a:xfrm>
            <a:off x="911394" y="2944359"/>
            <a:ext cx="4850777" cy="1874384"/>
          </a:xfrm>
          <a:prstGeom prst="rect">
            <a:avLst/>
          </a:prstGeom>
          <a:solidFill>
            <a:srgbClr val="FFF3CD"/>
          </a:solidFill>
          <a:ln>
            <a:solidFill>
              <a:srgbClr val="F2B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document.getElementsByTagName(“body”)[0]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addEventListener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(‘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’, 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=&gt; {“You Clicked Now”})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900" name="Oval 5"/>
          <p:cNvSpPr/>
          <p:nvPr/>
        </p:nvSpPr>
        <p:spPr>
          <a:xfrm>
            <a:off x="7886211" y="2044916"/>
            <a:ext cx="1938012" cy="600501"/>
          </a:xfrm>
          <a:prstGeom prst="ellipse">
            <a:avLst/>
          </a:prstGeom>
          <a:solidFill>
            <a:srgbClr val="AF3EC6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RXJS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48901" name="Rectangle 7"/>
          <p:cNvSpPr/>
          <p:nvPr/>
        </p:nvSpPr>
        <p:spPr>
          <a:xfrm>
            <a:off x="6429829" y="2944359"/>
            <a:ext cx="4850777" cy="1874384"/>
          </a:xfrm>
          <a:prstGeom prst="rect">
            <a:avLst/>
          </a:prstGeom>
          <a:solidFill>
            <a:srgbClr val="F6DEF3"/>
          </a:solidFill>
          <a:ln>
            <a:solidFill>
              <a:srgbClr val="AF3E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 {fromEvent} from ‘rxjs’;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evt$ = 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fromEvent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‘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’);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evt$.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subscribe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({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next: () =&gt; {“You Clicked Now”}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})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902" name="TextBox 13"/>
          <p:cNvSpPr txBox="1"/>
          <p:nvPr/>
        </p:nvSpPr>
        <p:spPr>
          <a:xfrm>
            <a:off x="10159072" y="2261897"/>
            <a:ext cx="2293257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chemeClr val="tx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Return Observable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cxnSp>
        <p:nvCxnSpPr>
          <p:cNvPr id="3145759" name="Connector: Curved 16"/>
          <p:cNvCxnSpPr>
            <a:endCxn id="1048902" idx="2"/>
          </p:cNvCxnSpPr>
          <p:nvPr/>
        </p:nvCxnSpPr>
        <p:spPr>
          <a:xfrm rot="5400000" flipH="1" flipV="1">
            <a:off x="10407475" y="2657775"/>
            <a:ext cx="955550" cy="84090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8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48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489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489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489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489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48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45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98" grpId="0" animBg="1"/>
      <p:bldP spid="1048899" grpId="0" animBg="1"/>
      <p:bldP spid="1048900" grpId="0" animBg="1"/>
      <p:bldP spid="1048901" grpId="0" animBg="1"/>
      <p:bldP spid="104890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6" name="Freeform 3"/>
          <p:cNvSpPr/>
          <p:nvPr/>
        </p:nvSpPr>
        <p:spPr>
          <a:xfrm rot="18984511">
            <a:off x="2076445" y="3386329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8907" name="Freeform 3"/>
          <p:cNvSpPr/>
          <p:nvPr/>
        </p:nvSpPr>
        <p:spPr>
          <a:xfrm rot="18984511">
            <a:off x="5172479" y="332491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51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908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Creational 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8909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910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18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52" name="Picture 2097251"/>
          <p:cNvPicPr/>
          <p:nvPr/>
        </p:nvPicPr>
        <p:blipFill>
          <a:blip r:embed="rId3"/>
          <a:stretch>
            <a:fillRect/>
          </a:stretch>
        </p:blipFill>
        <p:spPr>
          <a:xfrm>
            <a:off x="2124337" y="1257771"/>
            <a:ext cx="7137183" cy="2040817"/>
          </a:xfrm>
          <a:prstGeom prst="rect">
            <a:avLst/>
          </a:prstGeom>
        </p:spPr>
      </p:pic>
      <p:pic>
        <p:nvPicPr>
          <p:cNvPr id="2097253" name="Picture 2097252"/>
          <p:cNvPicPr/>
          <p:nvPr/>
        </p:nvPicPr>
        <p:blipFill>
          <a:blip r:embed="rId4"/>
          <a:stretch>
            <a:fillRect/>
          </a:stretch>
        </p:blipFill>
        <p:spPr>
          <a:xfrm>
            <a:off x="2153766" y="3428999"/>
            <a:ext cx="7107754" cy="319398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1" name="Freeform 3"/>
          <p:cNvSpPr/>
          <p:nvPr/>
        </p:nvSpPr>
        <p:spPr>
          <a:xfrm rot="18984511">
            <a:off x="2076445" y="3386329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8912" name="Freeform 3"/>
          <p:cNvSpPr/>
          <p:nvPr/>
        </p:nvSpPr>
        <p:spPr>
          <a:xfrm rot="18984511">
            <a:off x="5172479" y="332491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54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913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Creational 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8914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915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18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55" name="Picture 2097254"/>
          <p:cNvPicPr/>
          <p:nvPr/>
        </p:nvPicPr>
        <p:blipFill>
          <a:blip r:embed="rId3"/>
          <a:stretch>
            <a:fillRect/>
          </a:stretch>
        </p:blipFill>
        <p:spPr>
          <a:xfrm>
            <a:off x="2594121" y="1212347"/>
            <a:ext cx="6868291" cy="503748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Freeform 3"/>
          <p:cNvSpPr/>
          <p:nvPr/>
        </p:nvSpPr>
        <p:spPr>
          <a:xfrm rot="18900000">
            <a:off x="4445444" y="2389469"/>
            <a:ext cx="3533828" cy="1278603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18999"/>
            </a:blip>
            <a:stretch>
              <a:fillRect/>
            </a:stretch>
          </a:blipFill>
        </p:spPr>
      </p:sp>
      <p:sp>
        <p:nvSpPr>
          <p:cNvPr id="1048651" name="Title 1"/>
          <p:cNvSpPr>
            <a:spLocks noGrp="1"/>
          </p:cNvSpPr>
          <p:nvPr>
            <p:ph type="ctrTitle"/>
          </p:nvPr>
        </p:nvSpPr>
        <p:spPr>
          <a:xfrm>
            <a:off x="3776138" y="3006043"/>
            <a:ext cx="4504266" cy="896993"/>
          </a:xfrm>
        </p:spPr>
        <p:txBody>
          <a:bodyPr>
            <a:normAutofit fontScale="90000"/>
          </a:bodyPr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Day 02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865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6" name="Freeform 3"/>
          <p:cNvSpPr/>
          <p:nvPr/>
        </p:nvSpPr>
        <p:spPr>
          <a:xfrm rot="19359907">
            <a:off x="-107699" y="2311200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8917" name="Freeform 3"/>
          <p:cNvSpPr/>
          <p:nvPr/>
        </p:nvSpPr>
        <p:spPr>
          <a:xfrm rot="19530603">
            <a:off x="4200023" y="218275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56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918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Creational 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8919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920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19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57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10" y="1928644"/>
            <a:ext cx="5435403" cy="3142343"/>
          </a:xfrm>
          <a:prstGeom prst="rect">
            <a:avLst/>
          </a:prstGeom>
        </p:spPr>
      </p:pic>
      <p:pic>
        <p:nvPicPr>
          <p:cNvPr id="2097258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845" y="1928644"/>
            <a:ext cx="5435404" cy="31423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97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97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59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921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Pipeable 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8922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923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20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924" name="Rectangle: Rounded Corners 2"/>
          <p:cNvSpPr/>
          <p:nvPr/>
        </p:nvSpPr>
        <p:spPr>
          <a:xfrm>
            <a:off x="2022579" y="3284794"/>
            <a:ext cx="3255274" cy="628953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Observable</a:t>
            </a:r>
            <a:endParaRPr lang="en-US" sz="2000" dirty="0"/>
          </a:p>
        </p:txBody>
      </p:sp>
      <p:sp>
        <p:nvSpPr>
          <p:cNvPr id="1048925" name="TextBox 5"/>
          <p:cNvSpPr txBox="1"/>
          <p:nvPr/>
        </p:nvSpPr>
        <p:spPr>
          <a:xfrm>
            <a:off x="2022579" y="2915462"/>
            <a:ext cx="3592158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Observable , of, timer, interval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048926" name="TextBox 6"/>
          <p:cNvSpPr txBox="1"/>
          <p:nvPr/>
        </p:nvSpPr>
        <p:spPr>
          <a:xfrm>
            <a:off x="8181477" y="2678660"/>
            <a:ext cx="2675048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solidFill>
                  <a:srgbClr val="0070C0"/>
                </a:solidFill>
                <a:latin typeface="Bahnschrift" panose="020B0502040204020203" pitchFamily="34" charset="0"/>
              </a:rPr>
              <a:t>Consumer 1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927" name="TextBox 7"/>
          <p:cNvSpPr txBox="1"/>
          <p:nvPr/>
        </p:nvSpPr>
        <p:spPr>
          <a:xfrm>
            <a:off x="8181477" y="3296826"/>
            <a:ext cx="2675048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solidFill>
                  <a:srgbClr val="0070C0"/>
                </a:solidFill>
                <a:latin typeface="Bahnschrift" panose="020B0502040204020203" pitchFamily="34" charset="0"/>
              </a:rPr>
              <a:t>Consumer 2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928" name="TextBox 10"/>
          <p:cNvSpPr txBox="1"/>
          <p:nvPr/>
        </p:nvSpPr>
        <p:spPr>
          <a:xfrm>
            <a:off x="8181477" y="3960826"/>
            <a:ext cx="2675048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solidFill>
                  <a:srgbClr val="0070C0"/>
                </a:solidFill>
                <a:latin typeface="Bahnschrift" panose="020B0502040204020203" pitchFamily="34" charset="0"/>
              </a:rPr>
              <a:t>Consumer 3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3145760" name="Straight Arrow Connector 14"/>
          <p:cNvCxnSpPr>
            <a:stCxn id="1048924" idx="3"/>
            <a:endCxn id="1048926" idx="1"/>
          </p:cNvCxnSpPr>
          <p:nvPr/>
        </p:nvCxnSpPr>
        <p:spPr>
          <a:xfrm flipV="1">
            <a:off x="5277853" y="2863326"/>
            <a:ext cx="2903624" cy="73594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61" name="Straight Arrow Connector 15"/>
          <p:cNvCxnSpPr>
            <a:stCxn id="1048924" idx="3"/>
            <a:endCxn id="1048927" idx="1"/>
          </p:cNvCxnSpPr>
          <p:nvPr/>
        </p:nvCxnSpPr>
        <p:spPr>
          <a:xfrm flipV="1">
            <a:off x="5277853" y="3481492"/>
            <a:ext cx="2903624" cy="11777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62" name="Straight Arrow Connector 18"/>
          <p:cNvCxnSpPr>
            <a:stCxn id="1048924" idx="3"/>
            <a:endCxn id="1048928" idx="1"/>
          </p:cNvCxnSpPr>
          <p:nvPr/>
        </p:nvCxnSpPr>
        <p:spPr>
          <a:xfrm>
            <a:off x="5277853" y="3599271"/>
            <a:ext cx="2903624" cy="54622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48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8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45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45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48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48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8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8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48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8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45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45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45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45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24" grpId="0" animBg="1"/>
      <p:bldP spid="1048925" grpId="0"/>
      <p:bldP spid="1048926" grpId="0"/>
      <p:bldP spid="1048927" grpId="0"/>
      <p:bldP spid="104892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60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929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Pipeable 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8930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931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932" name="Arrow: Right 4"/>
          <p:cNvSpPr/>
          <p:nvPr/>
        </p:nvSpPr>
        <p:spPr>
          <a:xfrm>
            <a:off x="526942" y="3037668"/>
            <a:ext cx="2417736" cy="628952"/>
          </a:xfrm>
          <a:prstGeom prst="rightArrow">
            <a:avLst/>
          </a:prstGeom>
          <a:solidFill>
            <a:srgbClr val="C0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933" name="TextBox 11"/>
          <p:cNvSpPr txBox="1"/>
          <p:nvPr/>
        </p:nvSpPr>
        <p:spPr>
          <a:xfrm>
            <a:off x="542440" y="2714830"/>
            <a:ext cx="2030279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Observable (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Data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)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048934" name="Rectangle: Rounded Corners 17"/>
          <p:cNvSpPr/>
          <p:nvPr/>
        </p:nvSpPr>
        <p:spPr>
          <a:xfrm>
            <a:off x="2944678" y="3037668"/>
            <a:ext cx="2867186" cy="6289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935" name="Oval 19"/>
          <p:cNvSpPr/>
          <p:nvPr/>
        </p:nvSpPr>
        <p:spPr>
          <a:xfrm>
            <a:off x="5408909" y="3037668"/>
            <a:ext cx="542441" cy="628952"/>
          </a:xfrm>
          <a:prstGeom prst="ellipse">
            <a:avLst/>
          </a:prstGeom>
          <a:solidFill>
            <a:srgbClr val="DEA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936" name="TextBox 20"/>
          <p:cNvSpPr txBox="1"/>
          <p:nvPr/>
        </p:nvSpPr>
        <p:spPr>
          <a:xfrm>
            <a:off x="4065721" y="2593470"/>
            <a:ext cx="2030279" cy="400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2000" b="1" dirty="0">
                <a:latin typeface="Bahnschrift" panose="020B0502040204020203" pitchFamily="34" charset="0"/>
              </a:rPr>
              <a:t>Pipe</a:t>
            </a:r>
            <a:endParaRPr lang="en-US" b="1" dirty="0">
              <a:latin typeface="Bahnschrift" panose="020B0502040204020203" pitchFamily="34" charset="0"/>
            </a:endParaRPr>
          </a:p>
        </p:txBody>
      </p:sp>
      <p:sp>
        <p:nvSpPr>
          <p:cNvPr id="1048937" name="TextBox 21"/>
          <p:cNvSpPr txBox="1"/>
          <p:nvPr/>
        </p:nvSpPr>
        <p:spPr>
          <a:xfrm>
            <a:off x="2944678" y="3161678"/>
            <a:ext cx="2763865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latin typeface="Bahnschrift" panose="020B0502040204020203" pitchFamily="34" charset="0"/>
              </a:rPr>
              <a:t>Map (To Change Value)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048938" name="Arrow: Right 22"/>
          <p:cNvSpPr/>
          <p:nvPr/>
        </p:nvSpPr>
        <p:spPr>
          <a:xfrm>
            <a:off x="5680129" y="3071829"/>
            <a:ext cx="2936929" cy="54903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939" name="TextBox 24"/>
          <p:cNvSpPr txBox="1"/>
          <p:nvPr/>
        </p:nvSpPr>
        <p:spPr>
          <a:xfrm>
            <a:off x="5912604" y="2530164"/>
            <a:ext cx="2260170" cy="64633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Observable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(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Transformed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Data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)</a:t>
            </a:r>
            <a:endParaRPr lang="en-US" dirty="0">
              <a:latin typeface="Bahnschrift" panose="020B0502040204020203" pitchFamily="34" charset="0"/>
            </a:endParaRPr>
          </a:p>
        </p:txBody>
      </p:sp>
      <p:cxnSp>
        <p:nvCxnSpPr>
          <p:cNvPr id="3145763" name="Straight Arrow Connector 25"/>
          <p:cNvCxnSpPr/>
          <p:nvPr/>
        </p:nvCxnSpPr>
        <p:spPr>
          <a:xfrm flipV="1">
            <a:off x="8640031" y="3037668"/>
            <a:ext cx="1557854" cy="3100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64" name="Straight Arrow Connector 26"/>
          <p:cNvCxnSpPr/>
          <p:nvPr/>
        </p:nvCxnSpPr>
        <p:spPr>
          <a:xfrm>
            <a:off x="8640031" y="3347748"/>
            <a:ext cx="155785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65" name="Straight Arrow Connector 27"/>
          <p:cNvCxnSpPr/>
          <p:nvPr/>
        </p:nvCxnSpPr>
        <p:spPr>
          <a:xfrm>
            <a:off x="8640031" y="3347748"/>
            <a:ext cx="1557854" cy="31887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940" name="TextBox 41"/>
          <p:cNvSpPr txBox="1"/>
          <p:nvPr/>
        </p:nvSpPr>
        <p:spPr>
          <a:xfrm>
            <a:off x="10232107" y="2868390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1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941" name="TextBox 42"/>
          <p:cNvSpPr txBox="1"/>
          <p:nvPr/>
        </p:nvSpPr>
        <p:spPr>
          <a:xfrm>
            <a:off x="10220858" y="3206201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2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942" name="TextBox 43"/>
          <p:cNvSpPr txBox="1"/>
          <p:nvPr/>
        </p:nvSpPr>
        <p:spPr>
          <a:xfrm>
            <a:off x="10220858" y="3513759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3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8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8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48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8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48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8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48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48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8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8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48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8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48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48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48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48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45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45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4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48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48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4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32" grpId="0" animBg="1"/>
      <p:bldP spid="1048933" grpId="0"/>
      <p:bldP spid="1048934" grpId="0" animBg="1"/>
      <p:bldP spid="1048935" grpId="0" animBg="1"/>
      <p:bldP spid="1048936" grpId="0"/>
      <p:bldP spid="1048937" grpId="0"/>
      <p:bldP spid="1048938" grpId="0" animBg="1"/>
      <p:bldP spid="1048939" grpId="0"/>
      <p:bldP spid="1048940" grpId="0"/>
      <p:bldP spid="1048941" grpId="0"/>
      <p:bldP spid="104894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61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943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Pipeable 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8944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945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946" name="Arrow: Right 4"/>
          <p:cNvSpPr/>
          <p:nvPr/>
        </p:nvSpPr>
        <p:spPr>
          <a:xfrm>
            <a:off x="526942" y="3037668"/>
            <a:ext cx="2417736" cy="628952"/>
          </a:xfrm>
          <a:prstGeom prst="rightArrow">
            <a:avLst/>
          </a:prstGeom>
          <a:solidFill>
            <a:srgbClr val="C0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947" name="TextBox 11"/>
          <p:cNvSpPr txBox="1"/>
          <p:nvPr/>
        </p:nvSpPr>
        <p:spPr>
          <a:xfrm>
            <a:off x="542440" y="2714830"/>
            <a:ext cx="2030279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Observable (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Data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)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048948" name="Rectangle: Rounded Corners 17"/>
          <p:cNvSpPr/>
          <p:nvPr/>
        </p:nvSpPr>
        <p:spPr>
          <a:xfrm>
            <a:off x="2944678" y="3037668"/>
            <a:ext cx="2867186" cy="6289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949" name="Oval 19"/>
          <p:cNvSpPr/>
          <p:nvPr/>
        </p:nvSpPr>
        <p:spPr>
          <a:xfrm>
            <a:off x="5408909" y="3037668"/>
            <a:ext cx="542441" cy="628952"/>
          </a:xfrm>
          <a:prstGeom prst="ellipse">
            <a:avLst/>
          </a:prstGeom>
          <a:solidFill>
            <a:srgbClr val="DEA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950" name="TextBox 20"/>
          <p:cNvSpPr txBox="1"/>
          <p:nvPr/>
        </p:nvSpPr>
        <p:spPr>
          <a:xfrm>
            <a:off x="3134904" y="2592634"/>
            <a:ext cx="2475480" cy="4616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2400" b="1" dirty="0">
                <a:latin typeface="Bahnschrift" panose="020B0502040204020203" pitchFamily="34" charset="0"/>
              </a:rPr>
              <a:t>Pipe Composing</a:t>
            </a:r>
            <a:endParaRPr lang="en-US" sz="2000" b="1" dirty="0">
              <a:latin typeface="Bahnschrift" panose="020B0502040204020203" pitchFamily="34" charset="0"/>
            </a:endParaRPr>
          </a:p>
        </p:txBody>
      </p:sp>
      <p:sp>
        <p:nvSpPr>
          <p:cNvPr id="1048951" name="TextBox 21"/>
          <p:cNvSpPr txBox="1"/>
          <p:nvPr/>
        </p:nvSpPr>
        <p:spPr>
          <a:xfrm>
            <a:off x="2944678" y="3161678"/>
            <a:ext cx="2763865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latin typeface="Bahnschrift" panose="020B0502040204020203" pitchFamily="34" charset="0"/>
              </a:rPr>
              <a:t>   Map                 Filter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048952" name="Arrow: Right 22"/>
          <p:cNvSpPr/>
          <p:nvPr/>
        </p:nvSpPr>
        <p:spPr>
          <a:xfrm>
            <a:off x="5680129" y="3071829"/>
            <a:ext cx="2936929" cy="54903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953" name="TextBox 24"/>
          <p:cNvSpPr txBox="1"/>
          <p:nvPr/>
        </p:nvSpPr>
        <p:spPr>
          <a:xfrm>
            <a:off x="5912604" y="2530164"/>
            <a:ext cx="2260170" cy="64633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Observable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(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Transformed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Data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)</a:t>
            </a:r>
            <a:endParaRPr lang="en-US" dirty="0">
              <a:latin typeface="Bahnschrift" panose="020B0502040204020203" pitchFamily="34" charset="0"/>
            </a:endParaRPr>
          </a:p>
        </p:txBody>
      </p:sp>
      <p:cxnSp>
        <p:nvCxnSpPr>
          <p:cNvPr id="3145766" name="Straight Arrow Connector 25"/>
          <p:cNvCxnSpPr/>
          <p:nvPr/>
        </p:nvCxnSpPr>
        <p:spPr>
          <a:xfrm flipV="1">
            <a:off x="8640031" y="3037668"/>
            <a:ext cx="1557854" cy="3100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67" name="Straight Arrow Connector 26"/>
          <p:cNvCxnSpPr/>
          <p:nvPr/>
        </p:nvCxnSpPr>
        <p:spPr>
          <a:xfrm>
            <a:off x="8640031" y="3347748"/>
            <a:ext cx="155785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68" name="Straight Arrow Connector 27"/>
          <p:cNvCxnSpPr/>
          <p:nvPr/>
        </p:nvCxnSpPr>
        <p:spPr>
          <a:xfrm>
            <a:off x="8640031" y="3347748"/>
            <a:ext cx="1557854" cy="31887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954" name="TextBox 41"/>
          <p:cNvSpPr txBox="1"/>
          <p:nvPr/>
        </p:nvSpPr>
        <p:spPr>
          <a:xfrm>
            <a:off x="10232107" y="2868390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1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955" name="TextBox 42"/>
          <p:cNvSpPr txBox="1"/>
          <p:nvPr/>
        </p:nvSpPr>
        <p:spPr>
          <a:xfrm>
            <a:off x="10220858" y="3206201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2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956" name="TextBox 43"/>
          <p:cNvSpPr txBox="1"/>
          <p:nvPr/>
        </p:nvSpPr>
        <p:spPr>
          <a:xfrm>
            <a:off x="10220858" y="3513759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3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957" name="Arrow: Right 2"/>
          <p:cNvSpPr/>
          <p:nvPr/>
        </p:nvSpPr>
        <p:spPr>
          <a:xfrm>
            <a:off x="3797085" y="3206201"/>
            <a:ext cx="743918" cy="2931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8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8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48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8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48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8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48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48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8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8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48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4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48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48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48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48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45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45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45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48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48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48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46" grpId="0" animBg="1"/>
      <p:bldP spid="1048947" grpId="0"/>
      <p:bldP spid="1048948" grpId="0" animBg="1"/>
      <p:bldP spid="1048949" grpId="0" animBg="1"/>
      <p:bldP spid="1048950" grpId="0"/>
      <p:bldP spid="1048951" grpId="0"/>
      <p:bldP spid="1048952" grpId="0" animBg="1"/>
      <p:bldP spid="1048953" grpId="0"/>
      <p:bldP spid="1048954" grpId="0"/>
      <p:bldP spid="1048955" grpId="0"/>
      <p:bldP spid="1048956" grpId="0"/>
      <p:bldP spid="104895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62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958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Pipeable 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8959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960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961" name="Arrow: Right 4"/>
          <p:cNvSpPr/>
          <p:nvPr/>
        </p:nvSpPr>
        <p:spPr>
          <a:xfrm>
            <a:off x="526942" y="4835472"/>
            <a:ext cx="2417736" cy="628952"/>
          </a:xfrm>
          <a:prstGeom prst="rightArrow">
            <a:avLst/>
          </a:prstGeom>
          <a:solidFill>
            <a:srgbClr val="C0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962" name="TextBox 11"/>
          <p:cNvSpPr txBox="1"/>
          <p:nvPr/>
        </p:nvSpPr>
        <p:spPr>
          <a:xfrm>
            <a:off x="542440" y="4512634"/>
            <a:ext cx="2030279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Observable (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Data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)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048963" name="Rectangle: Rounded Corners 17"/>
          <p:cNvSpPr/>
          <p:nvPr/>
        </p:nvSpPr>
        <p:spPr>
          <a:xfrm>
            <a:off x="2944678" y="4835472"/>
            <a:ext cx="2867186" cy="6289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964" name="Oval 19"/>
          <p:cNvSpPr/>
          <p:nvPr/>
        </p:nvSpPr>
        <p:spPr>
          <a:xfrm>
            <a:off x="5408909" y="4835472"/>
            <a:ext cx="542441" cy="628952"/>
          </a:xfrm>
          <a:prstGeom prst="ellipse">
            <a:avLst/>
          </a:prstGeom>
          <a:solidFill>
            <a:srgbClr val="DEA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965" name="TextBox 20"/>
          <p:cNvSpPr txBox="1"/>
          <p:nvPr/>
        </p:nvSpPr>
        <p:spPr>
          <a:xfrm>
            <a:off x="3134904" y="4390438"/>
            <a:ext cx="2475480" cy="4616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2400" b="1" dirty="0">
                <a:latin typeface="Bahnschrift" panose="020B0502040204020203" pitchFamily="34" charset="0"/>
              </a:rPr>
              <a:t>Pipe Composing</a:t>
            </a:r>
            <a:endParaRPr lang="en-US" sz="2000" b="1" dirty="0">
              <a:latin typeface="Bahnschrift" panose="020B0502040204020203" pitchFamily="34" charset="0"/>
            </a:endParaRPr>
          </a:p>
        </p:txBody>
      </p:sp>
      <p:sp>
        <p:nvSpPr>
          <p:cNvPr id="1048966" name="TextBox 21"/>
          <p:cNvSpPr txBox="1"/>
          <p:nvPr/>
        </p:nvSpPr>
        <p:spPr>
          <a:xfrm>
            <a:off x="2944678" y="4959482"/>
            <a:ext cx="2763865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latin typeface="Bahnschrift" panose="020B0502040204020203" pitchFamily="34" charset="0"/>
              </a:rPr>
              <a:t>   Map                 Filter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048967" name="Arrow: Right 22"/>
          <p:cNvSpPr/>
          <p:nvPr/>
        </p:nvSpPr>
        <p:spPr>
          <a:xfrm>
            <a:off x="5680129" y="4869633"/>
            <a:ext cx="2936929" cy="54903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968" name="TextBox 24"/>
          <p:cNvSpPr txBox="1"/>
          <p:nvPr/>
        </p:nvSpPr>
        <p:spPr>
          <a:xfrm>
            <a:off x="5912604" y="4327968"/>
            <a:ext cx="2260170" cy="64633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Observable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(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Transformed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Data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)</a:t>
            </a:r>
            <a:endParaRPr lang="en-US" dirty="0">
              <a:latin typeface="Bahnschrift" panose="020B0502040204020203" pitchFamily="34" charset="0"/>
            </a:endParaRPr>
          </a:p>
        </p:txBody>
      </p:sp>
      <p:cxnSp>
        <p:nvCxnSpPr>
          <p:cNvPr id="3145769" name="Straight Arrow Connector 25"/>
          <p:cNvCxnSpPr/>
          <p:nvPr/>
        </p:nvCxnSpPr>
        <p:spPr>
          <a:xfrm flipV="1">
            <a:off x="8640031" y="4835472"/>
            <a:ext cx="1557854" cy="3100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70" name="Straight Arrow Connector 26"/>
          <p:cNvCxnSpPr/>
          <p:nvPr/>
        </p:nvCxnSpPr>
        <p:spPr>
          <a:xfrm>
            <a:off x="8640031" y="5145552"/>
            <a:ext cx="155785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71" name="Straight Arrow Connector 27"/>
          <p:cNvCxnSpPr/>
          <p:nvPr/>
        </p:nvCxnSpPr>
        <p:spPr>
          <a:xfrm>
            <a:off x="8640031" y="5145552"/>
            <a:ext cx="1557854" cy="31887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969" name="TextBox 41"/>
          <p:cNvSpPr txBox="1"/>
          <p:nvPr/>
        </p:nvSpPr>
        <p:spPr>
          <a:xfrm>
            <a:off x="10232107" y="4666194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1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970" name="TextBox 42"/>
          <p:cNvSpPr txBox="1"/>
          <p:nvPr/>
        </p:nvSpPr>
        <p:spPr>
          <a:xfrm>
            <a:off x="10220858" y="5004005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2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971" name="TextBox 43"/>
          <p:cNvSpPr txBox="1"/>
          <p:nvPr/>
        </p:nvSpPr>
        <p:spPr>
          <a:xfrm>
            <a:off x="10220858" y="5311563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3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972" name="Arrow: Right 2"/>
          <p:cNvSpPr/>
          <p:nvPr/>
        </p:nvSpPr>
        <p:spPr>
          <a:xfrm>
            <a:off x="3797085" y="5004005"/>
            <a:ext cx="743918" cy="2931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973" name="Arrow: Right 5"/>
          <p:cNvSpPr/>
          <p:nvPr/>
        </p:nvSpPr>
        <p:spPr>
          <a:xfrm>
            <a:off x="526942" y="3270138"/>
            <a:ext cx="2417736" cy="628952"/>
          </a:xfrm>
          <a:prstGeom prst="rightArrow">
            <a:avLst/>
          </a:prstGeom>
          <a:solidFill>
            <a:srgbClr val="C0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974" name="TextBox 6"/>
          <p:cNvSpPr txBox="1"/>
          <p:nvPr/>
        </p:nvSpPr>
        <p:spPr>
          <a:xfrm>
            <a:off x="542440" y="2947300"/>
            <a:ext cx="2030279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Observable (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Data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)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048975" name="Rectangle: Rounded Corners 7"/>
          <p:cNvSpPr/>
          <p:nvPr/>
        </p:nvSpPr>
        <p:spPr>
          <a:xfrm>
            <a:off x="2944678" y="3270138"/>
            <a:ext cx="2867186" cy="6289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976" name="Oval 10"/>
          <p:cNvSpPr/>
          <p:nvPr/>
        </p:nvSpPr>
        <p:spPr>
          <a:xfrm>
            <a:off x="5408909" y="3270138"/>
            <a:ext cx="542441" cy="628952"/>
          </a:xfrm>
          <a:prstGeom prst="ellipse">
            <a:avLst/>
          </a:prstGeom>
          <a:solidFill>
            <a:srgbClr val="DEA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977" name="TextBox 12"/>
          <p:cNvSpPr txBox="1"/>
          <p:nvPr/>
        </p:nvSpPr>
        <p:spPr>
          <a:xfrm>
            <a:off x="4065721" y="2825940"/>
            <a:ext cx="2030279" cy="400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2000" b="1" dirty="0">
                <a:latin typeface="Bahnschrift" panose="020B0502040204020203" pitchFamily="34" charset="0"/>
              </a:rPr>
              <a:t>Pipe</a:t>
            </a:r>
            <a:endParaRPr lang="en-US" b="1" dirty="0">
              <a:latin typeface="Bahnschrift" panose="020B0502040204020203" pitchFamily="34" charset="0"/>
            </a:endParaRPr>
          </a:p>
        </p:txBody>
      </p:sp>
      <p:sp>
        <p:nvSpPr>
          <p:cNvPr id="1048978" name="TextBox 13"/>
          <p:cNvSpPr txBox="1"/>
          <p:nvPr/>
        </p:nvSpPr>
        <p:spPr>
          <a:xfrm>
            <a:off x="2944678" y="3394148"/>
            <a:ext cx="2763865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latin typeface="Bahnschrift" panose="020B0502040204020203" pitchFamily="34" charset="0"/>
              </a:rPr>
              <a:t>Map (To Change Value)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048979" name="Arrow: Right 14"/>
          <p:cNvSpPr/>
          <p:nvPr/>
        </p:nvSpPr>
        <p:spPr>
          <a:xfrm>
            <a:off x="5680129" y="3304299"/>
            <a:ext cx="2936929" cy="54903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980" name="TextBox 15"/>
          <p:cNvSpPr txBox="1"/>
          <p:nvPr/>
        </p:nvSpPr>
        <p:spPr>
          <a:xfrm>
            <a:off x="5912604" y="2762634"/>
            <a:ext cx="2260170" cy="64633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Observable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(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Transformed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Data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)</a:t>
            </a:r>
            <a:endParaRPr lang="en-US" dirty="0">
              <a:latin typeface="Bahnschrift" panose="020B0502040204020203" pitchFamily="34" charset="0"/>
            </a:endParaRPr>
          </a:p>
        </p:txBody>
      </p:sp>
      <p:cxnSp>
        <p:nvCxnSpPr>
          <p:cNvPr id="3145772" name="Straight Arrow Connector 16"/>
          <p:cNvCxnSpPr/>
          <p:nvPr/>
        </p:nvCxnSpPr>
        <p:spPr>
          <a:xfrm flipV="1">
            <a:off x="8640031" y="3270138"/>
            <a:ext cx="1557854" cy="3100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73" name="Straight Arrow Connector 18"/>
          <p:cNvCxnSpPr/>
          <p:nvPr/>
        </p:nvCxnSpPr>
        <p:spPr>
          <a:xfrm>
            <a:off x="8640031" y="3580218"/>
            <a:ext cx="155785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74" name="Straight Arrow Connector 23"/>
          <p:cNvCxnSpPr/>
          <p:nvPr/>
        </p:nvCxnSpPr>
        <p:spPr>
          <a:xfrm>
            <a:off x="8640031" y="3580218"/>
            <a:ext cx="1557854" cy="31887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981" name="TextBox 28"/>
          <p:cNvSpPr txBox="1"/>
          <p:nvPr/>
        </p:nvSpPr>
        <p:spPr>
          <a:xfrm>
            <a:off x="10232107" y="3100860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1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982" name="TextBox 29"/>
          <p:cNvSpPr txBox="1"/>
          <p:nvPr/>
        </p:nvSpPr>
        <p:spPr>
          <a:xfrm>
            <a:off x="10220858" y="3438671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2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983" name="TextBox 30"/>
          <p:cNvSpPr txBox="1"/>
          <p:nvPr/>
        </p:nvSpPr>
        <p:spPr>
          <a:xfrm>
            <a:off x="10220858" y="3746229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3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984" name="Rectangle: Rounded Corners 31"/>
          <p:cNvSpPr/>
          <p:nvPr/>
        </p:nvSpPr>
        <p:spPr>
          <a:xfrm>
            <a:off x="2875613" y="1796950"/>
            <a:ext cx="2417737" cy="628953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Observable</a:t>
            </a:r>
            <a:endParaRPr lang="en-US" sz="2000" dirty="0"/>
          </a:p>
        </p:txBody>
      </p:sp>
      <p:sp>
        <p:nvSpPr>
          <p:cNvPr id="1048985" name="TextBox 33"/>
          <p:cNvSpPr txBox="1"/>
          <p:nvPr/>
        </p:nvSpPr>
        <p:spPr>
          <a:xfrm>
            <a:off x="6898651" y="1359117"/>
            <a:ext cx="2675048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1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986" name="TextBox 34"/>
          <p:cNvSpPr txBox="1"/>
          <p:nvPr/>
        </p:nvSpPr>
        <p:spPr>
          <a:xfrm>
            <a:off x="6914149" y="1793340"/>
            <a:ext cx="2675048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2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987" name="TextBox 35"/>
          <p:cNvSpPr txBox="1"/>
          <p:nvPr/>
        </p:nvSpPr>
        <p:spPr>
          <a:xfrm>
            <a:off x="6914149" y="2240365"/>
            <a:ext cx="2675048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3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3145775" name="Straight Arrow Connector 36"/>
          <p:cNvCxnSpPr>
            <a:stCxn id="1048984" idx="3"/>
          </p:cNvCxnSpPr>
          <p:nvPr/>
        </p:nvCxnSpPr>
        <p:spPr>
          <a:xfrm flipV="1">
            <a:off x="5293350" y="1560148"/>
            <a:ext cx="1605301" cy="55127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76" name="Straight Arrow Connector 37"/>
          <p:cNvCxnSpPr>
            <a:stCxn id="1048984" idx="3"/>
          </p:cNvCxnSpPr>
          <p:nvPr/>
        </p:nvCxnSpPr>
        <p:spPr>
          <a:xfrm flipV="1">
            <a:off x="5293350" y="1999281"/>
            <a:ext cx="1605301" cy="11214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77" name="Straight Arrow Connector 38"/>
          <p:cNvCxnSpPr>
            <a:stCxn id="1048984" idx="3"/>
          </p:cNvCxnSpPr>
          <p:nvPr/>
        </p:nvCxnSpPr>
        <p:spPr>
          <a:xfrm>
            <a:off x="5293350" y="2111427"/>
            <a:ext cx="1605301" cy="31447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4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4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4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4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45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45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45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4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4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4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4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48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4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48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4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4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48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48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48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45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145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45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48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48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48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048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48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048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48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145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145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145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61" grpId="0" animBg="1"/>
      <p:bldP spid="1048962" grpId="0"/>
      <p:bldP spid="1048963" grpId="0" animBg="1"/>
      <p:bldP spid="1048964" grpId="0" animBg="1"/>
      <p:bldP spid="1048965" grpId="0"/>
      <p:bldP spid="1048966" grpId="0"/>
      <p:bldP spid="1048967" grpId="0" animBg="1"/>
      <p:bldP spid="1048968" grpId="0"/>
      <p:bldP spid="1048969" grpId="0"/>
      <p:bldP spid="1048970" grpId="0"/>
      <p:bldP spid="1048971" grpId="0"/>
      <p:bldP spid="1048972" grpId="0" animBg="1"/>
      <p:bldP spid="1048973" grpId="0" animBg="1"/>
      <p:bldP spid="1048974" grpId="0"/>
      <p:bldP spid="1048975" grpId="0" animBg="1"/>
      <p:bldP spid="1048976" grpId="0" animBg="1"/>
      <p:bldP spid="1048977" grpId="0"/>
      <p:bldP spid="1048978" grpId="0"/>
      <p:bldP spid="1048979" grpId="0" animBg="1"/>
      <p:bldP spid="1048980" grpId="0"/>
      <p:bldP spid="1048981" grpId="0"/>
      <p:bldP spid="1048982" grpId="0"/>
      <p:bldP spid="1048983" grpId="0"/>
      <p:bldP spid="1048984" grpId="0" animBg="1"/>
      <p:bldP spid="1048985" grpId="0"/>
      <p:bldP spid="1048986" grpId="0"/>
      <p:bldP spid="104898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8" name="Freeform 3"/>
          <p:cNvSpPr/>
          <p:nvPr/>
        </p:nvSpPr>
        <p:spPr>
          <a:xfrm rot="19359907">
            <a:off x="-107699" y="2311200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8989" name="Freeform 3"/>
          <p:cNvSpPr/>
          <p:nvPr/>
        </p:nvSpPr>
        <p:spPr>
          <a:xfrm rot="19530603">
            <a:off x="4200023" y="218275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63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990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Higher Order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991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992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24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64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22" y="1229927"/>
            <a:ext cx="4710906" cy="225350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097265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23" y="3650440"/>
            <a:ext cx="4710906" cy="236165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097266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7432" y="1229927"/>
            <a:ext cx="5142740" cy="225350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097267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7432" y="3650440"/>
            <a:ext cx="5142740" cy="236165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3" name="Freeform 3"/>
          <p:cNvSpPr/>
          <p:nvPr/>
        </p:nvSpPr>
        <p:spPr>
          <a:xfrm rot="19359907">
            <a:off x="-107699" y="2311200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8994" name="Freeform 3"/>
          <p:cNvSpPr/>
          <p:nvPr/>
        </p:nvSpPr>
        <p:spPr>
          <a:xfrm rot="19530603">
            <a:off x="4200023" y="218275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68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995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Higher Order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996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997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24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69" name="Picture 2097268"/>
          <p:cNvPicPr/>
          <p:nvPr/>
        </p:nvPicPr>
        <p:blipFill>
          <a:blip r:embed="rId3"/>
          <a:stretch>
            <a:fillRect/>
          </a:stretch>
        </p:blipFill>
        <p:spPr>
          <a:xfrm>
            <a:off x="2309268" y="1319236"/>
            <a:ext cx="7573464" cy="421952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8" name="Freeform 3"/>
          <p:cNvSpPr/>
          <p:nvPr/>
        </p:nvSpPr>
        <p:spPr>
          <a:xfrm rot="19359907">
            <a:off x="-107699" y="2311200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8999" name="Freeform 3"/>
          <p:cNvSpPr/>
          <p:nvPr/>
        </p:nvSpPr>
        <p:spPr>
          <a:xfrm rot="19530603">
            <a:off x="4200023" y="218275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70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9000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Higher Order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9001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9002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24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71" name="Picture 2097270"/>
          <p:cNvPicPr/>
          <p:nvPr/>
        </p:nvPicPr>
        <p:blipFill>
          <a:blip r:embed="rId3"/>
          <a:stretch>
            <a:fillRect/>
          </a:stretch>
        </p:blipFill>
        <p:spPr>
          <a:xfrm>
            <a:off x="1770373" y="1310494"/>
            <a:ext cx="8515786" cy="423701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3" name="Freeform 3"/>
          <p:cNvSpPr/>
          <p:nvPr/>
        </p:nvSpPr>
        <p:spPr>
          <a:xfrm rot="19359907">
            <a:off x="-107699" y="2311200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9004" name="Freeform 3"/>
          <p:cNvSpPr/>
          <p:nvPr/>
        </p:nvSpPr>
        <p:spPr>
          <a:xfrm rot="19530603">
            <a:off x="4200023" y="218275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72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9005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Higher Order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9006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9007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24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73" name="Picture 2097272"/>
          <p:cNvPicPr/>
          <p:nvPr/>
        </p:nvPicPr>
        <p:blipFill>
          <a:blip r:embed="rId3"/>
          <a:stretch>
            <a:fillRect/>
          </a:stretch>
        </p:blipFill>
        <p:spPr>
          <a:xfrm>
            <a:off x="2431420" y="1368775"/>
            <a:ext cx="7329160" cy="412045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8" name="Freeform 3"/>
          <p:cNvSpPr/>
          <p:nvPr/>
        </p:nvSpPr>
        <p:spPr>
          <a:xfrm rot="19359907">
            <a:off x="-107699" y="2311200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9009" name="Freeform 3"/>
          <p:cNvSpPr/>
          <p:nvPr/>
        </p:nvSpPr>
        <p:spPr>
          <a:xfrm rot="19530603">
            <a:off x="4200023" y="218275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74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9010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Higher Order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9011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9012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24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75" name="Picture 2097274"/>
          <p:cNvPicPr/>
          <p:nvPr/>
        </p:nvPicPr>
        <p:blipFill>
          <a:blip r:embed="rId3"/>
          <a:stretch>
            <a:fillRect/>
          </a:stretch>
        </p:blipFill>
        <p:spPr>
          <a:xfrm>
            <a:off x="1982007" y="1482888"/>
            <a:ext cx="7916657" cy="445847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3" name="Freeform 3"/>
          <p:cNvSpPr/>
          <p:nvPr/>
        </p:nvSpPr>
        <p:spPr>
          <a:xfrm rot="19359907">
            <a:off x="-107699" y="2311200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9014" name="Freeform 3"/>
          <p:cNvSpPr/>
          <p:nvPr/>
        </p:nvSpPr>
        <p:spPr>
          <a:xfrm rot="19530603">
            <a:off x="4200023" y="218275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76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9015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Higher Order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9016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9017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24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77" name="Picture 2097276"/>
          <p:cNvPicPr/>
          <p:nvPr/>
        </p:nvPicPr>
        <p:blipFill>
          <a:blip r:embed="rId3"/>
          <a:stretch>
            <a:fillRect/>
          </a:stretch>
        </p:blipFill>
        <p:spPr>
          <a:xfrm>
            <a:off x="1662083" y="1477625"/>
            <a:ext cx="8556504" cy="456921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8" name="Freeform 3"/>
          <p:cNvSpPr/>
          <p:nvPr/>
        </p:nvSpPr>
        <p:spPr>
          <a:xfrm rot="19359907">
            <a:off x="-107699" y="2311200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9019" name="Freeform 3"/>
          <p:cNvSpPr/>
          <p:nvPr/>
        </p:nvSpPr>
        <p:spPr>
          <a:xfrm rot="19530603">
            <a:off x="4200023" y="218275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78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9020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Higher Order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9021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9022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24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79" name="Picture 2097278"/>
          <p:cNvPicPr/>
          <p:nvPr/>
        </p:nvPicPr>
        <p:blipFill>
          <a:blip r:embed="rId3"/>
          <a:stretch>
            <a:fillRect/>
          </a:stretch>
        </p:blipFill>
        <p:spPr>
          <a:xfrm>
            <a:off x="2463412" y="1327978"/>
            <a:ext cx="7265175" cy="420204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3" name="Freeform 3"/>
          <p:cNvSpPr/>
          <p:nvPr/>
        </p:nvSpPr>
        <p:spPr>
          <a:xfrm rot="19359907">
            <a:off x="-107699" y="2311200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9024" name="Freeform 3"/>
          <p:cNvSpPr/>
          <p:nvPr/>
        </p:nvSpPr>
        <p:spPr>
          <a:xfrm rot="19530603">
            <a:off x="4200023" y="218275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80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9025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Higher Order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9026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9027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24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81" name="Picture 2097280"/>
          <p:cNvPicPr/>
          <p:nvPr/>
        </p:nvPicPr>
        <p:blipFill>
          <a:blip r:embed="rId3"/>
          <a:stretch>
            <a:fillRect/>
          </a:stretch>
        </p:blipFill>
        <p:spPr>
          <a:xfrm>
            <a:off x="2396519" y="1377517"/>
            <a:ext cx="7398962" cy="4102966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8" name="Freeform 3"/>
          <p:cNvSpPr/>
          <p:nvPr/>
        </p:nvSpPr>
        <p:spPr>
          <a:xfrm rot="19359907">
            <a:off x="-107699" y="2311200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9029" name="Freeform 3"/>
          <p:cNvSpPr/>
          <p:nvPr/>
        </p:nvSpPr>
        <p:spPr>
          <a:xfrm rot="19530603">
            <a:off x="4200023" y="218275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82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9030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Higher Order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9031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9032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24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83" name="Picture 2097282"/>
          <p:cNvPicPr/>
          <p:nvPr/>
        </p:nvPicPr>
        <p:blipFill>
          <a:blip r:embed="rId3"/>
          <a:stretch>
            <a:fillRect/>
          </a:stretch>
        </p:blipFill>
        <p:spPr>
          <a:xfrm>
            <a:off x="2422694" y="1339634"/>
            <a:ext cx="7346611" cy="417873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Freeform 3"/>
          <p:cNvSpPr/>
          <p:nvPr/>
        </p:nvSpPr>
        <p:spPr>
          <a:xfrm rot="19359907">
            <a:off x="-107699" y="2311200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8646" name="Freeform 3"/>
          <p:cNvSpPr/>
          <p:nvPr/>
        </p:nvSpPr>
        <p:spPr>
          <a:xfrm rot="19530603">
            <a:off x="4200023" y="218275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163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47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Higher Order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648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649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24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164" name="Picture 2097163"/>
          <p:cNvPicPr/>
          <p:nvPr/>
        </p:nvPicPr>
        <p:blipFill>
          <a:blip r:embed="rId3"/>
          <a:stretch>
            <a:fillRect/>
          </a:stretch>
        </p:blipFill>
        <p:spPr>
          <a:xfrm>
            <a:off x="3621961" y="4215418"/>
            <a:ext cx="4304427" cy="2342887"/>
          </a:xfrm>
          <a:prstGeom prst="rect">
            <a:avLst/>
          </a:prstGeom>
        </p:spPr>
      </p:pic>
      <p:pic>
        <p:nvPicPr>
          <p:cNvPr id="2097165" name="Picture 2097164"/>
          <p:cNvPicPr/>
          <p:nvPr/>
        </p:nvPicPr>
        <p:blipFill>
          <a:blip r:embed="rId4"/>
          <a:stretch>
            <a:fillRect/>
          </a:stretch>
        </p:blipFill>
        <p:spPr>
          <a:xfrm>
            <a:off x="6572535" y="1240552"/>
            <a:ext cx="4327694" cy="2890726"/>
          </a:xfrm>
          <a:prstGeom prst="rect">
            <a:avLst/>
          </a:prstGeom>
        </p:spPr>
      </p:pic>
      <p:pic>
        <p:nvPicPr>
          <p:cNvPr id="2097166" name="Picture 2097165"/>
          <p:cNvPicPr/>
          <p:nvPr/>
        </p:nvPicPr>
        <p:blipFill>
          <a:blip r:embed="rId5"/>
          <a:stretch>
            <a:fillRect/>
          </a:stretch>
        </p:blipFill>
        <p:spPr>
          <a:xfrm>
            <a:off x="1156304" y="1237637"/>
            <a:ext cx="4356779" cy="289655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Freeform 3"/>
          <p:cNvSpPr/>
          <p:nvPr/>
        </p:nvSpPr>
        <p:spPr>
          <a:xfrm rot="19359907">
            <a:off x="-107699" y="2311200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8627" name="Freeform 3"/>
          <p:cNvSpPr/>
          <p:nvPr/>
        </p:nvSpPr>
        <p:spPr>
          <a:xfrm rot="19530603">
            <a:off x="4200023" y="218275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157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28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S</a:t>
            </a:r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u</a:t>
            </a:r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b</a:t>
            </a:r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j</a:t>
            </a:r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e</a:t>
            </a:r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</a:t>
            </a:r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t</a:t>
            </a:r>
            <a:endParaRPr lang="en-US" sz="3200" dirty="0">
              <a:latin typeface="Google Sans"/>
            </a:endParaRPr>
          </a:p>
        </p:txBody>
      </p:sp>
      <p:sp>
        <p:nvSpPr>
          <p:cNvPr id="1048629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630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24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96" name="Picture 2097295"/>
          <p:cNvPicPr/>
          <p:nvPr/>
        </p:nvPicPr>
        <p:blipFill>
          <a:blip r:embed="rId3"/>
          <a:stretch>
            <a:fillRect/>
          </a:stretch>
        </p:blipFill>
        <p:spPr>
          <a:xfrm>
            <a:off x="1339930" y="1272238"/>
            <a:ext cx="9376672" cy="5286066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Freeform 3"/>
          <p:cNvSpPr/>
          <p:nvPr/>
        </p:nvSpPr>
        <p:spPr>
          <a:xfrm rot="19359907">
            <a:off x="-107699" y="2311200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8614" name="Freeform 3"/>
          <p:cNvSpPr/>
          <p:nvPr/>
        </p:nvSpPr>
        <p:spPr>
          <a:xfrm rot="19530603">
            <a:off x="4200023" y="218275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154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15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B</a:t>
            </a:r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e</a:t>
            </a:r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h</a:t>
            </a:r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a</a:t>
            </a:r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v</a:t>
            </a:r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i</a:t>
            </a:r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o</a:t>
            </a:r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r</a:t>
            </a:r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S</a:t>
            </a:r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u</a:t>
            </a:r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b</a:t>
            </a:r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j</a:t>
            </a:r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e</a:t>
            </a:r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</a:t>
            </a:r>
            <a:r>
              <a:rPr lang="en-US" altLang="en-GB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t</a:t>
            </a:r>
            <a:endParaRPr lang="en-US" sz="3200" dirty="0">
              <a:latin typeface="Google Sans"/>
            </a:endParaRPr>
          </a:p>
        </p:txBody>
      </p:sp>
      <p:sp>
        <p:nvSpPr>
          <p:cNvPr id="1048616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617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24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97" name="Picture 2097296"/>
          <p:cNvPicPr/>
          <p:nvPr/>
        </p:nvPicPr>
        <p:blipFill>
          <a:blip r:embed="rId3"/>
          <a:stretch>
            <a:fillRect/>
          </a:stretch>
        </p:blipFill>
        <p:spPr>
          <a:xfrm>
            <a:off x="2083418" y="1202303"/>
            <a:ext cx="7381511" cy="535600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Freeform 3"/>
          <p:cNvSpPr/>
          <p:nvPr/>
        </p:nvSpPr>
        <p:spPr>
          <a:xfrm rot="18900000">
            <a:off x="4513173" y="2705440"/>
            <a:ext cx="3533828" cy="1278603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18999"/>
            </a:blip>
            <a:stretch>
              <a:fillRect/>
            </a:stretch>
          </a:blipFill>
        </p:spPr>
      </p:sp>
      <p:sp>
        <p:nvSpPr>
          <p:cNvPr id="1048587" name="Title 1"/>
          <p:cNvSpPr>
            <a:spLocks noGrp="1"/>
          </p:cNvSpPr>
          <p:nvPr>
            <p:ph type="ctrTitle"/>
          </p:nvPr>
        </p:nvSpPr>
        <p:spPr>
          <a:xfrm>
            <a:off x="3843867" y="3322014"/>
            <a:ext cx="4504266" cy="896993"/>
          </a:xfrm>
        </p:spPr>
        <p:txBody>
          <a:bodyPr>
            <a:normAutofit fontScale="98333"/>
          </a:bodyPr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NGRX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8588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p>
            <a:endParaRPr lang="en-US"/>
          </a:p>
        </p:txBody>
      </p:sp>
      <p:pic>
        <p:nvPicPr>
          <p:cNvPr id="2097152" name="Graphic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728" y="1560655"/>
            <a:ext cx="1766544" cy="1868345"/>
          </a:xfrm>
          <a:prstGeom prst="rect">
            <a:avLst/>
          </a:prstGeom>
        </p:spPr>
      </p:pic>
      <p:sp>
        <p:nvSpPr>
          <p:cNvPr id="1048589" name="Oval 7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590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27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Graphic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9172" y="5953084"/>
            <a:ext cx="586337" cy="620126"/>
          </a:xfrm>
          <a:prstGeom prst="rect">
            <a:avLst/>
          </a:prstGeom>
        </p:spPr>
      </p:pic>
      <p:sp>
        <p:nvSpPr>
          <p:cNvPr id="1048591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NGRX</a:t>
            </a:r>
            <a:endParaRPr lang="en-US" sz="3200" dirty="0">
              <a:latin typeface="Google Sans"/>
            </a:endParaRPr>
          </a:p>
        </p:txBody>
      </p:sp>
      <p:sp>
        <p:nvSpPr>
          <p:cNvPr id="1048592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593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28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594" name="Rectangle: Rounded Corners 10"/>
          <p:cNvSpPr/>
          <p:nvPr/>
        </p:nvSpPr>
        <p:spPr>
          <a:xfrm>
            <a:off x="1156306" y="2536747"/>
            <a:ext cx="2036074" cy="848140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Angular Redux</a:t>
            </a:r>
            <a:endParaRPr lang="en-US" sz="2000" dirty="0"/>
          </a:p>
        </p:txBody>
      </p:sp>
      <p:sp>
        <p:nvSpPr>
          <p:cNvPr id="1048595" name="Rectangle: Rounded Corners 11"/>
          <p:cNvSpPr/>
          <p:nvPr/>
        </p:nvSpPr>
        <p:spPr>
          <a:xfrm>
            <a:off x="4276496" y="2536747"/>
            <a:ext cx="2036074" cy="848140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State Management</a:t>
            </a:r>
            <a:endParaRPr lang="en-US" sz="2000" dirty="0"/>
          </a:p>
        </p:txBody>
      </p:sp>
      <p:sp>
        <p:nvSpPr>
          <p:cNvPr id="1048596" name="Rectangle 12"/>
          <p:cNvSpPr/>
          <p:nvPr/>
        </p:nvSpPr>
        <p:spPr>
          <a:xfrm>
            <a:off x="7396686" y="2054870"/>
            <a:ext cx="3852486" cy="1987741"/>
          </a:xfrm>
          <a:prstGeom prst="rect">
            <a:avLst/>
          </a:prstGeom>
          <a:solidFill>
            <a:srgbClr val="F1F9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597" name="Rectangle: Rounded Corners 14"/>
          <p:cNvSpPr/>
          <p:nvPr/>
        </p:nvSpPr>
        <p:spPr>
          <a:xfrm>
            <a:off x="7511698" y="2159979"/>
            <a:ext cx="1081568" cy="650754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Component</a:t>
            </a:r>
            <a:endParaRPr lang="en-US" sz="1100" b="1" dirty="0"/>
          </a:p>
        </p:txBody>
      </p:sp>
      <p:sp>
        <p:nvSpPr>
          <p:cNvPr id="1048598" name="Rectangle: Rounded Corners 15"/>
          <p:cNvSpPr/>
          <p:nvPr/>
        </p:nvSpPr>
        <p:spPr>
          <a:xfrm>
            <a:off x="10066049" y="2159979"/>
            <a:ext cx="1081568" cy="650754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Component</a:t>
            </a:r>
            <a:endParaRPr lang="en-US" sz="1100" b="1" dirty="0"/>
          </a:p>
        </p:txBody>
      </p:sp>
      <p:sp>
        <p:nvSpPr>
          <p:cNvPr id="1048599" name="Rectangle: Rounded Corners 17"/>
          <p:cNvSpPr/>
          <p:nvPr/>
        </p:nvSpPr>
        <p:spPr>
          <a:xfrm>
            <a:off x="7503847" y="3293882"/>
            <a:ext cx="1081568" cy="650754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Component</a:t>
            </a:r>
            <a:endParaRPr lang="en-US" sz="1100" b="1" dirty="0"/>
          </a:p>
        </p:txBody>
      </p:sp>
      <p:sp>
        <p:nvSpPr>
          <p:cNvPr id="1048600" name="Rectangle: Rounded Corners 18"/>
          <p:cNvSpPr/>
          <p:nvPr/>
        </p:nvSpPr>
        <p:spPr>
          <a:xfrm>
            <a:off x="10066049" y="3293882"/>
            <a:ext cx="1081568" cy="650754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Component</a:t>
            </a:r>
            <a:endParaRPr lang="en-US" sz="1100" b="1" dirty="0"/>
          </a:p>
        </p:txBody>
      </p:sp>
      <p:sp>
        <p:nvSpPr>
          <p:cNvPr id="1048601" name="Oval 21"/>
          <p:cNvSpPr/>
          <p:nvPr/>
        </p:nvSpPr>
        <p:spPr>
          <a:xfrm>
            <a:off x="8547849" y="2768102"/>
            <a:ext cx="1510349" cy="600501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Data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48602" name="Oval 24"/>
          <p:cNvSpPr/>
          <p:nvPr/>
        </p:nvSpPr>
        <p:spPr>
          <a:xfrm>
            <a:off x="1891694" y="4981373"/>
            <a:ext cx="1642752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Store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48603" name="Oval 25"/>
          <p:cNvSpPr/>
          <p:nvPr/>
        </p:nvSpPr>
        <p:spPr>
          <a:xfrm>
            <a:off x="3993847" y="4981372"/>
            <a:ext cx="1642752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Reducer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48604" name="Oval 26"/>
          <p:cNvSpPr/>
          <p:nvPr/>
        </p:nvSpPr>
        <p:spPr>
          <a:xfrm>
            <a:off x="6096000" y="4981372"/>
            <a:ext cx="1642752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State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48605" name="Oval 27"/>
          <p:cNvSpPr/>
          <p:nvPr/>
        </p:nvSpPr>
        <p:spPr>
          <a:xfrm>
            <a:off x="8198153" y="4981372"/>
            <a:ext cx="1642752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Action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48606" name="Speech Bubble: Oval 29"/>
          <p:cNvSpPr/>
          <p:nvPr/>
        </p:nvSpPr>
        <p:spPr>
          <a:xfrm>
            <a:off x="2713070" y="4581232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?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48607" name="Speech Bubble: Oval 30"/>
          <p:cNvSpPr/>
          <p:nvPr/>
        </p:nvSpPr>
        <p:spPr>
          <a:xfrm>
            <a:off x="4815223" y="4581232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?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48608" name="Speech Bubble: Oval 31"/>
          <p:cNvSpPr/>
          <p:nvPr/>
        </p:nvSpPr>
        <p:spPr>
          <a:xfrm>
            <a:off x="6965033" y="4581232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?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48609" name="Speech Bubble: Oval 32"/>
          <p:cNvSpPr/>
          <p:nvPr/>
        </p:nvSpPr>
        <p:spPr>
          <a:xfrm>
            <a:off x="9035572" y="4581232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?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cxnSp>
        <p:nvCxnSpPr>
          <p:cNvPr id="3145728" name="Straight Arrow Connector 33"/>
          <p:cNvCxnSpPr>
            <a:endCxn id="1048595" idx="1"/>
          </p:cNvCxnSpPr>
          <p:nvPr/>
        </p:nvCxnSpPr>
        <p:spPr>
          <a:xfrm flipV="1">
            <a:off x="3149528" y="2960817"/>
            <a:ext cx="1126968" cy="28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45729" name="Straight Arrow Connector 35"/>
          <p:cNvCxnSpPr/>
          <p:nvPr/>
        </p:nvCxnSpPr>
        <p:spPr>
          <a:xfrm flipV="1">
            <a:off x="6312570" y="2962415"/>
            <a:ext cx="1052958" cy="28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45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45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48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48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8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48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4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4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48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4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4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4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48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4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4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48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4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48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48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4" grpId="0" animBg="1"/>
      <p:bldP spid="1048595" grpId="0" animBg="1"/>
      <p:bldP spid="1048596" grpId="0" animBg="1"/>
      <p:bldP spid="1048597" grpId="0" animBg="1"/>
      <p:bldP spid="1048598" grpId="0" animBg="1"/>
      <p:bldP spid="1048599" grpId="0" animBg="1"/>
      <p:bldP spid="1048600" grpId="0" animBg="1"/>
      <p:bldP spid="1048601" grpId="0" animBg="1"/>
      <p:bldP spid="1048602" grpId="0" animBg="1"/>
      <p:bldP spid="1048603" grpId="0" animBg="1"/>
      <p:bldP spid="1048604" grpId="0" animBg="1"/>
      <p:bldP spid="1048605" grpId="0" animBg="1"/>
      <p:bldP spid="1048606" grpId="0" animBg="1"/>
      <p:bldP spid="1048607" grpId="0" animBg="1"/>
      <p:bldP spid="1048608" grpId="0" animBg="1"/>
      <p:bldP spid="104860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Graphic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9172" y="5953084"/>
            <a:ext cx="586337" cy="620126"/>
          </a:xfrm>
          <a:prstGeom prst="rect">
            <a:avLst/>
          </a:prstGeom>
        </p:spPr>
      </p:pic>
      <p:sp>
        <p:nvSpPr>
          <p:cNvPr id="1048618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NGRX</a:t>
            </a:r>
            <a:endParaRPr lang="en-US" sz="3200" dirty="0">
              <a:latin typeface="Google Sans"/>
            </a:endParaRPr>
          </a:p>
        </p:txBody>
      </p:sp>
      <p:sp>
        <p:nvSpPr>
          <p:cNvPr id="1048619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620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29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156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917" y="2021471"/>
            <a:ext cx="7838699" cy="4409268"/>
          </a:xfrm>
          <a:prstGeom prst="rect">
            <a:avLst/>
          </a:prstGeom>
        </p:spPr>
      </p:pic>
      <p:sp>
        <p:nvSpPr>
          <p:cNvPr id="1048621" name="Rectangle 4"/>
          <p:cNvSpPr/>
          <p:nvPr/>
        </p:nvSpPr>
        <p:spPr>
          <a:xfrm>
            <a:off x="8452594" y="1202101"/>
            <a:ext cx="3382915" cy="849718"/>
          </a:xfrm>
          <a:prstGeom prst="rect">
            <a:avLst/>
          </a:prstGeom>
          <a:solidFill>
            <a:srgbClr val="F6DEF3"/>
          </a:solidFill>
          <a:ln>
            <a:solidFill>
              <a:srgbClr val="AF3E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npm i --save @ngrx/store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npm i --save @ngrx/effects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48622" name="Rectangle 5"/>
          <p:cNvSpPr/>
          <p:nvPr/>
        </p:nvSpPr>
        <p:spPr>
          <a:xfrm>
            <a:off x="244494" y="1174805"/>
            <a:ext cx="2785309" cy="877014"/>
          </a:xfrm>
          <a:prstGeom prst="rect">
            <a:avLst/>
          </a:prstGeom>
          <a:solidFill>
            <a:srgbClr val="FFF3CD"/>
          </a:solidFill>
          <a:ln>
            <a:solidFill>
              <a:srgbClr val="F2B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 dirty="0">
                <a:solidFill>
                  <a:srgbClr val="C00000"/>
                </a:solidFill>
                <a:cs typeface="Arial" panose="020B0604020202020204" pitchFamily="34" charset="0"/>
              </a:rPr>
              <a:t>--save </a:t>
            </a:r>
            <a:endParaRPr lang="en-US" sz="1600" b="1" dirty="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Means to add this package at dependencies</a:t>
            </a:r>
            <a:endParaRPr 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8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86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21" grpId="0" animBg="1"/>
      <p:bldP spid="104862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hought Bubble: Cloud 88"/>
          <p:cNvSpPr/>
          <p:nvPr/>
        </p:nvSpPr>
        <p:spPr>
          <a:xfrm>
            <a:off x="1615391" y="2233814"/>
            <a:ext cx="1261991" cy="838698"/>
          </a:xfrm>
          <a:prstGeom prst="cloudCallou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200" b="1" dirty="0">
                <a:latin typeface="Bahnschrift" panose="020B0502040204020203" pitchFamily="34" charset="0"/>
              </a:rPr>
              <a:t>Order</a:t>
            </a:r>
            <a:endParaRPr lang="en-US" sz="1000" b="1" dirty="0">
              <a:latin typeface="Bahnschrift" panose="020B0502040204020203" pitchFamily="34" charset="0"/>
            </a:endParaRPr>
          </a:p>
        </p:txBody>
      </p:sp>
      <p:pic>
        <p:nvPicPr>
          <p:cNvPr id="2097158" name="Graphic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9172" y="5953084"/>
            <a:ext cx="586337" cy="620126"/>
          </a:xfrm>
          <a:prstGeom prst="rect">
            <a:avLst/>
          </a:prstGeom>
        </p:spPr>
      </p:pic>
      <p:sp>
        <p:nvSpPr>
          <p:cNvPr id="1048632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NGRX</a:t>
            </a:r>
            <a:endParaRPr lang="en-US" sz="3200" dirty="0">
              <a:latin typeface="Google Sans"/>
            </a:endParaRPr>
          </a:p>
        </p:txBody>
      </p:sp>
      <p:sp>
        <p:nvSpPr>
          <p:cNvPr id="1048633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634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30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159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142" y="3014923"/>
            <a:ext cx="4270060" cy="2381059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97160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822" y="2405190"/>
            <a:ext cx="3453053" cy="3453053"/>
          </a:xfrm>
          <a:prstGeom prst="rect">
            <a:avLst/>
          </a:prstGeom>
        </p:spPr>
      </p:pic>
      <p:pic>
        <p:nvPicPr>
          <p:cNvPr id="2097161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071" y="2865584"/>
            <a:ext cx="2405524" cy="3045292"/>
          </a:xfrm>
          <a:prstGeom prst="rect">
            <a:avLst/>
          </a:prstGeom>
        </p:spPr>
      </p:pic>
      <p:sp>
        <p:nvSpPr>
          <p:cNvPr id="1048635" name="Rectangle 18"/>
          <p:cNvSpPr/>
          <p:nvPr/>
        </p:nvSpPr>
        <p:spPr>
          <a:xfrm>
            <a:off x="6259102" y="3191256"/>
            <a:ext cx="640080" cy="10972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dirty="0">
                <a:solidFill>
                  <a:schemeClr val="bg1"/>
                </a:solidFill>
              </a:rPr>
              <a:t>------------------------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097162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569" y="3875204"/>
            <a:ext cx="513026" cy="513026"/>
          </a:xfrm>
          <a:prstGeom prst="rect">
            <a:avLst/>
          </a:prstGeom>
        </p:spPr>
      </p:pic>
      <p:sp>
        <p:nvSpPr>
          <p:cNvPr id="1048636" name="Thought Bubble: Cloud 21"/>
          <p:cNvSpPr/>
          <p:nvPr/>
        </p:nvSpPr>
        <p:spPr>
          <a:xfrm>
            <a:off x="1614104" y="2242355"/>
            <a:ext cx="1261991" cy="838698"/>
          </a:xfrm>
          <a:prstGeom prst="cloudCallou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r>
              <a:rPr lang="en-US" sz="1000" b="1" dirty="0">
                <a:latin typeface="Bahnschrift" panose="020B0502040204020203" pitchFamily="34" charset="0"/>
              </a:rPr>
              <a:t>{</a:t>
            </a:r>
            <a:endParaRPr lang="en-US" sz="1000" b="1" dirty="0">
              <a:latin typeface="Bahnschrift" panose="020B0502040204020203" pitchFamily="34" charset="0"/>
            </a:endParaRPr>
          </a:p>
          <a:p>
            <a:r>
              <a:rPr lang="en-US" sz="1000" b="1" dirty="0">
                <a:latin typeface="Bahnschrift" panose="020B0502040204020203" pitchFamily="34" charset="0"/>
              </a:rPr>
              <a:t>   Type: “   “,</a:t>
            </a:r>
            <a:endParaRPr lang="en-US" sz="1000" b="1" dirty="0">
              <a:latin typeface="Bahnschrift" panose="020B0502040204020203" pitchFamily="34" charset="0"/>
            </a:endParaRPr>
          </a:p>
          <a:p>
            <a:r>
              <a:rPr lang="en-US" sz="1000" b="1" dirty="0">
                <a:latin typeface="Bahnschrift" panose="020B0502040204020203" pitchFamily="34" charset="0"/>
              </a:rPr>
              <a:t>   Payload:.</a:t>
            </a:r>
            <a:endParaRPr lang="en-US" sz="1000" b="1" dirty="0">
              <a:latin typeface="Bahnschrift" panose="020B0502040204020203" pitchFamily="34" charset="0"/>
            </a:endParaRPr>
          </a:p>
          <a:p>
            <a:r>
              <a:rPr lang="en-US" sz="1000" b="1" dirty="0">
                <a:latin typeface="Bahnschrift" panose="020B0502040204020203" pitchFamily="34" charset="0"/>
              </a:rPr>
              <a:t>}</a:t>
            </a:r>
            <a:endParaRPr lang="en-US" sz="1000" b="1" dirty="0">
              <a:latin typeface="Bahnschrift" panose="020B0502040204020203" pitchFamily="34" charset="0"/>
            </a:endParaRPr>
          </a:p>
        </p:txBody>
      </p:sp>
      <p:sp>
        <p:nvSpPr>
          <p:cNvPr id="1048637" name="Oval 25"/>
          <p:cNvSpPr/>
          <p:nvPr/>
        </p:nvSpPr>
        <p:spPr>
          <a:xfrm>
            <a:off x="2235449" y="1342032"/>
            <a:ext cx="1017666" cy="503874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b="1" dirty="0">
                <a:solidFill>
                  <a:schemeClr val="tx1"/>
                </a:solidFill>
                <a:latin typeface="Bahnschrift" panose="020B0502040204020203" pitchFamily="34" charset="0"/>
              </a:rPr>
              <a:t>Action</a:t>
            </a: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1048638" name="Oval 27"/>
          <p:cNvSpPr/>
          <p:nvPr/>
        </p:nvSpPr>
        <p:spPr>
          <a:xfrm>
            <a:off x="923544" y="1360806"/>
            <a:ext cx="1096122" cy="503874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900" b="1" dirty="0">
                <a:solidFill>
                  <a:schemeClr val="bg1"/>
                </a:solidFill>
                <a:latin typeface="Bahnschrift" panose="020B0502040204020203" pitchFamily="34" charset="0"/>
              </a:rPr>
              <a:t>Component</a:t>
            </a:r>
            <a:endParaRPr lang="en-US" sz="600" b="1" dirty="0">
              <a:solidFill>
                <a:schemeClr val="bg1"/>
              </a:solidFill>
            </a:endParaRPr>
          </a:p>
        </p:txBody>
      </p:sp>
      <p:sp>
        <p:nvSpPr>
          <p:cNvPr id="1048639" name="Oval 50"/>
          <p:cNvSpPr/>
          <p:nvPr/>
        </p:nvSpPr>
        <p:spPr>
          <a:xfrm>
            <a:off x="9278048" y="1990418"/>
            <a:ext cx="1191832" cy="503874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b="1" dirty="0">
                <a:solidFill>
                  <a:schemeClr val="tx1"/>
                </a:solidFill>
                <a:latin typeface="Bahnschrift" panose="020B0502040204020203" pitchFamily="34" charset="0"/>
              </a:rPr>
              <a:t>Reducers</a:t>
            </a: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1048640" name="Oval 51"/>
          <p:cNvSpPr/>
          <p:nvPr/>
        </p:nvSpPr>
        <p:spPr>
          <a:xfrm>
            <a:off x="6041611" y="1990418"/>
            <a:ext cx="1017666" cy="503874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b="1" dirty="0">
                <a:solidFill>
                  <a:schemeClr val="tx1"/>
                </a:solidFill>
                <a:latin typeface="Bahnschrift" panose="020B0502040204020203" pitchFamily="34" charset="0"/>
              </a:rPr>
              <a:t>State</a:t>
            </a: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1048641" name="Oval 52"/>
          <p:cNvSpPr/>
          <p:nvPr/>
        </p:nvSpPr>
        <p:spPr>
          <a:xfrm>
            <a:off x="7696506" y="1105329"/>
            <a:ext cx="1017666" cy="503874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b="1" dirty="0">
                <a:solidFill>
                  <a:schemeClr val="tx1"/>
                </a:solidFill>
                <a:latin typeface="Bahnschrift" panose="020B0502040204020203" pitchFamily="34" charset="0"/>
              </a:rPr>
              <a:t>Store</a:t>
            </a:r>
            <a:endParaRPr lang="en-US" sz="1050" b="1" dirty="0">
              <a:solidFill>
                <a:schemeClr val="tx1"/>
              </a:solidFill>
            </a:endParaRPr>
          </a:p>
        </p:txBody>
      </p:sp>
      <p:cxnSp>
        <p:nvCxnSpPr>
          <p:cNvPr id="3145730" name="Connector: Curved 55"/>
          <p:cNvCxnSpPr>
            <a:stCxn id="2097161" idx="0"/>
            <a:endCxn id="1048638" idx="3"/>
          </p:cNvCxnSpPr>
          <p:nvPr/>
        </p:nvCxnSpPr>
        <p:spPr>
          <a:xfrm rot="16200000" flipV="1">
            <a:off x="760103" y="2114854"/>
            <a:ext cx="1074695" cy="426766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1" name="Connector: Curved 60"/>
          <p:cNvCxnSpPr>
            <a:stCxn id="1048636" idx="2"/>
            <a:endCxn id="1048637" idx="5"/>
          </p:cNvCxnSpPr>
          <p:nvPr/>
        </p:nvCxnSpPr>
        <p:spPr>
          <a:xfrm flipV="1">
            <a:off x="2875043" y="1772115"/>
            <a:ext cx="229038" cy="889589"/>
          </a:xfrm>
          <a:prstGeom prst="curved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2" name="Connector: Curved 62"/>
          <p:cNvCxnSpPr>
            <a:endCxn id="1048639" idx="5"/>
          </p:cNvCxnSpPr>
          <p:nvPr/>
        </p:nvCxnSpPr>
        <p:spPr>
          <a:xfrm rot="5400000" flipH="1" flipV="1">
            <a:off x="9470675" y="2823791"/>
            <a:ext cx="1227955" cy="421376"/>
          </a:xfrm>
          <a:prstGeom prst="curved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3" name="Connector: Curved 64"/>
          <p:cNvCxnSpPr>
            <a:endCxn id="1048639" idx="4"/>
          </p:cNvCxnSpPr>
          <p:nvPr/>
        </p:nvCxnSpPr>
        <p:spPr>
          <a:xfrm flipV="1">
            <a:off x="8714172" y="2494292"/>
            <a:ext cx="1159792" cy="1090156"/>
          </a:xfrm>
          <a:prstGeom prst="curved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4" name="Connector: Curved 66"/>
          <p:cNvCxnSpPr>
            <a:endCxn id="1048639" idx="3"/>
          </p:cNvCxnSpPr>
          <p:nvPr/>
        </p:nvCxnSpPr>
        <p:spPr>
          <a:xfrm flipV="1">
            <a:off x="7616952" y="2420501"/>
            <a:ext cx="1835636" cy="1072507"/>
          </a:xfrm>
          <a:prstGeom prst="curved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5" name="Connector: Curved 68"/>
          <p:cNvCxnSpPr>
            <a:stCxn id="1048635" idx="0"/>
            <a:endCxn id="1048640" idx="3"/>
          </p:cNvCxnSpPr>
          <p:nvPr/>
        </p:nvCxnSpPr>
        <p:spPr>
          <a:xfrm rot="16200000" flipV="1">
            <a:off x="5999517" y="2611630"/>
            <a:ext cx="770755" cy="388497"/>
          </a:xfrm>
          <a:prstGeom prst="curved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6" name="Connector: Curved 70"/>
          <p:cNvCxnSpPr>
            <a:stCxn id="1048641" idx="2"/>
            <a:endCxn id="1048640" idx="0"/>
          </p:cNvCxnSpPr>
          <p:nvPr/>
        </p:nvCxnSpPr>
        <p:spPr>
          <a:xfrm rot="10800000" flipV="1">
            <a:off x="6550444" y="1357266"/>
            <a:ext cx="1146062" cy="633152"/>
          </a:xfrm>
          <a:prstGeom prst="curved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7" name="Connector: Curved 72"/>
          <p:cNvCxnSpPr>
            <a:stCxn id="1048641" idx="6"/>
            <a:endCxn id="1048639" idx="0"/>
          </p:cNvCxnSpPr>
          <p:nvPr/>
        </p:nvCxnSpPr>
        <p:spPr>
          <a:xfrm>
            <a:off x="8714172" y="1357266"/>
            <a:ext cx="1159792" cy="633152"/>
          </a:xfrm>
          <a:prstGeom prst="curved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8" name="Connector: Curved 80"/>
          <p:cNvCxnSpPr>
            <a:stCxn id="1048635" idx="2"/>
            <a:endCxn id="2097162" idx="0"/>
          </p:cNvCxnSpPr>
          <p:nvPr/>
        </p:nvCxnSpPr>
        <p:spPr>
          <a:xfrm rot="5400000" flipH="1">
            <a:off x="4237446" y="1946840"/>
            <a:ext cx="413332" cy="4270060"/>
          </a:xfrm>
          <a:prstGeom prst="curvedConnector5">
            <a:avLst>
              <a:gd name="adj1" fmla="val -55307"/>
              <a:gd name="adj2" fmla="val 12413"/>
              <a:gd name="adj3" fmla="val 414142"/>
            </a:avLst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7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7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9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9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48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48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45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9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4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48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4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48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4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45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48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48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145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45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14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48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45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45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1" grpId="0" animBg="1"/>
      <p:bldP spid="1048635" grpId="0" animBg="1"/>
      <p:bldP spid="1048636" grpId="0" animBg="1"/>
      <p:bldP spid="1048637" grpId="0" animBg="1"/>
      <p:bldP spid="1048638" grpId="0" animBg="1"/>
      <p:bldP spid="1048639" grpId="0" animBg="1"/>
      <p:bldP spid="1048640" grpId="0" animBg="1"/>
      <p:bldP spid="104864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3" name="Thought Bubble: Cloud 11"/>
          <p:cNvSpPr/>
          <p:nvPr/>
        </p:nvSpPr>
        <p:spPr>
          <a:xfrm>
            <a:off x="3071812" y="647699"/>
            <a:ext cx="5934075" cy="1285875"/>
          </a:xfrm>
          <a:prstGeom prst="cloudCallou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dirty="0">
                <a:solidFill>
                  <a:schemeClr val="tx1"/>
                </a:solidFill>
                <a:latin typeface="Bahnschrift" panose="020B0502040204020203" pitchFamily="34" charset="0"/>
              </a:rPr>
              <a:t>State                     Reducers</a:t>
            </a:r>
            <a:endParaRPr lang="en-US" sz="16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2097284" name="Graphic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9172" y="5953084"/>
            <a:ext cx="586337" cy="620126"/>
          </a:xfrm>
          <a:prstGeom prst="rect">
            <a:avLst/>
          </a:prstGeom>
        </p:spPr>
      </p:pic>
      <p:sp>
        <p:nvSpPr>
          <p:cNvPr id="1049034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9035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31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9036" name="Hexagon 2"/>
          <p:cNvSpPr/>
          <p:nvPr/>
        </p:nvSpPr>
        <p:spPr>
          <a:xfrm>
            <a:off x="2295525" y="4029075"/>
            <a:ext cx="1304925" cy="1124935"/>
          </a:xfrm>
          <a:prstGeom prst="hexagon">
            <a:avLst/>
          </a:prstGeom>
          <a:solidFill>
            <a:srgbClr val="F2B8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100" b="1" dirty="0">
                <a:solidFill>
                  <a:schemeClr val="tx1"/>
                </a:solidFill>
                <a:latin typeface="Bahnschrift" panose="020B0502040204020203" pitchFamily="34" charset="0"/>
              </a:rPr>
              <a:t>Component</a:t>
            </a:r>
            <a:endParaRPr lang="en-US" sz="11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049037" name="Hexagon 4"/>
          <p:cNvSpPr/>
          <p:nvPr/>
        </p:nvSpPr>
        <p:spPr>
          <a:xfrm>
            <a:off x="4314825" y="4029074"/>
            <a:ext cx="1304925" cy="1124935"/>
          </a:xfrm>
          <a:prstGeom prst="hexagon">
            <a:avLst/>
          </a:prstGeom>
          <a:solidFill>
            <a:srgbClr val="F2B8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100" b="1" dirty="0">
                <a:solidFill>
                  <a:schemeClr val="tx1"/>
                </a:solidFill>
                <a:latin typeface="Bahnschrift" panose="020B0502040204020203" pitchFamily="34" charset="0"/>
              </a:rPr>
              <a:t>Component</a:t>
            </a:r>
            <a:endParaRPr lang="en-US" sz="11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049038" name="Hexagon 5"/>
          <p:cNvSpPr/>
          <p:nvPr/>
        </p:nvSpPr>
        <p:spPr>
          <a:xfrm>
            <a:off x="6334125" y="4029074"/>
            <a:ext cx="1304925" cy="1124935"/>
          </a:xfrm>
          <a:prstGeom prst="hexagon">
            <a:avLst/>
          </a:prstGeom>
          <a:solidFill>
            <a:srgbClr val="F2B8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100" b="1" dirty="0">
                <a:solidFill>
                  <a:schemeClr val="tx1"/>
                </a:solidFill>
                <a:latin typeface="Bahnschrift" panose="020B0502040204020203" pitchFamily="34" charset="0"/>
              </a:rPr>
              <a:t>Component</a:t>
            </a:r>
            <a:endParaRPr lang="en-US" sz="11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049039" name="Hexagon 10"/>
          <p:cNvSpPr/>
          <p:nvPr/>
        </p:nvSpPr>
        <p:spPr>
          <a:xfrm>
            <a:off x="8353425" y="4029074"/>
            <a:ext cx="1304925" cy="1124935"/>
          </a:xfrm>
          <a:prstGeom prst="hexagon">
            <a:avLst/>
          </a:prstGeom>
          <a:solidFill>
            <a:srgbClr val="F2B8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100" b="1" dirty="0">
                <a:solidFill>
                  <a:schemeClr val="tx1"/>
                </a:solidFill>
                <a:latin typeface="Bahnschrift" panose="020B0502040204020203" pitchFamily="34" charset="0"/>
              </a:rPr>
              <a:t>Component</a:t>
            </a:r>
            <a:endParaRPr lang="en-US" sz="11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049040" name="TextBox 12"/>
          <p:cNvSpPr txBox="1"/>
          <p:nvPr/>
        </p:nvSpPr>
        <p:spPr>
          <a:xfrm>
            <a:off x="5023709" y="278367"/>
            <a:ext cx="2030279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latin typeface="Bahnschrift" panose="020B0502040204020203" pitchFamily="34" charset="0"/>
              </a:rPr>
              <a:t>Store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[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Data</a:t>
            </a:r>
            <a:r>
              <a:rPr lang="en-US" dirty="0">
                <a:latin typeface="Bahnschrift" panose="020B0502040204020203" pitchFamily="34" charset="0"/>
              </a:rPr>
              <a:t>]</a:t>
            </a:r>
            <a:endParaRPr lang="en-US" dirty="0">
              <a:latin typeface="Bahnschrift" panose="020B0502040204020203" pitchFamily="34" charset="0"/>
            </a:endParaRPr>
          </a:p>
        </p:txBody>
      </p:sp>
      <p:cxnSp>
        <p:nvCxnSpPr>
          <p:cNvPr id="3145778" name="Straight Arrow Connector 15"/>
          <p:cNvCxnSpPr/>
          <p:nvPr/>
        </p:nvCxnSpPr>
        <p:spPr>
          <a:xfrm flipH="1" flipV="1">
            <a:off x="7053988" y="1362075"/>
            <a:ext cx="1951899" cy="26669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9041" name="TextBox 16"/>
          <p:cNvSpPr txBox="1"/>
          <p:nvPr/>
        </p:nvSpPr>
        <p:spPr>
          <a:xfrm rot="3127100">
            <a:off x="7865451" y="2510908"/>
            <a:ext cx="975949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latin typeface="Bahnschrift" panose="020B0502040204020203" pitchFamily="34" charset="0"/>
              </a:rPr>
              <a:t>Action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049042" name="TextBox 22"/>
          <p:cNvSpPr txBox="1"/>
          <p:nvPr/>
        </p:nvSpPr>
        <p:spPr>
          <a:xfrm>
            <a:off x="5318985" y="861654"/>
            <a:ext cx="2030279" cy="30777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400" dirty="0">
                <a:solidFill>
                  <a:srgbClr val="C00000"/>
                </a:solidFill>
                <a:latin typeface="Bahnschrift" panose="020B0502040204020203" pitchFamily="34" charset="0"/>
              </a:rPr>
              <a:t>change</a:t>
            </a:r>
            <a:endParaRPr lang="en-US" sz="1400" dirty="0">
              <a:solidFill>
                <a:srgbClr val="C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049043" name="Freeform 4"/>
          <p:cNvSpPr/>
          <p:nvPr/>
        </p:nvSpPr>
        <p:spPr>
          <a:xfrm rot="7041367" flipH="1">
            <a:off x="5382152" y="725993"/>
            <a:ext cx="475195" cy="1050993"/>
          </a:xfrm>
          <a:custGeom>
            <a:avLst/>
            <a:gdLst/>
            <a:ahLst/>
            <a:cxnLst/>
            <a:rect l="l" t="t" r="r" b="b"/>
            <a:pathLst>
              <a:path w="1308604" h="2080151">
                <a:moveTo>
                  <a:pt x="1308604" y="0"/>
                </a:moveTo>
                <a:lnTo>
                  <a:pt x="0" y="0"/>
                </a:lnTo>
                <a:lnTo>
                  <a:pt x="0" y="2080151"/>
                </a:lnTo>
                <a:lnTo>
                  <a:pt x="1308604" y="2080151"/>
                </a:lnTo>
                <a:lnTo>
                  <a:pt x="1308604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p>
            <a:endParaRPr lang="en-US" dirty="0"/>
          </a:p>
        </p:txBody>
      </p:sp>
      <p:cxnSp>
        <p:nvCxnSpPr>
          <p:cNvPr id="3145779" name="Straight Arrow Connector 33"/>
          <p:cNvCxnSpPr/>
          <p:nvPr/>
        </p:nvCxnSpPr>
        <p:spPr>
          <a:xfrm flipH="1">
            <a:off x="2947987" y="1485900"/>
            <a:ext cx="1683638" cy="254317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80" name="Straight Arrow Connector 35"/>
          <p:cNvCxnSpPr/>
          <p:nvPr/>
        </p:nvCxnSpPr>
        <p:spPr>
          <a:xfrm>
            <a:off x="4836764" y="1485900"/>
            <a:ext cx="130523" cy="254317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81" name="Straight Arrow Connector 37"/>
          <p:cNvCxnSpPr/>
          <p:nvPr/>
        </p:nvCxnSpPr>
        <p:spPr>
          <a:xfrm>
            <a:off x="5043839" y="1485900"/>
            <a:ext cx="1942748" cy="254317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9044" name="TextBox 41"/>
          <p:cNvSpPr txBox="1"/>
          <p:nvPr/>
        </p:nvSpPr>
        <p:spPr>
          <a:xfrm>
            <a:off x="3984934" y="2587109"/>
            <a:ext cx="2030279" cy="62483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latin typeface="Bahnschrift" panose="020B0502040204020203" pitchFamily="34" charset="0"/>
              </a:rPr>
              <a:t>Receive New Data</a:t>
            </a:r>
            <a:endParaRPr lang="en-US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9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4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49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49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4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4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4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49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041" grpId="0"/>
      <p:bldP spid="1049042" grpId="0"/>
      <p:bldP spid="1049043" grpId="0" animBg="1"/>
      <p:bldP spid="104904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85" name="Graphic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9172" y="5953084"/>
            <a:ext cx="586337" cy="620126"/>
          </a:xfrm>
          <a:prstGeom prst="rect">
            <a:avLst/>
          </a:prstGeom>
        </p:spPr>
      </p:pic>
      <p:sp>
        <p:nvSpPr>
          <p:cNvPr id="1049048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9049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32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9050" name="TextBox 12"/>
          <p:cNvSpPr txBox="1"/>
          <p:nvPr/>
        </p:nvSpPr>
        <p:spPr>
          <a:xfrm>
            <a:off x="5303407" y="894250"/>
            <a:ext cx="1729515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latin typeface="Bahnschrift" panose="020B0502040204020203" pitchFamily="34" charset="0"/>
              </a:rPr>
              <a:t>AppComponent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049051" name="Rectangle: Rounded Corners 1"/>
          <p:cNvSpPr/>
          <p:nvPr/>
        </p:nvSpPr>
        <p:spPr>
          <a:xfrm>
            <a:off x="3871912" y="709612"/>
            <a:ext cx="4448175" cy="4657725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9052" name="TextBox 3"/>
          <p:cNvSpPr txBox="1"/>
          <p:nvPr/>
        </p:nvSpPr>
        <p:spPr>
          <a:xfrm>
            <a:off x="4438650" y="1812696"/>
            <a:ext cx="1729515" cy="30777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400" dirty="0">
                <a:latin typeface="Bahnschrift" panose="020B0502040204020203" pitchFamily="34" charset="0"/>
              </a:rPr>
              <a:t>Component 1</a:t>
            </a:r>
            <a:endParaRPr lang="en-US" sz="1400" dirty="0">
              <a:latin typeface="Bahnschrift" panose="020B0502040204020203" pitchFamily="34" charset="0"/>
            </a:endParaRPr>
          </a:p>
        </p:txBody>
      </p:sp>
      <p:sp>
        <p:nvSpPr>
          <p:cNvPr id="1049053" name="TextBox 7"/>
          <p:cNvSpPr txBox="1"/>
          <p:nvPr/>
        </p:nvSpPr>
        <p:spPr>
          <a:xfrm>
            <a:off x="4471260" y="3572169"/>
            <a:ext cx="1729515" cy="30777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400" dirty="0">
                <a:latin typeface="Bahnschrift" panose="020B0502040204020203" pitchFamily="34" charset="0"/>
              </a:rPr>
              <a:t>Component 2</a:t>
            </a:r>
            <a:endParaRPr lang="en-US" sz="1400" dirty="0">
              <a:latin typeface="Bahnschrift" panose="020B0502040204020203" pitchFamily="34" charset="0"/>
            </a:endParaRPr>
          </a:p>
        </p:txBody>
      </p:sp>
      <p:sp>
        <p:nvSpPr>
          <p:cNvPr id="1049054" name="Rectangle: Rounded Corners 13"/>
          <p:cNvSpPr/>
          <p:nvPr/>
        </p:nvSpPr>
        <p:spPr>
          <a:xfrm>
            <a:off x="4438650" y="2101752"/>
            <a:ext cx="3524250" cy="103822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9055" name="Rectangle: Rounded Corners 14"/>
          <p:cNvSpPr/>
          <p:nvPr/>
        </p:nvSpPr>
        <p:spPr>
          <a:xfrm>
            <a:off x="4438650" y="3879946"/>
            <a:ext cx="3524250" cy="103822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9056" name="Hexagon 17"/>
          <p:cNvSpPr/>
          <p:nvPr/>
        </p:nvSpPr>
        <p:spPr>
          <a:xfrm>
            <a:off x="5948362" y="2403267"/>
            <a:ext cx="504825" cy="435194"/>
          </a:xfrm>
          <a:prstGeom prst="hexagon">
            <a:avLst/>
          </a:prstGeom>
          <a:solidFill>
            <a:srgbClr val="F2B8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100" b="1" dirty="0">
                <a:solidFill>
                  <a:schemeClr val="tx1"/>
                </a:solidFill>
                <a:latin typeface="Bahnschrift" panose="020B0502040204020203" pitchFamily="34" charset="0"/>
              </a:rPr>
              <a:t>0</a:t>
            </a:r>
            <a:endParaRPr lang="en-US" sz="11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049057" name="Rectangle: Rounded Corners 19"/>
          <p:cNvSpPr/>
          <p:nvPr/>
        </p:nvSpPr>
        <p:spPr>
          <a:xfrm>
            <a:off x="5505450" y="4256328"/>
            <a:ext cx="442912" cy="30509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/>
              <a:t>+</a:t>
            </a:r>
            <a:endParaRPr lang="en-US" dirty="0"/>
          </a:p>
        </p:txBody>
      </p:sp>
      <p:sp>
        <p:nvSpPr>
          <p:cNvPr id="1049058" name="Rectangle: Rounded Corners 20"/>
          <p:cNvSpPr/>
          <p:nvPr/>
        </p:nvSpPr>
        <p:spPr>
          <a:xfrm>
            <a:off x="6503193" y="4256328"/>
            <a:ext cx="442912" cy="305090"/>
          </a:xfrm>
          <a:prstGeom prst="roundRect">
            <a:avLst/>
          </a:prstGeom>
          <a:solidFill>
            <a:srgbClr val="C0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/>
              <a:t>-</a:t>
            </a:r>
            <a:endParaRPr 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86" name="Graphic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9172" y="5953084"/>
            <a:ext cx="586337" cy="620126"/>
          </a:xfrm>
          <a:prstGeom prst="rect">
            <a:avLst/>
          </a:prstGeom>
        </p:spPr>
      </p:pic>
      <p:sp>
        <p:nvSpPr>
          <p:cNvPr id="1049062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9063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33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87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638" y="474194"/>
            <a:ext cx="3952245" cy="1921533"/>
          </a:xfrm>
          <a:prstGeom prst="rect">
            <a:avLst/>
          </a:prstGeom>
        </p:spPr>
      </p:pic>
      <p:sp>
        <p:nvSpPr>
          <p:cNvPr id="1049064" name="TextBox 11"/>
          <p:cNvSpPr txBox="1"/>
          <p:nvPr/>
        </p:nvSpPr>
        <p:spPr>
          <a:xfrm>
            <a:off x="2447453" y="134346"/>
            <a:ext cx="706614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latin typeface="Bahnschrift" panose="020B0502040204020203" pitchFamily="34" charset="0"/>
              </a:rPr>
              <a:t>Store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pic>
        <p:nvPicPr>
          <p:cNvPr id="2097288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238" y="473103"/>
            <a:ext cx="4421124" cy="1921330"/>
          </a:xfrm>
          <a:prstGeom prst="rect">
            <a:avLst/>
          </a:prstGeom>
        </p:spPr>
      </p:pic>
      <p:sp>
        <p:nvSpPr>
          <p:cNvPr id="1049065" name="TextBox 18"/>
          <p:cNvSpPr txBox="1"/>
          <p:nvPr/>
        </p:nvSpPr>
        <p:spPr>
          <a:xfrm>
            <a:off x="8803492" y="134346"/>
            <a:ext cx="1611523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latin typeface="Bahnschrift" panose="020B0502040204020203" pitchFamily="34" charset="0"/>
              </a:rPr>
              <a:t>app.config.ts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pic>
        <p:nvPicPr>
          <p:cNvPr id="2097289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149" y="2488919"/>
            <a:ext cx="2758059" cy="1793140"/>
          </a:xfrm>
          <a:prstGeom prst="rect">
            <a:avLst/>
          </a:prstGeom>
        </p:spPr>
      </p:pic>
      <p:sp>
        <p:nvSpPr>
          <p:cNvPr id="1049066" name="TextBox 25"/>
          <p:cNvSpPr txBox="1"/>
          <p:nvPr/>
        </p:nvSpPr>
        <p:spPr>
          <a:xfrm>
            <a:off x="5563007" y="2150365"/>
            <a:ext cx="874342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latin typeface="Bahnschrift" panose="020B0502040204020203" pitchFamily="34" charset="0"/>
              </a:rPr>
              <a:t>Actions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pic>
        <p:nvPicPr>
          <p:cNvPr id="2097290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638" y="3454747"/>
            <a:ext cx="3496312" cy="2342889"/>
          </a:xfrm>
          <a:prstGeom prst="rect">
            <a:avLst/>
          </a:prstGeom>
        </p:spPr>
      </p:pic>
      <p:sp>
        <p:nvSpPr>
          <p:cNvPr id="1049067" name="TextBox 29"/>
          <p:cNvSpPr txBox="1"/>
          <p:nvPr/>
        </p:nvSpPr>
        <p:spPr>
          <a:xfrm>
            <a:off x="1785838" y="2869972"/>
            <a:ext cx="1573911" cy="5847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sz="1600" dirty="0">
                <a:latin typeface="Bahnschrift" panose="020B0502040204020203" pitchFamily="34" charset="0"/>
              </a:rPr>
              <a:t>Component </a:t>
            </a:r>
            <a:r>
              <a:rPr lang="en-US" sz="1600" dirty="0">
                <a:solidFill>
                  <a:srgbClr val="C00000"/>
                </a:solidFill>
                <a:latin typeface="Bahnschrift" panose="020B0502040204020203" pitchFamily="34" charset="0"/>
              </a:rPr>
              <a:t>(Sender)</a:t>
            </a:r>
            <a:endParaRPr lang="en-US" sz="1600" dirty="0">
              <a:solidFill>
                <a:srgbClr val="C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049068" name="TextBox 30"/>
          <p:cNvSpPr txBox="1"/>
          <p:nvPr/>
        </p:nvSpPr>
        <p:spPr>
          <a:xfrm>
            <a:off x="8758288" y="2869971"/>
            <a:ext cx="1573911" cy="5847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sz="1600" dirty="0">
                <a:latin typeface="Bahnschrift" panose="020B0502040204020203" pitchFamily="34" charset="0"/>
              </a:rPr>
              <a:t>Component </a:t>
            </a:r>
            <a:r>
              <a:rPr lang="en-US" sz="1600" dirty="0">
                <a:solidFill>
                  <a:srgbClr val="C00000"/>
                </a:solidFill>
                <a:latin typeface="Bahnschrift" panose="020B0502040204020203" pitchFamily="34" charset="0"/>
              </a:rPr>
              <a:t>(Consumer)</a:t>
            </a:r>
            <a:endParaRPr lang="en-US" sz="1600" dirty="0">
              <a:solidFill>
                <a:srgbClr val="C00000"/>
              </a:solidFill>
              <a:latin typeface="Bahnschrift" panose="020B0502040204020203" pitchFamily="34" charset="0"/>
            </a:endParaRPr>
          </a:p>
        </p:txBody>
      </p:sp>
      <p:pic>
        <p:nvPicPr>
          <p:cNvPr id="2097291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1613" y="3460655"/>
            <a:ext cx="3667262" cy="2336981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92" name="Graphic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9172" y="5953084"/>
            <a:ext cx="586337" cy="620126"/>
          </a:xfrm>
          <a:prstGeom prst="rect">
            <a:avLst/>
          </a:prstGeom>
        </p:spPr>
      </p:pic>
      <p:sp>
        <p:nvSpPr>
          <p:cNvPr id="1049072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NGRX [ </a:t>
            </a:r>
            <a:r>
              <a:rPr lang="en-US" sz="3200" dirty="0">
                <a:solidFill>
                  <a:srgbClr val="00B0F0"/>
                </a:solidFill>
                <a:latin typeface="Bahnschrift" panose="020B0502040204020203" pitchFamily="34" charset="0"/>
              </a:rPr>
              <a:t>SELECTORS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]</a:t>
            </a:r>
            <a:endParaRPr lang="en-US" sz="3200" dirty="0">
              <a:latin typeface="Google Sans"/>
            </a:endParaRPr>
          </a:p>
        </p:txBody>
      </p:sp>
      <p:sp>
        <p:nvSpPr>
          <p:cNvPr id="1049073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9074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34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9075" name="Rectangle: Rounded Corners 1"/>
          <p:cNvSpPr/>
          <p:nvPr/>
        </p:nvSpPr>
        <p:spPr>
          <a:xfrm>
            <a:off x="152400" y="3429000"/>
            <a:ext cx="6267450" cy="12128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Let </a:t>
            </a:r>
            <a:r>
              <a:rPr lang="en-US" dirty="0">
                <a:solidFill>
                  <a:srgbClr val="C00000"/>
                </a:solidFill>
                <a:latin typeface="Bahnschrift" panose="020B0502040204020203" pitchFamily="34" charset="0"/>
              </a:rPr>
              <a:t>reducer1Sel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= CreateFeatureSelector&lt;&gt;(‘reducer1’)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US" b="1" dirty="0">
                <a:solidFill>
                  <a:srgbClr val="AF3EC6"/>
                </a:solidFill>
                <a:latin typeface="Bahnschrift" panose="020B0502040204020203" pitchFamily="34" charset="0"/>
              </a:rPr>
              <a:t>export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let </a:t>
            </a:r>
            <a:r>
              <a:rPr lang="en-US" dirty="0">
                <a:solidFill>
                  <a:srgbClr val="0070C0"/>
                </a:solidFill>
                <a:latin typeface="Bahnschrift" panose="020B0502040204020203" pitchFamily="34" charset="0"/>
              </a:rPr>
              <a:t>CounterSelector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= CreateSelector(</a:t>
            </a:r>
            <a:r>
              <a:rPr lang="en-US" dirty="0">
                <a:solidFill>
                  <a:srgbClr val="C00000"/>
                </a:solidFill>
                <a:latin typeface="Bahnschrift" panose="020B0502040204020203" pitchFamily="34" charset="0"/>
              </a:rPr>
              <a:t>reducer1Sel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)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049076" name="Rectangle: Rounded Corners 2"/>
          <p:cNvSpPr/>
          <p:nvPr/>
        </p:nvSpPr>
        <p:spPr>
          <a:xfrm>
            <a:off x="6526530" y="2682240"/>
            <a:ext cx="5308979" cy="263705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Counter:number = 0;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Constructor(store:Store){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 this.store.select(</a:t>
            </a:r>
            <a:r>
              <a:rPr lang="en-US" dirty="0">
                <a:solidFill>
                  <a:srgbClr val="0070C0"/>
                </a:solidFill>
                <a:latin typeface="Bahnschrift" panose="020B0502040204020203" pitchFamily="34" charset="0"/>
              </a:rPr>
              <a:t>CounterSelector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).subscribe({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                  next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:(data)=&gt;{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                        this.counter = data;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                    }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      })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}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049077" name="TextBox 4"/>
          <p:cNvSpPr txBox="1"/>
          <p:nvPr/>
        </p:nvSpPr>
        <p:spPr>
          <a:xfrm>
            <a:off x="1156305" y="1162187"/>
            <a:ext cx="6631335" cy="400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2000" dirty="0">
                <a:latin typeface="Bahnschrift" panose="020B0502040204020203" pitchFamily="34" charset="0"/>
              </a:rPr>
              <a:t>Use Part of state at Consumer Component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049078" name="TextBox 7"/>
          <p:cNvSpPr txBox="1"/>
          <p:nvPr/>
        </p:nvSpPr>
        <p:spPr>
          <a:xfrm>
            <a:off x="2436054" y="2967335"/>
            <a:ext cx="1700142" cy="4616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2400" dirty="0">
                <a:latin typeface="Bahnschrift" panose="020B0502040204020203" pitchFamily="34" charset="0"/>
              </a:rPr>
              <a:t>Selector.ts</a:t>
            </a:r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1049079" name="TextBox 13"/>
          <p:cNvSpPr txBox="1"/>
          <p:nvPr/>
        </p:nvSpPr>
        <p:spPr>
          <a:xfrm>
            <a:off x="608874" y="2231637"/>
            <a:ext cx="3606959" cy="400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2000" dirty="0">
                <a:latin typeface="Bahnschrift" panose="020B0502040204020203" pitchFamily="34" charset="0"/>
              </a:rPr>
              <a:t>State = {c:0, username:’  ‘ }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049080" name="TextBox 16"/>
          <p:cNvSpPr txBox="1"/>
          <p:nvPr/>
        </p:nvSpPr>
        <p:spPr>
          <a:xfrm>
            <a:off x="7428738" y="2200860"/>
            <a:ext cx="3504561" cy="4616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2400" dirty="0">
                <a:latin typeface="Bahnschrift" panose="020B0502040204020203" pitchFamily="34" charset="0"/>
              </a:rPr>
              <a:t>Consumer Component</a:t>
            </a:r>
            <a:endParaRPr lang="en-US" sz="2400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93" name="Graphic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9172" y="5953084"/>
            <a:ext cx="586337" cy="620126"/>
          </a:xfrm>
          <a:prstGeom prst="rect">
            <a:avLst/>
          </a:prstGeom>
        </p:spPr>
      </p:pic>
      <p:sp>
        <p:nvSpPr>
          <p:cNvPr id="1049084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9085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35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9086" name="TextBox 12"/>
          <p:cNvSpPr txBox="1"/>
          <p:nvPr/>
        </p:nvSpPr>
        <p:spPr>
          <a:xfrm>
            <a:off x="4360432" y="714545"/>
            <a:ext cx="1905113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latin typeface="Bahnschrift" panose="020B0502040204020203" pitchFamily="34" charset="0"/>
              </a:rPr>
              <a:t>AppComponent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049087" name="Rectangle: Rounded Corners 1"/>
          <p:cNvSpPr/>
          <p:nvPr/>
        </p:nvSpPr>
        <p:spPr>
          <a:xfrm>
            <a:off x="2928620" y="529590"/>
            <a:ext cx="8320405" cy="4657725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9088" name="TextBox 3"/>
          <p:cNvSpPr txBox="1"/>
          <p:nvPr/>
        </p:nvSpPr>
        <p:spPr>
          <a:xfrm>
            <a:off x="3423508" y="1258720"/>
            <a:ext cx="1729515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latin typeface="Bahnschrift" panose="020B0502040204020203" pitchFamily="34" charset="0"/>
              </a:rPr>
              <a:t>Component 1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049089" name="Rectangle: Rounded Corners 13"/>
          <p:cNvSpPr/>
          <p:nvPr/>
        </p:nvSpPr>
        <p:spPr>
          <a:xfrm>
            <a:off x="3232784" y="1624061"/>
            <a:ext cx="3840480" cy="32504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aphicFrame>
        <p:nvGraphicFramePr>
          <p:cNvPr id="4194307" name="Table 2"/>
          <p:cNvGraphicFramePr>
            <a:graphicFrameLocks noGrp="1"/>
          </p:cNvGraphicFramePr>
          <p:nvPr/>
        </p:nvGraphicFramePr>
        <p:xfrm>
          <a:off x="3450066" y="2137459"/>
          <a:ext cx="3405915" cy="22700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5305"/>
                <a:gridCol w="1135305"/>
                <a:gridCol w="1135305"/>
              </a:tblGrid>
              <a:tr h="380316">
                <a:tc>
                  <a:txBody>
                    <a:bodyPr/>
                    <a:p>
                      <a:pPr algn="ctr"/>
                      <a:r>
                        <a:rPr lang="en-US" b="1" dirty="0"/>
                        <a:t>Name</a:t>
                      </a:r>
                      <a:endParaRPr 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b="1" dirty="0"/>
                        <a:t>Email</a:t>
                      </a:r>
                      <a:endParaRPr 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b="1" dirty="0"/>
                        <a:t>Phone</a:t>
                      </a:r>
                      <a:endParaRPr 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1889760">
                <a:tc>
                  <a:txBody>
                    <a:bodyPr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49090" name="TextBox 4"/>
          <p:cNvSpPr txBox="1"/>
          <p:nvPr/>
        </p:nvSpPr>
        <p:spPr>
          <a:xfrm>
            <a:off x="608874" y="1422632"/>
            <a:ext cx="2959190" cy="8915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latin typeface="Bahnschrift" panose="020B0502040204020203" pitchFamily="34" charset="0"/>
              </a:rPr>
              <a:t>1- Start To Call API</a:t>
            </a:r>
            <a:endParaRPr lang="en-US" dirty="0">
              <a:latin typeface="Bahnschrift" panose="020B0502040204020203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2- Success</a:t>
            </a:r>
            <a:endParaRPr lang="en-US" dirty="0">
              <a:latin typeface="Bahnschrift" panose="020B0502040204020203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3- Fail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" name="Rectangle 0"/>
          <p:cNvSpPr/>
          <p:nvPr/>
        </p:nvSpPr>
        <p:spPr>
          <a:xfrm>
            <a:off x="7509510" y="1628775"/>
            <a:ext cx="3549015" cy="31032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7783830" y="1851660"/>
            <a:ext cx="3008630" cy="488950"/>
          </a:xfrm>
          <a:prstGeom prst="roundRect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7783830" y="2614295"/>
            <a:ext cx="3008630" cy="488950"/>
          </a:xfrm>
          <a:prstGeom prst="roundRect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7783830" y="3435985"/>
            <a:ext cx="3008630" cy="488950"/>
          </a:xfrm>
          <a:prstGeom prst="roundRect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8658225" y="4183380"/>
            <a:ext cx="1285875" cy="32575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7633970" y="12858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Component 2</a:t>
            </a:r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62E32"/>
            </a:gs>
            <a:gs pos="100000">
              <a:srgbClr val="425259"/>
            </a:gs>
          </a:gsLst>
          <a:lin ang="5400000" scaled="1"/>
        </a:gradFill>
        <a:effectLst/>
      </p:bgPr>
    </p:bg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4" name="Title 1"/>
          <p:cNvSpPr>
            <a:spLocks noGrp="1"/>
          </p:cNvSpPr>
          <p:nvPr>
            <p:ph type="ctrTitle"/>
          </p:nvPr>
        </p:nvSpPr>
        <p:spPr>
          <a:xfrm>
            <a:off x="1524000" y="1781593"/>
            <a:ext cx="9144000" cy="896993"/>
          </a:xfrm>
        </p:spPr>
        <p:txBody>
          <a:bodyPr>
            <a:normAutofit fontScale="98333"/>
          </a:bodyPr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Thank You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049095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p>
            <a:endParaRPr lang="en-US"/>
          </a:p>
        </p:txBody>
      </p:sp>
      <p:pic>
        <p:nvPicPr>
          <p:cNvPr id="2097294" name="Graphic 8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55" y="3009855"/>
            <a:ext cx="1143090" cy="1143090"/>
          </a:xfrm>
          <a:prstGeom prst="rect">
            <a:avLst/>
          </a:prstGeom>
        </p:spPr>
      </p:pic>
      <p:sp>
        <p:nvSpPr>
          <p:cNvPr id="1049096" name="Title 1"/>
          <p:cNvSpPr txBox="1"/>
          <p:nvPr/>
        </p:nvSpPr>
        <p:spPr>
          <a:xfrm>
            <a:off x="1524000" y="4198204"/>
            <a:ext cx="9144000" cy="4708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mahmoudabdelazizibrahim11@gmail.com</a:t>
            </a:r>
            <a:endParaRPr lang="en-US" sz="20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049097" name="Freeform 3"/>
          <p:cNvSpPr/>
          <p:nvPr/>
        </p:nvSpPr>
        <p:spPr>
          <a:xfrm rot="16200000">
            <a:off x="-2480729" y="2766182"/>
            <a:ext cx="6858003" cy="1325636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</p:sp>
      <p:sp>
        <p:nvSpPr>
          <p:cNvPr id="1049098" name="Freeform 3"/>
          <p:cNvSpPr/>
          <p:nvPr/>
        </p:nvSpPr>
        <p:spPr>
          <a:xfrm rot="16200000">
            <a:off x="7901817" y="2766181"/>
            <a:ext cx="6858003" cy="1325636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4784</Words>
  <Application>WPS Presentation</Application>
  <PresentationFormat/>
  <Paragraphs>772</Paragraphs>
  <Slides>65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65</vt:i4>
      </vt:variant>
    </vt:vector>
  </HeadingPairs>
  <TitlesOfParts>
    <vt:vector size="85" baseType="lpstr">
      <vt:lpstr>Arial</vt:lpstr>
      <vt:lpstr>SimSun</vt:lpstr>
      <vt:lpstr>Wingdings</vt:lpstr>
      <vt:lpstr>Bahnschrift</vt:lpstr>
      <vt:lpstr>Google Sans</vt:lpstr>
      <vt:lpstr>Segoe Print</vt:lpstr>
      <vt:lpstr>GulimChe</vt:lpstr>
      <vt:lpstr>Cavolini</vt:lpstr>
      <vt:lpstr>Another Shabby Light</vt:lpstr>
      <vt:lpstr>Segoe UI Symbol</vt:lpstr>
      <vt:lpstr>Arial Rounded MT Bold</vt:lpstr>
      <vt:lpstr>Aptos Display</vt:lpstr>
      <vt:lpstr>Segoe UI</vt:lpstr>
      <vt:lpstr>Aptos</vt:lpstr>
      <vt:lpstr>Microsoft YaHei</vt:lpstr>
      <vt:lpstr>Arial Unicode MS</vt:lpstr>
      <vt:lpstr>Malgun Gothic</vt:lpstr>
      <vt:lpstr>Aptos</vt:lpstr>
      <vt:lpstr>Office Theme</vt:lpstr>
      <vt:lpstr>1_Office Theme</vt:lpstr>
      <vt:lpstr>RXJS &amp; NGRX</vt:lpstr>
      <vt:lpstr>Day 01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Day 02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NGRX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RXJS &amp; NGRX</dc:title>
  <dc:creator>20912019100144</dc:creator>
  <cp:lastModifiedBy>omar waled</cp:lastModifiedBy>
  <cp:revision>2</cp:revision>
  <dcterms:created xsi:type="dcterms:W3CDTF">2026-06-27T07:04:00Z</dcterms:created>
  <dcterms:modified xsi:type="dcterms:W3CDTF">2026-06-28T11:08:42Z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0x01010046F5B4DD5A77594DBA6296573A3F43BF</vt:lpwstr>
  </property>
  <property fmtid="{D5CDD505-2E9C-101B-9397-08002B2CF9AE}" pid="3" name="ICV">
    <vt:lpwstr>6d3368f9aa914de595598f82baeda052</vt:lpwstr>
  </property>
  <property fmtid="{D5CDD505-2E9C-101B-9397-08002B2CF9AE}" pid="4" name="KSOProductBuildVer">
    <vt:lpwstr>1033-12.1.0.26880</vt:lpwstr>
  </property>
</Properties>
</file>