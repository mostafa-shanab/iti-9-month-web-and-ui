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318" r:id="rId32"/>
    <p:sldId id="319" r:id="rId33"/>
    <p:sldId id="286" r:id="rId34"/>
    <p:sldId id="287" r:id="rId35"/>
    <p:sldId id="316" r:id="rId36"/>
    <p:sldId id="294" r:id="rId37"/>
    <p:sldId id="317" r:id="rId39"/>
    <p:sldId id="288" r:id="rId40"/>
    <p:sldId id="289" r:id="rId41"/>
    <p:sldId id="290" r:id="rId42"/>
    <p:sldId id="291" r:id="rId43"/>
    <p:sldId id="292" r:id="rId44"/>
    <p:sldId id="293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2000" cy="68580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AF3EC6"/>
    <a:srgbClr val="C00000"/>
    <a:srgbClr val="F2B800"/>
    <a:srgbClr val="AC0000"/>
    <a:srgbClr val="F6DEF3"/>
    <a:srgbClr val="DCA8E6"/>
    <a:srgbClr val="2B2B2B"/>
    <a:srgbClr val="DEA900"/>
    <a:srgbClr val="FFF3CD"/>
    <a:srgbClr val="FFED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6.xml"/><Relationship Id="rId26" Type="http://schemas.openxmlformats.org/officeDocument/2006/relationships/slide" Target="slides/slide24.xml"/><Relationship Id="rId18" Type="http://schemas.openxmlformats.org/officeDocument/2006/relationships/slide" Target="slides/slide16.xml"/><Relationship Id="rId13" Type="http://schemas.openxmlformats.org/officeDocument/2006/relationships/slide" Target="slides/slide11.xml"/><Relationship Id="rId55" Type="http://schemas.openxmlformats.org/officeDocument/2006/relationships/slide" Target="slides/slide52.xml"/><Relationship Id="rId50" Type="http://schemas.openxmlformats.org/officeDocument/2006/relationships/slide" Target="slides/slide47.xml"/><Relationship Id="rId47" Type="http://schemas.openxmlformats.org/officeDocument/2006/relationships/slide" Target="slides/slide44.xml"/><Relationship Id="rId42" Type="http://schemas.openxmlformats.org/officeDocument/2006/relationships/slide" Target="slides/slide39.xml"/><Relationship Id="rId34" Type="http://schemas.openxmlformats.org/officeDocument/2006/relationships/slide" Target="slides/slide32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29" Type="http://schemas.openxmlformats.org/officeDocument/2006/relationships/slide" Target="slides/slide27.xml"/><Relationship Id="rId2" Type="http://schemas.openxmlformats.org/officeDocument/2006/relationships/theme" Target="theme/theme1.xml"/><Relationship Id="rId16" Type="http://schemas.openxmlformats.org/officeDocument/2006/relationships/slide" Target="slides/slide14.xml"/><Relationship Id="rId58" Type="http://schemas.openxmlformats.org/officeDocument/2006/relationships/viewProps" Target="viewProps.xml"/><Relationship Id="rId53" Type="http://schemas.openxmlformats.org/officeDocument/2006/relationships/slide" Target="slides/slide50.xml"/><Relationship Id="rId45" Type="http://schemas.openxmlformats.org/officeDocument/2006/relationships/slide" Target="slides/slide42.xml"/><Relationship Id="rId40" Type="http://schemas.openxmlformats.org/officeDocument/2006/relationships/slide" Target="slides/slide37.xml"/><Relationship Id="rId37" Type="http://schemas.openxmlformats.org/officeDocument/2006/relationships/slide" Target="slides/slide35.xml"/><Relationship Id="rId32" Type="http://schemas.openxmlformats.org/officeDocument/2006/relationships/slide" Target="slides/slide30.xml"/><Relationship Id="rId24" Type="http://schemas.openxmlformats.org/officeDocument/2006/relationships/slide" Target="slides/slide22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61" Type="http://schemas.openxmlformats.org/officeDocument/2006/relationships/customXml" Target="../customXml/item2.xml"/><Relationship Id="rId19" Type="http://schemas.openxmlformats.org/officeDocument/2006/relationships/slide" Target="slides/slide17.xml"/><Relationship Id="rId56" Type="http://schemas.openxmlformats.org/officeDocument/2006/relationships/slide" Target="slides/slide53.xml"/><Relationship Id="rId48" Type="http://schemas.openxmlformats.org/officeDocument/2006/relationships/slide" Target="slides/slide45.xml"/><Relationship Id="rId43" Type="http://schemas.openxmlformats.org/officeDocument/2006/relationships/slide" Target="slides/slide40.xml"/><Relationship Id="rId35" Type="http://schemas.openxmlformats.org/officeDocument/2006/relationships/slide" Target="slides/slide33.xml"/><Relationship Id="rId30" Type="http://schemas.openxmlformats.org/officeDocument/2006/relationships/slide" Target="slides/slide28.xml"/><Relationship Id="rId27" Type="http://schemas.openxmlformats.org/officeDocument/2006/relationships/slide" Target="slides/slide25.xml"/><Relationship Id="rId22" Type="http://schemas.openxmlformats.org/officeDocument/2006/relationships/slide" Target="slides/slide20.xml"/><Relationship Id="rId14" Type="http://schemas.openxmlformats.org/officeDocument/2006/relationships/slide" Target="slides/slide12.xml"/><Relationship Id="rId8" Type="http://schemas.openxmlformats.org/officeDocument/2006/relationships/slide" Target="slides/slide6.xml"/><Relationship Id="rId51" Type="http://schemas.openxmlformats.org/officeDocument/2006/relationships/slide" Target="slides/slide48.xml"/><Relationship Id="rId3" Type="http://schemas.openxmlformats.org/officeDocument/2006/relationships/slide" Target="slides/slide1.xml"/><Relationship Id="rId59" Type="http://schemas.openxmlformats.org/officeDocument/2006/relationships/tableStyles" Target="tableStyles.xml"/><Relationship Id="rId46" Type="http://schemas.openxmlformats.org/officeDocument/2006/relationships/slide" Target="slides/slide43.xml"/><Relationship Id="rId38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25" Type="http://schemas.openxmlformats.org/officeDocument/2006/relationships/slide" Target="slides/slide23.xml"/><Relationship Id="rId17" Type="http://schemas.openxmlformats.org/officeDocument/2006/relationships/slide" Target="slides/slide15.xml"/><Relationship Id="rId12" Type="http://schemas.openxmlformats.org/officeDocument/2006/relationships/slide" Target="slides/slide10.xml"/><Relationship Id="rId54" Type="http://schemas.openxmlformats.org/officeDocument/2006/relationships/slide" Target="slides/slide51.xml"/><Relationship Id="rId41" Type="http://schemas.openxmlformats.org/officeDocument/2006/relationships/slide" Target="slides/slide38.xml"/><Relationship Id="rId20" Type="http://schemas.openxmlformats.org/officeDocument/2006/relationships/slide" Target="slides/slide18.xml"/><Relationship Id="rId62" Type="http://schemas.openxmlformats.org/officeDocument/2006/relationships/customXml" Target="../customXml/item3.xml"/><Relationship Id="rId6" Type="http://schemas.openxmlformats.org/officeDocument/2006/relationships/slide" Target="slides/slide4.xml"/><Relationship Id="rId1" Type="http://schemas.openxmlformats.org/officeDocument/2006/relationships/slideMaster" Target="slideMasters/slideMaster1.xml"/><Relationship Id="rId57" Type="http://schemas.openxmlformats.org/officeDocument/2006/relationships/presProps" Target="presProps.xml"/><Relationship Id="rId49" Type="http://schemas.openxmlformats.org/officeDocument/2006/relationships/slide" Target="slides/slide46.xml"/><Relationship Id="rId36" Type="http://schemas.openxmlformats.org/officeDocument/2006/relationships/slide" Target="slides/slide34.xml"/><Relationship Id="rId28" Type="http://schemas.openxmlformats.org/officeDocument/2006/relationships/slide" Target="slides/slide26.xml"/><Relationship Id="rId23" Type="http://schemas.openxmlformats.org/officeDocument/2006/relationships/slide" Target="slides/slide21.xml"/><Relationship Id="rId15" Type="http://schemas.openxmlformats.org/officeDocument/2006/relationships/slide" Target="slides/slide13.xml"/><Relationship Id="rId52" Type="http://schemas.openxmlformats.org/officeDocument/2006/relationships/slide" Target="slides/slide49.xml"/><Relationship Id="rId44" Type="http://schemas.openxmlformats.org/officeDocument/2006/relationships/slide" Target="slides/slide41.xml"/><Relationship Id="rId31" Type="http://schemas.openxmlformats.org/officeDocument/2006/relationships/slide" Target="slides/slide29.xml"/><Relationship Id="rId10" Type="http://schemas.openxmlformats.org/officeDocument/2006/relationships/slide" Target="slides/slide8.xml"/><Relationship Id="rId60" Type="http://schemas.openxmlformats.org/officeDocument/2006/relationships/customXml" Target="../customXml/item1.xml"/><Relationship Id="rId9" Type="http://schemas.openxmlformats.org/officeDocument/2006/relationships/slide" Target="slides/slide7.xml"/><Relationship Id="rId4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6T14:31: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0.000 1.000 24575,'0.000'0.000'-8191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6T14:31: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1.000 1.000 24575,'0.000'0.000'-8191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6T14:31: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0.000 1.000 24575,'0.000'0.000'-8191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87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EEB88-225B-4C9B-836B-EE08D8B1DD68}" type="datetimeFigureOut">
              <a:rPr lang="en-US" smtClean="0"/>
            </a:fld>
            <a:endParaRPr lang="en-US"/>
          </a:p>
        </p:txBody>
      </p:sp>
      <p:sp>
        <p:nvSpPr>
          <p:cNvPr id="104908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en-US"/>
          </a:p>
        </p:txBody>
      </p:sp>
      <p:sp>
        <p:nvSpPr>
          <p:cNvPr id="104908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09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9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90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1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917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94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95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6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96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8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981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9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99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900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1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9017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2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9027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C964914-9343-486A-84B2-3F25239F480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04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0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0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8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059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90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0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064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065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06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06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6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9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070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9071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07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9073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07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07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7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03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03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3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07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7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0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081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08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908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08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8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048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904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905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05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5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05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0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0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03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0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90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0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EDDC4-53F5-468D-83A3-CE0C19F9892E}" type="datetimeFigureOut">
              <a:rPr lang="en-US" smtClean="0"/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8CC273-B804-4B5D-AA92-B35C59761FC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9.png"/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image" Target="../media/image6.png"/><Relationship Id="rId2" Type="http://schemas.openxmlformats.org/officeDocument/2006/relationships/image" Target="../media/image24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Relationship Id="rId3" Type="http://schemas.openxmlformats.org/officeDocument/2006/relationships/image" Target="../media/image26.png"/><Relationship Id="rId2" Type="http://schemas.openxmlformats.org/officeDocument/2006/relationships/customXml" Target="../ink/ink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jpeg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jpe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jpe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jpe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jpe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jpe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0.jpe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jpe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2.jpe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3.jpe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4.jpe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5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6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3.jpeg"/><Relationship Id="rId3" Type="http://schemas.openxmlformats.org/officeDocument/2006/relationships/image" Target="../media/image52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4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4.png"/><Relationship Id="rId1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74.png"/><Relationship Id="rId1" Type="http://schemas.openxmlformats.org/officeDocument/2006/relationships/hyperlink" Target="http://www.linkedin.com/in/mahmoud-abdelaziz-11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Freeform 3"/>
          <p:cNvSpPr/>
          <p:nvPr/>
        </p:nvSpPr>
        <p:spPr>
          <a:xfrm rot="18900000">
            <a:off x="4445444" y="2389469"/>
            <a:ext cx="3533828" cy="1278603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8999"/>
            </a:blip>
            <a:stretch>
              <a:fillRect/>
            </a:stretch>
          </a:blipFill>
        </p:spPr>
      </p:sp>
      <p:sp>
        <p:nvSpPr>
          <p:cNvPr id="1048609" name="Title 1"/>
          <p:cNvSpPr>
            <a:spLocks noGrp="1"/>
          </p:cNvSpPr>
          <p:nvPr>
            <p:ph type="ctrTitle"/>
          </p:nvPr>
        </p:nvSpPr>
        <p:spPr>
          <a:xfrm>
            <a:off x="3776138" y="3006043"/>
            <a:ext cx="4504266" cy="896993"/>
          </a:xfrm>
        </p:spPr>
        <p:txBody>
          <a:bodyPr>
            <a:normAutofit fontScale="90000"/>
          </a:bodyPr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RXJS &amp; NGRX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8610" name="Subtitle 2"/>
          <p:cNvSpPr>
            <a:spLocks noGrp="1"/>
          </p:cNvSpPr>
          <p:nvPr>
            <p:ph type="subTitle" idx="1"/>
          </p:nvPr>
        </p:nvSpPr>
        <p:spPr>
          <a:xfrm>
            <a:off x="3679659" y="5406877"/>
            <a:ext cx="5065398" cy="422213"/>
          </a:xfrm>
        </p:spPr>
        <p:txBody>
          <a:bodyPr>
            <a:normAutofit fontScale="83333" lnSpcReduction="10000"/>
          </a:bodyPr>
          <a:p>
            <a:r>
              <a:rPr lang="en-US" dirty="0">
                <a:solidFill>
                  <a:srgbClr val="2B2B2B"/>
                </a:solidFill>
                <a:latin typeface="Bahnschrift" panose="020B0502040204020203" pitchFamily="34" charset="0"/>
              </a:rPr>
              <a:t>By : Mahmoud Abdelaziz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 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a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n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d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 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O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m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a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r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 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W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a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l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i</a:t>
            </a:r>
            <a:r>
              <a:rPr lang="en-US" altLang="en-GB" dirty="0">
                <a:solidFill>
                  <a:srgbClr val="2B2B2B"/>
                </a:solidFill>
                <a:latin typeface="Bahnschrift" panose="020B0502040204020203" pitchFamily="34" charset="0"/>
              </a:rPr>
              <a:t>d</a:t>
            </a:r>
            <a:endParaRPr lang="zh-CN" altLang="en-US"/>
          </a:p>
        </p:txBody>
      </p:sp>
      <p:sp>
        <p:nvSpPr>
          <p:cNvPr id="1048611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p>
            <a:endParaRPr lang="en-US"/>
          </a:p>
        </p:txBody>
      </p:sp>
      <p:pic>
        <p:nvPicPr>
          <p:cNvPr id="2097168" name="Graphic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071" y="800191"/>
            <a:ext cx="1766545" cy="1858739"/>
          </a:xfrm>
          <a:prstGeom prst="rect">
            <a:avLst/>
          </a:prstGeom>
        </p:spPr>
      </p:pic>
      <p:pic>
        <p:nvPicPr>
          <p:cNvPr id="2097169" name="Graphic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524" y="887347"/>
            <a:ext cx="1766544" cy="1868345"/>
          </a:xfrm>
          <a:prstGeom prst="rect">
            <a:avLst/>
          </a:prstGeom>
        </p:spPr>
      </p:pic>
      <p:sp>
        <p:nvSpPr>
          <p:cNvPr id="1048612" name="TextBox 14"/>
          <p:cNvSpPr txBox="1"/>
          <p:nvPr/>
        </p:nvSpPr>
        <p:spPr>
          <a:xfrm>
            <a:off x="2350370" y="4566344"/>
            <a:ext cx="8667819" cy="358141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Reactive Extensions Library for JavaScript &amp; 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Angular Reactive Extensions (Redux)</a:t>
            </a:r>
            <a:endParaRPr lang="en-US" dirty="0"/>
          </a:p>
        </p:txBody>
      </p:sp>
      <p:sp>
        <p:nvSpPr>
          <p:cNvPr id="1048613" name="Freeform 6"/>
          <p:cNvSpPr/>
          <p:nvPr/>
        </p:nvSpPr>
        <p:spPr>
          <a:xfrm rot="13500000">
            <a:off x="4543609" y="3751913"/>
            <a:ext cx="289686" cy="834174"/>
          </a:xfrm>
          <a:custGeom>
            <a:avLst/>
            <a:gdLst/>
            <a:ahLst/>
            <a:cxnLst/>
            <a:rect l="l" t="t" r="r" b="b"/>
            <a:pathLst>
              <a:path w="665118" h="1915261">
                <a:moveTo>
                  <a:pt x="0" y="0"/>
                </a:moveTo>
                <a:lnTo>
                  <a:pt x="665117" y="0"/>
                </a:lnTo>
                <a:lnTo>
                  <a:pt x="665117" y="1915260"/>
                </a:lnTo>
                <a:lnTo>
                  <a:pt x="0" y="1915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48614" name="Freeform 5"/>
          <p:cNvSpPr/>
          <p:nvPr/>
        </p:nvSpPr>
        <p:spPr>
          <a:xfrm rot="18367702" flipH="1">
            <a:off x="7559127" y="3768399"/>
            <a:ext cx="248228" cy="741986"/>
          </a:xfrm>
          <a:custGeom>
            <a:avLst/>
            <a:gdLst/>
            <a:ahLst/>
            <a:cxnLst/>
            <a:rect l="l" t="t" r="r" b="b"/>
            <a:pathLst>
              <a:path w="469811" h="1404327">
                <a:moveTo>
                  <a:pt x="469811" y="0"/>
                </a:moveTo>
                <a:lnTo>
                  <a:pt x="0" y="0"/>
                </a:lnTo>
                <a:lnTo>
                  <a:pt x="0" y="1404326"/>
                </a:lnTo>
                <a:lnTo>
                  <a:pt x="469811" y="1404326"/>
                </a:lnTo>
                <a:lnTo>
                  <a:pt x="469811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48615" name="Freeform 8"/>
          <p:cNvSpPr/>
          <p:nvPr/>
        </p:nvSpPr>
        <p:spPr>
          <a:xfrm rot="20917505" flipH="1">
            <a:off x="10245405" y="3836176"/>
            <a:ext cx="190661" cy="278892"/>
          </a:xfrm>
          <a:custGeom>
            <a:avLst/>
            <a:gdLst/>
            <a:ahLst/>
            <a:cxnLst/>
            <a:rect l="l" t="t" r="r" b="b"/>
            <a:pathLst>
              <a:path w="740886" h="1083743">
                <a:moveTo>
                  <a:pt x="740886" y="0"/>
                </a:moveTo>
                <a:lnTo>
                  <a:pt x="0" y="0"/>
                </a:lnTo>
                <a:lnTo>
                  <a:pt x="0" y="1083743"/>
                </a:lnTo>
                <a:lnTo>
                  <a:pt x="740886" y="1083743"/>
                </a:lnTo>
                <a:lnTo>
                  <a:pt x="740886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p>
            <a:r>
              <a:rPr lang="zh-CN" altLang="en-US"/>
              <a:t>
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6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86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486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486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48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48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03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Synchronous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</a:t>
            </a:r>
            <a:r>
              <a:rPr lang="en-US" sz="3200" dirty="0">
                <a:solidFill>
                  <a:srgbClr val="EE0000"/>
                </a:solidFill>
                <a:latin typeface="Bahnschrift" panose="020B0502040204020203" pitchFamily="34" charset="0"/>
              </a:rPr>
              <a:t>vs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Asynchronous</a:t>
            </a:r>
            <a:endParaRPr lang="en-US" sz="3200" dirty="0">
              <a:latin typeface="Google Sans"/>
            </a:endParaRPr>
          </a:p>
        </p:txBody>
      </p:sp>
      <p:sp>
        <p:nvSpPr>
          <p:cNvPr id="1048604" name="Oval 7"/>
          <p:cNvSpPr/>
          <p:nvPr/>
        </p:nvSpPr>
        <p:spPr>
          <a:xfrm>
            <a:off x="501985" y="6074244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605" name="TextBox 8"/>
          <p:cNvSpPr txBox="1"/>
          <p:nvPr/>
        </p:nvSpPr>
        <p:spPr>
          <a:xfrm>
            <a:off x="545671" y="6101652"/>
            <a:ext cx="325583" cy="358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1</a:t>
            </a:r>
            <a:endParaRPr lang="zh-CN" altLang="en-US"/>
          </a:p>
        </p:txBody>
      </p:sp>
      <p:pic>
        <p:nvPicPr>
          <p:cNvPr id="2097163" name="Picture 2097162"/>
          <p:cNvPicPr/>
          <p:nvPr/>
        </p:nvPicPr>
        <p:blipFill>
          <a:blip r:embed="rId2"/>
          <a:stretch>
            <a:fillRect/>
          </a:stretch>
        </p:blipFill>
        <p:spPr>
          <a:xfrm>
            <a:off x="1462655" y="1139914"/>
            <a:ext cx="9131224" cy="57180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598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Synchronous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</a:t>
            </a:r>
            <a:r>
              <a:rPr lang="en-US" sz="3200" dirty="0">
                <a:solidFill>
                  <a:srgbClr val="EE0000"/>
                </a:solidFill>
                <a:latin typeface="Bahnschrift" panose="020B0502040204020203" pitchFamily="34" charset="0"/>
              </a:rPr>
              <a:t>vs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Asynchronous</a:t>
            </a:r>
            <a:endParaRPr lang="en-US" sz="3200" dirty="0">
              <a:latin typeface="Google Sans"/>
            </a:endParaRPr>
          </a:p>
        </p:txBody>
      </p:sp>
      <p:pic>
        <p:nvPicPr>
          <p:cNvPr id="2097158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359" y="1230760"/>
            <a:ext cx="9333816" cy="4847272"/>
          </a:xfrm>
          <a:prstGeom prst="rect">
            <a:avLst/>
          </a:prstGeom>
        </p:spPr>
      </p:pic>
      <p:sp>
        <p:nvSpPr>
          <p:cNvPr id="1048599" name="Oval 7"/>
          <p:cNvSpPr/>
          <p:nvPr/>
        </p:nvSpPr>
        <p:spPr>
          <a:xfrm>
            <a:off x="341573" y="6051073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600" name="TextBox 8"/>
          <p:cNvSpPr txBox="1"/>
          <p:nvPr/>
        </p:nvSpPr>
        <p:spPr>
          <a:xfrm>
            <a:off x="393110" y="6078481"/>
            <a:ext cx="309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586" name="Rectangle: Rounded Corners 7"/>
          <p:cNvSpPr/>
          <p:nvPr/>
        </p:nvSpPr>
        <p:spPr>
          <a:xfrm>
            <a:off x="1669144" y="285452"/>
            <a:ext cx="869889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 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Introduction</a:t>
            </a:r>
            <a:endParaRPr lang="en-US" sz="3200" dirty="0">
              <a:latin typeface="Google Sans"/>
            </a:endParaRPr>
          </a:p>
        </p:txBody>
      </p:sp>
      <p:pic>
        <p:nvPicPr>
          <p:cNvPr id="2097153" name="Graphic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03" y="6081533"/>
            <a:ext cx="458164" cy="458164"/>
          </a:xfrm>
          <a:prstGeom prst="rect">
            <a:avLst/>
          </a:prstGeom>
        </p:spPr>
      </p:pic>
      <p:sp>
        <p:nvSpPr>
          <p:cNvPr id="1048587" name="TextBox 10"/>
          <p:cNvSpPr txBox="1"/>
          <p:nvPr/>
        </p:nvSpPr>
        <p:spPr>
          <a:xfrm>
            <a:off x="1436914" y="1117344"/>
            <a:ext cx="254483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400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Callback Hell:</a:t>
            </a:r>
            <a:endParaRPr lang="en-US" sz="2400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pic>
        <p:nvPicPr>
          <p:cNvPr id="2097154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876" y="1652322"/>
            <a:ext cx="8631162" cy="4516975"/>
          </a:xfrm>
          <a:prstGeom prst="rect">
            <a:avLst/>
          </a:prstGeom>
        </p:spPr>
      </p:pic>
      <p:sp>
        <p:nvSpPr>
          <p:cNvPr id="1048588" name="Isosceles Triangle 6"/>
          <p:cNvSpPr/>
          <p:nvPr/>
        </p:nvSpPr>
        <p:spPr>
          <a:xfrm rot="5400000">
            <a:off x="2115804" y="2937387"/>
            <a:ext cx="2546941" cy="2366208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Freeform 4"/>
          <p:cNvSpPr/>
          <p:nvPr/>
        </p:nvSpPr>
        <p:spPr>
          <a:xfrm rot="4352485" flipH="1">
            <a:off x="4421060" y="2220681"/>
            <a:ext cx="908483" cy="1746117"/>
          </a:xfrm>
          <a:custGeom>
            <a:avLst/>
            <a:gdLst/>
            <a:ahLst/>
            <a:cxnLst/>
            <a:rect l="l" t="t" r="r" b="b"/>
            <a:pathLst>
              <a:path w="1308604" h="2080151">
                <a:moveTo>
                  <a:pt x="1308604" y="0"/>
                </a:moveTo>
                <a:lnTo>
                  <a:pt x="0" y="0"/>
                </a:lnTo>
                <a:lnTo>
                  <a:pt x="0" y="2080151"/>
                </a:lnTo>
                <a:lnTo>
                  <a:pt x="1308604" y="2080151"/>
                </a:lnTo>
                <a:lnTo>
                  <a:pt x="1308604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>
            <a:endParaRPr lang="en-US" dirty="0"/>
          </a:p>
        </p:txBody>
      </p:sp>
      <p:sp>
        <p:nvSpPr>
          <p:cNvPr id="1048590" name="TextBox 10"/>
          <p:cNvSpPr txBox="1"/>
          <p:nvPr/>
        </p:nvSpPr>
        <p:spPr>
          <a:xfrm>
            <a:off x="5528177" y="1775324"/>
            <a:ext cx="147596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400" spc="178" dirty="0">
                <a:solidFill>
                  <a:srgbClr val="425259"/>
                </a:solidFill>
                <a:latin typeface="Cavolini" panose="020B0502040204020203" pitchFamily="66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Coding</a:t>
            </a:r>
            <a:endParaRPr lang="en-US" sz="2400" spc="178" dirty="0">
              <a:solidFill>
                <a:srgbClr val="425259"/>
              </a:solidFill>
              <a:latin typeface="Cavolini" panose="020B0502040204020203" pitchFamily="66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pic>
        <p:nvPicPr>
          <p:cNvPr id="2097155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591" name="Rectangle: Rounded Corners 7"/>
          <p:cNvSpPr/>
          <p:nvPr/>
        </p:nvSpPr>
        <p:spPr>
          <a:xfrm>
            <a:off x="1669144" y="285452"/>
            <a:ext cx="869889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 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Introduction</a:t>
            </a:r>
            <a:endParaRPr lang="en-US" sz="3200" dirty="0">
              <a:latin typeface="Google Sans"/>
            </a:endParaRPr>
          </a:p>
        </p:txBody>
      </p:sp>
      <p:sp>
        <p:nvSpPr>
          <p:cNvPr id="1048592" name="Freeform 2"/>
          <p:cNvSpPr/>
          <p:nvPr/>
        </p:nvSpPr>
        <p:spPr>
          <a:xfrm>
            <a:off x="2695977" y="3782945"/>
            <a:ext cx="2160321" cy="1349830"/>
          </a:xfrm>
          <a:custGeom>
            <a:avLst/>
            <a:gdLst/>
            <a:ahLst/>
            <a:cxnLst/>
            <a:rect l="l" t="t" r="r" b="b"/>
            <a:pathLst>
              <a:path w="4593864" h="4142830">
                <a:moveTo>
                  <a:pt x="0" y="0"/>
                </a:moveTo>
                <a:lnTo>
                  <a:pt x="4593864" y="0"/>
                </a:lnTo>
                <a:lnTo>
                  <a:pt x="4593864" y="4142830"/>
                </a:lnTo>
                <a:lnTo>
                  <a:pt x="0" y="4142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593" name="Freeform 4"/>
          <p:cNvSpPr/>
          <p:nvPr/>
        </p:nvSpPr>
        <p:spPr>
          <a:xfrm rot="17547060">
            <a:off x="6812781" y="2306951"/>
            <a:ext cx="884158" cy="1618206"/>
          </a:xfrm>
          <a:custGeom>
            <a:avLst/>
            <a:gdLst/>
            <a:ahLst/>
            <a:cxnLst/>
            <a:rect l="l" t="t" r="r" b="b"/>
            <a:pathLst>
              <a:path w="1308604" h="2080151">
                <a:moveTo>
                  <a:pt x="1308604" y="0"/>
                </a:moveTo>
                <a:lnTo>
                  <a:pt x="0" y="0"/>
                </a:lnTo>
                <a:lnTo>
                  <a:pt x="0" y="2080151"/>
                </a:lnTo>
                <a:lnTo>
                  <a:pt x="1308604" y="2080151"/>
                </a:lnTo>
                <a:lnTo>
                  <a:pt x="1308604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>
            <a:endParaRPr lang="en-US" dirty="0"/>
          </a:p>
        </p:txBody>
      </p:sp>
      <p:sp>
        <p:nvSpPr>
          <p:cNvPr id="1048594" name="Freeform 2"/>
          <p:cNvSpPr/>
          <p:nvPr/>
        </p:nvSpPr>
        <p:spPr>
          <a:xfrm>
            <a:off x="5152461" y="1284514"/>
            <a:ext cx="2160321" cy="1349830"/>
          </a:xfrm>
          <a:custGeom>
            <a:avLst/>
            <a:gdLst/>
            <a:ahLst/>
            <a:cxnLst/>
            <a:rect l="l" t="t" r="r" b="b"/>
            <a:pathLst>
              <a:path w="4593864" h="4142830">
                <a:moveTo>
                  <a:pt x="0" y="0"/>
                </a:moveTo>
                <a:lnTo>
                  <a:pt x="4593864" y="0"/>
                </a:lnTo>
                <a:lnTo>
                  <a:pt x="4593864" y="4142830"/>
                </a:lnTo>
                <a:lnTo>
                  <a:pt x="0" y="4142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595" name="Freeform 2"/>
          <p:cNvSpPr/>
          <p:nvPr/>
        </p:nvSpPr>
        <p:spPr>
          <a:xfrm>
            <a:off x="7091305" y="3894666"/>
            <a:ext cx="2160321" cy="1349830"/>
          </a:xfrm>
          <a:custGeom>
            <a:avLst/>
            <a:gdLst/>
            <a:ahLst/>
            <a:cxnLst/>
            <a:rect l="l" t="t" r="r" b="b"/>
            <a:pathLst>
              <a:path w="4593864" h="4142830">
                <a:moveTo>
                  <a:pt x="0" y="0"/>
                </a:moveTo>
                <a:lnTo>
                  <a:pt x="4593864" y="0"/>
                </a:lnTo>
                <a:lnTo>
                  <a:pt x="4593864" y="4142830"/>
                </a:lnTo>
                <a:lnTo>
                  <a:pt x="0" y="4142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596" name="TextBox 10"/>
          <p:cNvSpPr txBox="1"/>
          <p:nvPr/>
        </p:nvSpPr>
        <p:spPr>
          <a:xfrm>
            <a:off x="2940374" y="4276215"/>
            <a:ext cx="1780708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200" spc="178" dirty="0">
                <a:solidFill>
                  <a:srgbClr val="425259"/>
                </a:solidFill>
                <a:latin typeface="Cavolini" panose="020B0502040204020203" pitchFamily="66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Callback</a:t>
            </a:r>
            <a:endParaRPr lang="en-US" sz="2200" spc="178" dirty="0">
              <a:solidFill>
                <a:srgbClr val="425259"/>
              </a:solidFill>
              <a:latin typeface="Cavolini" panose="020B0502040204020203" pitchFamily="66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597" name="TextBox 10"/>
          <p:cNvSpPr txBox="1"/>
          <p:nvPr/>
        </p:nvSpPr>
        <p:spPr>
          <a:xfrm>
            <a:off x="7483094" y="4415692"/>
            <a:ext cx="1680258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200" spc="178" dirty="0">
                <a:solidFill>
                  <a:srgbClr val="425259"/>
                </a:solidFill>
                <a:latin typeface="Cavolini" panose="020B0502040204020203" pitchFamily="66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Promise</a:t>
            </a:r>
            <a:endParaRPr lang="en-US" sz="2200" spc="178" dirty="0">
              <a:solidFill>
                <a:srgbClr val="425259"/>
              </a:solidFill>
              <a:latin typeface="Cavolini" panose="020B0502040204020203" pitchFamily="66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pic>
        <p:nvPicPr>
          <p:cNvPr id="2097156" name="Graphic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03" y="6094444"/>
            <a:ext cx="458164" cy="4581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5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85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48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8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8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3" grpId="0" animBg="1"/>
      <p:bldP spid="10485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01" name="Rectangle: Rounded Corners 7"/>
          <p:cNvSpPr/>
          <p:nvPr/>
        </p:nvSpPr>
        <p:spPr>
          <a:xfrm>
            <a:off x="1669144" y="285452"/>
            <a:ext cx="869889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 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Introduction</a:t>
            </a:r>
            <a:endParaRPr lang="en-US" sz="3200" dirty="0">
              <a:latin typeface="Google Sans"/>
            </a:endParaRPr>
          </a:p>
        </p:txBody>
      </p:sp>
      <p:sp>
        <p:nvSpPr>
          <p:cNvPr id="1048602" name="TextBox 10"/>
          <p:cNvSpPr txBox="1"/>
          <p:nvPr/>
        </p:nvSpPr>
        <p:spPr>
          <a:xfrm>
            <a:off x="1436915" y="1117344"/>
            <a:ext cx="211908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400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Promises: </a:t>
            </a:r>
            <a:endParaRPr lang="en-US" sz="2400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pic>
        <p:nvPicPr>
          <p:cNvPr id="209716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27" y="1579971"/>
            <a:ext cx="8752113" cy="4608774"/>
          </a:xfrm>
          <a:prstGeom prst="rect">
            <a:avLst/>
          </a:prstGeom>
        </p:spPr>
      </p:pic>
      <p:pic>
        <p:nvPicPr>
          <p:cNvPr id="2097161" name="Graphic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77" y="6088282"/>
            <a:ext cx="439839" cy="4398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06" name="Rectangle: Rounded Corners 7"/>
          <p:cNvSpPr/>
          <p:nvPr/>
        </p:nvSpPr>
        <p:spPr>
          <a:xfrm>
            <a:off x="1669144" y="285452"/>
            <a:ext cx="869889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 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Introduction</a:t>
            </a:r>
            <a:endParaRPr lang="en-US" sz="3200" dirty="0">
              <a:latin typeface="Google Sans"/>
            </a:endParaRPr>
          </a:p>
        </p:txBody>
      </p:sp>
      <p:sp>
        <p:nvSpPr>
          <p:cNvPr id="1048607" name="TextBox 10"/>
          <p:cNvSpPr txBox="1"/>
          <p:nvPr/>
        </p:nvSpPr>
        <p:spPr>
          <a:xfrm>
            <a:off x="1436915" y="1117344"/>
            <a:ext cx="211908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400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Promises: </a:t>
            </a:r>
            <a:endParaRPr lang="en-US" sz="2400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pic>
        <p:nvPicPr>
          <p:cNvPr id="209716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44" y="1987781"/>
            <a:ext cx="4698470" cy="3218009"/>
          </a:xfrm>
          <a:prstGeom prst="rect">
            <a:avLst/>
          </a:prstGeom>
        </p:spPr>
      </p:pic>
      <p:pic>
        <p:nvPicPr>
          <p:cNvPr id="209716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943" y="1444404"/>
            <a:ext cx="3438095" cy="4304762"/>
          </a:xfrm>
          <a:prstGeom prst="rect">
            <a:avLst/>
          </a:prstGeom>
        </p:spPr>
      </p:pic>
      <p:pic>
        <p:nvPicPr>
          <p:cNvPr id="2097167" name="Graphic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49" y="6078032"/>
            <a:ext cx="461665" cy="4616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Freeform 4"/>
          <p:cNvSpPr/>
          <p:nvPr/>
        </p:nvSpPr>
        <p:spPr>
          <a:xfrm rot="4352485" flipH="1">
            <a:off x="4421060" y="2220681"/>
            <a:ext cx="908483" cy="1746117"/>
          </a:xfrm>
          <a:custGeom>
            <a:avLst/>
            <a:gdLst/>
            <a:ahLst/>
            <a:cxnLst/>
            <a:rect l="l" t="t" r="r" b="b"/>
            <a:pathLst>
              <a:path w="1308604" h="2080151">
                <a:moveTo>
                  <a:pt x="1308604" y="0"/>
                </a:moveTo>
                <a:lnTo>
                  <a:pt x="0" y="0"/>
                </a:lnTo>
                <a:lnTo>
                  <a:pt x="0" y="2080151"/>
                </a:lnTo>
                <a:lnTo>
                  <a:pt x="1308604" y="2080151"/>
                </a:lnTo>
                <a:lnTo>
                  <a:pt x="1308604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>
            <a:endParaRPr lang="en-US" dirty="0"/>
          </a:p>
        </p:txBody>
      </p:sp>
      <p:sp>
        <p:nvSpPr>
          <p:cNvPr id="1048617" name="TextBox 10"/>
          <p:cNvSpPr txBox="1"/>
          <p:nvPr/>
        </p:nvSpPr>
        <p:spPr>
          <a:xfrm>
            <a:off x="5528177" y="1775324"/>
            <a:ext cx="147596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400" spc="178" dirty="0">
                <a:solidFill>
                  <a:srgbClr val="425259"/>
                </a:solidFill>
                <a:latin typeface="Cavolini" panose="020B0502040204020203" pitchFamily="66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Coding</a:t>
            </a:r>
            <a:endParaRPr lang="en-US" sz="2400" spc="178" dirty="0">
              <a:solidFill>
                <a:srgbClr val="425259"/>
              </a:solidFill>
              <a:latin typeface="Cavolini" panose="020B0502040204020203" pitchFamily="66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pic>
        <p:nvPicPr>
          <p:cNvPr id="2097170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18" name="Rectangle: Rounded Corners 7"/>
          <p:cNvSpPr/>
          <p:nvPr/>
        </p:nvSpPr>
        <p:spPr>
          <a:xfrm>
            <a:off x="1669144" y="285452"/>
            <a:ext cx="869889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 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Introduction</a:t>
            </a:r>
            <a:endParaRPr lang="en-US" sz="3200" dirty="0">
              <a:latin typeface="Google Sans"/>
            </a:endParaRPr>
          </a:p>
        </p:txBody>
      </p:sp>
      <p:sp>
        <p:nvSpPr>
          <p:cNvPr id="1048619" name="Freeform 2"/>
          <p:cNvSpPr/>
          <p:nvPr/>
        </p:nvSpPr>
        <p:spPr>
          <a:xfrm>
            <a:off x="2695977" y="3782945"/>
            <a:ext cx="2160321" cy="1349830"/>
          </a:xfrm>
          <a:custGeom>
            <a:avLst/>
            <a:gdLst/>
            <a:ahLst/>
            <a:cxnLst/>
            <a:rect l="l" t="t" r="r" b="b"/>
            <a:pathLst>
              <a:path w="4593864" h="4142830">
                <a:moveTo>
                  <a:pt x="0" y="0"/>
                </a:moveTo>
                <a:lnTo>
                  <a:pt x="4593864" y="0"/>
                </a:lnTo>
                <a:lnTo>
                  <a:pt x="4593864" y="4142830"/>
                </a:lnTo>
                <a:lnTo>
                  <a:pt x="0" y="4142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20" name="Freeform 4"/>
          <p:cNvSpPr/>
          <p:nvPr/>
        </p:nvSpPr>
        <p:spPr>
          <a:xfrm rot="17547060">
            <a:off x="6812781" y="2306951"/>
            <a:ext cx="884158" cy="1618206"/>
          </a:xfrm>
          <a:custGeom>
            <a:avLst/>
            <a:gdLst/>
            <a:ahLst/>
            <a:cxnLst/>
            <a:rect l="l" t="t" r="r" b="b"/>
            <a:pathLst>
              <a:path w="1308604" h="2080151">
                <a:moveTo>
                  <a:pt x="1308604" y="0"/>
                </a:moveTo>
                <a:lnTo>
                  <a:pt x="0" y="0"/>
                </a:lnTo>
                <a:lnTo>
                  <a:pt x="0" y="2080151"/>
                </a:lnTo>
                <a:lnTo>
                  <a:pt x="1308604" y="2080151"/>
                </a:lnTo>
                <a:lnTo>
                  <a:pt x="1308604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>
            <a:endParaRPr lang="en-US" dirty="0"/>
          </a:p>
        </p:txBody>
      </p:sp>
      <p:sp>
        <p:nvSpPr>
          <p:cNvPr id="1048621" name="Freeform 2"/>
          <p:cNvSpPr/>
          <p:nvPr/>
        </p:nvSpPr>
        <p:spPr>
          <a:xfrm>
            <a:off x="5152461" y="1284514"/>
            <a:ext cx="2160321" cy="1349830"/>
          </a:xfrm>
          <a:custGeom>
            <a:avLst/>
            <a:gdLst/>
            <a:ahLst/>
            <a:cxnLst/>
            <a:rect l="l" t="t" r="r" b="b"/>
            <a:pathLst>
              <a:path w="4593864" h="4142830">
                <a:moveTo>
                  <a:pt x="0" y="0"/>
                </a:moveTo>
                <a:lnTo>
                  <a:pt x="4593864" y="0"/>
                </a:lnTo>
                <a:lnTo>
                  <a:pt x="4593864" y="4142830"/>
                </a:lnTo>
                <a:lnTo>
                  <a:pt x="0" y="4142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22" name="Freeform 2"/>
          <p:cNvSpPr/>
          <p:nvPr/>
        </p:nvSpPr>
        <p:spPr>
          <a:xfrm>
            <a:off x="7091305" y="3894666"/>
            <a:ext cx="2160321" cy="1349830"/>
          </a:xfrm>
          <a:custGeom>
            <a:avLst/>
            <a:gdLst/>
            <a:ahLst/>
            <a:cxnLst/>
            <a:rect l="l" t="t" r="r" b="b"/>
            <a:pathLst>
              <a:path w="4593864" h="4142830">
                <a:moveTo>
                  <a:pt x="0" y="0"/>
                </a:moveTo>
                <a:lnTo>
                  <a:pt x="4593864" y="0"/>
                </a:lnTo>
                <a:lnTo>
                  <a:pt x="4593864" y="4142830"/>
                </a:lnTo>
                <a:lnTo>
                  <a:pt x="0" y="4142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23" name="TextBox 10"/>
          <p:cNvSpPr txBox="1"/>
          <p:nvPr/>
        </p:nvSpPr>
        <p:spPr>
          <a:xfrm>
            <a:off x="2940374" y="4276215"/>
            <a:ext cx="1780708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200" spc="178" dirty="0">
                <a:solidFill>
                  <a:srgbClr val="425259"/>
                </a:solidFill>
                <a:latin typeface="Cavolini" panose="020B0502040204020203" pitchFamily="66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Callback</a:t>
            </a:r>
            <a:endParaRPr lang="en-US" sz="2200" spc="178" dirty="0">
              <a:solidFill>
                <a:srgbClr val="425259"/>
              </a:solidFill>
              <a:latin typeface="Cavolini" panose="020B0502040204020203" pitchFamily="66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24" name="TextBox 10"/>
          <p:cNvSpPr txBox="1"/>
          <p:nvPr/>
        </p:nvSpPr>
        <p:spPr>
          <a:xfrm>
            <a:off x="7483094" y="4415692"/>
            <a:ext cx="1680258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200" spc="178" dirty="0">
                <a:solidFill>
                  <a:srgbClr val="425259"/>
                </a:solidFill>
                <a:latin typeface="Cavolini" panose="020B0502040204020203" pitchFamily="66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Promise</a:t>
            </a:r>
            <a:endParaRPr lang="en-US" sz="2200" spc="178" dirty="0">
              <a:solidFill>
                <a:srgbClr val="425259"/>
              </a:solidFill>
              <a:latin typeface="Cavolini" panose="020B0502040204020203" pitchFamily="66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pic>
        <p:nvPicPr>
          <p:cNvPr id="2097171" name="Graphic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27051">
            <a:off x="5961359" y="2615636"/>
            <a:ext cx="274214" cy="2277530"/>
          </a:xfrm>
          <a:prstGeom prst="rect">
            <a:avLst/>
          </a:prstGeom>
        </p:spPr>
      </p:pic>
      <p:sp>
        <p:nvSpPr>
          <p:cNvPr id="1048625" name="TextBox 10"/>
          <p:cNvSpPr txBox="1"/>
          <p:nvPr/>
        </p:nvSpPr>
        <p:spPr>
          <a:xfrm>
            <a:off x="5280608" y="5364146"/>
            <a:ext cx="147596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400" spc="178" dirty="0">
                <a:solidFill>
                  <a:srgbClr val="7030A0"/>
                </a:solidFill>
                <a:latin typeface="Cavolini" panose="020B0502040204020203" pitchFamily="66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RXJS</a:t>
            </a:r>
            <a:endParaRPr lang="en-US" sz="2400" spc="178" dirty="0">
              <a:solidFill>
                <a:srgbClr val="7030A0"/>
              </a:solidFill>
              <a:latin typeface="Cavolini" panose="020B0502040204020203" pitchFamily="66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26" name="Freeform 2"/>
          <p:cNvSpPr/>
          <p:nvPr/>
        </p:nvSpPr>
        <p:spPr>
          <a:xfrm>
            <a:off x="5142571" y="4823867"/>
            <a:ext cx="1662461" cy="1499238"/>
          </a:xfrm>
          <a:custGeom>
            <a:avLst/>
            <a:gdLst/>
            <a:ahLst/>
            <a:cxnLst/>
            <a:rect l="l" t="t" r="r" b="b"/>
            <a:pathLst>
              <a:path w="4593864" h="4142830">
                <a:moveTo>
                  <a:pt x="0" y="0"/>
                </a:moveTo>
                <a:lnTo>
                  <a:pt x="4593864" y="0"/>
                </a:lnTo>
                <a:lnTo>
                  <a:pt x="4593864" y="4142831"/>
                </a:lnTo>
                <a:lnTo>
                  <a:pt x="0" y="41428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2097172" name="Graphic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623" y="6057708"/>
            <a:ext cx="461666" cy="4616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7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86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486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8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8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27" name="Rectangle: Rounded Corners 7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 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RXJS  [</a:t>
            </a:r>
            <a:r>
              <a:rPr lang="en-US" sz="3000" dirty="0">
                <a:solidFill>
                  <a:srgbClr val="EE0000"/>
                </a:solidFill>
                <a:latin typeface="Bahnschrift" panose="020B0502040204020203" pitchFamily="34" charset="0"/>
              </a:rPr>
              <a:t>R</a:t>
            </a:r>
            <a:r>
              <a:rPr lang="en-US" sz="3000" dirty="0">
                <a:solidFill>
                  <a:schemeClr val="bg2"/>
                </a:solidFill>
                <a:latin typeface="Bahnschrift" panose="020B0502040204020203" pitchFamily="34" charset="0"/>
              </a:rPr>
              <a:t>eactive </a:t>
            </a:r>
            <a:r>
              <a:rPr lang="en-US" sz="3000" dirty="0">
                <a:solidFill>
                  <a:srgbClr val="EE0000"/>
                </a:solidFill>
                <a:latin typeface="Bahnschrift" panose="020B0502040204020203" pitchFamily="34" charset="0"/>
              </a:rPr>
              <a:t>E</a:t>
            </a:r>
            <a:r>
              <a:rPr lang="en-US" sz="3000" dirty="0">
                <a:solidFill>
                  <a:schemeClr val="bg2"/>
                </a:solidFill>
                <a:latin typeface="Bahnschrift" panose="020B0502040204020203" pitchFamily="34" charset="0"/>
              </a:rPr>
              <a:t>xtensions Library for </a:t>
            </a:r>
            <a:r>
              <a:rPr lang="en-US" sz="3000" dirty="0">
                <a:solidFill>
                  <a:srgbClr val="EE0000"/>
                </a:solidFill>
                <a:latin typeface="Bahnschrift" panose="020B0502040204020203" pitchFamily="34" charset="0"/>
              </a:rPr>
              <a:t>J</a:t>
            </a:r>
            <a:r>
              <a:rPr lang="en-US" sz="3000" dirty="0">
                <a:solidFill>
                  <a:schemeClr val="bg2"/>
                </a:solidFill>
                <a:latin typeface="Bahnschrift" panose="020B0502040204020203" pitchFamily="34" charset="0"/>
              </a:rPr>
              <a:t>avaScript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]</a:t>
            </a:r>
            <a:endParaRPr lang="en-US" sz="3200" dirty="0">
              <a:latin typeface="Google Sans"/>
            </a:endParaRPr>
          </a:p>
        </p:txBody>
      </p:sp>
      <p:pic>
        <p:nvPicPr>
          <p:cNvPr id="2097174" name="Graphic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46" y="4383310"/>
            <a:ext cx="3083756" cy="961953"/>
          </a:xfrm>
          <a:prstGeom prst="rect">
            <a:avLst/>
          </a:prstGeom>
        </p:spPr>
      </p:pic>
      <p:pic>
        <p:nvPicPr>
          <p:cNvPr id="2097175" name="Graphic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291" y="4397743"/>
            <a:ext cx="3083756" cy="947521"/>
          </a:xfrm>
          <a:prstGeom prst="rect">
            <a:avLst/>
          </a:prstGeom>
        </p:spPr>
      </p:pic>
      <p:pic>
        <p:nvPicPr>
          <p:cNvPr id="2097176" name="Graphic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236" y="4421934"/>
            <a:ext cx="3083756" cy="899139"/>
          </a:xfrm>
          <a:prstGeom prst="rect">
            <a:avLst/>
          </a:prstGeom>
        </p:spPr>
      </p:pic>
      <p:sp>
        <p:nvSpPr>
          <p:cNvPr id="1048628" name="TextBox 10"/>
          <p:cNvSpPr txBox="1"/>
          <p:nvPr/>
        </p:nvSpPr>
        <p:spPr>
          <a:xfrm>
            <a:off x="1156304" y="1511989"/>
            <a:ext cx="9743924" cy="71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2400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RXJS</a:t>
            </a:r>
            <a:r>
              <a:rPr lang="en-US" sz="2400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is a library for </a:t>
            </a:r>
            <a:r>
              <a:rPr lang="en-US" sz="2400" spc="178" dirty="0">
                <a:solidFill>
                  <a:srgbClr val="EE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Composing</a:t>
            </a:r>
            <a:r>
              <a:rPr lang="en-US" sz="2400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</a:t>
            </a:r>
            <a:r>
              <a:rPr lang="en-US" sz="2400" spc="178" dirty="0">
                <a:solidFill>
                  <a:srgbClr val="7030A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Asynchronous</a:t>
            </a:r>
            <a:r>
              <a:rPr lang="en-US" sz="2400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and event-based programs by using </a:t>
            </a:r>
            <a:r>
              <a:rPr lang="en-US" sz="2400" spc="178" dirty="0">
                <a:solidFill>
                  <a:srgbClr val="3594FF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Observable</a:t>
            </a:r>
            <a:r>
              <a:rPr lang="en-US" sz="2400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sequences.</a:t>
            </a:r>
            <a:endParaRPr lang="en-US" sz="2400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29" name="TextBox 10"/>
          <p:cNvSpPr txBox="1"/>
          <p:nvPr/>
        </p:nvSpPr>
        <p:spPr>
          <a:xfrm>
            <a:off x="1122435" y="4397743"/>
            <a:ext cx="256902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000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Stream </a:t>
            </a:r>
            <a:endParaRPr lang="en-US" sz="2000" b="1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pPr algn="ctr"/>
            <a:r>
              <a:rPr lang="en-US" sz="2000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vs </a:t>
            </a:r>
            <a:endParaRPr lang="en-US" sz="2000" b="1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pPr algn="ctr"/>
            <a:r>
              <a:rPr lang="en-US" sz="2000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Reactive Stream</a:t>
            </a:r>
            <a:endParaRPr lang="en-US" sz="2000" b="1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30" name="TextBox 10"/>
          <p:cNvSpPr txBox="1"/>
          <p:nvPr/>
        </p:nvSpPr>
        <p:spPr>
          <a:xfrm>
            <a:off x="4731654" y="4575821"/>
            <a:ext cx="256902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000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Pull vs Push </a:t>
            </a:r>
            <a:r>
              <a:rPr lang="en-US" sz="2000" b="1" spc="178" dirty="0">
                <a:solidFill>
                  <a:srgbClr val="C0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Systems</a:t>
            </a:r>
            <a:endParaRPr lang="en-US" sz="2000" b="1" spc="178" dirty="0">
              <a:solidFill>
                <a:srgbClr val="C0000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31" name="TextBox 10"/>
          <p:cNvSpPr txBox="1"/>
          <p:nvPr/>
        </p:nvSpPr>
        <p:spPr>
          <a:xfrm>
            <a:off x="8338454" y="4695285"/>
            <a:ext cx="256902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z="2000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Sync vs Async</a:t>
            </a:r>
            <a:endParaRPr lang="en-US" sz="2000" b="1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32" name="Freeform 4"/>
          <p:cNvSpPr/>
          <p:nvPr/>
        </p:nvSpPr>
        <p:spPr>
          <a:xfrm rot="9596214" flipH="1">
            <a:off x="7232488" y="2246810"/>
            <a:ext cx="908483" cy="2285407"/>
          </a:xfrm>
          <a:custGeom>
            <a:avLst/>
            <a:gdLst/>
            <a:ahLst/>
            <a:cxnLst/>
            <a:rect l="l" t="t" r="r" b="b"/>
            <a:pathLst>
              <a:path w="1308604" h="2080151">
                <a:moveTo>
                  <a:pt x="1308604" y="0"/>
                </a:moveTo>
                <a:lnTo>
                  <a:pt x="0" y="0"/>
                </a:lnTo>
                <a:lnTo>
                  <a:pt x="0" y="2080151"/>
                </a:lnTo>
                <a:lnTo>
                  <a:pt x="1308604" y="2080151"/>
                </a:lnTo>
                <a:lnTo>
                  <a:pt x="13086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>
            <a:endParaRPr lang="en-US" dirty="0"/>
          </a:p>
        </p:txBody>
      </p:sp>
      <p:sp>
        <p:nvSpPr>
          <p:cNvPr id="1048633" name="Freeform 4"/>
          <p:cNvSpPr/>
          <p:nvPr/>
        </p:nvSpPr>
        <p:spPr>
          <a:xfrm rot="12408659" flipH="1">
            <a:off x="3976972" y="2184180"/>
            <a:ext cx="908483" cy="2285407"/>
          </a:xfrm>
          <a:custGeom>
            <a:avLst/>
            <a:gdLst/>
            <a:ahLst/>
            <a:cxnLst/>
            <a:rect l="l" t="t" r="r" b="b"/>
            <a:pathLst>
              <a:path w="1308604" h="2080151">
                <a:moveTo>
                  <a:pt x="1308604" y="0"/>
                </a:moveTo>
                <a:lnTo>
                  <a:pt x="0" y="0"/>
                </a:lnTo>
                <a:lnTo>
                  <a:pt x="0" y="2080151"/>
                </a:lnTo>
                <a:lnTo>
                  <a:pt x="1308604" y="2080151"/>
                </a:lnTo>
                <a:lnTo>
                  <a:pt x="13086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scene3d>
            <a:camera prst="orthographicFront">
              <a:rot lat="0" lon="10800000" rev="0"/>
            </a:camera>
            <a:lightRig rig="threePt" dir="t"/>
          </a:scene3d>
        </p:spPr>
        <p:txBody>
          <a:bodyPr/>
          <a:p>
            <a:endParaRPr lang="en-US" dirty="0"/>
          </a:p>
        </p:txBody>
      </p:sp>
      <p:pic>
        <p:nvPicPr>
          <p:cNvPr id="2097177" name="Graphic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058871">
            <a:off x="6028357" y="2320995"/>
            <a:ext cx="274214" cy="2006406"/>
          </a:xfrm>
          <a:prstGeom prst="rect">
            <a:avLst/>
          </a:prstGeom>
        </p:spPr>
      </p:pic>
      <p:sp>
        <p:nvSpPr>
          <p:cNvPr id="1048634" name="Speech Bubble: Oval 29"/>
          <p:cNvSpPr/>
          <p:nvPr/>
        </p:nvSpPr>
        <p:spPr>
          <a:xfrm>
            <a:off x="3338286" y="70880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635" name="Speech Bubble: Oval 30"/>
          <p:cNvSpPr/>
          <p:nvPr/>
        </p:nvSpPr>
        <p:spPr>
          <a:xfrm>
            <a:off x="5063067" y="1162514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2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636" name="Speech Bubble: Oval 31"/>
          <p:cNvSpPr/>
          <p:nvPr/>
        </p:nvSpPr>
        <p:spPr>
          <a:xfrm>
            <a:off x="7121677" y="1171629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3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637" name="Speech Bubble: Oval 32"/>
          <p:cNvSpPr/>
          <p:nvPr/>
        </p:nvSpPr>
        <p:spPr>
          <a:xfrm>
            <a:off x="5520266" y="2228842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638" name="Speech Bubble: Oval 33"/>
          <p:cNvSpPr/>
          <p:nvPr/>
        </p:nvSpPr>
        <p:spPr>
          <a:xfrm>
            <a:off x="2338176" y="3929433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?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639" name="Speech Bubble: Oval 34"/>
          <p:cNvSpPr/>
          <p:nvPr/>
        </p:nvSpPr>
        <p:spPr>
          <a:xfrm>
            <a:off x="5266266" y="3968344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?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640" name="Speech Bubble: Oval 35"/>
          <p:cNvSpPr/>
          <p:nvPr/>
        </p:nvSpPr>
        <p:spPr>
          <a:xfrm>
            <a:off x="9066490" y="3973178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?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pic>
        <p:nvPicPr>
          <p:cNvPr id="2097178" name="Graphic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935" y="6168146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6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86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486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8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8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486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486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486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48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48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486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48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48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486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48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48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097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9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9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486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48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48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2" grpId="0" animBg="1"/>
      <p:bldP spid="1048633" grpId="0" animBg="1"/>
      <p:bldP spid="1048634" grpId="0" animBg="1"/>
      <p:bldP spid="1048635" grpId="0" animBg="1"/>
      <p:bldP spid="1048636" grpId="0" animBg="1"/>
      <p:bldP spid="1048637" grpId="0" animBg="1"/>
      <p:bldP spid="1048638" grpId="0" animBg="1"/>
      <p:bldP spid="1048639" grpId="0" animBg="1"/>
      <p:bldP spid="104864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Table 5"/>
          <p:cNvGraphicFramePr>
            <a:graphicFrameLocks noGrp="1"/>
          </p:cNvGraphicFramePr>
          <p:nvPr/>
        </p:nvGraphicFramePr>
        <p:xfrm>
          <a:off x="1458685" y="1964266"/>
          <a:ext cx="9274629" cy="257697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74060"/>
                <a:gridCol w="2374060"/>
                <a:gridCol w="2374060"/>
                <a:gridCol w="2152449"/>
              </a:tblGrid>
              <a:tr h="362995">
                <a:tc gridSpan="2">
                  <a:txBody>
                    <a:bodyPr/>
                    <a:p>
                      <a:pPr algn="ctr"/>
                      <a:r>
                        <a:rPr lang="en-US" sz="2000" dirty="0">
                          <a:latin typeface="Bahnschrift" panose="020B0502040204020203" pitchFamily="34" charset="0"/>
                        </a:rPr>
                        <a:t>Pull</a:t>
                      </a:r>
                      <a:endParaRPr lang="en-US" sz="20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p>
                      <a:pPr algn="ctr"/>
                      <a:r>
                        <a:rPr lang="en-US" sz="2000" dirty="0">
                          <a:latin typeface="Bahnschrift" panose="020B0502040204020203" pitchFamily="34" charset="0"/>
                        </a:rPr>
                        <a:t>Push</a:t>
                      </a:r>
                      <a:endParaRPr lang="en-US" sz="20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cPr/>
                </a:tc>
              </a:tr>
              <a:tr h="1451982">
                <a:tc gridSpan="2"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Consumers </a:t>
                      </a:r>
                      <a:r>
                        <a:rPr lang="en-US" sz="1600" b="1" dirty="0"/>
                        <a:t>pull</a:t>
                      </a:r>
                      <a:r>
                        <a:rPr lang="en-US" sz="1600" dirty="0"/>
                        <a:t> (request) data from a producer.</a:t>
                      </a:r>
                      <a:endParaRPr lang="en-US" sz="16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Consumer controls when data is requested.</a:t>
                      </a:r>
                      <a:endParaRPr 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Data is </a:t>
                      </a:r>
                      <a:r>
                        <a:rPr lang="en-US" sz="1600" b="1" dirty="0"/>
                        <a:t>pushed</a:t>
                      </a:r>
                      <a:r>
                        <a:rPr lang="en-US" sz="1600" dirty="0"/>
                        <a:t> to consumers asynchronously.</a:t>
                      </a:r>
                      <a:endParaRPr lang="en-US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Producer controls when data is sent.</a:t>
                      </a:r>
                      <a:endParaRPr lang="en-US" sz="16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cPr/>
                </a:tc>
              </a:tr>
              <a:tr h="362995">
                <a:tc>
                  <a:txBody>
                    <a:bodyPr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Single</a:t>
                      </a:r>
                      <a:endParaRPr lang="en-US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Multi</a:t>
                      </a:r>
                      <a:endParaRPr lang="en-US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Single</a:t>
                      </a:r>
                      <a:endParaRPr lang="en-US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Multi</a:t>
                      </a:r>
                      <a:endParaRPr lang="en-US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995"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+mj-lt"/>
                        </a:rPr>
                        <a:t>Regular Fun</a:t>
                      </a:r>
                      <a:endParaRPr lang="en-US" sz="1600" dirty="0"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+mj-lt"/>
                        </a:rPr>
                        <a:t>Fun Generator</a:t>
                      </a:r>
                      <a:endParaRPr lang="en-US" sz="1600" dirty="0"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+mj-lt"/>
                        </a:rPr>
                        <a:t>Promise</a:t>
                      </a:r>
                      <a:endParaRPr lang="en-US" sz="1600" dirty="0"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+mj-lt"/>
                        </a:rPr>
                        <a:t>Observable</a:t>
                      </a:r>
                      <a:endParaRPr lang="en-US" sz="1600" dirty="0"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097179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41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 Push  </a:t>
            </a:r>
            <a:r>
              <a:rPr lang="en-US" sz="3200" dirty="0">
                <a:solidFill>
                  <a:srgbClr val="EE0000"/>
                </a:solidFill>
                <a:latin typeface="Bahnschrift" panose="020B0502040204020203" pitchFamily="34" charset="0"/>
              </a:rPr>
              <a:t>vs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Pull  Systems</a:t>
            </a:r>
            <a:endParaRPr lang="en-US" sz="32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048642" name="Freeform 17"/>
          <p:cNvSpPr/>
          <p:nvPr/>
        </p:nvSpPr>
        <p:spPr>
          <a:xfrm rot="20917505" flipH="1">
            <a:off x="5808621" y="3359628"/>
            <a:ext cx="253324" cy="370554"/>
          </a:xfrm>
          <a:custGeom>
            <a:avLst/>
            <a:gdLst/>
            <a:ahLst/>
            <a:cxnLst/>
            <a:rect l="l" t="t" r="r" b="b"/>
            <a:pathLst>
              <a:path w="740886" h="1083743">
                <a:moveTo>
                  <a:pt x="740886" y="0"/>
                </a:moveTo>
                <a:lnTo>
                  <a:pt x="0" y="0"/>
                </a:lnTo>
                <a:lnTo>
                  <a:pt x="0" y="1083742"/>
                </a:lnTo>
                <a:lnTo>
                  <a:pt x="740886" y="1083742"/>
                </a:lnTo>
                <a:lnTo>
                  <a:pt x="740886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48643" name="Freeform 8"/>
          <p:cNvSpPr/>
          <p:nvPr/>
        </p:nvSpPr>
        <p:spPr>
          <a:xfrm rot="20917505" flipH="1">
            <a:off x="10452199" y="2435085"/>
            <a:ext cx="247804" cy="362479"/>
          </a:xfrm>
          <a:custGeom>
            <a:avLst/>
            <a:gdLst/>
            <a:ahLst/>
            <a:cxnLst/>
            <a:rect l="l" t="t" r="r" b="b"/>
            <a:pathLst>
              <a:path w="740886" h="1083743">
                <a:moveTo>
                  <a:pt x="740886" y="0"/>
                </a:moveTo>
                <a:lnTo>
                  <a:pt x="0" y="0"/>
                </a:lnTo>
                <a:lnTo>
                  <a:pt x="0" y="1083743"/>
                </a:lnTo>
                <a:lnTo>
                  <a:pt x="740886" y="1083743"/>
                </a:lnTo>
                <a:lnTo>
                  <a:pt x="740886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scene3d>
            <a:camera prst="orthographicFront">
              <a:rot lat="0" lon="10800000" rev="0"/>
            </a:camera>
            <a:lightRig rig="threePt" dir="t"/>
          </a:scene3d>
        </p:spPr>
      </p:sp>
      <p:pic>
        <p:nvPicPr>
          <p:cNvPr id="2097180" name="Graphic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49" y="6081532"/>
            <a:ext cx="435015" cy="4350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1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44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 Stream </a:t>
            </a:r>
            <a:r>
              <a:rPr lang="en-US" sz="3200" dirty="0">
                <a:solidFill>
                  <a:srgbClr val="EE0000"/>
                </a:solidFill>
                <a:latin typeface="Bahnschrift" panose="020B0502040204020203" pitchFamily="34" charset="0"/>
              </a:rPr>
              <a:t>vs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Reactive Stream</a:t>
            </a:r>
            <a:endParaRPr lang="en-US" sz="3200" dirty="0">
              <a:latin typeface="Bahnschrift" panose="020B0502040204020203" pitchFamily="34" charset="0"/>
            </a:endParaRPr>
          </a:p>
        </p:txBody>
      </p:sp>
      <p:graphicFrame>
        <p:nvGraphicFramePr>
          <p:cNvPr id="4194305" name="Table 4"/>
          <p:cNvGraphicFramePr>
            <a:graphicFrameLocks noGrp="1"/>
          </p:cNvGraphicFramePr>
          <p:nvPr/>
        </p:nvGraphicFramePr>
        <p:xfrm>
          <a:off x="1666724" y="1846943"/>
          <a:ext cx="8858552" cy="111542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470400"/>
                <a:gridCol w="4388152"/>
              </a:tblGrid>
              <a:tr h="373743">
                <a:tc>
                  <a:txBody>
                    <a:bodyPr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Stream</a:t>
                      </a:r>
                      <a:endParaRPr lang="en-US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Reactive Stream</a:t>
                      </a:r>
                      <a:endParaRPr lang="en-US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dirty="0"/>
                        <a:t>Collection Of Data [Size Predetermined]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dirty="0"/>
                        <a:t>Event [Size Unknown]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dirty="0"/>
                        <a:t>Iterable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dirty="0"/>
                        <a:t>Observable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097182" name="Graphic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754" y="3855957"/>
            <a:ext cx="1548190" cy="961953"/>
          </a:xfrm>
          <a:prstGeom prst="rect">
            <a:avLst/>
          </a:prstGeom>
        </p:spPr>
      </p:pic>
      <p:pic>
        <p:nvPicPr>
          <p:cNvPr id="2097183" name="Graphic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337" y="3855957"/>
            <a:ext cx="1987930" cy="961953"/>
          </a:xfrm>
          <a:prstGeom prst="rect">
            <a:avLst/>
          </a:prstGeom>
        </p:spPr>
      </p:pic>
      <p:pic>
        <p:nvPicPr>
          <p:cNvPr id="2097184" name="Graphic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023" y="3899501"/>
            <a:ext cx="1830693" cy="961953"/>
          </a:xfrm>
          <a:prstGeom prst="rect">
            <a:avLst/>
          </a:prstGeom>
        </p:spPr>
      </p:pic>
      <p:sp>
        <p:nvSpPr>
          <p:cNvPr id="1048645" name="TextBox 10"/>
          <p:cNvSpPr txBox="1"/>
          <p:nvPr/>
        </p:nvSpPr>
        <p:spPr>
          <a:xfrm>
            <a:off x="2169888" y="4136572"/>
            <a:ext cx="1361922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Timers</a:t>
            </a:r>
            <a:endParaRPr lang="en-US" sz="2000" b="1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46" name="TextBox 10"/>
          <p:cNvSpPr txBox="1"/>
          <p:nvPr/>
        </p:nvSpPr>
        <p:spPr>
          <a:xfrm>
            <a:off x="4040337" y="4226587"/>
            <a:ext cx="1925035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Event-Based</a:t>
            </a:r>
            <a:endParaRPr lang="en-US" b="1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47" name="TextBox 10"/>
          <p:cNvSpPr txBox="1"/>
          <p:nvPr/>
        </p:nvSpPr>
        <p:spPr>
          <a:xfrm>
            <a:off x="7672405" y="4226587"/>
            <a:ext cx="154792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b="1" spc="178" dirty="0">
                <a:solidFill>
                  <a:srgbClr val="425259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Observable</a:t>
            </a:r>
            <a:endParaRPr lang="en-US" sz="2000" b="1" spc="178" dirty="0">
              <a:solidFill>
                <a:srgbClr val="425259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48" name="Oval 8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649" name="TextBox 8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10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5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50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Composing</a:t>
            </a:r>
            <a:endParaRPr lang="en-US" sz="3200" dirty="0">
              <a:latin typeface="Bahnschrift" panose="020B0502040204020203" pitchFamily="34" charset="0"/>
            </a:endParaRPr>
          </a:p>
        </p:txBody>
      </p:sp>
      <p:sp>
        <p:nvSpPr>
          <p:cNvPr id="1048651" name="Rectangle 11"/>
          <p:cNvSpPr/>
          <p:nvPr/>
        </p:nvSpPr>
        <p:spPr>
          <a:xfrm>
            <a:off x="1257905" y="2215848"/>
            <a:ext cx="4431695" cy="2322285"/>
          </a:xfrm>
          <a:prstGeom prst="rect">
            <a:avLst/>
          </a:prstGeom>
          <a:solidFill>
            <a:srgbClr val="F1F9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652" name="Rectangle 12"/>
          <p:cNvSpPr/>
          <p:nvPr/>
        </p:nvSpPr>
        <p:spPr>
          <a:xfrm>
            <a:off x="6139543" y="2211009"/>
            <a:ext cx="4666343" cy="2322285"/>
          </a:xfrm>
          <a:prstGeom prst="rect">
            <a:avLst/>
          </a:prstGeom>
          <a:solidFill>
            <a:srgbClr val="FFF9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653" name="Oval 14"/>
          <p:cNvSpPr/>
          <p:nvPr/>
        </p:nvSpPr>
        <p:spPr>
          <a:xfrm>
            <a:off x="1504647" y="2768600"/>
            <a:ext cx="943428" cy="1320800"/>
          </a:xfrm>
          <a:prstGeom prst="ellipse">
            <a:avLst/>
          </a:prstGeom>
          <a:solidFill>
            <a:srgbClr val="EADB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 dirty="0">
                <a:solidFill>
                  <a:schemeClr val="tx1"/>
                </a:solidFill>
              </a:rPr>
              <a:t>X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48654" name="Oval 15"/>
          <p:cNvSpPr/>
          <p:nvPr/>
        </p:nvSpPr>
        <p:spPr>
          <a:xfrm>
            <a:off x="2919790" y="2768600"/>
            <a:ext cx="943428" cy="1320800"/>
          </a:xfrm>
          <a:prstGeom prst="ellipse">
            <a:avLst/>
          </a:prstGeom>
          <a:solidFill>
            <a:srgbClr val="F8D4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 dirty="0">
                <a:solidFill>
                  <a:schemeClr val="tx1"/>
                </a:solidFill>
              </a:rPr>
              <a:t>g(x)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48655" name="Oval 16"/>
          <p:cNvSpPr/>
          <p:nvPr/>
        </p:nvSpPr>
        <p:spPr>
          <a:xfrm>
            <a:off x="4165600" y="2768600"/>
            <a:ext cx="1123648" cy="1320800"/>
          </a:xfrm>
          <a:prstGeom prst="ellipse">
            <a:avLst/>
          </a:prstGeom>
          <a:solidFill>
            <a:srgbClr val="D6F6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 dirty="0">
                <a:solidFill>
                  <a:schemeClr val="tx1"/>
                </a:solidFill>
              </a:rPr>
              <a:t>f(g(x))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48656" name="Oval 17"/>
          <p:cNvSpPr/>
          <p:nvPr/>
        </p:nvSpPr>
        <p:spPr>
          <a:xfrm>
            <a:off x="6318552" y="2847215"/>
            <a:ext cx="1059543" cy="1059543"/>
          </a:xfrm>
          <a:prstGeom prst="ellipse">
            <a:avLst/>
          </a:prstGeom>
          <a:solidFill>
            <a:srgbClr val="EBF3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657" name="Oval 18"/>
          <p:cNvSpPr/>
          <p:nvPr/>
        </p:nvSpPr>
        <p:spPr>
          <a:xfrm>
            <a:off x="7973181" y="2847215"/>
            <a:ext cx="1059543" cy="105954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658" name="Oval 19"/>
          <p:cNvSpPr/>
          <p:nvPr/>
        </p:nvSpPr>
        <p:spPr>
          <a:xfrm>
            <a:off x="9627810" y="2847215"/>
            <a:ext cx="1059543" cy="105954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145728" name="Connector: Curved 38"/>
          <p:cNvCxnSpPr>
            <a:stCxn id="1048653" idx="7"/>
            <a:endCxn id="1048654" idx="1"/>
          </p:cNvCxnSpPr>
          <p:nvPr/>
        </p:nvCxnSpPr>
        <p:spPr>
          <a:xfrm rot="5400000" flipH="1" flipV="1">
            <a:off x="2683932" y="2588008"/>
            <a:ext cx="12700" cy="748039"/>
          </a:xfrm>
          <a:prstGeom prst="curvedConnector3">
            <a:avLst>
              <a:gd name="adj1" fmla="val 332304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45729" name="Connector: Curved 42"/>
          <p:cNvCxnSpPr/>
          <p:nvPr/>
        </p:nvCxnSpPr>
        <p:spPr>
          <a:xfrm rot="5400000" flipH="1" flipV="1">
            <a:off x="4081840" y="2594358"/>
            <a:ext cx="12700" cy="748039"/>
          </a:xfrm>
          <a:prstGeom prst="curvedConnector3">
            <a:avLst>
              <a:gd name="adj1" fmla="val 278970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45730" name="Connector: Curved 54"/>
          <p:cNvCxnSpPr/>
          <p:nvPr/>
        </p:nvCxnSpPr>
        <p:spPr>
          <a:xfrm rot="5400000" flipH="1" flipV="1">
            <a:off x="7681352" y="2512475"/>
            <a:ext cx="12700" cy="1654629"/>
          </a:xfrm>
          <a:prstGeom prst="curvedConnector3">
            <a:avLst>
              <a:gd name="adj1" fmla="val 19904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1" name="Connector: Curved 55"/>
          <p:cNvCxnSpPr/>
          <p:nvPr/>
        </p:nvCxnSpPr>
        <p:spPr>
          <a:xfrm rot="5400000" flipH="1" flipV="1">
            <a:off x="9323917" y="2477101"/>
            <a:ext cx="12700" cy="1654629"/>
          </a:xfrm>
          <a:prstGeom prst="curvedConnector3">
            <a:avLst>
              <a:gd name="adj1" fmla="val 16475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097186" name="Ink 64"/>
              <p14:cNvContentPartPr/>
              <p14:nvPr/>
            </p14:nvContentPartPr>
            <p14:xfrm>
              <a:off x="6860387" y="3352714"/>
              <a:ext cx="360" cy="360"/>
            </p14:xfrm>
          </p:contentPart>
        </mc:Choice>
        <mc:Fallback xmlns="">
          <p:pic>
            <p:nvPicPr>
              <p:cNvPr id="2097186" name="Ink 64"/>
            </p:nvPicPr>
            <p:blipFill>
              <a:blip r:embed="rId3"/>
            </p:blipFill>
            <p:spPr>
              <a:xfrm>
                <a:off x="6860387" y="3352714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097187" name="Ink 65"/>
              <p14:cNvContentPartPr/>
              <p14:nvPr/>
            </p14:nvContentPartPr>
            <p14:xfrm>
              <a:off x="8500547" y="3381514"/>
              <a:ext cx="360" cy="360"/>
            </p14:xfrm>
          </p:contentPart>
        </mc:Choice>
        <mc:Fallback xmlns="">
          <p:pic>
            <p:nvPicPr>
              <p:cNvPr id="2097187" name="Ink 65"/>
            </p:nvPicPr>
            <p:blipFill>
              <a:blip r:embed="rId3"/>
            </p:blipFill>
            <p:spPr>
              <a:xfrm>
                <a:off x="8500547" y="3381514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097188" name="Ink 66"/>
              <p14:cNvContentPartPr/>
              <p14:nvPr/>
            </p14:nvContentPartPr>
            <p14:xfrm>
              <a:off x="10160147" y="3347674"/>
              <a:ext cx="360" cy="360"/>
            </p14:xfrm>
          </p:contentPart>
        </mc:Choice>
        <mc:Fallback xmlns="">
          <p:pic>
            <p:nvPicPr>
              <p:cNvPr id="2097188" name="Ink 66"/>
            </p:nvPicPr>
            <p:blipFill>
              <a:blip r:embed="rId3"/>
            </p:blipFill>
            <p:spPr>
              <a:xfrm>
                <a:off x="10160147" y="3347674"/>
                <a:ext cx="360" cy="360"/>
              </a:xfrm>
              <a:prstGeom prst="rect"/>
            </p:spPr>
          </p:pic>
        </mc:Fallback>
      </mc:AlternateContent>
      <p:cxnSp>
        <p:nvCxnSpPr>
          <p:cNvPr id="3145732" name="Connector: Curved 69"/>
          <p:cNvCxnSpPr/>
          <p:nvPr/>
        </p:nvCxnSpPr>
        <p:spPr>
          <a:xfrm rot="16200000" flipH="1">
            <a:off x="8494197" y="1745936"/>
            <a:ext cx="12700" cy="3309258"/>
          </a:xfrm>
          <a:prstGeom prst="curvedConnector3">
            <a:avLst>
              <a:gd name="adj1" fmla="val 52285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59" name="TextBox 78"/>
          <p:cNvSpPr txBox="1"/>
          <p:nvPr/>
        </p:nvSpPr>
        <p:spPr>
          <a:xfrm>
            <a:off x="6682251" y="2477883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/>
              <a:t>A</a:t>
            </a:r>
            <a:endParaRPr lang="en-US" b="1" dirty="0"/>
          </a:p>
        </p:txBody>
      </p:sp>
      <p:sp>
        <p:nvSpPr>
          <p:cNvPr id="1048660" name="TextBox 79"/>
          <p:cNvSpPr txBox="1"/>
          <p:nvPr/>
        </p:nvSpPr>
        <p:spPr>
          <a:xfrm>
            <a:off x="8309047" y="2463757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/>
              <a:t>B</a:t>
            </a:r>
            <a:endParaRPr lang="en-US" b="1" dirty="0"/>
          </a:p>
        </p:txBody>
      </p:sp>
      <p:sp>
        <p:nvSpPr>
          <p:cNvPr id="1048661" name="TextBox 80"/>
          <p:cNvSpPr txBox="1"/>
          <p:nvPr/>
        </p:nvSpPr>
        <p:spPr>
          <a:xfrm>
            <a:off x="9991509" y="2461246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/>
              <a:t>C</a:t>
            </a:r>
            <a:endParaRPr lang="en-US" b="1" dirty="0"/>
          </a:p>
        </p:txBody>
      </p:sp>
      <p:sp>
        <p:nvSpPr>
          <p:cNvPr id="1048662" name="TextBox 81"/>
          <p:cNvSpPr txBox="1"/>
          <p:nvPr/>
        </p:nvSpPr>
        <p:spPr>
          <a:xfrm>
            <a:off x="7515508" y="2745027"/>
            <a:ext cx="32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/>
              <a:t>f</a:t>
            </a:r>
            <a:endParaRPr lang="en-US" b="1" dirty="0"/>
          </a:p>
        </p:txBody>
      </p:sp>
      <p:sp>
        <p:nvSpPr>
          <p:cNvPr id="1048663" name="TextBox 82"/>
          <p:cNvSpPr txBox="1"/>
          <p:nvPr/>
        </p:nvSpPr>
        <p:spPr>
          <a:xfrm>
            <a:off x="9197970" y="2745027"/>
            <a:ext cx="32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/>
              <a:t>g</a:t>
            </a:r>
            <a:endParaRPr lang="en-US" b="1" dirty="0"/>
          </a:p>
        </p:txBody>
      </p:sp>
      <p:sp>
        <p:nvSpPr>
          <p:cNvPr id="1048664" name="TextBox 83"/>
          <p:cNvSpPr txBox="1"/>
          <p:nvPr/>
        </p:nvSpPr>
        <p:spPr>
          <a:xfrm>
            <a:off x="8234438" y="4079886"/>
            <a:ext cx="687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 err="1"/>
              <a:t>gof</a:t>
            </a:r>
            <a:endParaRPr lang="en-US" b="1" dirty="0"/>
          </a:p>
        </p:txBody>
      </p:sp>
      <p:sp>
        <p:nvSpPr>
          <p:cNvPr id="1048665" name="TextBox 84"/>
          <p:cNvSpPr txBox="1"/>
          <p:nvPr/>
        </p:nvSpPr>
        <p:spPr>
          <a:xfrm>
            <a:off x="6697727" y="2922383"/>
            <a:ext cx="32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/>
              <a:t>x</a:t>
            </a:r>
            <a:endParaRPr lang="en-US" b="1" dirty="0"/>
          </a:p>
        </p:txBody>
      </p:sp>
      <p:sp>
        <p:nvSpPr>
          <p:cNvPr id="1048666" name="TextBox 85"/>
          <p:cNvSpPr txBox="1"/>
          <p:nvPr/>
        </p:nvSpPr>
        <p:spPr>
          <a:xfrm>
            <a:off x="8234438" y="2901171"/>
            <a:ext cx="687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 dirty="0"/>
              <a:t>f(x)</a:t>
            </a:r>
            <a:endParaRPr lang="en-US" sz="1600" b="1" dirty="0"/>
          </a:p>
        </p:txBody>
      </p:sp>
      <p:sp>
        <p:nvSpPr>
          <p:cNvPr id="1048667" name="TextBox 87"/>
          <p:cNvSpPr txBox="1"/>
          <p:nvPr/>
        </p:nvSpPr>
        <p:spPr>
          <a:xfrm>
            <a:off x="9829592" y="2870768"/>
            <a:ext cx="967375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b="1" dirty="0"/>
              <a:t>g(f(x))</a:t>
            </a:r>
            <a:endParaRPr lang="en-US" sz="1600" b="1" dirty="0"/>
          </a:p>
        </p:txBody>
      </p:sp>
      <p:sp>
        <p:nvSpPr>
          <p:cNvPr id="1048668" name="Oval 4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669" name="TextBox 6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11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86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8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8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86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8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8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486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486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457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1457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486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48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48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486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48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48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486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486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1457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145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145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1457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145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145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097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97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97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097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9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9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097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97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097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1457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45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145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0486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048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0486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0486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0486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048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048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0486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0486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048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048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10486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048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048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0486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048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048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1" grpId="0" animBg="1"/>
      <p:bldP spid="1048652" grpId="0" animBg="1"/>
      <p:bldP spid="1048653" grpId="0" animBg="1"/>
      <p:bldP spid="1048654" grpId="0" animBg="1"/>
      <p:bldP spid="1048655" grpId="0" animBg="1"/>
      <p:bldP spid="1048656" grpId="0" animBg="1"/>
      <p:bldP spid="1048657" grpId="0" animBg="1"/>
      <p:bldP spid="1048658" grpId="0" animBg="1"/>
      <p:bldP spid="1048659" grpId="0"/>
      <p:bldP spid="1048660" grpId="0"/>
      <p:bldP spid="1048661" grpId="0"/>
      <p:bldP spid="1048662" grpId="0"/>
      <p:bldP spid="1048663" grpId="0"/>
      <p:bldP spid="1048664" grpId="0"/>
      <p:bldP spid="1048665" grpId="0"/>
      <p:bldP spid="1048666" grpId="0"/>
      <p:bldP spid="10486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9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70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Pull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</a:t>
            </a:r>
            <a:r>
              <a:rPr lang="en-US" sz="3200" dirty="0">
                <a:solidFill>
                  <a:srgbClr val="EE0000"/>
                </a:solidFill>
                <a:latin typeface="Bahnschrift" panose="020B0502040204020203" pitchFamily="34" charset="0"/>
              </a:rPr>
              <a:t>vs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Push Sys</a:t>
            </a:r>
            <a:endParaRPr lang="en-US" sz="3200" dirty="0">
              <a:latin typeface="Google Sans"/>
            </a:endParaRPr>
          </a:p>
        </p:txBody>
      </p:sp>
      <p:pic>
        <p:nvPicPr>
          <p:cNvPr id="2097190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498" y="3690663"/>
            <a:ext cx="4512732" cy="2619586"/>
          </a:xfrm>
          <a:prstGeom prst="rect">
            <a:avLst/>
          </a:prstGeom>
        </p:spPr>
      </p:pic>
      <p:pic>
        <p:nvPicPr>
          <p:cNvPr id="2097191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498" y="1335143"/>
            <a:ext cx="4880580" cy="2151624"/>
          </a:xfrm>
          <a:prstGeom prst="rect">
            <a:avLst/>
          </a:prstGeom>
        </p:spPr>
      </p:pic>
      <p:pic>
        <p:nvPicPr>
          <p:cNvPr id="2097192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676" y="1423530"/>
            <a:ext cx="4633553" cy="1871416"/>
          </a:xfrm>
          <a:prstGeom prst="rect">
            <a:avLst/>
          </a:prstGeom>
        </p:spPr>
      </p:pic>
      <p:pic>
        <p:nvPicPr>
          <p:cNvPr id="209719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7912" y="3410171"/>
            <a:ext cx="3986590" cy="2988209"/>
          </a:xfrm>
          <a:prstGeom prst="rect">
            <a:avLst/>
          </a:prstGeom>
        </p:spPr>
      </p:pic>
      <p:sp>
        <p:nvSpPr>
          <p:cNvPr id="1048671" name="TextBox 14"/>
          <p:cNvSpPr txBox="1"/>
          <p:nvPr/>
        </p:nvSpPr>
        <p:spPr>
          <a:xfrm>
            <a:off x="70311" y="1764624"/>
            <a:ext cx="1274679" cy="5847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sz="1800" dirty="0">
                <a:solidFill>
                  <a:srgbClr val="FF0000"/>
                </a:solidFill>
                <a:latin typeface="Bahnschrift" panose="020B0502040204020203" pitchFamily="34" charset="0"/>
              </a:rPr>
              <a:t>Pull</a:t>
            </a:r>
            <a:endParaRPr lang="en-US" sz="1800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[</a:t>
            </a:r>
            <a:r>
              <a:rPr lang="en-US" sz="1400" dirty="0">
                <a:latin typeface="Bahnschrift" panose="020B0502040204020203" pitchFamily="34" charset="0"/>
              </a:rPr>
              <a:t>single Value</a:t>
            </a:r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]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48672" name="TextBox 15"/>
          <p:cNvSpPr txBox="1"/>
          <p:nvPr/>
        </p:nvSpPr>
        <p:spPr>
          <a:xfrm>
            <a:off x="70310" y="4319500"/>
            <a:ext cx="1274679" cy="5847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sz="1800" dirty="0">
                <a:solidFill>
                  <a:srgbClr val="FF0000"/>
                </a:solidFill>
                <a:latin typeface="Bahnschrift" panose="020B0502040204020203" pitchFamily="34" charset="0"/>
              </a:rPr>
              <a:t>Pull</a:t>
            </a:r>
            <a:endParaRPr lang="en-US" sz="1800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[</a:t>
            </a:r>
            <a:r>
              <a:rPr lang="en-US" sz="1400" dirty="0">
                <a:latin typeface="Bahnschrift" panose="020B0502040204020203" pitchFamily="34" charset="0"/>
              </a:rPr>
              <a:t>Multi Value</a:t>
            </a:r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]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48673" name="TextBox 16"/>
          <p:cNvSpPr txBox="1"/>
          <p:nvPr/>
        </p:nvSpPr>
        <p:spPr>
          <a:xfrm>
            <a:off x="10847010" y="1636414"/>
            <a:ext cx="1274679" cy="5847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sz="1800" dirty="0">
                <a:solidFill>
                  <a:srgbClr val="FF0000"/>
                </a:solidFill>
                <a:latin typeface="Bahnschrift" panose="020B0502040204020203" pitchFamily="34" charset="0"/>
              </a:rPr>
              <a:t>Push</a:t>
            </a:r>
            <a:endParaRPr lang="en-US" sz="1800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[</a:t>
            </a:r>
            <a:r>
              <a:rPr lang="en-US" sz="1400" dirty="0">
                <a:latin typeface="Bahnschrift" panose="020B0502040204020203" pitchFamily="34" charset="0"/>
              </a:rPr>
              <a:t>single Value</a:t>
            </a:r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]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48674" name="TextBox 17"/>
          <p:cNvSpPr txBox="1"/>
          <p:nvPr/>
        </p:nvSpPr>
        <p:spPr>
          <a:xfrm>
            <a:off x="10808462" y="4223976"/>
            <a:ext cx="1274679" cy="5847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sz="1800" dirty="0">
                <a:solidFill>
                  <a:srgbClr val="FF0000"/>
                </a:solidFill>
                <a:latin typeface="Bahnschrift" panose="020B0502040204020203" pitchFamily="34" charset="0"/>
              </a:rPr>
              <a:t>Push</a:t>
            </a:r>
            <a:endParaRPr lang="en-US" sz="1800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[</a:t>
            </a:r>
            <a:r>
              <a:rPr lang="en-US" sz="1400" dirty="0">
                <a:latin typeface="Bahnschrift" panose="020B0502040204020203" pitchFamily="34" charset="0"/>
              </a:rPr>
              <a:t>Multi Value</a:t>
            </a:r>
            <a:r>
              <a:rPr lang="en-US" sz="1400" dirty="0">
                <a:solidFill>
                  <a:srgbClr val="FF0000"/>
                </a:solidFill>
                <a:latin typeface="Bahnschrift" panose="020B0502040204020203" pitchFamily="34" charset="0"/>
              </a:rPr>
              <a:t>]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48675" name="Oval 7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676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en-US" altLang="en-GB" b="1" dirty="0">
                <a:solidFill>
                  <a:schemeClr val="bg1"/>
                </a:solidFill>
              </a:rPr>
              <a:t>2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4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77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</a:t>
            </a:r>
            <a:r>
              <a:rPr lang="en-US" sz="3200" dirty="0">
                <a:solidFill>
                  <a:srgbClr val="EE0000"/>
                </a:solidFill>
                <a:latin typeface="Bahnschrift" panose="020B0502040204020203" pitchFamily="34" charset="0"/>
              </a:rPr>
              <a:t>vs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Google Sans"/>
              </a:rPr>
              <a:t>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Promises</a:t>
            </a:r>
            <a:endParaRPr lang="en-US" sz="3200" dirty="0">
              <a:latin typeface="Google Sans"/>
            </a:endParaRPr>
          </a:p>
        </p:txBody>
      </p:sp>
      <p:pic>
        <p:nvPicPr>
          <p:cNvPr id="209719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047" y="1198606"/>
            <a:ext cx="6337905" cy="2756989"/>
          </a:xfrm>
          <a:prstGeom prst="rect">
            <a:avLst/>
          </a:prstGeom>
        </p:spPr>
      </p:pic>
      <p:graphicFrame>
        <p:nvGraphicFramePr>
          <p:cNvPr id="4194306" name="Table 7"/>
          <p:cNvGraphicFramePr>
            <a:graphicFrameLocks noGrp="1"/>
          </p:cNvGraphicFramePr>
          <p:nvPr/>
        </p:nvGraphicFramePr>
        <p:xfrm>
          <a:off x="3364895" y="4140014"/>
          <a:ext cx="532674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372"/>
                <a:gridCol w="2663372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Promises</a:t>
                      </a:r>
                      <a:endParaRPr lang="en-US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Observables</a:t>
                      </a:r>
                      <a:endParaRPr lang="en-US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Bahnschrift" panose="020B0502040204020203" pitchFamily="34" charset="0"/>
                        </a:rPr>
                        <a:t>Single Value</a:t>
                      </a:r>
                      <a:endParaRPr lang="en-US" sz="16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Bahnschrift" panose="020B0502040204020203" pitchFamily="34" charset="0"/>
                        </a:rPr>
                        <a:t>Multiple Value</a:t>
                      </a:r>
                      <a:endParaRPr lang="en-US" sz="16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Bahnschrift" panose="020B0502040204020203" pitchFamily="34" charset="0"/>
                        </a:rPr>
                        <a:t>Not Lazy</a:t>
                      </a:r>
                      <a:endParaRPr lang="en-US" sz="16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Bahnschrift" panose="020B0502040204020203" pitchFamily="34" charset="0"/>
                        </a:rPr>
                        <a:t>Lazy</a:t>
                      </a:r>
                      <a:endParaRPr lang="en-US" sz="16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Bahnschrift" panose="020B0502040204020203" pitchFamily="34" charset="0"/>
                        </a:rPr>
                        <a:t>Not Cancelable</a:t>
                      </a:r>
                      <a:endParaRPr lang="en-US" sz="16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Bahnschrift" panose="020B0502040204020203" pitchFamily="34" charset="0"/>
                        </a:rPr>
                        <a:t>Cancelable</a:t>
                      </a:r>
                      <a:endParaRPr lang="en-US" sz="1600" b="1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Bahnschrift" panose="020B0502040204020203" pitchFamily="34" charset="0"/>
                        </a:rPr>
                        <a:t>Not Completion Callback</a:t>
                      </a:r>
                      <a:endParaRPr lang="en-US" sz="16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600" dirty="0">
                          <a:latin typeface="Bahnschrift" panose="020B0502040204020203" pitchFamily="34" charset="0"/>
                        </a:rPr>
                        <a:t>Completion Callback</a:t>
                      </a:r>
                      <a:endParaRPr lang="en-US" sz="16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8678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679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en-US" altLang="en-GB" b="1" dirty="0">
                <a:solidFill>
                  <a:schemeClr val="bg1"/>
                </a:solidFill>
              </a:rPr>
              <a:t>3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6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80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681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682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683" name="Text Box 1048682"/>
          <p:cNvSpPr txBox="1"/>
          <p:nvPr/>
        </p:nvSpPr>
        <p:spPr>
          <a:xfrm>
            <a:off x="1156305" y="1726004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en-GB" sz="2800">
                <a:solidFill>
                  <a:srgbClr val="000000"/>
                </a:solidFill>
              </a:rPr>
              <a:t>O</a:t>
            </a:r>
            <a:r>
              <a:rPr lang="en-US" altLang="en-GB" sz="2800">
                <a:solidFill>
                  <a:srgbClr val="000000"/>
                </a:solidFill>
              </a:rPr>
              <a:t>b</a:t>
            </a:r>
            <a:r>
              <a:rPr lang="en-US" altLang="en-GB" sz="2800">
                <a:solidFill>
                  <a:srgbClr val="000000"/>
                </a:solidFill>
              </a:rPr>
              <a:t>s</a:t>
            </a:r>
            <a:r>
              <a:rPr lang="en-US" altLang="en-GB" sz="2800">
                <a:solidFill>
                  <a:srgbClr val="000000"/>
                </a:solidFill>
              </a:rPr>
              <a:t>e</a:t>
            </a:r>
            <a:r>
              <a:rPr lang="en-US" altLang="en-GB" sz="2800">
                <a:solidFill>
                  <a:srgbClr val="000000"/>
                </a:solidFill>
              </a:rPr>
              <a:t>r</a:t>
            </a:r>
            <a:r>
              <a:rPr lang="en-US" altLang="en-GB" sz="2800">
                <a:solidFill>
                  <a:srgbClr val="000000"/>
                </a:solidFill>
              </a:rPr>
              <a:t>v</a:t>
            </a:r>
            <a:r>
              <a:rPr lang="en-US" altLang="en-GB" sz="2800">
                <a:solidFill>
                  <a:srgbClr val="000000"/>
                </a:solidFill>
              </a:rPr>
              <a:t>a</a:t>
            </a:r>
            <a:r>
              <a:rPr lang="en-US" altLang="en-GB" sz="2800">
                <a:solidFill>
                  <a:srgbClr val="000000"/>
                </a:solidFill>
              </a:rPr>
              <a:t>b</a:t>
            </a:r>
            <a:r>
              <a:rPr lang="en-US" altLang="en-GB" sz="2800">
                <a:solidFill>
                  <a:srgbClr val="000000"/>
                </a:solidFill>
              </a:rPr>
              <a:t>l</a:t>
            </a:r>
            <a:r>
              <a:rPr lang="en-US" altLang="en-GB" sz="2800">
                <a:solidFill>
                  <a:srgbClr val="000000"/>
                </a:solidFill>
              </a:rPr>
              <a:t>e</a:t>
            </a:r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1048684" name="Text Box 1048683"/>
          <p:cNvSpPr txBox="1"/>
          <p:nvPr/>
        </p:nvSpPr>
        <p:spPr>
          <a:xfrm>
            <a:off x="1156305" y="3734389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GB" sz="2800">
                <a:solidFill>
                  <a:srgbClr val="000000"/>
                </a:solidFill>
                <a:latin typeface="Aptos"/>
              </a:rPr>
              <a:t>O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b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s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e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r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v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e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r</a:t>
            </a:r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1048685" name="Text Box 1048684"/>
          <p:cNvSpPr txBox="1"/>
          <p:nvPr/>
        </p:nvSpPr>
        <p:spPr>
          <a:xfrm>
            <a:off x="1156304" y="5742775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GB" sz="2800">
                <a:solidFill>
                  <a:srgbClr val="000000"/>
                </a:solidFill>
                <a:latin typeface="Aptos"/>
              </a:rPr>
              <a:t>S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u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b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s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c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r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i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p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t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i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o</a:t>
            </a:r>
            <a:r>
              <a:rPr lang="en-US" altLang="en-GB" sz="2800">
                <a:solidFill>
                  <a:srgbClr val="000000"/>
                </a:solidFill>
                <a:latin typeface="Aptos"/>
              </a:rPr>
              <a:t>n</a:t>
            </a:r>
            <a:endParaRPr lang="en-US" sz="2800">
              <a:solidFill>
                <a:srgbClr val="000000"/>
              </a:solidFill>
            </a:endParaRPr>
          </a:p>
        </p:txBody>
      </p:sp>
      <p:pic>
        <p:nvPicPr>
          <p:cNvPr id="2097197" name="Picture 2097196"/>
          <p:cNvPicPr/>
          <p:nvPr/>
        </p:nvPicPr>
        <p:blipFill>
          <a:blip r:embed="rId2"/>
          <a:stretch>
            <a:fillRect/>
          </a:stretch>
        </p:blipFill>
        <p:spPr>
          <a:xfrm>
            <a:off x="5042869" y="1450918"/>
            <a:ext cx="5601572" cy="1060710"/>
          </a:xfrm>
          <a:prstGeom prst="rect">
            <a:avLst/>
          </a:prstGeom>
        </p:spPr>
      </p:pic>
      <p:pic>
        <p:nvPicPr>
          <p:cNvPr id="2097198" name="Picture 2097197"/>
          <p:cNvPicPr/>
          <p:nvPr/>
        </p:nvPicPr>
        <p:blipFill>
          <a:blip r:embed="rId3"/>
          <a:stretch>
            <a:fillRect/>
          </a:stretch>
        </p:blipFill>
        <p:spPr>
          <a:xfrm>
            <a:off x="6438900" y="3546725"/>
            <a:ext cx="4205541" cy="885867"/>
          </a:xfrm>
          <a:prstGeom prst="rect">
            <a:avLst/>
          </a:prstGeom>
        </p:spPr>
      </p:pic>
      <p:pic>
        <p:nvPicPr>
          <p:cNvPr id="2097199" name="Picture 2097198"/>
          <p:cNvPicPr/>
          <p:nvPr/>
        </p:nvPicPr>
        <p:blipFill>
          <a:blip r:embed="rId4"/>
          <a:stretch>
            <a:fillRect/>
          </a:stretch>
        </p:blipFill>
        <p:spPr>
          <a:xfrm>
            <a:off x="6171765" y="5667448"/>
            <a:ext cx="4438213" cy="5478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0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686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687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688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15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689" name="Rectangle: Rounded Corners 2"/>
          <p:cNvSpPr/>
          <p:nvPr/>
        </p:nvSpPr>
        <p:spPr>
          <a:xfrm>
            <a:off x="2415654" y="3117355"/>
            <a:ext cx="2074459" cy="628953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Observable</a:t>
            </a:r>
            <a:endParaRPr lang="en-US" dirty="0"/>
          </a:p>
        </p:txBody>
      </p:sp>
      <p:cxnSp>
        <p:nvCxnSpPr>
          <p:cNvPr id="3145733" name="Connector: Elbow 5"/>
          <p:cNvCxnSpPr>
            <a:stCxn id="1048689" idx="0"/>
            <a:endCxn id="1048690" idx="1"/>
          </p:cNvCxnSpPr>
          <p:nvPr/>
        </p:nvCxnSpPr>
        <p:spPr>
          <a:xfrm rot="5400000" flipH="1" flipV="1">
            <a:off x="4533052" y="922061"/>
            <a:ext cx="1115126" cy="3275463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48690" name="Rectangle 10"/>
          <p:cNvSpPr/>
          <p:nvPr/>
        </p:nvSpPr>
        <p:spPr>
          <a:xfrm>
            <a:off x="6728347" y="1572325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691" name="Oval 12"/>
          <p:cNvSpPr/>
          <p:nvPr/>
        </p:nvSpPr>
        <p:spPr>
          <a:xfrm>
            <a:off x="6857999" y="1701978"/>
            <a:ext cx="1678675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48692" name="Rectangle 13"/>
          <p:cNvSpPr/>
          <p:nvPr/>
        </p:nvSpPr>
        <p:spPr>
          <a:xfrm>
            <a:off x="6728347" y="2999096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693" name="Oval 14"/>
          <p:cNvSpPr/>
          <p:nvPr/>
        </p:nvSpPr>
        <p:spPr>
          <a:xfrm>
            <a:off x="6857999" y="3128749"/>
            <a:ext cx="1678675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48694" name="Rectangle 15"/>
          <p:cNvSpPr/>
          <p:nvPr/>
        </p:nvSpPr>
        <p:spPr>
          <a:xfrm>
            <a:off x="6728347" y="4425867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695" name="Oval 16"/>
          <p:cNvSpPr/>
          <p:nvPr/>
        </p:nvSpPr>
        <p:spPr>
          <a:xfrm>
            <a:off x="6857999" y="4555520"/>
            <a:ext cx="1678675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3145734" name="Connector: Elbow 19"/>
          <p:cNvCxnSpPr>
            <a:stCxn id="1048689" idx="2"/>
            <a:endCxn id="1048694" idx="1"/>
          </p:cNvCxnSpPr>
          <p:nvPr/>
        </p:nvCxnSpPr>
        <p:spPr>
          <a:xfrm rot="16200000" flipH="1">
            <a:off x="4535884" y="2663307"/>
            <a:ext cx="1109463" cy="3275463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45735" name="Straight Arrow Connector 21"/>
          <p:cNvCxnSpPr>
            <a:stCxn id="1048689" idx="3"/>
            <a:endCxn id="1048692" idx="1"/>
          </p:cNvCxnSpPr>
          <p:nvPr/>
        </p:nvCxnSpPr>
        <p:spPr>
          <a:xfrm flipV="1">
            <a:off x="4490113" y="3429000"/>
            <a:ext cx="2238234" cy="28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48696" name="TextBox 10"/>
          <p:cNvSpPr txBox="1"/>
          <p:nvPr/>
        </p:nvSpPr>
        <p:spPr>
          <a:xfrm>
            <a:off x="6857998" y="1257851"/>
            <a:ext cx="1678675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Subscribe1</a:t>
            </a:r>
            <a:endParaRPr lang="en-US" sz="20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97" name="TextBox 10"/>
          <p:cNvSpPr txBox="1"/>
          <p:nvPr/>
        </p:nvSpPr>
        <p:spPr>
          <a:xfrm>
            <a:off x="6857997" y="2669319"/>
            <a:ext cx="1678675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Subscribe2</a:t>
            </a:r>
            <a:endParaRPr lang="en-US" sz="20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98" name="TextBox 10"/>
          <p:cNvSpPr txBox="1"/>
          <p:nvPr/>
        </p:nvSpPr>
        <p:spPr>
          <a:xfrm>
            <a:off x="6857996" y="4075195"/>
            <a:ext cx="1678675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Subscribe3</a:t>
            </a:r>
            <a:endParaRPr lang="en-US" sz="20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699" name="Rectangle 28"/>
          <p:cNvSpPr/>
          <p:nvPr/>
        </p:nvSpPr>
        <p:spPr>
          <a:xfrm>
            <a:off x="9241809" y="2919303"/>
            <a:ext cx="2160899" cy="11094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00" name="TextBox 10"/>
          <p:cNvSpPr txBox="1"/>
          <p:nvPr/>
        </p:nvSpPr>
        <p:spPr>
          <a:xfrm>
            <a:off x="9323697" y="3030423"/>
            <a:ext cx="2160899" cy="812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Sub2.</a:t>
            </a:r>
            <a:r>
              <a:rPr lang="en-US" sz="1400" spc="178" dirty="0">
                <a:solidFill>
                  <a:srgbClr val="FF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unsubscribe</a:t>
            </a:r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();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Means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Sub2</a:t>
            </a:r>
            <a:endParaRPr lang="en-US" sz="1400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solidFill>
                  <a:srgbClr val="FF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Stop</a:t>
            </a:r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getting Data From 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Observable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01" name="Rectangle 30"/>
          <p:cNvSpPr/>
          <p:nvPr/>
        </p:nvSpPr>
        <p:spPr>
          <a:xfrm>
            <a:off x="9241809" y="1572325"/>
            <a:ext cx="2160899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02" name="TextBox 10"/>
          <p:cNvSpPr txBox="1"/>
          <p:nvPr/>
        </p:nvSpPr>
        <p:spPr>
          <a:xfrm>
            <a:off x="9323697" y="1683444"/>
            <a:ext cx="2160899" cy="609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Sub1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solidFill>
                  <a:srgbClr val="FF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Still</a:t>
            </a:r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getting Data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from 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Observable</a:t>
            </a:r>
            <a:endParaRPr lang="en-US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03" name="Rectangle 32"/>
          <p:cNvSpPr/>
          <p:nvPr/>
        </p:nvSpPr>
        <p:spPr>
          <a:xfrm>
            <a:off x="9241809" y="4502268"/>
            <a:ext cx="2160899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04" name="TextBox 10"/>
          <p:cNvSpPr txBox="1"/>
          <p:nvPr/>
        </p:nvSpPr>
        <p:spPr>
          <a:xfrm>
            <a:off x="9323697" y="4613387"/>
            <a:ext cx="2160899" cy="609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Sub3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solidFill>
                  <a:srgbClr val="FF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Still</a:t>
            </a:r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getting Data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from 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Observable</a:t>
            </a:r>
            <a:endParaRPr lang="en-US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05" name="TextBox 10"/>
          <p:cNvSpPr txBox="1"/>
          <p:nvPr/>
        </p:nvSpPr>
        <p:spPr>
          <a:xfrm>
            <a:off x="9323698" y="2692572"/>
            <a:ext cx="216088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6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if</a:t>
            </a:r>
            <a:endParaRPr lang="en-US" sz="2000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8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8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8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48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48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8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8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99" grpId="0" animBg="1"/>
      <p:bldP spid="1048700" grpId="0"/>
      <p:bldP spid="1048701" grpId="0" animBg="1"/>
      <p:bldP spid="1048702" grpId="0"/>
      <p:bldP spid="1048703" grpId="0" animBg="1"/>
      <p:bldP spid="1048704" grpId="0"/>
      <p:bldP spid="104870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1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06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707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08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16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709" name="Rectangle: Rounded Corners 2"/>
          <p:cNvSpPr/>
          <p:nvPr/>
        </p:nvSpPr>
        <p:spPr>
          <a:xfrm>
            <a:off x="2524838" y="3117355"/>
            <a:ext cx="2074459" cy="628953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Observable</a:t>
            </a:r>
            <a:endParaRPr lang="en-US" dirty="0"/>
          </a:p>
        </p:txBody>
      </p:sp>
      <p:cxnSp>
        <p:nvCxnSpPr>
          <p:cNvPr id="3145736" name="Connector: Elbow 5"/>
          <p:cNvCxnSpPr>
            <a:stCxn id="1048709" idx="0"/>
            <a:endCxn id="1048710" idx="1"/>
          </p:cNvCxnSpPr>
          <p:nvPr/>
        </p:nvCxnSpPr>
        <p:spPr>
          <a:xfrm rot="5400000" flipH="1" flipV="1">
            <a:off x="4642236" y="922061"/>
            <a:ext cx="1115126" cy="3275463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48710" name="Rectangle 10"/>
          <p:cNvSpPr/>
          <p:nvPr/>
        </p:nvSpPr>
        <p:spPr>
          <a:xfrm>
            <a:off x="6837531" y="1572325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11" name="Oval 12"/>
          <p:cNvSpPr/>
          <p:nvPr/>
        </p:nvSpPr>
        <p:spPr>
          <a:xfrm>
            <a:off x="6967183" y="1701978"/>
            <a:ext cx="1678675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48712" name="Rectangle 13"/>
          <p:cNvSpPr/>
          <p:nvPr/>
        </p:nvSpPr>
        <p:spPr>
          <a:xfrm>
            <a:off x="6837531" y="2999096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13" name="Oval 14"/>
          <p:cNvSpPr/>
          <p:nvPr/>
        </p:nvSpPr>
        <p:spPr>
          <a:xfrm>
            <a:off x="6967183" y="3128749"/>
            <a:ext cx="1678675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48714" name="Rectangle 15"/>
          <p:cNvSpPr/>
          <p:nvPr/>
        </p:nvSpPr>
        <p:spPr>
          <a:xfrm>
            <a:off x="6837531" y="4425867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15" name="Oval 16"/>
          <p:cNvSpPr/>
          <p:nvPr/>
        </p:nvSpPr>
        <p:spPr>
          <a:xfrm>
            <a:off x="6967183" y="4555520"/>
            <a:ext cx="1678675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3145737" name="Connector: Elbow 19"/>
          <p:cNvCxnSpPr>
            <a:stCxn id="1048709" idx="2"/>
            <a:endCxn id="1048714" idx="1"/>
          </p:cNvCxnSpPr>
          <p:nvPr/>
        </p:nvCxnSpPr>
        <p:spPr>
          <a:xfrm rot="16200000" flipH="1">
            <a:off x="4645068" y="2663307"/>
            <a:ext cx="1109463" cy="3275463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45738" name="Straight Arrow Connector 21"/>
          <p:cNvCxnSpPr>
            <a:stCxn id="1048709" idx="3"/>
            <a:endCxn id="1048712" idx="1"/>
          </p:cNvCxnSpPr>
          <p:nvPr/>
        </p:nvCxnSpPr>
        <p:spPr>
          <a:xfrm flipV="1">
            <a:off x="4599297" y="3429000"/>
            <a:ext cx="2238234" cy="28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48716" name="TextBox 10"/>
          <p:cNvSpPr txBox="1"/>
          <p:nvPr/>
        </p:nvSpPr>
        <p:spPr>
          <a:xfrm>
            <a:off x="6967182" y="1257851"/>
            <a:ext cx="1678675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Subscribe1</a:t>
            </a:r>
            <a:endParaRPr lang="en-US" sz="20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17" name="TextBox 10"/>
          <p:cNvSpPr txBox="1"/>
          <p:nvPr/>
        </p:nvSpPr>
        <p:spPr>
          <a:xfrm>
            <a:off x="6967181" y="2669319"/>
            <a:ext cx="1678675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Subscribe2</a:t>
            </a:r>
            <a:endParaRPr lang="en-US" sz="20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18" name="TextBox 10"/>
          <p:cNvSpPr txBox="1"/>
          <p:nvPr/>
        </p:nvSpPr>
        <p:spPr>
          <a:xfrm>
            <a:off x="6967180" y="4075195"/>
            <a:ext cx="1678675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Subscribe3</a:t>
            </a:r>
            <a:endParaRPr lang="en-US" sz="20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19" name="Rectangle 28"/>
          <p:cNvSpPr/>
          <p:nvPr/>
        </p:nvSpPr>
        <p:spPr>
          <a:xfrm>
            <a:off x="9241809" y="3029802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20" name="TextBox 10"/>
          <p:cNvSpPr txBox="1"/>
          <p:nvPr/>
        </p:nvSpPr>
        <p:spPr>
          <a:xfrm>
            <a:off x="9323697" y="3140921"/>
            <a:ext cx="2160899" cy="609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Sub2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solidFill>
                  <a:srgbClr val="FF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Stop</a:t>
            </a:r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getting Data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from 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Observable</a:t>
            </a:r>
            <a:endParaRPr lang="en-US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21" name="Rectangle 30"/>
          <p:cNvSpPr/>
          <p:nvPr/>
        </p:nvSpPr>
        <p:spPr>
          <a:xfrm>
            <a:off x="9241809" y="1572325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22" name="TextBox 10"/>
          <p:cNvSpPr txBox="1"/>
          <p:nvPr/>
        </p:nvSpPr>
        <p:spPr>
          <a:xfrm>
            <a:off x="9323697" y="1683444"/>
            <a:ext cx="2160899" cy="609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Sub1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solidFill>
                  <a:srgbClr val="FF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Stop</a:t>
            </a:r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getting Data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from 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Observable</a:t>
            </a:r>
            <a:endParaRPr lang="en-US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23" name="Rectangle 32"/>
          <p:cNvSpPr/>
          <p:nvPr/>
        </p:nvSpPr>
        <p:spPr>
          <a:xfrm>
            <a:off x="9241809" y="4502268"/>
            <a:ext cx="1937981" cy="85980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24" name="TextBox 10"/>
          <p:cNvSpPr txBox="1"/>
          <p:nvPr/>
        </p:nvSpPr>
        <p:spPr>
          <a:xfrm>
            <a:off x="9323697" y="4613387"/>
            <a:ext cx="2160899" cy="609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Sub3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solidFill>
                  <a:srgbClr val="FF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Stop</a:t>
            </a:r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getting Data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from 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Observable</a:t>
            </a:r>
            <a:endParaRPr lang="en-US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25" name="Rectangle 34"/>
          <p:cNvSpPr/>
          <p:nvPr/>
        </p:nvSpPr>
        <p:spPr>
          <a:xfrm>
            <a:off x="145571" y="2869441"/>
            <a:ext cx="2324675" cy="155642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726" name="TextBox 10"/>
          <p:cNvSpPr txBox="1"/>
          <p:nvPr/>
        </p:nvSpPr>
        <p:spPr>
          <a:xfrm>
            <a:off x="227459" y="2980561"/>
            <a:ext cx="2242787" cy="1016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observer. complete();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Means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Observable</a:t>
            </a:r>
            <a:endParaRPr lang="en-US" sz="1400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Itself will </a:t>
            </a:r>
            <a:r>
              <a:rPr lang="en-US" sz="1400" spc="178" dirty="0">
                <a:solidFill>
                  <a:srgbClr val="FF000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not send any data</a:t>
            </a:r>
            <a:r>
              <a:rPr lang="en-US" sz="1400" spc="178" dirty="0">
                <a:solidFill>
                  <a:srgbClr val="0070C0"/>
                </a:solidFill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 </a:t>
            </a:r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to </a:t>
            </a:r>
            <a:endParaRPr lang="en-US" sz="1400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  <a:p>
            <a:r>
              <a:rPr lang="en-US" sz="14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All Subscribers</a:t>
            </a:r>
            <a:endParaRPr lang="en-US" spc="178" dirty="0"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  <p:sp>
        <p:nvSpPr>
          <p:cNvPr id="1048727" name="TextBox 10"/>
          <p:cNvSpPr txBox="1"/>
          <p:nvPr/>
        </p:nvSpPr>
        <p:spPr>
          <a:xfrm>
            <a:off x="237809" y="2595408"/>
            <a:ext cx="216088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r>
              <a:rPr lang="en-US" sz="1600" spc="178" dirty="0">
                <a:latin typeface="Bahnschrift" panose="020B0502040204020203" pitchFamily="34" charset="0"/>
                <a:ea typeface="GulimChe" panose="020B0503020000020004" pitchFamily="49" charset="-127"/>
                <a:cs typeface="Cavolini" panose="020B0502040204020203" pitchFamily="66" charset="0"/>
                <a:sym typeface="Another Shabby Light"/>
              </a:rPr>
              <a:t>if</a:t>
            </a:r>
            <a:endParaRPr lang="en-US" sz="2000" spc="178" dirty="0">
              <a:solidFill>
                <a:srgbClr val="0070C0"/>
              </a:solidFill>
              <a:latin typeface="Bahnschrift" panose="020B0502040204020203" pitchFamily="34" charset="0"/>
              <a:ea typeface="GulimChe" panose="020B0503020000020004" pitchFamily="49" charset="-127"/>
              <a:cs typeface="Cavolini" panose="020B0502040204020203" pitchFamily="66" charset="0"/>
              <a:sym typeface="Another Shabby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8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8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8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48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48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8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8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48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48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8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48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19" grpId="0" animBg="1"/>
      <p:bldP spid="1048720" grpId="0"/>
      <p:bldP spid="1048721" grpId="0" animBg="1"/>
      <p:bldP spid="1048722" grpId="0"/>
      <p:bldP spid="1048723" grpId="0" animBg="1"/>
      <p:bldP spid="1048724" grpId="0"/>
      <p:bldP spid="1048725" grpId="0" animBg="1"/>
      <p:bldP spid="1048726" grpId="0"/>
      <p:bldP spid="10487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2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28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729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30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en-US" altLang="en-GB" b="1" dirty="0">
                <a:solidFill>
                  <a:schemeClr val="bg1"/>
                </a:solidFill>
              </a:rPr>
              <a:t>7</a:t>
            </a:r>
            <a:endParaRPr lang="zh-CN" altLang="en-US"/>
          </a:p>
        </p:txBody>
      </p:sp>
      <p:cxnSp>
        <p:nvCxnSpPr>
          <p:cNvPr id="3145739" name="Straight Arrow Connector 3145738"/>
          <p:cNvCxnSpPr/>
          <p:nvPr/>
        </p:nvCxnSpPr>
        <p:spPr>
          <a:xfrm flipV="1">
            <a:off x="2356146" y="2362470"/>
            <a:ext cx="7344241" cy="43109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sp>
        <p:nvSpPr>
          <p:cNvPr id="1048731" name="Oval 1048730"/>
          <p:cNvSpPr/>
          <p:nvPr/>
        </p:nvSpPr>
        <p:spPr>
          <a:xfrm>
            <a:off x="2886077" y="2127770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p>
            <a:pPr algn="ctr"/>
            <a:r>
              <a:rPr lang="en-US" altLang="en-GB" b="1">
                <a:solidFill>
                  <a:srgbClr val="FF6600"/>
                </a:solidFill>
              </a:rPr>
              <a:t>A</a:t>
            </a:r>
            <a:endParaRPr lang="en-US" b="1">
              <a:solidFill>
                <a:srgbClr val="FF6600"/>
              </a:solidFill>
            </a:endParaRPr>
          </a:p>
        </p:txBody>
      </p:sp>
      <p:sp>
        <p:nvSpPr>
          <p:cNvPr id="1048732" name="Oval 1048731"/>
          <p:cNvSpPr/>
          <p:nvPr/>
        </p:nvSpPr>
        <p:spPr>
          <a:xfrm>
            <a:off x="5202565" y="2127769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00FF"/>
                </a:solidFill>
              </a:rPr>
              <a:t>B</a:t>
            </a:r>
            <a:endParaRPr lang="en-US" b="1">
              <a:solidFill>
                <a:srgbClr val="0000FF"/>
              </a:solidFill>
            </a:endParaRPr>
          </a:p>
        </p:txBody>
      </p:sp>
      <p:sp>
        <p:nvSpPr>
          <p:cNvPr id="1048733" name="Oval 1048732"/>
          <p:cNvSpPr/>
          <p:nvPr/>
        </p:nvSpPr>
        <p:spPr>
          <a:xfrm>
            <a:off x="7519056" y="2127771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99CC00"/>
                </a:solidFill>
              </a:rPr>
              <a:t>C</a:t>
            </a:r>
            <a:endParaRPr lang="en-US" b="1">
              <a:solidFill>
                <a:srgbClr val="99CC00"/>
              </a:solidFill>
            </a:endParaRPr>
          </a:p>
        </p:txBody>
      </p:sp>
      <p:cxnSp>
        <p:nvCxnSpPr>
          <p:cNvPr id="3145740" name="Straight Arrow Connector 3145739"/>
          <p:cNvCxnSpPr/>
          <p:nvPr/>
        </p:nvCxnSpPr>
        <p:spPr>
          <a:xfrm flipV="1">
            <a:off x="2356145" y="3807765"/>
            <a:ext cx="7344241" cy="43109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sp>
        <p:nvSpPr>
          <p:cNvPr id="1048734" name="Oval 1048733"/>
          <p:cNvSpPr/>
          <p:nvPr/>
        </p:nvSpPr>
        <p:spPr>
          <a:xfrm>
            <a:off x="5202564" y="3573064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00FF"/>
                </a:solidFill>
                <a:latin typeface="Aptos"/>
              </a:rPr>
              <a:t>B</a:t>
            </a:r>
            <a:endParaRPr lang="en-US" b="1">
              <a:solidFill>
                <a:srgbClr val="0000FF"/>
              </a:solidFill>
            </a:endParaRPr>
          </a:p>
        </p:txBody>
      </p:sp>
      <p:sp>
        <p:nvSpPr>
          <p:cNvPr id="1048735" name="Oval 1048734"/>
          <p:cNvSpPr/>
          <p:nvPr/>
        </p:nvSpPr>
        <p:spPr>
          <a:xfrm>
            <a:off x="7519055" y="3573066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99CC00"/>
                </a:solidFill>
                <a:latin typeface="Aptos"/>
              </a:rPr>
              <a:t>C</a:t>
            </a:r>
            <a:endParaRPr lang="en-US" b="1">
              <a:solidFill>
                <a:srgbClr val="99CC00"/>
              </a:solidFill>
            </a:endParaRPr>
          </a:p>
        </p:txBody>
      </p:sp>
      <p:sp>
        <p:nvSpPr>
          <p:cNvPr id="1048736" name="Oval 1048735"/>
          <p:cNvSpPr/>
          <p:nvPr/>
        </p:nvSpPr>
        <p:spPr>
          <a:xfrm>
            <a:off x="2886076" y="3573065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FF6600"/>
                </a:solidFill>
                <a:latin typeface="Aptos"/>
              </a:rPr>
              <a:t>A</a:t>
            </a:r>
            <a:endParaRPr lang="en-US" b="1">
              <a:solidFill>
                <a:srgbClr val="FF6600"/>
              </a:solidFill>
            </a:endParaRPr>
          </a:p>
        </p:txBody>
      </p:sp>
      <p:sp>
        <p:nvSpPr>
          <p:cNvPr id="1048737" name="Rectangle 1048736"/>
          <p:cNvSpPr/>
          <p:nvPr/>
        </p:nvSpPr>
        <p:spPr>
          <a:xfrm flipH="1">
            <a:off x="9165460" y="3458912"/>
            <a:ext cx="66914" cy="645970"/>
          </a:xfrm>
          <a:prstGeom prst="rect">
            <a:avLst/>
          </a:prstGeom>
          <a:solidFill>
            <a:srgbClr val="3399FF"/>
          </a:solidFill>
          <a:ln w="25400">
            <a:solidFill>
              <a:srgbClr val="0065CB"/>
            </a:solidFill>
            <a:prstDash val="solid"/>
          </a:ln>
        </p:spPr>
        <p:txBody>
          <a:bodyPr anchor="ctr"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48738" name="Text Box 1048737"/>
          <p:cNvSpPr txBox="1"/>
          <p:nvPr/>
        </p:nvSpPr>
        <p:spPr>
          <a:xfrm>
            <a:off x="8403571" y="3096259"/>
            <a:ext cx="1590692" cy="33274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en-GB" sz="1600" b="1">
                <a:solidFill>
                  <a:srgbClr val="000000"/>
                </a:solidFill>
              </a:rPr>
              <a:t>C</a:t>
            </a:r>
            <a:r>
              <a:rPr lang="en-US" altLang="en-GB" sz="1600" b="1">
                <a:solidFill>
                  <a:srgbClr val="000000"/>
                </a:solidFill>
              </a:rPr>
              <a:t>o</a:t>
            </a:r>
            <a:r>
              <a:rPr lang="en-US" altLang="en-GB" sz="1600" b="1">
                <a:solidFill>
                  <a:srgbClr val="000000"/>
                </a:solidFill>
              </a:rPr>
              <a:t>m</a:t>
            </a:r>
            <a:r>
              <a:rPr lang="en-US" altLang="en-GB" sz="1600" b="1">
                <a:solidFill>
                  <a:srgbClr val="000000"/>
                </a:solidFill>
              </a:rPr>
              <a:t>p</a:t>
            </a:r>
            <a:r>
              <a:rPr lang="en-US" altLang="en-GB" sz="1600" b="1">
                <a:solidFill>
                  <a:srgbClr val="000000"/>
                </a:solidFill>
              </a:rPr>
              <a:t>e</a:t>
            </a:r>
            <a:r>
              <a:rPr lang="en-US" altLang="en-GB" sz="1600" b="1">
                <a:solidFill>
                  <a:srgbClr val="000000"/>
                </a:solidFill>
              </a:rPr>
              <a:t>l</a:t>
            </a:r>
            <a:r>
              <a:rPr lang="en-US" altLang="en-GB" sz="1600" b="1">
                <a:solidFill>
                  <a:srgbClr val="000000"/>
                </a:solidFill>
              </a:rPr>
              <a:t>e</a:t>
            </a:r>
            <a:r>
              <a:rPr lang="en-US" altLang="en-GB" sz="1600" b="1">
                <a:solidFill>
                  <a:srgbClr val="000000"/>
                </a:solidFill>
              </a:rPr>
              <a:t>t</a:t>
            </a:r>
            <a:r>
              <a:rPr lang="en-US" altLang="en-GB" sz="1600" b="1">
                <a:solidFill>
                  <a:srgbClr val="000000"/>
                </a:solidFill>
              </a:rPr>
              <a:t>e</a:t>
            </a:r>
            <a:endParaRPr lang="en-US" sz="2800" b="1">
              <a:solidFill>
                <a:srgbClr val="000000"/>
              </a:solidFill>
            </a:endParaRPr>
          </a:p>
        </p:txBody>
      </p:sp>
      <p:cxnSp>
        <p:nvCxnSpPr>
          <p:cNvPr id="3145741" name="Straight Arrow Connector 3145740"/>
          <p:cNvCxnSpPr/>
          <p:nvPr/>
        </p:nvCxnSpPr>
        <p:spPr>
          <a:xfrm flipV="1">
            <a:off x="2356145" y="5323156"/>
            <a:ext cx="7344241" cy="43109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sp>
        <p:nvSpPr>
          <p:cNvPr id="1048739" name="Oval 1048738"/>
          <p:cNvSpPr/>
          <p:nvPr/>
        </p:nvSpPr>
        <p:spPr>
          <a:xfrm>
            <a:off x="5202564" y="5088455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00FF"/>
                </a:solidFill>
                <a:latin typeface="Aptos"/>
              </a:rPr>
              <a:t>B</a:t>
            </a:r>
            <a:endParaRPr lang="en-US" b="1">
              <a:solidFill>
                <a:srgbClr val="0000FF"/>
              </a:solidFill>
            </a:endParaRPr>
          </a:p>
        </p:txBody>
      </p:sp>
      <p:sp>
        <p:nvSpPr>
          <p:cNvPr id="1048740" name="Oval 1048739"/>
          <p:cNvSpPr/>
          <p:nvPr/>
        </p:nvSpPr>
        <p:spPr>
          <a:xfrm>
            <a:off x="2886076" y="5088456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FF6600"/>
                </a:solidFill>
                <a:latin typeface="Aptos"/>
              </a:rPr>
              <a:t>A</a:t>
            </a:r>
            <a:endParaRPr lang="en-US" b="1">
              <a:solidFill>
                <a:srgbClr val="FF6600"/>
              </a:solidFill>
            </a:endParaRPr>
          </a:p>
        </p:txBody>
      </p:sp>
      <p:sp>
        <p:nvSpPr>
          <p:cNvPr id="1048741" name="Oval 1048740"/>
          <p:cNvSpPr/>
          <p:nvPr/>
        </p:nvSpPr>
        <p:spPr>
          <a:xfrm>
            <a:off x="7519055" y="5088457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99CC00"/>
                </a:solidFill>
                <a:latin typeface="Aptos"/>
              </a:rPr>
              <a:t>C</a:t>
            </a:r>
            <a:endParaRPr lang="en-US" b="1">
              <a:solidFill>
                <a:srgbClr val="99CC00"/>
              </a:solidFill>
            </a:endParaRPr>
          </a:p>
        </p:txBody>
      </p:sp>
      <p:sp>
        <p:nvSpPr>
          <p:cNvPr id="1048742" name="Text Box 1048741"/>
          <p:cNvSpPr txBox="1"/>
          <p:nvPr/>
        </p:nvSpPr>
        <p:spPr>
          <a:xfrm>
            <a:off x="8727868" y="4690197"/>
            <a:ext cx="991562" cy="332740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GB" sz="1600" b="1">
                <a:solidFill>
                  <a:srgbClr val="000000"/>
                </a:solidFill>
                <a:latin typeface="Aptos"/>
              </a:rPr>
              <a:t>E</a:t>
            </a:r>
            <a:r>
              <a:rPr lang="en-US" altLang="en-GB" sz="1600" b="1">
                <a:solidFill>
                  <a:srgbClr val="000000"/>
                </a:solidFill>
                <a:latin typeface="Aptos"/>
              </a:rPr>
              <a:t>r</a:t>
            </a:r>
            <a:r>
              <a:rPr lang="en-US" altLang="en-GB" sz="1600" b="1">
                <a:solidFill>
                  <a:srgbClr val="000000"/>
                </a:solidFill>
                <a:latin typeface="Aptos"/>
              </a:rPr>
              <a:t>o</a:t>
            </a:r>
            <a:r>
              <a:rPr lang="en-US" altLang="en-GB" sz="1600" b="1">
                <a:solidFill>
                  <a:srgbClr val="000000"/>
                </a:solidFill>
                <a:latin typeface="Aptos"/>
              </a:rPr>
              <a:t>r</a:t>
            </a:r>
            <a:r>
              <a:rPr lang="en-US" altLang="en-GB" sz="1600" b="1">
                <a:solidFill>
                  <a:srgbClr val="000000"/>
                </a:solidFill>
                <a:latin typeface="Aptos"/>
              </a:rPr>
              <a:t>r</a:t>
            </a:r>
            <a:endParaRPr lang="en-US" sz="2800" b="1">
              <a:solidFill>
                <a:srgbClr val="000000"/>
              </a:solidFill>
            </a:endParaRPr>
          </a:p>
        </p:txBody>
      </p:sp>
      <p:grpSp>
        <p:nvGrpSpPr>
          <p:cNvPr id="82" name="Group 81"/>
          <p:cNvGrpSpPr/>
          <p:nvPr/>
        </p:nvGrpSpPr>
        <p:grpSpPr>
          <a:xfrm>
            <a:off x="9016284" y="5000171"/>
            <a:ext cx="68389" cy="665988"/>
            <a:chOff x="9016284" y="5000171"/>
            <a:chExt cx="68389" cy="665988"/>
          </a:xfrm>
        </p:grpSpPr>
        <p:sp>
          <p:nvSpPr>
            <p:cNvPr id="1048743" name="Rectangle 1048742"/>
            <p:cNvSpPr/>
            <p:nvPr/>
          </p:nvSpPr>
          <p:spPr>
            <a:xfrm rot="19901346" flipH="1">
              <a:off x="9016284" y="5000171"/>
              <a:ext cx="66914" cy="64597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990000"/>
              </a:solidFill>
              <a:prstDash val="solid"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48744" name="Rectangle 1048743"/>
            <p:cNvSpPr/>
            <p:nvPr/>
          </p:nvSpPr>
          <p:spPr>
            <a:xfrm rot="1679802" flipH="1">
              <a:off x="9017759" y="5020189"/>
              <a:ext cx="66914" cy="64597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990000"/>
              </a:solidFill>
              <a:prstDash val="solid"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2" name="Straight Arrow Connector 3145741"/>
          <p:cNvCxnSpPr/>
          <p:nvPr/>
        </p:nvCxnSpPr>
        <p:spPr>
          <a:xfrm flipV="1">
            <a:off x="2136548" y="4280855"/>
            <a:ext cx="7344241" cy="43109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cxnSp>
        <p:nvCxnSpPr>
          <p:cNvPr id="3145743" name="Straight Arrow Connector 3145742"/>
          <p:cNvCxnSpPr/>
          <p:nvPr/>
        </p:nvCxnSpPr>
        <p:spPr>
          <a:xfrm flipV="1">
            <a:off x="2135107" y="5392179"/>
            <a:ext cx="7344241" cy="43109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cxnSp>
        <p:nvCxnSpPr>
          <p:cNvPr id="3145744" name="Straight Arrow Connector 3145743"/>
          <p:cNvCxnSpPr/>
          <p:nvPr/>
        </p:nvCxnSpPr>
        <p:spPr>
          <a:xfrm flipV="1">
            <a:off x="2135106" y="3126422"/>
            <a:ext cx="7344241" cy="43109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pic>
        <p:nvPicPr>
          <p:cNvPr id="2097203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45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746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47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en-US" altLang="en-GB" b="1" dirty="0">
                <a:solidFill>
                  <a:schemeClr val="bg1"/>
                </a:solidFill>
              </a:rPr>
              <a:t>8</a:t>
            </a:r>
            <a:endParaRPr lang="zh-CN" altLang="en-US"/>
          </a:p>
        </p:txBody>
      </p:sp>
      <p:cxnSp>
        <p:nvCxnSpPr>
          <p:cNvPr id="3145745" name="Straight Arrow Connector 3145744"/>
          <p:cNvCxnSpPr/>
          <p:nvPr/>
        </p:nvCxnSpPr>
        <p:spPr>
          <a:xfrm flipV="1">
            <a:off x="2135107" y="1971988"/>
            <a:ext cx="7344241" cy="43109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sp>
        <p:nvSpPr>
          <p:cNvPr id="1048748" name="Oval 1048747"/>
          <p:cNvSpPr/>
          <p:nvPr/>
        </p:nvSpPr>
        <p:spPr>
          <a:xfrm>
            <a:off x="2665038" y="1737288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p>
            <a:pPr algn="ctr"/>
            <a:r>
              <a:rPr lang="en-US" altLang="en-GB" b="1">
                <a:solidFill>
                  <a:srgbClr val="FF6600"/>
                </a:solidFill>
              </a:rPr>
              <a:t>A</a:t>
            </a:r>
            <a:endParaRPr lang="en-US" b="1">
              <a:solidFill>
                <a:srgbClr val="FF6600"/>
              </a:solidFill>
            </a:endParaRPr>
          </a:p>
        </p:txBody>
      </p:sp>
      <p:sp>
        <p:nvSpPr>
          <p:cNvPr id="1048749" name="Oval 1048748"/>
          <p:cNvSpPr/>
          <p:nvPr/>
        </p:nvSpPr>
        <p:spPr>
          <a:xfrm>
            <a:off x="3880373" y="1715736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00FF"/>
                </a:solidFill>
              </a:rPr>
              <a:t>B</a:t>
            </a:r>
            <a:endParaRPr lang="en-US" b="1">
              <a:solidFill>
                <a:srgbClr val="0000FF"/>
              </a:solidFill>
            </a:endParaRPr>
          </a:p>
        </p:txBody>
      </p:sp>
      <p:sp>
        <p:nvSpPr>
          <p:cNvPr id="1048750" name="Oval 1048749"/>
          <p:cNvSpPr/>
          <p:nvPr/>
        </p:nvSpPr>
        <p:spPr>
          <a:xfrm>
            <a:off x="5164874" y="1715736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99CC00"/>
                </a:solidFill>
              </a:rPr>
              <a:t>C</a:t>
            </a:r>
            <a:endParaRPr lang="en-US" b="1">
              <a:solidFill>
                <a:srgbClr val="99CC00"/>
              </a:solidFill>
            </a:endParaRPr>
          </a:p>
        </p:txBody>
      </p:sp>
      <p:sp>
        <p:nvSpPr>
          <p:cNvPr id="1048751" name="Rectangle 1048750"/>
          <p:cNvSpPr/>
          <p:nvPr/>
        </p:nvSpPr>
        <p:spPr>
          <a:xfrm flipH="1">
            <a:off x="6506748" y="1649003"/>
            <a:ext cx="66914" cy="645970"/>
          </a:xfrm>
          <a:prstGeom prst="rect">
            <a:avLst/>
          </a:prstGeom>
          <a:solidFill>
            <a:srgbClr val="3399FF"/>
          </a:solidFill>
          <a:ln w="25400">
            <a:solidFill>
              <a:srgbClr val="0065CB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48752" name="Oval 1048751"/>
          <p:cNvSpPr/>
          <p:nvPr/>
        </p:nvSpPr>
        <p:spPr>
          <a:xfrm>
            <a:off x="7298016" y="1737287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8080"/>
                </a:solidFill>
                <a:latin typeface="Aptos"/>
              </a:rPr>
              <a:t>D</a:t>
            </a:r>
            <a:endParaRPr lang="en-US" b="1">
              <a:solidFill>
                <a:srgbClr val="008080"/>
              </a:solidFill>
            </a:endParaRPr>
          </a:p>
        </p:txBody>
      </p:sp>
      <p:sp>
        <p:nvSpPr>
          <p:cNvPr id="1048753" name="Oval 1048752"/>
          <p:cNvSpPr/>
          <p:nvPr/>
        </p:nvSpPr>
        <p:spPr>
          <a:xfrm>
            <a:off x="8368264" y="1715736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CC0066"/>
                </a:solidFill>
                <a:latin typeface="Aptos"/>
              </a:rPr>
              <a:t>E</a:t>
            </a:r>
            <a:endParaRPr lang="en-US" b="1">
              <a:solidFill>
                <a:srgbClr val="CC0066"/>
              </a:solidFill>
            </a:endParaRPr>
          </a:p>
        </p:txBody>
      </p:sp>
      <p:sp>
        <p:nvSpPr>
          <p:cNvPr id="1048754" name="Oval 1048753"/>
          <p:cNvSpPr/>
          <p:nvPr/>
        </p:nvSpPr>
        <p:spPr>
          <a:xfrm>
            <a:off x="2665037" y="2891722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FF6600"/>
                </a:solidFill>
                <a:latin typeface="Aptos"/>
              </a:rPr>
              <a:t>A</a:t>
            </a:r>
            <a:endParaRPr lang="en-US" b="1">
              <a:solidFill>
                <a:srgbClr val="FF6600"/>
              </a:solidFill>
            </a:endParaRPr>
          </a:p>
        </p:txBody>
      </p:sp>
      <p:sp>
        <p:nvSpPr>
          <p:cNvPr id="1048755" name="Oval 1048754"/>
          <p:cNvSpPr/>
          <p:nvPr/>
        </p:nvSpPr>
        <p:spPr>
          <a:xfrm>
            <a:off x="7298015" y="2891721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8080"/>
                </a:solidFill>
                <a:latin typeface="Aptos"/>
              </a:rPr>
              <a:t>D</a:t>
            </a:r>
            <a:endParaRPr lang="en-US" b="1">
              <a:solidFill>
                <a:srgbClr val="008080"/>
              </a:solidFill>
            </a:endParaRPr>
          </a:p>
        </p:txBody>
      </p:sp>
      <p:sp>
        <p:nvSpPr>
          <p:cNvPr id="1048756" name="Oval 1048755"/>
          <p:cNvSpPr/>
          <p:nvPr/>
        </p:nvSpPr>
        <p:spPr>
          <a:xfrm>
            <a:off x="5164873" y="2870170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99CC00"/>
                </a:solidFill>
                <a:latin typeface="Aptos"/>
              </a:rPr>
              <a:t>C</a:t>
            </a:r>
            <a:endParaRPr lang="en-US" b="1">
              <a:solidFill>
                <a:srgbClr val="99CC00"/>
              </a:solidFill>
            </a:endParaRPr>
          </a:p>
        </p:txBody>
      </p:sp>
      <p:sp>
        <p:nvSpPr>
          <p:cNvPr id="1048757" name="Oval 1048756"/>
          <p:cNvSpPr/>
          <p:nvPr/>
        </p:nvSpPr>
        <p:spPr>
          <a:xfrm>
            <a:off x="3880372" y="2870170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00FF"/>
                </a:solidFill>
                <a:latin typeface="Aptos"/>
              </a:rPr>
              <a:t>B</a:t>
            </a:r>
            <a:endParaRPr lang="en-US" b="1">
              <a:solidFill>
                <a:srgbClr val="0000FF"/>
              </a:solidFill>
            </a:endParaRPr>
          </a:p>
        </p:txBody>
      </p:sp>
      <p:sp>
        <p:nvSpPr>
          <p:cNvPr id="1048758" name="Oval 1048757"/>
          <p:cNvSpPr/>
          <p:nvPr/>
        </p:nvSpPr>
        <p:spPr>
          <a:xfrm>
            <a:off x="8368263" y="2870170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CC0066"/>
                </a:solidFill>
                <a:latin typeface="Aptos"/>
              </a:rPr>
              <a:t>E</a:t>
            </a:r>
            <a:endParaRPr lang="en-US" b="1">
              <a:solidFill>
                <a:srgbClr val="CC0066"/>
              </a:solidFill>
            </a:endParaRPr>
          </a:p>
        </p:txBody>
      </p:sp>
      <p:sp>
        <p:nvSpPr>
          <p:cNvPr id="1048759" name="Oval 1048758"/>
          <p:cNvSpPr/>
          <p:nvPr/>
        </p:nvSpPr>
        <p:spPr>
          <a:xfrm>
            <a:off x="2666479" y="4046155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FF6600"/>
                </a:solidFill>
                <a:latin typeface="Aptos"/>
              </a:rPr>
              <a:t>A</a:t>
            </a:r>
            <a:endParaRPr lang="en-US" b="1">
              <a:solidFill>
                <a:srgbClr val="FF6600"/>
              </a:solidFill>
            </a:endParaRPr>
          </a:p>
        </p:txBody>
      </p:sp>
      <p:sp>
        <p:nvSpPr>
          <p:cNvPr id="1048760" name="Rectangle 1048759"/>
          <p:cNvSpPr/>
          <p:nvPr/>
        </p:nvSpPr>
        <p:spPr>
          <a:xfrm flipH="1">
            <a:off x="6508189" y="3957870"/>
            <a:ext cx="66914" cy="645970"/>
          </a:xfrm>
          <a:prstGeom prst="rect">
            <a:avLst/>
          </a:prstGeom>
          <a:solidFill>
            <a:srgbClr val="3399FF"/>
          </a:solidFill>
          <a:ln w="25400">
            <a:solidFill>
              <a:srgbClr val="0065CB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48761" name="Oval 1048760"/>
          <p:cNvSpPr/>
          <p:nvPr/>
        </p:nvSpPr>
        <p:spPr>
          <a:xfrm>
            <a:off x="5166315" y="4024603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99CC00"/>
                </a:solidFill>
                <a:latin typeface="Aptos"/>
              </a:rPr>
              <a:t>C</a:t>
            </a:r>
            <a:endParaRPr lang="en-US" b="1">
              <a:solidFill>
                <a:srgbClr val="99CC00"/>
              </a:solidFill>
            </a:endParaRPr>
          </a:p>
        </p:txBody>
      </p:sp>
      <p:sp>
        <p:nvSpPr>
          <p:cNvPr id="1048762" name="Oval 1048761"/>
          <p:cNvSpPr/>
          <p:nvPr/>
        </p:nvSpPr>
        <p:spPr>
          <a:xfrm>
            <a:off x="3881814" y="4024603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00FF"/>
                </a:solidFill>
                <a:latin typeface="Aptos"/>
              </a:rPr>
              <a:t>B</a:t>
            </a:r>
            <a:endParaRPr lang="en-US" b="1">
              <a:solidFill>
                <a:srgbClr val="0000FF"/>
              </a:solidFill>
            </a:endParaRPr>
          </a:p>
        </p:txBody>
      </p:sp>
      <p:sp>
        <p:nvSpPr>
          <p:cNvPr id="1048763" name="Oval 1048762"/>
          <p:cNvSpPr/>
          <p:nvPr/>
        </p:nvSpPr>
        <p:spPr>
          <a:xfrm>
            <a:off x="2665038" y="5157479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FF6600"/>
                </a:solidFill>
                <a:latin typeface="Aptos"/>
              </a:rPr>
              <a:t>A</a:t>
            </a:r>
            <a:endParaRPr lang="en-US" b="1">
              <a:solidFill>
                <a:srgbClr val="FF6600"/>
              </a:solidFill>
            </a:endParaRPr>
          </a:p>
        </p:txBody>
      </p:sp>
      <p:sp>
        <p:nvSpPr>
          <p:cNvPr id="1048764" name="Rectangle 1048763"/>
          <p:cNvSpPr/>
          <p:nvPr/>
        </p:nvSpPr>
        <p:spPr>
          <a:xfrm flipH="1">
            <a:off x="8032033" y="5069194"/>
            <a:ext cx="66914" cy="645970"/>
          </a:xfrm>
          <a:prstGeom prst="rect">
            <a:avLst/>
          </a:prstGeom>
          <a:solidFill>
            <a:srgbClr val="3399FF"/>
          </a:solidFill>
          <a:ln w="25400">
            <a:solidFill>
              <a:srgbClr val="0065CB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48765" name="Oval 1048764"/>
          <p:cNvSpPr/>
          <p:nvPr/>
        </p:nvSpPr>
        <p:spPr>
          <a:xfrm>
            <a:off x="5164874" y="5135927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99CC00"/>
                </a:solidFill>
                <a:latin typeface="Aptos"/>
              </a:rPr>
              <a:t>C</a:t>
            </a:r>
            <a:endParaRPr lang="en-US" b="1">
              <a:solidFill>
                <a:srgbClr val="99CC00"/>
              </a:solidFill>
            </a:endParaRPr>
          </a:p>
        </p:txBody>
      </p:sp>
      <p:sp>
        <p:nvSpPr>
          <p:cNvPr id="1048766" name="Oval 1048765"/>
          <p:cNvSpPr/>
          <p:nvPr/>
        </p:nvSpPr>
        <p:spPr>
          <a:xfrm>
            <a:off x="3880373" y="5135927"/>
            <a:ext cx="555613" cy="5556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b="1">
                <a:solidFill>
                  <a:srgbClr val="0000FF"/>
                </a:solidFill>
                <a:latin typeface="Aptos"/>
              </a:rPr>
              <a:t>B</a:t>
            </a:r>
            <a:endParaRPr lang="en-US" b="1">
              <a:solidFill>
                <a:srgbClr val="0000FF"/>
              </a:solidFill>
            </a:endParaRPr>
          </a:p>
        </p:txBody>
      </p:sp>
      <p:grpSp>
        <p:nvGrpSpPr>
          <p:cNvPr id="84" name="Group 83"/>
          <p:cNvGrpSpPr/>
          <p:nvPr/>
        </p:nvGrpSpPr>
        <p:grpSpPr>
          <a:xfrm>
            <a:off x="6438359" y="2836534"/>
            <a:ext cx="68389" cy="665988"/>
            <a:chOff x="9016284" y="5000171"/>
            <a:chExt cx="68389" cy="665988"/>
          </a:xfrm>
        </p:grpSpPr>
        <p:sp>
          <p:nvSpPr>
            <p:cNvPr id="1048767" name="Rectangle 1048766"/>
            <p:cNvSpPr/>
            <p:nvPr/>
          </p:nvSpPr>
          <p:spPr>
            <a:xfrm rot="19901346" flipH="1">
              <a:off x="9016284" y="5000171"/>
              <a:ext cx="66914" cy="64597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990000"/>
              </a:solidFill>
              <a:prstDash val="solid"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48768" name="Rectangle 1048767"/>
            <p:cNvSpPr/>
            <p:nvPr/>
          </p:nvSpPr>
          <p:spPr>
            <a:xfrm rot="1679802" flipH="1">
              <a:off x="9017759" y="5020189"/>
              <a:ext cx="66914" cy="64597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990000"/>
              </a:solidFill>
              <a:prstDash val="solid"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8065492" y="3957870"/>
            <a:ext cx="68389" cy="665988"/>
            <a:chOff x="9016284" y="5000171"/>
            <a:chExt cx="68389" cy="665988"/>
          </a:xfrm>
        </p:grpSpPr>
        <p:sp>
          <p:nvSpPr>
            <p:cNvPr id="1048769" name="Rectangle 1048768"/>
            <p:cNvSpPr/>
            <p:nvPr/>
          </p:nvSpPr>
          <p:spPr>
            <a:xfrm rot="19901346" flipH="1">
              <a:off x="9016284" y="5000171"/>
              <a:ext cx="66914" cy="64597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990000"/>
              </a:solidFill>
              <a:prstDash val="solid"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48770" name="Rectangle 1048769"/>
            <p:cNvSpPr/>
            <p:nvPr/>
          </p:nvSpPr>
          <p:spPr>
            <a:xfrm rot="1679802" flipH="1">
              <a:off x="9017759" y="5020189"/>
              <a:ext cx="66914" cy="64597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990000"/>
              </a:solidFill>
              <a:prstDash val="solid"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6654447" y="5080739"/>
            <a:ext cx="68389" cy="665988"/>
            <a:chOff x="9016284" y="5000171"/>
            <a:chExt cx="68389" cy="665988"/>
          </a:xfrm>
        </p:grpSpPr>
        <p:sp>
          <p:nvSpPr>
            <p:cNvPr id="1048771" name="Rectangle 1048770"/>
            <p:cNvSpPr/>
            <p:nvPr/>
          </p:nvSpPr>
          <p:spPr>
            <a:xfrm rot="19901346" flipH="1">
              <a:off x="9016284" y="5000171"/>
              <a:ext cx="66914" cy="64597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990000"/>
              </a:solidFill>
              <a:prstDash val="solid"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48772" name="Rectangle 1048771"/>
            <p:cNvSpPr/>
            <p:nvPr/>
          </p:nvSpPr>
          <p:spPr>
            <a:xfrm rot="1679802" flipH="1">
              <a:off x="9017759" y="5020189"/>
              <a:ext cx="66914" cy="64597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990000"/>
              </a:solidFill>
              <a:prstDash val="solid"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4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73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774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75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en-US" altLang="en-GB" b="1" dirty="0">
                <a:solidFill>
                  <a:schemeClr val="bg1"/>
                </a:solidFill>
              </a:rPr>
              <a:t>9</a:t>
            </a:r>
            <a:endParaRPr lang="zh-CN" altLang="en-US"/>
          </a:p>
        </p:txBody>
      </p:sp>
      <p:pic>
        <p:nvPicPr>
          <p:cNvPr id="2097205" name="Picture 2097204"/>
          <p:cNvPicPr/>
          <p:nvPr/>
        </p:nvPicPr>
        <p:blipFill>
          <a:blip r:embed="rId2"/>
          <a:stretch>
            <a:fillRect/>
          </a:stretch>
        </p:blipFill>
        <p:spPr>
          <a:xfrm>
            <a:off x="2649547" y="1978275"/>
            <a:ext cx="6415923" cy="3963092"/>
          </a:xfrm>
          <a:prstGeom prst="rect">
            <a:avLst/>
          </a:prstGeom>
        </p:spPr>
      </p:pic>
      <p:sp>
        <p:nvSpPr>
          <p:cNvPr id="1048776" name="Text Box 1048775"/>
          <p:cNvSpPr txBox="1"/>
          <p:nvPr/>
        </p:nvSpPr>
        <p:spPr>
          <a:xfrm rot="13104">
            <a:off x="2785908" y="1335302"/>
            <a:ext cx="6143199" cy="396240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en-GB" sz="2000" b="1">
                <a:solidFill>
                  <a:srgbClr val="FF0000"/>
                </a:solidFill>
                <a:latin typeface="Aptos"/>
              </a:rPr>
              <a:t>A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L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L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 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A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R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E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 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I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N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V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A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L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I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D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 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S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E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N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A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R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I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O</a:t>
            </a:r>
            <a:r>
              <a:rPr lang="en-US" altLang="en-GB" sz="2000" b="1">
                <a:solidFill>
                  <a:srgbClr val="FF0000"/>
                </a:solidFill>
                <a:latin typeface="Aptos"/>
              </a:rPr>
              <a:t>S</a:t>
            </a:r>
            <a:endParaRPr lang="en-US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6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77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778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79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0</a:t>
            </a:r>
            <a:endParaRPr lang="zh-CN" altLang="en-US"/>
          </a:p>
        </p:txBody>
      </p:sp>
      <p:pic>
        <p:nvPicPr>
          <p:cNvPr id="2097207" name="Picture 2097206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0" y="2094370"/>
            <a:ext cx="7620000" cy="266925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8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80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781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82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1</a:t>
            </a:r>
            <a:endParaRPr lang="zh-CN" altLang="en-US"/>
          </a:p>
        </p:txBody>
      </p:sp>
      <p:pic>
        <p:nvPicPr>
          <p:cNvPr id="2097209" name="Picture 2097208"/>
          <p:cNvPicPr/>
          <p:nvPr/>
        </p:nvPicPr>
        <p:blipFill>
          <a:blip r:embed="rId2"/>
          <a:stretch>
            <a:fillRect/>
          </a:stretch>
        </p:blipFill>
        <p:spPr>
          <a:xfrm>
            <a:off x="2355802" y="1840849"/>
            <a:ext cx="7480396" cy="317630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0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83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784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85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2</a:t>
            </a:r>
            <a:endParaRPr lang="zh-CN" altLang="en-US"/>
          </a:p>
        </p:txBody>
      </p:sp>
      <p:pic>
        <p:nvPicPr>
          <p:cNvPr id="2097211" name="Picture 2097210"/>
          <p:cNvPicPr/>
          <p:nvPr/>
        </p:nvPicPr>
        <p:blipFill>
          <a:blip r:embed="rId2"/>
          <a:stretch>
            <a:fillRect/>
          </a:stretch>
        </p:blipFill>
        <p:spPr>
          <a:xfrm>
            <a:off x="1942809" y="2368290"/>
            <a:ext cx="8306382" cy="21214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2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86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787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88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3</a:t>
            </a:r>
            <a:endParaRPr lang="zh-CN" altLang="en-US"/>
          </a:p>
        </p:txBody>
      </p:sp>
      <p:pic>
        <p:nvPicPr>
          <p:cNvPr id="2097213" name="Picture 2097212"/>
          <p:cNvPicPr/>
          <p:nvPr/>
        </p:nvPicPr>
        <p:blipFill>
          <a:blip r:embed="rId2"/>
          <a:stretch>
            <a:fillRect/>
          </a:stretch>
        </p:blipFill>
        <p:spPr>
          <a:xfrm>
            <a:off x="2966565" y="1470766"/>
            <a:ext cx="6258870" cy="391646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4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89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790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91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4</a:t>
            </a:r>
            <a:endParaRPr lang="zh-CN" altLang="en-US"/>
          </a:p>
        </p:txBody>
      </p:sp>
      <p:pic>
        <p:nvPicPr>
          <p:cNvPr id="2097215" name="Picture 2097214"/>
          <p:cNvPicPr/>
          <p:nvPr/>
        </p:nvPicPr>
        <p:blipFill>
          <a:blip r:embed="rId2"/>
          <a:stretch>
            <a:fillRect/>
          </a:stretch>
        </p:blipFill>
        <p:spPr>
          <a:xfrm>
            <a:off x="2504130" y="1980723"/>
            <a:ext cx="7183740" cy="289655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6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92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793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94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5</a:t>
            </a:r>
            <a:endParaRPr lang="zh-CN" altLang="en-US"/>
          </a:p>
        </p:txBody>
      </p:sp>
      <p:pic>
        <p:nvPicPr>
          <p:cNvPr id="2097217" name="Picture 2097216"/>
          <p:cNvPicPr/>
          <p:nvPr/>
        </p:nvPicPr>
        <p:blipFill>
          <a:blip r:embed="rId2"/>
          <a:stretch>
            <a:fillRect/>
          </a:stretch>
        </p:blipFill>
        <p:spPr>
          <a:xfrm>
            <a:off x="2219107" y="1671835"/>
            <a:ext cx="7753786" cy="35143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8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95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796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797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6</a:t>
            </a:r>
            <a:endParaRPr lang="zh-CN" altLang="en-US"/>
          </a:p>
        </p:txBody>
      </p:sp>
      <p:pic>
        <p:nvPicPr>
          <p:cNvPr id="2097219" name="Picture 2097218"/>
          <p:cNvPicPr/>
          <p:nvPr/>
        </p:nvPicPr>
        <p:blipFill>
          <a:blip r:embed="rId2"/>
          <a:stretch>
            <a:fillRect/>
          </a:stretch>
        </p:blipFill>
        <p:spPr>
          <a:xfrm>
            <a:off x="2207473" y="1951582"/>
            <a:ext cx="7777053" cy="295483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0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798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799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00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7</a:t>
            </a:r>
            <a:endParaRPr lang="zh-CN" altLang="en-US"/>
          </a:p>
        </p:txBody>
      </p:sp>
      <p:pic>
        <p:nvPicPr>
          <p:cNvPr id="2097221" name="Picture 2097220"/>
          <p:cNvPicPr/>
          <p:nvPr/>
        </p:nvPicPr>
        <p:blipFill>
          <a:blip r:embed="rId2"/>
          <a:stretch>
            <a:fillRect/>
          </a:stretch>
        </p:blipFill>
        <p:spPr>
          <a:xfrm>
            <a:off x="2501221" y="1808794"/>
            <a:ext cx="7189557" cy="324041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2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01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802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03" name="TextBox 9"/>
          <p:cNvSpPr txBox="1"/>
          <p:nvPr/>
        </p:nvSpPr>
        <p:spPr>
          <a:xfrm>
            <a:off x="393110" y="6078481"/>
            <a:ext cx="4368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 b="1" dirty="0">
                <a:solidFill>
                  <a:schemeClr val="bg1"/>
                </a:solidFill>
              </a:rPr>
              <a:t>2</a:t>
            </a:r>
            <a:r>
              <a:rPr lang="en-US" altLang="en-GB" b="1" dirty="0">
                <a:solidFill>
                  <a:schemeClr val="bg1"/>
                </a:solidFill>
              </a:rPr>
              <a:t>8</a:t>
            </a:r>
            <a:endParaRPr lang="zh-CN" altLang="en-US"/>
          </a:p>
        </p:txBody>
      </p:sp>
      <p:pic>
        <p:nvPicPr>
          <p:cNvPr id="2097223" name="Picture 2097222"/>
          <p:cNvPicPr/>
          <p:nvPr/>
        </p:nvPicPr>
        <p:blipFill>
          <a:blip r:embed="rId2"/>
          <a:stretch>
            <a:fillRect/>
          </a:stretch>
        </p:blipFill>
        <p:spPr>
          <a:xfrm>
            <a:off x="1890654" y="1469022"/>
            <a:ext cx="8275224" cy="460945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7" name="Freeform 3"/>
          <p:cNvSpPr/>
          <p:nvPr/>
        </p:nvSpPr>
        <p:spPr>
          <a:xfrm rot="18984511">
            <a:off x="2076445" y="3386329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9118" name="Freeform 3"/>
          <p:cNvSpPr/>
          <p:nvPr/>
        </p:nvSpPr>
        <p:spPr>
          <a:xfrm rot="18984511">
            <a:off x="5172479" y="332491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84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9119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Creational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9120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121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18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91" name="Picture 2097290"/>
          <p:cNvPicPr/>
          <p:nvPr/>
        </p:nvPicPr>
        <p:blipFill>
          <a:blip r:embed="rId3"/>
          <a:stretch>
            <a:fillRect/>
          </a:stretch>
        </p:blipFill>
        <p:spPr>
          <a:xfrm>
            <a:off x="2189183" y="1695767"/>
            <a:ext cx="7678168" cy="438271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2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7" name="Freeform 3"/>
          <p:cNvSpPr/>
          <p:nvPr/>
        </p:nvSpPr>
        <p:spPr>
          <a:xfrm rot="18984511">
            <a:off x="2076445" y="3386329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9128" name="Freeform 3"/>
          <p:cNvSpPr/>
          <p:nvPr/>
        </p:nvSpPr>
        <p:spPr>
          <a:xfrm rot="18984511">
            <a:off x="5172479" y="332491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90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9129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Creational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9130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131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18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92" name="Picture 2097291"/>
          <p:cNvPicPr/>
          <p:nvPr/>
        </p:nvPicPr>
        <p:blipFill>
          <a:blip r:embed="rId3"/>
          <a:srcRect t="15237" b="-13"/>
          <a:stretch>
            <a:fillRect/>
          </a:stretch>
        </p:blipFill>
        <p:spPr>
          <a:xfrm>
            <a:off x="1558901" y="2122715"/>
            <a:ext cx="9074197" cy="381925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4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04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805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06" name="TextBox 9"/>
          <p:cNvSpPr txBox="1"/>
          <p:nvPr/>
        </p:nvSpPr>
        <p:spPr>
          <a:xfrm>
            <a:off x="393110" y="607848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ar-EG" b="1" dirty="0">
                <a:solidFill>
                  <a:schemeClr val="bg1"/>
                </a:solidFill>
              </a:rPr>
              <a:t>7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807" name="Rectangle: Rounded Corners 4"/>
          <p:cNvSpPr/>
          <p:nvPr/>
        </p:nvSpPr>
        <p:spPr>
          <a:xfrm>
            <a:off x="5058770" y="1231405"/>
            <a:ext cx="2074459" cy="628953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Operators</a:t>
            </a:r>
            <a:endParaRPr lang="en-US" dirty="0"/>
          </a:p>
        </p:txBody>
      </p:sp>
      <p:sp>
        <p:nvSpPr>
          <p:cNvPr id="1048808" name="Oval 6"/>
          <p:cNvSpPr/>
          <p:nvPr/>
        </p:nvSpPr>
        <p:spPr>
          <a:xfrm>
            <a:off x="1980845" y="2828499"/>
            <a:ext cx="1678675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 dirty="0">
                <a:solidFill>
                  <a:schemeClr val="tx1"/>
                </a:solidFill>
                <a:latin typeface="Bahnschrift" panose="020B0502040204020203" pitchFamily="34" charset="0"/>
              </a:rPr>
              <a:t>Creational Operators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048809" name="Oval 7"/>
          <p:cNvSpPr/>
          <p:nvPr/>
        </p:nvSpPr>
        <p:spPr>
          <a:xfrm>
            <a:off x="8532482" y="2828498"/>
            <a:ext cx="1678675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 dirty="0">
                <a:solidFill>
                  <a:schemeClr val="tx1"/>
                </a:solidFill>
                <a:latin typeface="Bahnschrift" panose="020B0502040204020203" pitchFamily="34" charset="0"/>
              </a:rPr>
              <a:t>Pipeable Operators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048810" name="Rectangle 17"/>
          <p:cNvSpPr/>
          <p:nvPr/>
        </p:nvSpPr>
        <p:spPr>
          <a:xfrm>
            <a:off x="2114550" y="3786188"/>
            <a:ext cx="1544970" cy="1883718"/>
          </a:xfrm>
          <a:prstGeom prst="rect">
            <a:avLst/>
          </a:prstGeom>
          <a:solidFill>
            <a:srgbClr val="FFF3CD"/>
          </a:solidFill>
          <a:ln>
            <a:solidFill>
              <a:srgbClr val="F2B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Interval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Of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From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Timer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Range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811" name="TextBox 20"/>
          <p:cNvSpPr txBox="1"/>
          <p:nvPr/>
        </p:nvSpPr>
        <p:spPr>
          <a:xfrm>
            <a:off x="1156305" y="3786188"/>
            <a:ext cx="99655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b="1" dirty="0">
                <a:solidFill>
                  <a:schemeClr val="tx1"/>
                </a:solidFill>
              </a:rPr>
              <a:t>EX</a:t>
            </a:r>
            <a:r>
              <a:rPr lang="en-US" dirty="0">
                <a:solidFill>
                  <a:schemeClr val="tx1"/>
                </a:solidFill>
              </a:rPr>
              <a:t> 👉</a:t>
            </a:r>
            <a:endParaRPr lang="en-US" dirty="0"/>
          </a:p>
        </p:txBody>
      </p:sp>
      <p:sp>
        <p:nvSpPr>
          <p:cNvPr id="1048812" name="Rectangle 22"/>
          <p:cNvSpPr/>
          <p:nvPr/>
        </p:nvSpPr>
        <p:spPr>
          <a:xfrm>
            <a:off x="8666187" y="3786188"/>
            <a:ext cx="1544970" cy="1883718"/>
          </a:xfrm>
          <a:prstGeom prst="rect">
            <a:avLst/>
          </a:prstGeom>
          <a:solidFill>
            <a:srgbClr val="FFF3CD"/>
          </a:solidFill>
          <a:ln>
            <a:solidFill>
              <a:srgbClr val="F2B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Map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Filter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First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Take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TakeUntil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813" name="TextBox 23"/>
          <p:cNvSpPr txBox="1"/>
          <p:nvPr/>
        </p:nvSpPr>
        <p:spPr>
          <a:xfrm>
            <a:off x="10401952" y="3786188"/>
            <a:ext cx="99655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b="1" dirty="0">
                <a:solidFill>
                  <a:schemeClr val="tx1"/>
                </a:solidFill>
              </a:rPr>
              <a:t>👈 EX</a:t>
            </a:r>
            <a:endParaRPr lang="en-US" dirty="0"/>
          </a:p>
        </p:txBody>
      </p:sp>
      <p:cxnSp>
        <p:nvCxnSpPr>
          <p:cNvPr id="3145746" name="Connector: Elbow 36"/>
          <p:cNvCxnSpPr>
            <a:stCxn id="1048807" idx="2"/>
            <a:endCxn id="1048808" idx="0"/>
          </p:cNvCxnSpPr>
          <p:nvPr/>
        </p:nvCxnSpPr>
        <p:spPr>
          <a:xfrm rot="5400000">
            <a:off x="3974022" y="706520"/>
            <a:ext cx="968141" cy="3275817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45747" name="Connector: Elbow 38"/>
          <p:cNvCxnSpPr>
            <a:stCxn id="1048807" idx="2"/>
            <a:endCxn id="1048809" idx="0"/>
          </p:cNvCxnSpPr>
          <p:nvPr/>
        </p:nvCxnSpPr>
        <p:spPr>
          <a:xfrm rot="16200000" flipH="1">
            <a:off x="7249840" y="706518"/>
            <a:ext cx="968140" cy="3275820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48814" name="TextBox 43"/>
          <p:cNvSpPr txBox="1"/>
          <p:nvPr/>
        </p:nvSpPr>
        <p:spPr>
          <a:xfrm>
            <a:off x="10401952" y="2550844"/>
            <a:ext cx="681888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Pipe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8815" name="TextBox 45"/>
          <p:cNvSpPr txBox="1"/>
          <p:nvPr/>
        </p:nvSpPr>
        <p:spPr>
          <a:xfrm>
            <a:off x="10329399" y="2885374"/>
            <a:ext cx="2592091" cy="828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     ☝️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en-US" sz="1400" dirty="0">
                <a:latin typeface="Bahnschrift" panose="020B0502040204020203" pitchFamily="34" charset="0"/>
              </a:rPr>
              <a:t>first and then </a:t>
            </a:r>
            <a:endParaRPr lang="en-US" sz="1400" dirty="0">
              <a:latin typeface="Bahnschrift" panose="020B0502040204020203" pitchFamily="34" charset="0"/>
            </a:endParaRP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ahnschrift" panose="020B0502040204020203" pitchFamily="34" charset="0"/>
              </a:rPr>
              <a:t>     👇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4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4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4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48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48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48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8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4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8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48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48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48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48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48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08" grpId="0" animBg="1"/>
      <p:bldP spid="1048809" grpId="0" animBg="1"/>
      <p:bldP spid="1048810" grpId="0" animBg="1"/>
      <p:bldP spid="1048811" grpId="0"/>
      <p:bldP spid="1048812" grpId="0" animBg="1"/>
      <p:bldP spid="1048813" grpId="0"/>
      <p:bldP spid="1048814" grpId="0"/>
      <p:bldP spid="10488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6" name="Freeform 3"/>
          <p:cNvSpPr/>
          <p:nvPr/>
        </p:nvSpPr>
        <p:spPr>
          <a:xfrm rot="18984511">
            <a:off x="2076445" y="3386329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8817" name="Freeform 3"/>
          <p:cNvSpPr/>
          <p:nvPr/>
        </p:nvSpPr>
        <p:spPr>
          <a:xfrm rot="18984511">
            <a:off x="5172479" y="332491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25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18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Creational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819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20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18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2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304" y="1393156"/>
            <a:ext cx="4721031" cy="1254024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2097227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18184"/>
            <a:ext cx="4804229" cy="127612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2097228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305" y="2887571"/>
            <a:ext cx="4721030" cy="1254024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2097229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7029" y="4446179"/>
            <a:ext cx="7137941" cy="19586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97230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887571"/>
            <a:ext cx="4804229" cy="12761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9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9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9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97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7" name="Freeform 3"/>
          <p:cNvSpPr/>
          <p:nvPr/>
        </p:nvSpPr>
        <p:spPr>
          <a:xfrm rot="18984511">
            <a:off x="2076445" y="3386329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9098" name="Freeform 3"/>
          <p:cNvSpPr/>
          <p:nvPr/>
        </p:nvSpPr>
        <p:spPr>
          <a:xfrm rot="18984511">
            <a:off x="5172479" y="332491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68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9099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Creational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9100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101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18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74" name="Picture 2097273"/>
          <p:cNvPicPr/>
          <p:nvPr/>
        </p:nvPicPr>
        <p:blipFill>
          <a:blip r:embed="rId3"/>
          <a:stretch>
            <a:fillRect/>
          </a:stretch>
        </p:blipFill>
        <p:spPr>
          <a:xfrm>
            <a:off x="2124337" y="1257771"/>
            <a:ext cx="7137183" cy="2040817"/>
          </a:xfrm>
          <a:prstGeom prst="rect">
            <a:avLst/>
          </a:prstGeom>
        </p:spPr>
      </p:pic>
      <p:pic>
        <p:nvPicPr>
          <p:cNvPr id="2097276" name="Picture 2097275"/>
          <p:cNvPicPr/>
          <p:nvPr/>
        </p:nvPicPr>
        <p:blipFill>
          <a:blip r:embed="rId4"/>
          <a:stretch>
            <a:fillRect/>
          </a:stretch>
        </p:blipFill>
        <p:spPr>
          <a:xfrm>
            <a:off x="2153766" y="3428999"/>
            <a:ext cx="7107754" cy="319398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43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98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Event Observable</a:t>
            </a:r>
            <a:endParaRPr lang="en-US" sz="3200" dirty="0">
              <a:latin typeface="Google Sans"/>
            </a:endParaRPr>
          </a:p>
        </p:txBody>
      </p:sp>
      <p:sp>
        <p:nvSpPr>
          <p:cNvPr id="1048899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00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25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901" name="Oval 2"/>
          <p:cNvSpPr/>
          <p:nvPr/>
        </p:nvSpPr>
        <p:spPr>
          <a:xfrm>
            <a:off x="2367776" y="2044916"/>
            <a:ext cx="1938012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JavaScript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48902" name="Rectangle 4"/>
          <p:cNvSpPr/>
          <p:nvPr/>
        </p:nvSpPr>
        <p:spPr>
          <a:xfrm>
            <a:off x="911394" y="2944359"/>
            <a:ext cx="4850777" cy="1874384"/>
          </a:xfrm>
          <a:prstGeom prst="rect">
            <a:avLst/>
          </a:prstGeom>
          <a:solidFill>
            <a:srgbClr val="FFF3CD"/>
          </a:solidFill>
          <a:ln>
            <a:solidFill>
              <a:srgbClr val="F2B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document.getElementsByTagName(“body”)[0]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addEventListener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’, 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=&gt; {“You Clicked Now”})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903" name="Oval 5"/>
          <p:cNvSpPr/>
          <p:nvPr/>
        </p:nvSpPr>
        <p:spPr>
          <a:xfrm>
            <a:off x="7886211" y="2044916"/>
            <a:ext cx="1938012" cy="600501"/>
          </a:xfrm>
          <a:prstGeom prst="ellipse">
            <a:avLst/>
          </a:prstGeom>
          <a:solidFill>
            <a:srgbClr val="AF3EC6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RXJS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48904" name="Rectangle 7"/>
          <p:cNvSpPr/>
          <p:nvPr/>
        </p:nvSpPr>
        <p:spPr>
          <a:xfrm>
            <a:off x="6429829" y="2944359"/>
            <a:ext cx="4850777" cy="1874384"/>
          </a:xfrm>
          <a:prstGeom prst="rect">
            <a:avLst/>
          </a:prstGeom>
          <a:solidFill>
            <a:srgbClr val="F6DEF3"/>
          </a:solidFill>
          <a:ln>
            <a:solidFill>
              <a:srgbClr val="AF3E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{fromEvent} from ‘rxjs’;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evt$ = 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fromEvent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‘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’);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evt$.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subscribe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({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next: () =&gt; {“You Clicked Now”}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})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905" name="TextBox 13"/>
          <p:cNvSpPr txBox="1"/>
          <p:nvPr/>
        </p:nvSpPr>
        <p:spPr>
          <a:xfrm>
            <a:off x="10159072" y="2261897"/>
            <a:ext cx="2293257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chemeClr val="tx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Return Observable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cxnSp>
        <p:nvCxnSpPr>
          <p:cNvPr id="3145766" name="Connector: Curved 16"/>
          <p:cNvCxnSpPr>
            <a:endCxn id="1048905" idx="2"/>
          </p:cNvCxnSpPr>
          <p:nvPr/>
        </p:nvCxnSpPr>
        <p:spPr>
          <a:xfrm rot="5400000" flipH="1" flipV="1">
            <a:off x="10407475" y="2657775"/>
            <a:ext cx="955550" cy="84090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48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489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489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489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489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48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45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01" grpId="0" animBg="1"/>
      <p:bldP spid="1048902" grpId="0" animBg="1"/>
      <p:bldP spid="1048903" grpId="0" animBg="1"/>
      <p:bldP spid="1048904" grpId="0" animBg="1"/>
      <p:bldP spid="104890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7" name="Freeform 3"/>
          <p:cNvSpPr/>
          <p:nvPr/>
        </p:nvSpPr>
        <p:spPr>
          <a:xfrm rot="18984511">
            <a:off x="2076445" y="3386329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9108" name="Freeform 3"/>
          <p:cNvSpPr/>
          <p:nvPr/>
        </p:nvSpPr>
        <p:spPr>
          <a:xfrm rot="18984511">
            <a:off x="5172479" y="332491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77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9109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Creational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9110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111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18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83" name="Picture 2097282"/>
          <p:cNvPicPr/>
          <p:nvPr/>
        </p:nvPicPr>
        <p:blipFill>
          <a:blip r:embed="rId3"/>
          <a:stretch>
            <a:fillRect/>
          </a:stretch>
        </p:blipFill>
        <p:spPr>
          <a:xfrm>
            <a:off x="2594121" y="1212347"/>
            <a:ext cx="6868291" cy="503748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1" name="Freeform 3"/>
          <p:cNvSpPr/>
          <p:nvPr/>
        </p:nvSpPr>
        <p:spPr>
          <a:xfrm rot="19359907">
            <a:off x="-107699" y="2311200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8822" name="Freeform 3"/>
          <p:cNvSpPr/>
          <p:nvPr/>
        </p:nvSpPr>
        <p:spPr>
          <a:xfrm rot="19530603">
            <a:off x="4200023" y="218275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31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23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Creational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824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25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19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3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10" y="1928644"/>
            <a:ext cx="5435403" cy="3142343"/>
          </a:xfrm>
          <a:prstGeom prst="rect">
            <a:avLst/>
          </a:prstGeom>
        </p:spPr>
      </p:pic>
      <p:pic>
        <p:nvPicPr>
          <p:cNvPr id="2097233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845" y="1928644"/>
            <a:ext cx="5435404" cy="31423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7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97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4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26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Pipeable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827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28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20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829" name="Rectangle: Rounded Corners 2"/>
          <p:cNvSpPr/>
          <p:nvPr/>
        </p:nvSpPr>
        <p:spPr>
          <a:xfrm>
            <a:off x="2022579" y="3284794"/>
            <a:ext cx="3255274" cy="628953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Observable</a:t>
            </a:r>
            <a:endParaRPr lang="en-US" sz="2000" dirty="0"/>
          </a:p>
        </p:txBody>
      </p:sp>
      <p:sp>
        <p:nvSpPr>
          <p:cNvPr id="1048830" name="TextBox 5"/>
          <p:cNvSpPr txBox="1"/>
          <p:nvPr/>
        </p:nvSpPr>
        <p:spPr>
          <a:xfrm>
            <a:off x="2022579" y="2915462"/>
            <a:ext cx="3592158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 , of, timer, interval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831" name="TextBox 6"/>
          <p:cNvSpPr txBox="1"/>
          <p:nvPr/>
        </p:nvSpPr>
        <p:spPr>
          <a:xfrm>
            <a:off x="8181477" y="2678660"/>
            <a:ext cx="2675048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rgbClr val="0070C0"/>
                </a:solidFill>
                <a:latin typeface="Bahnschrift" panose="020B0502040204020203" pitchFamily="34" charset="0"/>
              </a:rPr>
              <a:t>Consumer 1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832" name="TextBox 7"/>
          <p:cNvSpPr txBox="1"/>
          <p:nvPr/>
        </p:nvSpPr>
        <p:spPr>
          <a:xfrm>
            <a:off x="8181477" y="3296826"/>
            <a:ext cx="2675048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rgbClr val="0070C0"/>
                </a:solidFill>
                <a:latin typeface="Bahnschrift" panose="020B0502040204020203" pitchFamily="34" charset="0"/>
              </a:rPr>
              <a:t>Consumer 2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833" name="TextBox 10"/>
          <p:cNvSpPr txBox="1"/>
          <p:nvPr/>
        </p:nvSpPr>
        <p:spPr>
          <a:xfrm>
            <a:off x="8181477" y="3960826"/>
            <a:ext cx="2675048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rgbClr val="0070C0"/>
                </a:solidFill>
                <a:latin typeface="Bahnschrift" panose="020B0502040204020203" pitchFamily="34" charset="0"/>
              </a:rPr>
              <a:t>Consumer 3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3145748" name="Straight Arrow Connector 14"/>
          <p:cNvCxnSpPr>
            <a:stCxn id="1048829" idx="3"/>
            <a:endCxn id="1048831" idx="1"/>
          </p:cNvCxnSpPr>
          <p:nvPr/>
        </p:nvCxnSpPr>
        <p:spPr>
          <a:xfrm flipV="1">
            <a:off x="5277853" y="2863326"/>
            <a:ext cx="2903624" cy="7359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49" name="Straight Arrow Connector 15"/>
          <p:cNvCxnSpPr>
            <a:stCxn id="1048829" idx="3"/>
            <a:endCxn id="1048832" idx="1"/>
          </p:cNvCxnSpPr>
          <p:nvPr/>
        </p:nvCxnSpPr>
        <p:spPr>
          <a:xfrm flipV="1">
            <a:off x="5277853" y="3481492"/>
            <a:ext cx="2903624" cy="1177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50" name="Straight Arrow Connector 18"/>
          <p:cNvCxnSpPr>
            <a:stCxn id="1048829" idx="3"/>
            <a:endCxn id="1048833" idx="1"/>
          </p:cNvCxnSpPr>
          <p:nvPr/>
        </p:nvCxnSpPr>
        <p:spPr>
          <a:xfrm>
            <a:off x="5277853" y="3599271"/>
            <a:ext cx="2903624" cy="54622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8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8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45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45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8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8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8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8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8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45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45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45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45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29" grpId="0" animBg="1"/>
      <p:bldP spid="1048830" grpId="0"/>
      <p:bldP spid="1048831" grpId="0"/>
      <p:bldP spid="1048832" grpId="0"/>
      <p:bldP spid="104883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5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34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Pipeable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835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36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837" name="Arrow: Right 4"/>
          <p:cNvSpPr/>
          <p:nvPr/>
        </p:nvSpPr>
        <p:spPr>
          <a:xfrm>
            <a:off x="526942" y="3037668"/>
            <a:ext cx="2417736" cy="628952"/>
          </a:xfrm>
          <a:prstGeom prst="rightArrow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38" name="TextBox 11"/>
          <p:cNvSpPr txBox="1"/>
          <p:nvPr/>
        </p:nvSpPr>
        <p:spPr>
          <a:xfrm>
            <a:off x="542440" y="2714830"/>
            <a:ext cx="2030279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 (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839" name="Rectangle: Rounded Corners 17"/>
          <p:cNvSpPr/>
          <p:nvPr/>
        </p:nvSpPr>
        <p:spPr>
          <a:xfrm>
            <a:off x="2944678" y="3037668"/>
            <a:ext cx="2867186" cy="6289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40" name="Oval 19"/>
          <p:cNvSpPr/>
          <p:nvPr/>
        </p:nvSpPr>
        <p:spPr>
          <a:xfrm>
            <a:off x="5408909" y="3037668"/>
            <a:ext cx="542441" cy="628952"/>
          </a:xfrm>
          <a:prstGeom prst="ellipse">
            <a:avLst/>
          </a:prstGeom>
          <a:solidFill>
            <a:srgbClr val="DEA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41" name="TextBox 20"/>
          <p:cNvSpPr txBox="1"/>
          <p:nvPr/>
        </p:nvSpPr>
        <p:spPr>
          <a:xfrm>
            <a:off x="4065721" y="2593470"/>
            <a:ext cx="2030279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2000" b="1" dirty="0">
                <a:latin typeface="Bahnschrift" panose="020B0502040204020203" pitchFamily="34" charset="0"/>
              </a:rPr>
              <a:t>Pipe</a:t>
            </a:r>
            <a:endParaRPr lang="en-US" b="1" dirty="0">
              <a:latin typeface="Bahnschrift" panose="020B0502040204020203" pitchFamily="34" charset="0"/>
            </a:endParaRPr>
          </a:p>
        </p:txBody>
      </p:sp>
      <p:sp>
        <p:nvSpPr>
          <p:cNvPr id="1048842" name="TextBox 21"/>
          <p:cNvSpPr txBox="1"/>
          <p:nvPr/>
        </p:nvSpPr>
        <p:spPr>
          <a:xfrm>
            <a:off x="2944678" y="3161678"/>
            <a:ext cx="2763865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Map (To Change Value)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843" name="Arrow: Right 22"/>
          <p:cNvSpPr/>
          <p:nvPr/>
        </p:nvSpPr>
        <p:spPr>
          <a:xfrm>
            <a:off x="5680129" y="3071829"/>
            <a:ext cx="2936929" cy="54903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44" name="TextBox 24"/>
          <p:cNvSpPr txBox="1"/>
          <p:nvPr/>
        </p:nvSpPr>
        <p:spPr>
          <a:xfrm>
            <a:off x="5912604" y="2530164"/>
            <a:ext cx="2260170" cy="64633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(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Transformed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latin typeface="Bahnschrift" panose="020B0502040204020203" pitchFamily="34" charset="0"/>
            </a:endParaRPr>
          </a:p>
        </p:txBody>
      </p:sp>
      <p:cxnSp>
        <p:nvCxnSpPr>
          <p:cNvPr id="3145751" name="Straight Arrow Connector 25"/>
          <p:cNvCxnSpPr/>
          <p:nvPr/>
        </p:nvCxnSpPr>
        <p:spPr>
          <a:xfrm flipV="1">
            <a:off x="8640031" y="3037668"/>
            <a:ext cx="1557854" cy="3100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52" name="Straight Arrow Connector 26"/>
          <p:cNvCxnSpPr/>
          <p:nvPr/>
        </p:nvCxnSpPr>
        <p:spPr>
          <a:xfrm>
            <a:off x="8640031" y="3347748"/>
            <a:ext cx="155785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53" name="Straight Arrow Connector 27"/>
          <p:cNvCxnSpPr/>
          <p:nvPr/>
        </p:nvCxnSpPr>
        <p:spPr>
          <a:xfrm>
            <a:off x="8640031" y="3347748"/>
            <a:ext cx="1557854" cy="3188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45" name="TextBox 41"/>
          <p:cNvSpPr txBox="1"/>
          <p:nvPr/>
        </p:nvSpPr>
        <p:spPr>
          <a:xfrm>
            <a:off x="10232107" y="2868390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1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846" name="TextBox 42"/>
          <p:cNvSpPr txBox="1"/>
          <p:nvPr/>
        </p:nvSpPr>
        <p:spPr>
          <a:xfrm>
            <a:off x="10220858" y="3206201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2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847" name="TextBox 43"/>
          <p:cNvSpPr txBox="1"/>
          <p:nvPr/>
        </p:nvSpPr>
        <p:spPr>
          <a:xfrm>
            <a:off x="10220858" y="3513759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3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8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8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8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8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8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8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8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8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8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48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48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48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48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4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45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45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4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8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48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37" grpId="0" animBg="1"/>
      <p:bldP spid="1048838" grpId="0"/>
      <p:bldP spid="1048839" grpId="0" animBg="1"/>
      <p:bldP spid="1048840" grpId="0" animBg="1"/>
      <p:bldP spid="1048841" grpId="0"/>
      <p:bldP spid="1048842" grpId="0"/>
      <p:bldP spid="1048843" grpId="0" animBg="1"/>
      <p:bldP spid="1048844" grpId="0"/>
      <p:bldP spid="1048845" grpId="0"/>
      <p:bldP spid="1048846" grpId="0"/>
      <p:bldP spid="104884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6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48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Pipeable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849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50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851" name="Arrow: Right 4"/>
          <p:cNvSpPr/>
          <p:nvPr/>
        </p:nvSpPr>
        <p:spPr>
          <a:xfrm>
            <a:off x="526942" y="3037668"/>
            <a:ext cx="2417736" cy="628952"/>
          </a:xfrm>
          <a:prstGeom prst="rightArrow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52" name="TextBox 11"/>
          <p:cNvSpPr txBox="1"/>
          <p:nvPr/>
        </p:nvSpPr>
        <p:spPr>
          <a:xfrm>
            <a:off x="542440" y="2714830"/>
            <a:ext cx="2030279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 (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853" name="Rectangle: Rounded Corners 17"/>
          <p:cNvSpPr/>
          <p:nvPr/>
        </p:nvSpPr>
        <p:spPr>
          <a:xfrm>
            <a:off x="2944678" y="3037668"/>
            <a:ext cx="2867186" cy="6289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54" name="Oval 19"/>
          <p:cNvSpPr/>
          <p:nvPr/>
        </p:nvSpPr>
        <p:spPr>
          <a:xfrm>
            <a:off x="5408909" y="3037668"/>
            <a:ext cx="542441" cy="628952"/>
          </a:xfrm>
          <a:prstGeom prst="ellipse">
            <a:avLst/>
          </a:prstGeom>
          <a:solidFill>
            <a:srgbClr val="DEA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55" name="TextBox 20"/>
          <p:cNvSpPr txBox="1"/>
          <p:nvPr/>
        </p:nvSpPr>
        <p:spPr>
          <a:xfrm>
            <a:off x="3134904" y="2592634"/>
            <a:ext cx="2475480" cy="4616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2400" b="1" dirty="0">
                <a:latin typeface="Bahnschrift" panose="020B0502040204020203" pitchFamily="34" charset="0"/>
              </a:rPr>
              <a:t>Pipe Composing</a:t>
            </a:r>
            <a:endParaRPr lang="en-US" sz="2000" b="1" dirty="0">
              <a:latin typeface="Bahnschrift" panose="020B0502040204020203" pitchFamily="34" charset="0"/>
            </a:endParaRPr>
          </a:p>
        </p:txBody>
      </p:sp>
      <p:sp>
        <p:nvSpPr>
          <p:cNvPr id="1048856" name="TextBox 21"/>
          <p:cNvSpPr txBox="1"/>
          <p:nvPr/>
        </p:nvSpPr>
        <p:spPr>
          <a:xfrm>
            <a:off x="2944678" y="3161678"/>
            <a:ext cx="2763865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   Map                 Filter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857" name="Arrow: Right 22"/>
          <p:cNvSpPr/>
          <p:nvPr/>
        </p:nvSpPr>
        <p:spPr>
          <a:xfrm>
            <a:off x="5680129" y="3071829"/>
            <a:ext cx="2936929" cy="54903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58" name="TextBox 24"/>
          <p:cNvSpPr txBox="1"/>
          <p:nvPr/>
        </p:nvSpPr>
        <p:spPr>
          <a:xfrm>
            <a:off x="5912604" y="2530164"/>
            <a:ext cx="2260170" cy="64633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(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Transformed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latin typeface="Bahnschrift" panose="020B0502040204020203" pitchFamily="34" charset="0"/>
            </a:endParaRPr>
          </a:p>
        </p:txBody>
      </p:sp>
      <p:cxnSp>
        <p:nvCxnSpPr>
          <p:cNvPr id="3145754" name="Straight Arrow Connector 25"/>
          <p:cNvCxnSpPr/>
          <p:nvPr/>
        </p:nvCxnSpPr>
        <p:spPr>
          <a:xfrm flipV="1">
            <a:off x="8640031" y="3037668"/>
            <a:ext cx="1557854" cy="3100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55" name="Straight Arrow Connector 26"/>
          <p:cNvCxnSpPr/>
          <p:nvPr/>
        </p:nvCxnSpPr>
        <p:spPr>
          <a:xfrm>
            <a:off x="8640031" y="3347748"/>
            <a:ext cx="155785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56" name="Straight Arrow Connector 27"/>
          <p:cNvCxnSpPr/>
          <p:nvPr/>
        </p:nvCxnSpPr>
        <p:spPr>
          <a:xfrm>
            <a:off x="8640031" y="3347748"/>
            <a:ext cx="1557854" cy="3188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59" name="TextBox 41"/>
          <p:cNvSpPr txBox="1"/>
          <p:nvPr/>
        </p:nvSpPr>
        <p:spPr>
          <a:xfrm>
            <a:off x="10232107" y="2868390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1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860" name="TextBox 42"/>
          <p:cNvSpPr txBox="1"/>
          <p:nvPr/>
        </p:nvSpPr>
        <p:spPr>
          <a:xfrm>
            <a:off x="10220858" y="3206201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2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861" name="TextBox 43"/>
          <p:cNvSpPr txBox="1"/>
          <p:nvPr/>
        </p:nvSpPr>
        <p:spPr>
          <a:xfrm>
            <a:off x="10220858" y="3513759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3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862" name="Arrow: Right 2"/>
          <p:cNvSpPr/>
          <p:nvPr/>
        </p:nvSpPr>
        <p:spPr>
          <a:xfrm>
            <a:off x="3797085" y="3206201"/>
            <a:ext cx="743918" cy="2931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8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8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8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8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8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8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8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4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4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48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48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48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48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45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45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45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4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4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4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51" grpId="0" animBg="1"/>
      <p:bldP spid="1048852" grpId="0"/>
      <p:bldP spid="1048853" grpId="0" animBg="1"/>
      <p:bldP spid="1048854" grpId="0" animBg="1"/>
      <p:bldP spid="1048855" grpId="0"/>
      <p:bldP spid="1048856" grpId="0"/>
      <p:bldP spid="1048857" grpId="0" animBg="1"/>
      <p:bldP spid="1048858" grpId="0"/>
      <p:bldP spid="1048859" grpId="0"/>
      <p:bldP spid="1048860" grpId="0"/>
      <p:bldP spid="1048861" grpId="0"/>
      <p:bldP spid="104886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7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63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Pipeable Operators</a:t>
            </a:r>
            <a:endParaRPr lang="en-US" sz="3200" dirty="0">
              <a:latin typeface="Google Sans"/>
            </a:endParaRPr>
          </a:p>
        </p:txBody>
      </p:sp>
      <p:sp>
        <p:nvSpPr>
          <p:cNvPr id="1048864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65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866" name="Arrow: Right 4"/>
          <p:cNvSpPr/>
          <p:nvPr/>
        </p:nvSpPr>
        <p:spPr>
          <a:xfrm>
            <a:off x="526942" y="4835472"/>
            <a:ext cx="2417736" cy="628952"/>
          </a:xfrm>
          <a:prstGeom prst="rightArrow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67" name="TextBox 11"/>
          <p:cNvSpPr txBox="1"/>
          <p:nvPr/>
        </p:nvSpPr>
        <p:spPr>
          <a:xfrm>
            <a:off x="542440" y="4512634"/>
            <a:ext cx="2030279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 (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868" name="Rectangle: Rounded Corners 17"/>
          <p:cNvSpPr/>
          <p:nvPr/>
        </p:nvSpPr>
        <p:spPr>
          <a:xfrm>
            <a:off x="2944678" y="4835472"/>
            <a:ext cx="2867186" cy="6289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69" name="Oval 19"/>
          <p:cNvSpPr/>
          <p:nvPr/>
        </p:nvSpPr>
        <p:spPr>
          <a:xfrm>
            <a:off x="5408909" y="4835472"/>
            <a:ext cx="542441" cy="628952"/>
          </a:xfrm>
          <a:prstGeom prst="ellipse">
            <a:avLst/>
          </a:prstGeom>
          <a:solidFill>
            <a:srgbClr val="DEA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70" name="TextBox 20"/>
          <p:cNvSpPr txBox="1"/>
          <p:nvPr/>
        </p:nvSpPr>
        <p:spPr>
          <a:xfrm>
            <a:off x="3134904" y="4390438"/>
            <a:ext cx="2475480" cy="4616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2400" b="1" dirty="0">
                <a:latin typeface="Bahnschrift" panose="020B0502040204020203" pitchFamily="34" charset="0"/>
              </a:rPr>
              <a:t>Pipe Composing</a:t>
            </a:r>
            <a:endParaRPr lang="en-US" sz="2000" b="1" dirty="0">
              <a:latin typeface="Bahnschrift" panose="020B0502040204020203" pitchFamily="34" charset="0"/>
            </a:endParaRPr>
          </a:p>
        </p:txBody>
      </p:sp>
      <p:sp>
        <p:nvSpPr>
          <p:cNvPr id="1048871" name="TextBox 21"/>
          <p:cNvSpPr txBox="1"/>
          <p:nvPr/>
        </p:nvSpPr>
        <p:spPr>
          <a:xfrm>
            <a:off x="2944678" y="4959482"/>
            <a:ext cx="2763865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   Map                 Filter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872" name="Arrow: Right 22"/>
          <p:cNvSpPr/>
          <p:nvPr/>
        </p:nvSpPr>
        <p:spPr>
          <a:xfrm>
            <a:off x="5680129" y="4869633"/>
            <a:ext cx="2936929" cy="54903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73" name="TextBox 24"/>
          <p:cNvSpPr txBox="1"/>
          <p:nvPr/>
        </p:nvSpPr>
        <p:spPr>
          <a:xfrm>
            <a:off x="5912604" y="4327968"/>
            <a:ext cx="2260170" cy="64633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(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Transformed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latin typeface="Bahnschrift" panose="020B0502040204020203" pitchFamily="34" charset="0"/>
            </a:endParaRPr>
          </a:p>
        </p:txBody>
      </p:sp>
      <p:cxnSp>
        <p:nvCxnSpPr>
          <p:cNvPr id="3145757" name="Straight Arrow Connector 25"/>
          <p:cNvCxnSpPr/>
          <p:nvPr/>
        </p:nvCxnSpPr>
        <p:spPr>
          <a:xfrm flipV="1">
            <a:off x="8640031" y="4835472"/>
            <a:ext cx="1557854" cy="3100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58" name="Straight Arrow Connector 26"/>
          <p:cNvCxnSpPr/>
          <p:nvPr/>
        </p:nvCxnSpPr>
        <p:spPr>
          <a:xfrm>
            <a:off x="8640031" y="5145552"/>
            <a:ext cx="155785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59" name="Straight Arrow Connector 27"/>
          <p:cNvCxnSpPr/>
          <p:nvPr/>
        </p:nvCxnSpPr>
        <p:spPr>
          <a:xfrm>
            <a:off x="8640031" y="5145552"/>
            <a:ext cx="1557854" cy="3188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74" name="TextBox 41"/>
          <p:cNvSpPr txBox="1"/>
          <p:nvPr/>
        </p:nvSpPr>
        <p:spPr>
          <a:xfrm>
            <a:off x="10232107" y="4666194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1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875" name="TextBox 42"/>
          <p:cNvSpPr txBox="1"/>
          <p:nvPr/>
        </p:nvSpPr>
        <p:spPr>
          <a:xfrm>
            <a:off x="10220858" y="5004005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2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876" name="TextBox 43"/>
          <p:cNvSpPr txBox="1"/>
          <p:nvPr/>
        </p:nvSpPr>
        <p:spPr>
          <a:xfrm>
            <a:off x="10220858" y="5311563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3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877" name="Arrow: Right 2"/>
          <p:cNvSpPr/>
          <p:nvPr/>
        </p:nvSpPr>
        <p:spPr>
          <a:xfrm>
            <a:off x="3797085" y="5004005"/>
            <a:ext cx="743918" cy="2931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78" name="Arrow: Right 5"/>
          <p:cNvSpPr/>
          <p:nvPr/>
        </p:nvSpPr>
        <p:spPr>
          <a:xfrm>
            <a:off x="526942" y="3270138"/>
            <a:ext cx="2417736" cy="628952"/>
          </a:xfrm>
          <a:prstGeom prst="rightArrow">
            <a:avLst/>
          </a:prstGeom>
          <a:solidFill>
            <a:srgbClr val="C0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79" name="TextBox 6"/>
          <p:cNvSpPr txBox="1"/>
          <p:nvPr/>
        </p:nvSpPr>
        <p:spPr>
          <a:xfrm>
            <a:off x="542440" y="2947300"/>
            <a:ext cx="2030279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 (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880" name="Rectangle: Rounded Corners 7"/>
          <p:cNvSpPr/>
          <p:nvPr/>
        </p:nvSpPr>
        <p:spPr>
          <a:xfrm>
            <a:off x="2944678" y="3270138"/>
            <a:ext cx="2867186" cy="62895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81" name="Oval 10"/>
          <p:cNvSpPr/>
          <p:nvPr/>
        </p:nvSpPr>
        <p:spPr>
          <a:xfrm>
            <a:off x="5408909" y="3270138"/>
            <a:ext cx="542441" cy="628952"/>
          </a:xfrm>
          <a:prstGeom prst="ellipse">
            <a:avLst/>
          </a:prstGeom>
          <a:solidFill>
            <a:srgbClr val="DEA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82" name="TextBox 12"/>
          <p:cNvSpPr txBox="1"/>
          <p:nvPr/>
        </p:nvSpPr>
        <p:spPr>
          <a:xfrm>
            <a:off x="4065721" y="2825940"/>
            <a:ext cx="2030279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2000" b="1" dirty="0">
                <a:latin typeface="Bahnschrift" panose="020B0502040204020203" pitchFamily="34" charset="0"/>
              </a:rPr>
              <a:t>Pipe</a:t>
            </a:r>
            <a:endParaRPr lang="en-US" b="1" dirty="0">
              <a:latin typeface="Bahnschrift" panose="020B0502040204020203" pitchFamily="34" charset="0"/>
            </a:endParaRPr>
          </a:p>
        </p:txBody>
      </p:sp>
      <p:sp>
        <p:nvSpPr>
          <p:cNvPr id="1048883" name="TextBox 13"/>
          <p:cNvSpPr txBox="1"/>
          <p:nvPr/>
        </p:nvSpPr>
        <p:spPr>
          <a:xfrm>
            <a:off x="2944678" y="3394148"/>
            <a:ext cx="2763865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Map (To Change Value)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884" name="Arrow: Right 14"/>
          <p:cNvSpPr/>
          <p:nvPr/>
        </p:nvSpPr>
        <p:spPr>
          <a:xfrm>
            <a:off x="5680129" y="3304299"/>
            <a:ext cx="2936929" cy="54903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885" name="TextBox 15"/>
          <p:cNvSpPr txBox="1"/>
          <p:nvPr/>
        </p:nvSpPr>
        <p:spPr>
          <a:xfrm>
            <a:off x="5912604" y="2762634"/>
            <a:ext cx="2260170" cy="64633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Observable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(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Transformed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latin typeface="Bahnschrift" panose="020B0502040204020203" pitchFamily="34" charset="0"/>
            </a:endParaRPr>
          </a:p>
        </p:txBody>
      </p:sp>
      <p:cxnSp>
        <p:nvCxnSpPr>
          <p:cNvPr id="3145760" name="Straight Arrow Connector 16"/>
          <p:cNvCxnSpPr/>
          <p:nvPr/>
        </p:nvCxnSpPr>
        <p:spPr>
          <a:xfrm flipV="1">
            <a:off x="8640031" y="3270138"/>
            <a:ext cx="1557854" cy="3100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61" name="Straight Arrow Connector 18"/>
          <p:cNvCxnSpPr/>
          <p:nvPr/>
        </p:nvCxnSpPr>
        <p:spPr>
          <a:xfrm>
            <a:off x="8640031" y="3580218"/>
            <a:ext cx="155785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62" name="Straight Arrow Connector 23"/>
          <p:cNvCxnSpPr/>
          <p:nvPr/>
        </p:nvCxnSpPr>
        <p:spPr>
          <a:xfrm>
            <a:off x="8640031" y="3580218"/>
            <a:ext cx="1557854" cy="3188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86" name="TextBox 28"/>
          <p:cNvSpPr txBox="1"/>
          <p:nvPr/>
        </p:nvSpPr>
        <p:spPr>
          <a:xfrm>
            <a:off x="10232107" y="3100860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1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887" name="TextBox 29"/>
          <p:cNvSpPr txBox="1"/>
          <p:nvPr/>
        </p:nvSpPr>
        <p:spPr>
          <a:xfrm>
            <a:off x="10220858" y="3438671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2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888" name="TextBox 30"/>
          <p:cNvSpPr txBox="1"/>
          <p:nvPr/>
        </p:nvSpPr>
        <p:spPr>
          <a:xfrm>
            <a:off x="10220858" y="3746229"/>
            <a:ext cx="141325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3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889" name="Rectangle: Rounded Corners 31"/>
          <p:cNvSpPr/>
          <p:nvPr/>
        </p:nvSpPr>
        <p:spPr>
          <a:xfrm>
            <a:off x="2875613" y="1796950"/>
            <a:ext cx="2417737" cy="628953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Observable</a:t>
            </a:r>
            <a:endParaRPr lang="en-US" sz="2000" dirty="0"/>
          </a:p>
        </p:txBody>
      </p:sp>
      <p:sp>
        <p:nvSpPr>
          <p:cNvPr id="1048890" name="TextBox 33"/>
          <p:cNvSpPr txBox="1"/>
          <p:nvPr/>
        </p:nvSpPr>
        <p:spPr>
          <a:xfrm>
            <a:off x="6898651" y="1359117"/>
            <a:ext cx="2675048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1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891" name="TextBox 34"/>
          <p:cNvSpPr txBox="1"/>
          <p:nvPr/>
        </p:nvSpPr>
        <p:spPr>
          <a:xfrm>
            <a:off x="6914149" y="1793340"/>
            <a:ext cx="2675048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2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1048892" name="TextBox 35"/>
          <p:cNvSpPr txBox="1"/>
          <p:nvPr/>
        </p:nvSpPr>
        <p:spPr>
          <a:xfrm>
            <a:off x="6914149" y="2240365"/>
            <a:ext cx="2675048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solidFill>
                  <a:srgbClr val="0070C0"/>
                </a:solidFill>
                <a:latin typeface="Bahnschrift" panose="020B0502040204020203" pitchFamily="34" charset="0"/>
              </a:rPr>
              <a:t>Consumer 3</a:t>
            </a:r>
            <a:endParaRPr lang="en-US" sz="16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3145763" name="Straight Arrow Connector 36"/>
          <p:cNvCxnSpPr>
            <a:stCxn id="1048889" idx="3"/>
          </p:cNvCxnSpPr>
          <p:nvPr/>
        </p:nvCxnSpPr>
        <p:spPr>
          <a:xfrm flipV="1">
            <a:off x="5293350" y="1560148"/>
            <a:ext cx="1605301" cy="5512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64" name="Straight Arrow Connector 37"/>
          <p:cNvCxnSpPr>
            <a:stCxn id="1048889" idx="3"/>
          </p:cNvCxnSpPr>
          <p:nvPr/>
        </p:nvCxnSpPr>
        <p:spPr>
          <a:xfrm flipV="1">
            <a:off x="5293350" y="1999281"/>
            <a:ext cx="1605301" cy="11214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65" name="Straight Arrow Connector 38"/>
          <p:cNvCxnSpPr>
            <a:stCxn id="1048889" idx="3"/>
          </p:cNvCxnSpPr>
          <p:nvPr/>
        </p:nvCxnSpPr>
        <p:spPr>
          <a:xfrm>
            <a:off x="5293350" y="2111427"/>
            <a:ext cx="1605301" cy="31447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8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4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48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4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4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4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45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4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4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4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4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4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4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48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48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48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48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4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4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4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4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145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45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4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48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48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48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4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048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48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45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4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14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66" grpId="0" animBg="1"/>
      <p:bldP spid="1048867" grpId="0"/>
      <p:bldP spid="1048868" grpId="0" animBg="1"/>
      <p:bldP spid="1048869" grpId="0" animBg="1"/>
      <p:bldP spid="1048870" grpId="0"/>
      <p:bldP spid="1048871" grpId="0"/>
      <p:bldP spid="1048872" grpId="0" animBg="1"/>
      <p:bldP spid="1048873" grpId="0"/>
      <p:bldP spid="1048874" grpId="0"/>
      <p:bldP spid="1048875" grpId="0"/>
      <p:bldP spid="1048876" grpId="0"/>
      <p:bldP spid="1048877" grpId="0" animBg="1"/>
      <p:bldP spid="1048878" grpId="0" animBg="1"/>
      <p:bldP spid="1048879" grpId="0"/>
      <p:bldP spid="1048880" grpId="0" animBg="1"/>
      <p:bldP spid="1048881" grpId="0" animBg="1"/>
      <p:bldP spid="1048882" grpId="0"/>
      <p:bldP spid="1048883" grpId="0"/>
      <p:bldP spid="1048884" grpId="0" animBg="1"/>
      <p:bldP spid="1048885" grpId="0"/>
      <p:bldP spid="1048886" grpId="0"/>
      <p:bldP spid="1048887" grpId="0"/>
      <p:bldP spid="1048888" grpId="0"/>
      <p:bldP spid="1048889" grpId="0" animBg="1"/>
      <p:bldP spid="1048890" grpId="0"/>
      <p:bldP spid="1048891" grpId="0"/>
      <p:bldP spid="104889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3" name="Freeform 3"/>
          <p:cNvSpPr/>
          <p:nvPr/>
        </p:nvSpPr>
        <p:spPr>
          <a:xfrm rot="19359907">
            <a:off x="-107699" y="2311200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sp>
        <p:nvSpPr>
          <p:cNvPr id="1048894" name="Freeform 3"/>
          <p:cNvSpPr/>
          <p:nvPr/>
        </p:nvSpPr>
        <p:spPr>
          <a:xfrm rot="19530603">
            <a:off x="4200023" y="2182757"/>
            <a:ext cx="6398382" cy="1006317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35000"/>
            </a:blip>
            <a:stretch>
              <a:fillRect/>
            </a:stretch>
          </a:blipFill>
        </p:spPr>
      </p:sp>
      <p:pic>
        <p:nvPicPr>
          <p:cNvPr id="2097238" name="Graphic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895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Higher Order Observables</a:t>
            </a:r>
            <a:endParaRPr lang="en-US" sz="3200" dirty="0">
              <a:latin typeface="Google Sans"/>
            </a:endParaRPr>
          </a:p>
        </p:txBody>
      </p:sp>
      <p:sp>
        <p:nvSpPr>
          <p:cNvPr id="1048896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897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24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39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22" y="1229927"/>
            <a:ext cx="4710906" cy="225350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09724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23" y="3650440"/>
            <a:ext cx="4710906" cy="23616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097241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432" y="1229927"/>
            <a:ext cx="5142740" cy="225350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097242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7432" y="3650440"/>
            <a:ext cx="5142740" cy="23616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44" name="Graphic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5701" y="5941368"/>
            <a:ext cx="586337" cy="616937"/>
          </a:xfrm>
          <a:prstGeom prst="rect">
            <a:avLst/>
          </a:prstGeom>
        </p:spPr>
      </p:pic>
      <p:sp>
        <p:nvSpPr>
          <p:cNvPr id="1048909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Async PIPE</a:t>
            </a:r>
            <a:endParaRPr lang="en-US" sz="3200" dirty="0">
              <a:latin typeface="Google Sans"/>
            </a:endParaRPr>
          </a:p>
        </p:txBody>
      </p:sp>
      <p:sp>
        <p:nvSpPr>
          <p:cNvPr id="1048910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11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26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45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29" y="1675765"/>
            <a:ext cx="4616271" cy="2692825"/>
          </a:xfrm>
          <a:prstGeom prst="rect">
            <a:avLst/>
          </a:prstGeom>
        </p:spPr>
      </p:pic>
      <p:pic>
        <p:nvPicPr>
          <p:cNvPr id="2097246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267" y="1675765"/>
            <a:ext cx="5219214" cy="2267212"/>
          </a:xfrm>
          <a:prstGeom prst="rect">
            <a:avLst/>
          </a:prstGeom>
        </p:spPr>
      </p:pic>
      <p:pic>
        <p:nvPicPr>
          <p:cNvPr id="2097247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114" y="4742977"/>
            <a:ext cx="6741886" cy="1585515"/>
          </a:xfrm>
          <a:prstGeom prst="rect">
            <a:avLst/>
          </a:prstGeom>
        </p:spPr>
      </p:pic>
      <p:sp>
        <p:nvSpPr>
          <p:cNvPr id="1048912" name="Rectangle: Rounded Corners 17"/>
          <p:cNvSpPr/>
          <p:nvPr/>
        </p:nvSpPr>
        <p:spPr>
          <a:xfrm>
            <a:off x="2144685" y="1212857"/>
            <a:ext cx="1565757" cy="416147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Service</a:t>
            </a:r>
            <a:endParaRPr lang="en-US" sz="2000" dirty="0"/>
          </a:p>
        </p:txBody>
      </p:sp>
      <p:sp>
        <p:nvSpPr>
          <p:cNvPr id="1048913" name="Rectangle: Rounded Corners 18"/>
          <p:cNvSpPr/>
          <p:nvPr/>
        </p:nvSpPr>
        <p:spPr>
          <a:xfrm>
            <a:off x="8236485" y="1222569"/>
            <a:ext cx="802777" cy="416147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TS</a:t>
            </a:r>
            <a:endParaRPr lang="en-US" sz="2000" dirty="0"/>
          </a:p>
        </p:txBody>
      </p:sp>
      <p:sp>
        <p:nvSpPr>
          <p:cNvPr id="1048914" name="Rectangle: Rounded Corners 19"/>
          <p:cNvSpPr/>
          <p:nvPr/>
        </p:nvSpPr>
        <p:spPr>
          <a:xfrm>
            <a:off x="7307286" y="4274293"/>
            <a:ext cx="1286933" cy="416147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HTML</a:t>
            </a:r>
            <a:endParaRPr lang="en-US" sz="2000" dirty="0"/>
          </a:p>
        </p:txBody>
      </p:sp>
      <p:cxnSp>
        <p:nvCxnSpPr>
          <p:cNvPr id="3145767" name="Straight Arrow Connector 21"/>
          <p:cNvCxnSpPr/>
          <p:nvPr/>
        </p:nvCxnSpPr>
        <p:spPr>
          <a:xfrm>
            <a:off x="2423886" y="3022177"/>
            <a:ext cx="3991428" cy="2587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45768" name="Straight Arrow Connector 23"/>
          <p:cNvCxnSpPr/>
          <p:nvPr/>
        </p:nvCxnSpPr>
        <p:spPr>
          <a:xfrm flipH="1">
            <a:off x="5235700" y="3429000"/>
            <a:ext cx="1586014" cy="21067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8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12" grpId="0" animBg="1"/>
      <p:bldP spid="1048913" grpId="0" animBg="1"/>
      <p:bldP spid="104891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8" name="Freeform 3"/>
          <p:cNvSpPr/>
          <p:nvPr/>
        </p:nvSpPr>
        <p:spPr>
          <a:xfrm rot="18900000">
            <a:off x="4513173" y="2705440"/>
            <a:ext cx="3533828" cy="1278603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8999"/>
            </a:blip>
            <a:stretch>
              <a:fillRect/>
            </a:stretch>
          </a:blipFill>
        </p:spPr>
      </p:sp>
      <p:sp>
        <p:nvSpPr>
          <p:cNvPr id="1048919" name="Title 1"/>
          <p:cNvSpPr>
            <a:spLocks noGrp="1"/>
          </p:cNvSpPr>
          <p:nvPr>
            <p:ph type="ctrTitle"/>
          </p:nvPr>
        </p:nvSpPr>
        <p:spPr>
          <a:xfrm>
            <a:off x="3843867" y="3322014"/>
            <a:ext cx="4504266" cy="896993"/>
          </a:xfrm>
        </p:spPr>
        <p:txBody>
          <a:bodyPr>
            <a:normAutofit fontScale="98333"/>
          </a:bodyPr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NGRX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8920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p>
            <a:endParaRPr lang="en-US"/>
          </a:p>
        </p:txBody>
      </p:sp>
      <p:pic>
        <p:nvPicPr>
          <p:cNvPr id="2097248" name="Graphic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728" y="1560655"/>
            <a:ext cx="1766544" cy="1868345"/>
          </a:xfrm>
          <a:prstGeom prst="rect">
            <a:avLst/>
          </a:prstGeom>
        </p:spPr>
      </p:pic>
      <p:sp>
        <p:nvSpPr>
          <p:cNvPr id="1048921" name="Oval 7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22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27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49" name="Graphic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172" y="5953084"/>
            <a:ext cx="586337" cy="620126"/>
          </a:xfrm>
          <a:prstGeom prst="rect">
            <a:avLst/>
          </a:prstGeom>
        </p:spPr>
      </p:pic>
      <p:sp>
        <p:nvSpPr>
          <p:cNvPr id="1048923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NGRX</a:t>
            </a:r>
            <a:endParaRPr lang="en-US" sz="3200" dirty="0">
              <a:latin typeface="Google Sans"/>
            </a:endParaRPr>
          </a:p>
        </p:txBody>
      </p:sp>
      <p:sp>
        <p:nvSpPr>
          <p:cNvPr id="1048924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25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28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926" name="Rectangle: Rounded Corners 10"/>
          <p:cNvSpPr/>
          <p:nvPr/>
        </p:nvSpPr>
        <p:spPr>
          <a:xfrm>
            <a:off x="1156306" y="2536747"/>
            <a:ext cx="2036074" cy="848140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Angular Redux</a:t>
            </a:r>
            <a:endParaRPr lang="en-US" sz="2000" dirty="0"/>
          </a:p>
        </p:txBody>
      </p:sp>
      <p:sp>
        <p:nvSpPr>
          <p:cNvPr id="1048927" name="Rectangle: Rounded Corners 11"/>
          <p:cNvSpPr/>
          <p:nvPr/>
        </p:nvSpPr>
        <p:spPr>
          <a:xfrm>
            <a:off x="4276496" y="2536747"/>
            <a:ext cx="2036074" cy="848140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State Management</a:t>
            </a:r>
            <a:endParaRPr lang="en-US" sz="2000" dirty="0"/>
          </a:p>
        </p:txBody>
      </p:sp>
      <p:sp>
        <p:nvSpPr>
          <p:cNvPr id="1048928" name="Rectangle 12"/>
          <p:cNvSpPr/>
          <p:nvPr/>
        </p:nvSpPr>
        <p:spPr>
          <a:xfrm>
            <a:off x="7396686" y="2054870"/>
            <a:ext cx="3852486" cy="1987741"/>
          </a:xfrm>
          <a:prstGeom prst="rect">
            <a:avLst/>
          </a:prstGeom>
          <a:solidFill>
            <a:srgbClr val="F1F9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29" name="Rectangle: Rounded Corners 14"/>
          <p:cNvSpPr/>
          <p:nvPr/>
        </p:nvSpPr>
        <p:spPr>
          <a:xfrm>
            <a:off x="7511698" y="2159979"/>
            <a:ext cx="1081568" cy="650754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Component</a:t>
            </a:r>
            <a:endParaRPr lang="en-US" sz="1100" b="1" dirty="0"/>
          </a:p>
        </p:txBody>
      </p:sp>
      <p:sp>
        <p:nvSpPr>
          <p:cNvPr id="1048930" name="Rectangle: Rounded Corners 15"/>
          <p:cNvSpPr/>
          <p:nvPr/>
        </p:nvSpPr>
        <p:spPr>
          <a:xfrm>
            <a:off x="10066049" y="2159979"/>
            <a:ext cx="1081568" cy="650754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Component</a:t>
            </a:r>
            <a:endParaRPr lang="en-US" sz="1100" b="1" dirty="0"/>
          </a:p>
        </p:txBody>
      </p:sp>
      <p:sp>
        <p:nvSpPr>
          <p:cNvPr id="1048931" name="Rectangle: Rounded Corners 17"/>
          <p:cNvSpPr/>
          <p:nvPr/>
        </p:nvSpPr>
        <p:spPr>
          <a:xfrm>
            <a:off x="7503847" y="3293882"/>
            <a:ext cx="1081568" cy="650754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Component</a:t>
            </a:r>
            <a:endParaRPr lang="en-US" sz="1100" b="1" dirty="0"/>
          </a:p>
        </p:txBody>
      </p:sp>
      <p:sp>
        <p:nvSpPr>
          <p:cNvPr id="1048932" name="Rectangle: Rounded Corners 18"/>
          <p:cNvSpPr/>
          <p:nvPr/>
        </p:nvSpPr>
        <p:spPr>
          <a:xfrm>
            <a:off x="10066049" y="3293882"/>
            <a:ext cx="1081568" cy="650754"/>
          </a:xfrm>
          <a:prstGeom prst="round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Component</a:t>
            </a:r>
            <a:endParaRPr lang="en-US" sz="1100" b="1" dirty="0"/>
          </a:p>
        </p:txBody>
      </p:sp>
      <p:sp>
        <p:nvSpPr>
          <p:cNvPr id="1048933" name="Oval 21"/>
          <p:cNvSpPr/>
          <p:nvPr/>
        </p:nvSpPr>
        <p:spPr>
          <a:xfrm>
            <a:off x="8547849" y="2768102"/>
            <a:ext cx="1510349" cy="600501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Data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48934" name="Oval 24"/>
          <p:cNvSpPr/>
          <p:nvPr/>
        </p:nvSpPr>
        <p:spPr>
          <a:xfrm>
            <a:off x="1891694" y="4981373"/>
            <a:ext cx="1642752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Store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48935" name="Oval 25"/>
          <p:cNvSpPr/>
          <p:nvPr/>
        </p:nvSpPr>
        <p:spPr>
          <a:xfrm>
            <a:off x="3993847" y="4981372"/>
            <a:ext cx="1642752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Reducer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48936" name="Oval 26"/>
          <p:cNvSpPr/>
          <p:nvPr/>
        </p:nvSpPr>
        <p:spPr>
          <a:xfrm>
            <a:off x="6096000" y="4981372"/>
            <a:ext cx="1642752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State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48937" name="Oval 27"/>
          <p:cNvSpPr/>
          <p:nvPr/>
        </p:nvSpPr>
        <p:spPr>
          <a:xfrm>
            <a:off x="8198153" y="4981372"/>
            <a:ext cx="1642752" cy="600501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Action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48938" name="Speech Bubble: Oval 29"/>
          <p:cNvSpPr/>
          <p:nvPr/>
        </p:nvSpPr>
        <p:spPr>
          <a:xfrm>
            <a:off x="2713070" y="4581232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?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939" name="Speech Bubble: Oval 30"/>
          <p:cNvSpPr/>
          <p:nvPr/>
        </p:nvSpPr>
        <p:spPr>
          <a:xfrm>
            <a:off x="4815223" y="4581232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?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940" name="Speech Bubble: Oval 31"/>
          <p:cNvSpPr/>
          <p:nvPr/>
        </p:nvSpPr>
        <p:spPr>
          <a:xfrm>
            <a:off x="6965033" y="4581232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?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48941" name="Speech Bubble: Oval 32"/>
          <p:cNvSpPr/>
          <p:nvPr/>
        </p:nvSpPr>
        <p:spPr>
          <a:xfrm>
            <a:off x="9035572" y="4581232"/>
            <a:ext cx="508000" cy="340360"/>
          </a:xfrm>
          <a:prstGeom prst="wedgeEllipseCallou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>
                <a:latin typeface="Arial Rounded MT Bold" panose="020F0704030504030204" pitchFamily="34" charset="0"/>
              </a:rPr>
              <a:t>?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cxnSp>
        <p:nvCxnSpPr>
          <p:cNvPr id="3145769" name="Straight Arrow Connector 33"/>
          <p:cNvCxnSpPr>
            <a:endCxn id="1048927" idx="1"/>
          </p:cNvCxnSpPr>
          <p:nvPr/>
        </p:nvCxnSpPr>
        <p:spPr>
          <a:xfrm flipV="1">
            <a:off x="3149528" y="2960817"/>
            <a:ext cx="1126968" cy="28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45770" name="Straight Arrow Connector 35"/>
          <p:cNvCxnSpPr/>
          <p:nvPr/>
        </p:nvCxnSpPr>
        <p:spPr>
          <a:xfrm flipV="1">
            <a:off x="6312570" y="2962415"/>
            <a:ext cx="1052958" cy="28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45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45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48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8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4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4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4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4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4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45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4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48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4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48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4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4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4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48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26" grpId="0" animBg="1"/>
      <p:bldP spid="1048927" grpId="0" animBg="1"/>
      <p:bldP spid="1048928" grpId="0" animBg="1"/>
      <p:bldP spid="1048929" grpId="0" animBg="1"/>
      <p:bldP spid="1048930" grpId="0" animBg="1"/>
      <p:bldP spid="1048931" grpId="0" animBg="1"/>
      <p:bldP spid="1048932" grpId="0" animBg="1"/>
      <p:bldP spid="1048933" grpId="0" animBg="1"/>
      <p:bldP spid="1048934" grpId="0" animBg="1"/>
      <p:bldP spid="1048935" grpId="0" animBg="1"/>
      <p:bldP spid="1048936" grpId="0" animBg="1"/>
      <p:bldP spid="1048937" grpId="0" animBg="1"/>
      <p:bldP spid="1048938" grpId="0" animBg="1"/>
      <p:bldP spid="1048939" grpId="0" animBg="1"/>
      <p:bldP spid="1048940" grpId="0" animBg="1"/>
      <p:bldP spid="104894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50" name="Graphic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172" y="5953084"/>
            <a:ext cx="586337" cy="620126"/>
          </a:xfrm>
          <a:prstGeom prst="rect">
            <a:avLst/>
          </a:prstGeom>
        </p:spPr>
      </p:pic>
      <p:sp>
        <p:nvSpPr>
          <p:cNvPr id="1048945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NGRX</a:t>
            </a:r>
            <a:endParaRPr lang="en-US" sz="3200" dirty="0">
              <a:latin typeface="Google Sans"/>
            </a:endParaRPr>
          </a:p>
        </p:txBody>
      </p:sp>
      <p:sp>
        <p:nvSpPr>
          <p:cNvPr id="1048946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47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29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51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917" y="2021471"/>
            <a:ext cx="7838699" cy="4409268"/>
          </a:xfrm>
          <a:prstGeom prst="rect">
            <a:avLst/>
          </a:prstGeom>
        </p:spPr>
      </p:pic>
      <p:sp>
        <p:nvSpPr>
          <p:cNvPr id="1048948" name="Rectangle 4"/>
          <p:cNvSpPr/>
          <p:nvPr/>
        </p:nvSpPr>
        <p:spPr>
          <a:xfrm>
            <a:off x="8452594" y="1202101"/>
            <a:ext cx="3382915" cy="849718"/>
          </a:xfrm>
          <a:prstGeom prst="rect">
            <a:avLst/>
          </a:prstGeom>
          <a:solidFill>
            <a:srgbClr val="F6DEF3"/>
          </a:solidFill>
          <a:ln>
            <a:solidFill>
              <a:srgbClr val="AF3E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npm i --save @ngrx/store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npm i --save @ngrx/effects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949" name="Rectangle 5"/>
          <p:cNvSpPr/>
          <p:nvPr/>
        </p:nvSpPr>
        <p:spPr>
          <a:xfrm>
            <a:off x="244494" y="1174805"/>
            <a:ext cx="2785309" cy="877014"/>
          </a:xfrm>
          <a:prstGeom prst="rect">
            <a:avLst/>
          </a:prstGeom>
          <a:solidFill>
            <a:srgbClr val="FFF3CD"/>
          </a:solidFill>
          <a:ln>
            <a:solidFill>
              <a:srgbClr val="F2B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b="1" dirty="0">
                <a:solidFill>
                  <a:srgbClr val="C00000"/>
                </a:solidFill>
                <a:cs typeface="Arial" panose="020B0604020202020204" pitchFamily="34" charset="0"/>
              </a:rPr>
              <a:t>--save </a:t>
            </a:r>
            <a:endParaRPr lang="en-US" sz="1600" b="1" dirty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Means to add this package at dependencies</a:t>
            </a:r>
            <a:endParaRPr 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8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48" grpId="0" animBg="1"/>
      <p:bldP spid="104894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3" name="Thought Bubble: Cloud 88"/>
          <p:cNvSpPr/>
          <p:nvPr/>
        </p:nvSpPr>
        <p:spPr>
          <a:xfrm>
            <a:off x="1615391" y="2233814"/>
            <a:ext cx="1261991" cy="838698"/>
          </a:xfrm>
          <a:prstGeom prst="cloudCallou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200" b="1" dirty="0">
                <a:latin typeface="Bahnschrift" panose="020B0502040204020203" pitchFamily="34" charset="0"/>
              </a:rPr>
              <a:t>Order</a:t>
            </a:r>
            <a:endParaRPr lang="en-US" sz="1000" b="1" dirty="0">
              <a:latin typeface="Bahnschrift" panose="020B0502040204020203" pitchFamily="34" charset="0"/>
            </a:endParaRPr>
          </a:p>
        </p:txBody>
      </p:sp>
      <p:pic>
        <p:nvPicPr>
          <p:cNvPr id="2097252" name="Graphic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172" y="5953084"/>
            <a:ext cx="586337" cy="620126"/>
          </a:xfrm>
          <a:prstGeom prst="rect">
            <a:avLst/>
          </a:prstGeom>
        </p:spPr>
      </p:pic>
      <p:sp>
        <p:nvSpPr>
          <p:cNvPr id="1048954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NGRX</a:t>
            </a:r>
            <a:endParaRPr lang="en-US" sz="3200" dirty="0">
              <a:latin typeface="Google Sans"/>
            </a:endParaRPr>
          </a:p>
        </p:txBody>
      </p:sp>
      <p:sp>
        <p:nvSpPr>
          <p:cNvPr id="1048955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56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30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53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142" y="3014923"/>
            <a:ext cx="4270060" cy="2381059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9725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822" y="2405190"/>
            <a:ext cx="3453053" cy="3453053"/>
          </a:xfrm>
          <a:prstGeom prst="rect">
            <a:avLst/>
          </a:prstGeom>
        </p:spPr>
      </p:pic>
      <p:pic>
        <p:nvPicPr>
          <p:cNvPr id="2097255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71" y="2865584"/>
            <a:ext cx="2405524" cy="3045292"/>
          </a:xfrm>
          <a:prstGeom prst="rect">
            <a:avLst/>
          </a:prstGeom>
        </p:spPr>
      </p:pic>
      <p:sp>
        <p:nvSpPr>
          <p:cNvPr id="1048957" name="Rectangle 18"/>
          <p:cNvSpPr/>
          <p:nvPr/>
        </p:nvSpPr>
        <p:spPr>
          <a:xfrm>
            <a:off x="6259102" y="3191256"/>
            <a:ext cx="640080" cy="10972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dirty="0">
                <a:solidFill>
                  <a:schemeClr val="bg1"/>
                </a:solidFill>
              </a:rPr>
              <a:t>------------------------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097256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569" y="3875204"/>
            <a:ext cx="513026" cy="513026"/>
          </a:xfrm>
          <a:prstGeom prst="rect">
            <a:avLst/>
          </a:prstGeom>
        </p:spPr>
      </p:pic>
      <p:sp>
        <p:nvSpPr>
          <p:cNvPr id="1048958" name="Thought Bubble: Cloud 21"/>
          <p:cNvSpPr/>
          <p:nvPr/>
        </p:nvSpPr>
        <p:spPr>
          <a:xfrm>
            <a:off x="1614104" y="2242355"/>
            <a:ext cx="1261991" cy="838698"/>
          </a:xfrm>
          <a:prstGeom prst="cloudCallou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r>
              <a:rPr lang="en-US" sz="1000" b="1" dirty="0">
                <a:latin typeface="Bahnschrift" panose="020B0502040204020203" pitchFamily="34" charset="0"/>
              </a:rPr>
              <a:t>{</a:t>
            </a:r>
            <a:endParaRPr lang="en-US" sz="1000" b="1" dirty="0">
              <a:latin typeface="Bahnschrift" panose="020B0502040204020203" pitchFamily="34" charset="0"/>
            </a:endParaRPr>
          </a:p>
          <a:p>
            <a:r>
              <a:rPr lang="en-US" sz="1000" b="1" dirty="0">
                <a:latin typeface="Bahnschrift" panose="020B0502040204020203" pitchFamily="34" charset="0"/>
              </a:rPr>
              <a:t>   Type: “   “,</a:t>
            </a:r>
            <a:endParaRPr lang="en-US" sz="1000" b="1" dirty="0">
              <a:latin typeface="Bahnschrift" panose="020B0502040204020203" pitchFamily="34" charset="0"/>
            </a:endParaRPr>
          </a:p>
          <a:p>
            <a:r>
              <a:rPr lang="en-US" sz="1000" b="1" dirty="0">
                <a:latin typeface="Bahnschrift" panose="020B0502040204020203" pitchFamily="34" charset="0"/>
              </a:rPr>
              <a:t>   Payload:.</a:t>
            </a:r>
            <a:endParaRPr lang="en-US" sz="1000" b="1" dirty="0">
              <a:latin typeface="Bahnschrift" panose="020B0502040204020203" pitchFamily="34" charset="0"/>
            </a:endParaRPr>
          </a:p>
          <a:p>
            <a:r>
              <a:rPr lang="en-US" sz="1000" b="1" dirty="0">
                <a:latin typeface="Bahnschrift" panose="020B0502040204020203" pitchFamily="34" charset="0"/>
              </a:rPr>
              <a:t>}</a:t>
            </a:r>
            <a:endParaRPr lang="en-US" sz="1000" b="1" dirty="0">
              <a:latin typeface="Bahnschrift" panose="020B0502040204020203" pitchFamily="34" charset="0"/>
            </a:endParaRPr>
          </a:p>
        </p:txBody>
      </p:sp>
      <p:sp>
        <p:nvSpPr>
          <p:cNvPr id="1048959" name="Oval 25"/>
          <p:cNvSpPr/>
          <p:nvPr/>
        </p:nvSpPr>
        <p:spPr>
          <a:xfrm>
            <a:off x="2235449" y="1342032"/>
            <a:ext cx="1017666" cy="503874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 dirty="0">
                <a:solidFill>
                  <a:schemeClr val="tx1"/>
                </a:solidFill>
                <a:latin typeface="Bahnschrift" panose="020B0502040204020203" pitchFamily="34" charset="0"/>
              </a:rPr>
              <a:t>Action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048960" name="Oval 27"/>
          <p:cNvSpPr/>
          <p:nvPr/>
        </p:nvSpPr>
        <p:spPr>
          <a:xfrm>
            <a:off x="923544" y="1360806"/>
            <a:ext cx="1096122" cy="503874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900" b="1" dirty="0">
                <a:solidFill>
                  <a:schemeClr val="bg1"/>
                </a:solidFill>
                <a:latin typeface="Bahnschrift" panose="020B0502040204020203" pitchFamily="34" charset="0"/>
              </a:rPr>
              <a:t>Component</a:t>
            </a:r>
            <a:endParaRPr lang="en-US" sz="600" b="1" dirty="0">
              <a:solidFill>
                <a:schemeClr val="bg1"/>
              </a:solidFill>
            </a:endParaRPr>
          </a:p>
        </p:txBody>
      </p:sp>
      <p:sp>
        <p:nvSpPr>
          <p:cNvPr id="1048961" name="Oval 50"/>
          <p:cNvSpPr/>
          <p:nvPr/>
        </p:nvSpPr>
        <p:spPr>
          <a:xfrm>
            <a:off x="9278048" y="1990418"/>
            <a:ext cx="1191832" cy="503874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 dirty="0">
                <a:solidFill>
                  <a:schemeClr val="tx1"/>
                </a:solidFill>
                <a:latin typeface="Bahnschrift" panose="020B0502040204020203" pitchFamily="34" charset="0"/>
              </a:rPr>
              <a:t>Reducers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048962" name="Oval 51"/>
          <p:cNvSpPr/>
          <p:nvPr/>
        </p:nvSpPr>
        <p:spPr>
          <a:xfrm>
            <a:off x="6041611" y="1990418"/>
            <a:ext cx="1017666" cy="503874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 dirty="0">
                <a:solidFill>
                  <a:schemeClr val="tx1"/>
                </a:solidFill>
                <a:latin typeface="Bahnschrift" panose="020B0502040204020203" pitchFamily="34" charset="0"/>
              </a:rPr>
              <a:t>State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048963" name="Oval 52"/>
          <p:cNvSpPr/>
          <p:nvPr/>
        </p:nvSpPr>
        <p:spPr>
          <a:xfrm>
            <a:off x="7696506" y="1105329"/>
            <a:ext cx="1017666" cy="503874"/>
          </a:xfrm>
          <a:prstGeom prst="ellipse">
            <a:avLst/>
          </a:prstGeom>
          <a:solidFill>
            <a:srgbClr val="F2B800"/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 b="1" dirty="0">
                <a:solidFill>
                  <a:schemeClr val="tx1"/>
                </a:solidFill>
                <a:latin typeface="Bahnschrift" panose="020B0502040204020203" pitchFamily="34" charset="0"/>
              </a:rPr>
              <a:t>Store</a:t>
            </a:r>
            <a:endParaRPr lang="en-US" sz="1050" b="1" dirty="0">
              <a:solidFill>
                <a:schemeClr val="tx1"/>
              </a:solidFill>
            </a:endParaRPr>
          </a:p>
        </p:txBody>
      </p:sp>
      <p:cxnSp>
        <p:nvCxnSpPr>
          <p:cNvPr id="3145771" name="Connector: Curved 55"/>
          <p:cNvCxnSpPr>
            <a:stCxn id="2097255" idx="0"/>
            <a:endCxn id="1048960" idx="3"/>
          </p:cNvCxnSpPr>
          <p:nvPr/>
        </p:nvCxnSpPr>
        <p:spPr>
          <a:xfrm rot="16200000" flipV="1">
            <a:off x="760103" y="2114854"/>
            <a:ext cx="1074695" cy="426766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72" name="Connector: Curved 60"/>
          <p:cNvCxnSpPr>
            <a:stCxn id="1048958" idx="2"/>
            <a:endCxn id="1048959" idx="5"/>
          </p:cNvCxnSpPr>
          <p:nvPr/>
        </p:nvCxnSpPr>
        <p:spPr>
          <a:xfrm flipV="1">
            <a:off x="2875043" y="1772115"/>
            <a:ext cx="229038" cy="889589"/>
          </a:xfrm>
          <a:prstGeom prst="curved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73" name="Connector: Curved 62"/>
          <p:cNvCxnSpPr>
            <a:endCxn id="1048961" idx="5"/>
          </p:cNvCxnSpPr>
          <p:nvPr/>
        </p:nvCxnSpPr>
        <p:spPr>
          <a:xfrm rot="5400000" flipH="1" flipV="1">
            <a:off x="9470675" y="2823791"/>
            <a:ext cx="1227955" cy="421376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74" name="Connector: Curved 64"/>
          <p:cNvCxnSpPr>
            <a:endCxn id="1048961" idx="4"/>
          </p:cNvCxnSpPr>
          <p:nvPr/>
        </p:nvCxnSpPr>
        <p:spPr>
          <a:xfrm flipV="1">
            <a:off x="8714172" y="2494292"/>
            <a:ext cx="1159792" cy="1090156"/>
          </a:xfrm>
          <a:prstGeom prst="curved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75" name="Connector: Curved 66"/>
          <p:cNvCxnSpPr>
            <a:endCxn id="1048961" idx="3"/>
          </p:cNvCxnSpPr>
          <p:nvPr/>
        </p:nvCxnSpPr>
        <p:spPr>
          <a:xfrm flipV="1">
            <a:off x="7616952" y="2420501"/>
            <a:ext cx="1835636" cy="1072507"/>
          </a:xfrm>
          <a:prstGeom prst="curved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76" name="Connector: Curved 68"/>
          <p:cNvCxnSpPr>
            <a:stCxn id="1048957" idx="0"/>
            <a:endCxn id="1048962" idx="3"/>
          </p:cNvCxnSpPr>
          <p:nvPr/>
        </p:nvCxnSpPr>
        <p:spPr>
          <a:xfrm rot="16200000" flipV="1">
            <a:off x="5999517" y="2611630"/>
            <a:ext cx="770755" cy="388497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77" name="Connector: Curved 70"/>
          <p:cNvCxnSpPr>
            <a:stCxn id="1048963" idx="2"/>
            <a:endCxn id="1048962" idx="0"/>
          </p:cNvCxnSpPr>
          <p:nvPr/>
        </p:nvCxnSpPr>
        <p:spPr>
          <a:xfrm rot="10800000" flipV="1">
            <a:off x="6550444" y="1357266"/>
            <a:ext cx="1146062" cy="633152"/>
          </a:xfrm>
          <a:prstGeom prst="curved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78" name="Connector: Curved 72"/>
          <p:cNvCxnSpPr>
            <a:stCxn id="1048963" idx="6"/>
            <a:endCxn id="1048961" idx="0"/>
          </p:cNvCxnSpPr>
          <p:nvPr/>
        </p:nvCxnSpPr>
        <p:spPr>
          <a:xfrm>
            <a:off x="8714172" y="1357266"/>
            <a:ext cx="1159792" cy="633152"/>
          </a:xfrm>
          <a:prstGeom prst="curved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79" name="Connector: Curved 80"/>
          <p:cNvCxnSpPr>
            <a:stCxn id="1048957" idx="2"/>
            <a:endCxn id="2097256" idx="0"/>
          </p:cNvCxnSpPr>
          <p:nvPr/>
        </p:nvCxnSpPr>
        <p:spPr>
          <a:xfrm rot="5400000" flipH="1">
            <a:off x="4237446" y="1946840"/>
            <a:ext cx="413332" cy="4270060"/>
          </a:xfrm>
          <a:prstGeom prst="curvedConnector5">
            <a:avLst>
              <a:gd name="adj1" fmla="val -55307"/>
              <a:gd name="adj2" fmla="val 12413"/>
              <a:gd name="adj3" fmla="val 414142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7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7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97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97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48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4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4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97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45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4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45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4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8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45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4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4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145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45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145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4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4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45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53" grpId="0" animBg="1"/>
      <p:bldP spid="1048957" grpId="0" animBg="1"/>
      <p:bldP spid="1048958" grpId="0" animBg="1"/>
      <p:bldP spid="1048959" grpId="0" animBg="1"/>
      <p:bldP spid="1048960" grpId="0" animBg="1"/>
      <p:bldP spid="1048961" grpId="0" animBg="1"/>
      <p:bldP spid="1048962" grpId="0" animBg="1"/>
      <p:bldP spid="104896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7" name="Thought Bubble: Cloud 11"/>
          <p:cNvSpPr/>
          <p:nvPr/>
        </p:nvSpPr>
        <p:spPr>
          <a:xfrm>
            <a:off x="3071812" y="647699"/>
            <a:ext cx="5934075" cy="1285875"/>
          </a:xfrm>
          <a:prstGeom prst="cloudCallou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dirty="0">
                <a:solidFill>
                  <a:schemeClr val="tx1"/>
                </a:solidFill>
                <a:latin typeface="Bahnschrift" panose="020B0502040204020203" pitchFamily="34" charset="0"/>
              </a:rPr>
              <a:t>State                     Reducers</a:t>
            </a:r>
            <a:endParaRPr lang="en-US" sz="16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2097257" name="Graphic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172" y="5953084"/>
            <a:ext cx="586337" cy="620126"/>
          </a:xfrm>
          <a:prstGeom prst="rect">
            <a:avLst/>
          </a:prstGeom>
        </p:spPr>
      </p:pic>
      <p:sp>
        <p:nvSpPr>
          <p:cNvPr id="1048968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69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31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970" name="Hexagon 2"/>
          <p:cNvSpPr/>
          <p:nvPr/>
        </p:nvSpPr>
        <p:spPr>
          <a:xfrm>
            <a:off x="2295525" y="4029075"/>
            <a:ext cx="1304925" cy="1124935"/>
          </a:xfrm>
          <a:prstGeom prst="hexagon">
            <a:avLst/>
          </a:prstGeom>
          <a:solidFill>
            <a:srgbClr val="F2B8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100" b="1" dirty="0">
                <a:solidFill>
                  <a:schemeClr val="tx1"/>
                </a:solidFill>
                <a:latin typeface="Bahnschrift" panose="020B0502040204020203" pitchFamily="34" charset="0"/>
              </a:rPr>
              <a:t>Component</a:t>
            </a:r>
            <a:endParaRPr lang="en-US" sz="11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48971" name="Hexagon 4"/>
          <p:cNvSpPr/>
          <p:nvPr/>
        </p:nvSpPr>
        <p:spPr>
          <a:xfrm>
            <a:off x="4314825" y="4029074"/>
            <a:ext cx="1304925" cy="1124935"/>
          </a:xfrm>
          <a:prstGeom prst="hexagon">
            <a:avLst/>
          </a:prstGeom>
          <a:solidFill>
            <a:srgbClr val="F2B8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100" b="1" dirty="0">
                <a:solidFill>
                  <a:schemeClr val="tx1"/>
                </a:solidFill>
                <a:latin typeface="Bahnschrift" panose="020B0502040204020203" pitchFamily="34" charset="0"/>
              </a:rPr>
              <a:t>Component</a:t>
            </a:r>
            <a:endParaRPr lang="en-US" sz="11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48972" name="Hexagon 5"/>
          <p:cNvSpPr/>
          <p:nvPr/>
        </p:nvSpPr>
        <p:spPr>
          <a:xfrm>
            <a:off x="6334125" y="4029074"/>
            <a:ext cx="1304925" cy="1124935"/>
          </a:xfrm>
          <a:prstGeom prst="hexagon">
            <a:avLst/>
          </a:prstGeom>
          <a:solidFill>
            <a:srgbClr val="F2B8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100" b="1" dirty="0">
                <a:solidFill>
                  <a:schemeClr val="tx1"/>
                </a:solidFill>
                <a:latin typeface="Bahnschrift" panose="020B0502040204020203" pitchFamily="34" charset="0"/>
              </a:rPr>
              <a:t>Component</a:t>
            </a:r>
            <a:endParaRPr lang="en-US" sz="11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48973" name="Hexagon 10"/>
          <p:cNvSpPr/>
          <p:nvPr/>
        </p:nvSpPr>
        <p:spPr>
          <a:xfrm>
            <a:off x="8353425" y="4029074"/>
            <a:ext cx="1304925" cy="1124935"/>
          </a:xfrm>
          <a:prstGeom prst="hexagon">
            <a:avLst/>
          </a:prstGeom>
          <a:solidFill>
            <a:srgbClr val="F2B8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100" b="1" dirty="0">
                <a:solidFill>
                  <a:schemeClr val="tx1"/>
                </a:solidFill>
                <a:latin typeface="Bahnschrift" panose="020B0502040204020203" pitchFamily="34" charset="0"/>
              </a:rPr>
              <a:t>Component</a:t>
            </a:r>
            <a:endParaRPr lang="en-US" sz="11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48974" name="TextBox 12"/>
          <p:cNvSpPr txBox="1"/>
          <p:nvPr/>
        </p:nvSpPr>
        <p:spPr>
          <a:xfrm>
            <a:off x="5023709" y="278367"/>
            <a:ext cx="2030279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Store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[</a:t>
            </a:r>
            <a:r>
              <a:rPr lang="en-US" b="1" dirty="0">
                <a:solidFill>
                  <a:srgbClr val="7030A0"/>
                </a:solidFill>
                <a:latin typeface="Bahnschrift" panose="020B0502040204020203" pitchFamily="34" charset="0"/>
              </a:rPr>
              <a:t>Data</a:t>
            </a:r>
            <a:r>
              <a:rPr lang="en-US" dirty="0">
                <a:latin typeface="Bahnschrift" panose="020B0502040204020203" pitchFamily="34" charset="0"/>
              </a:rPr>
              <a:t>]</a:t>
            </a:r>
            <a:endParaRPr lang="en-US" dirty="0">
              <a:latin typeface="Bahnschrift" panose="020B0502040204020203" pitchFamily="34" charset="0"/>
            </a:endParaRPr>
          </a:p>
        </p:txBody>
      </p:sp>
      <p:cxnSp>
        <p:nvCxnSpPr>
          <p:cNvPr id="3145780" name="Straight Arrow Connector 15"/>
          <p:cNvCxnSpPr/>
          <p:nvPr/>
        </p:nvCxnSpPr>
        <p:spPr>
          <a:xfrm flipH="1" flipV="1">
            <a:off x="7053988" y="1362075"/>
            <a:ext cx="1951899" cy="26669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975" name="TextBox 16"/>
          <p:cNvSpPr txBox="1"/>
          <p:nvPr/>
        </p:nvSpPr>
        <p:spPr>
          <a:xfrm rot="3127100">
            <a:off x="7865451" y="2510908"/>
            <a:ext cx="975949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Action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48976" name="TextBox 22"/>
          <p:cNvSpPr txBox="1"/>
          <p:nvPr/>
        </p:nvSpPr>
        <p:spPr>
          <a:xfrm>
            <a:off x="5318985" y="861654"/>
            <a:ext cx="2030279" cy="30777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400" dirty="0">
                <a:solidFill>
                  <a:srgbClr val="C00000"/>
                </a:solidFill>
                <a:latin typeface="Bahnschrift" panose="020B0502040204020203" pitchFamily="34" charset="0"/>
              </a:rPr>
              <a:t>change</a:t>
            </a:r>
            <a:endParaRPr lang="en-US" sz="140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048977" name="Freeform 4"/>
          <p:cNvSpPr/>
          <p:nvPr/>
        </p:nvSpPr>
        <p:spPr>
          <a:xfrm rot="7041367" flipH="1">
            <a:off x="5382152" y="725993"/>
            <a:ext cx="475195" cy="1050993"/>
          </a:xfrm>
          <a:custGeom>
            <a:avLst/>
            <a:gdLst/>
            <a:ahLst/>
            <a:cxnLst/>
            <a:rect l="l" t="t" r="r" b="b"/>
            <a:pathLst>
              <a:path w="1308604" h="2080151">
                <a:moveTo>
                  <a:pt x="1308604" y="0"/>
                </a:moveTo>
                <a:lnTo>
                  <a:pt x="0" y="0"/>
                </a:lnTo>
                <a:lnTo>
                  <a:pt x="0" y="2080151"/>
                </a:lnTo>
                <a:lnTo>
                  <a:pt x="1308604" y="2080151"/>
                </a:lnTo>
                <a:lnTo>
                  <a:pt x="1308604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p>
            <a:endParaRPr lang="en-US" dirty="0"/>
          </a:p>
        </p:txBody>
      </p:sp>
      <p:cxnSp>
        <p:nvCxnSpPr>
          <p:cNvPr id="3145781" name="Straight Arrow Connector 33"/>
          <p:cNvCxnSpPr/>
          <p:nvPr/>
        </p:nvCxnSpPr>
        <p:spPr>
          <a:xfrm flipH="1">
            <a:off x="2947987" y="1485900"/>
            <a:ext cx="1683638" cy="25431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82" name="Straight Arrow Connector 35"/>
          <p:cNvCxnSpPr/>
          <p:nvPr/>
        </p:nvCxnSpPr>
        <p:spPr>
          <a:xfrm>
            <a:off x="4836764" y="1485900"/>
            <a:ext cx="130523" cy="25431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83" name="Straight Arrow Connector 37"/>
          <p:cNvCxnSpPr/>
          <p:nvPr/>
        </p:nvCxnSpPr>
        <p:spPr>
          <a:xfrm>
            <a:off x="5043839" y="1485900"/>
            <a:ext cx="1942748" cy="25431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978" name="TextBox 41"/>
          <p:cNvSpPr txBox="1"/>
          <p:nvPr/>
        </p:nvSpPr>
        <p:spPr>
          <a:xfrm>
            <a:off x="3984934" y="2587109"/>
            <a:ext cx="2030279" cy="6248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Receive New Data</a:t>
            </a:r>
            <a:endParaRPr lang="en-US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4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4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4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4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4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4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4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75" grpId="0"/>
      <p:bldP spid="1048976" grpId="0"/>
      <p:bldP spid="1048977" grpId="0" animBg="1"/>
      <p:bldP spid="104897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58" name="Graphic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172" y="5953084"/>
            <a:ext cx="586337" cy="620126"/>
          </a:xfrm>
          <a:prstGeom prst="rect">
            <a:avLst/>
          </a:prstGeom>
        </p:spPr>
      </p:pic>
      <p:sp>
        <p:nvSpPr>
          <p:cNvPr id="1048982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83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32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984" name="TextBox 12"/>
          <p:cNvSpPr txBox="1"/>
          <p:nvPr/>
        </p:nvSpPr>
        <p:spPr>
          <a:xfrm>
            <a:off x="5303407" y="894250"/>
            <a:ext cx="1729515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latin typeface="Bahnschrift" panose="020B0502040204020203" pitchFamily="34" charset="0"/>
              </a:rPr>
              <a:t>AppComponent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048985" name="Rectangle: Rounded Corners 1"/>
          <p:cNvSpPr/>
          <p:nvPr/>
        </p:nvSpPr>
        <p:spPr>
          <a:xfrm>
            <a:off x="3871912" y="709612"/>
            <a:ext cx="4448175" cy="4657725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86" name="TextBox 3"/>
          <p:cNvSpPr txBox="1"/>
          <p:nvPr/>
        </p:nvSpPr>
        <p:spPr>
          <a:xfrm>
            <a:off x="4438650" y="1812696"/>
            <a:ext cx="1729515" cy="30777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400" dirty="0">
                <a:latin typeface="Bahnschrift" panose="020B0502040204020203" pitchFamily="34" charset="0"/>
              </a:rPr>
              <a:t>Component 1</a:t>
            </a:r>
            <a:endParaRPr lang="en-US" sz="1400" dirty="0">
              <a:latin typeface="Bahnschrift" panose="020B0502040204020203" pitchFamily="34" charset="0"/>
            </a:endParaRPr>
          </a:p>
        </p:txBody>
      </p:sp>
      <p:sp>
        <p:nvSpPr>
          <p:cNvPr id="1048987" name="TextBox 7"/>
          <p:cNvSpPr txBox="1"/>
          <p:nvPr/>
        </p:nvSpPr>
        <p:spPr>
          <a:xfrm>
            <a:off x="4471260" y="3572169"/>
            <a:ext cx="1729515" cy="30777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400" dirty="0">
                <a:latin typeface="Bahnschrift" panose="020B0502040204020203" pitchFamily="34" charset="0"/>
              </a:rPr>
              <a:t>Component 2</a:t>
            </a:r>
            <a:endParaRPr lang="en-US" sz="1400" dirty="0">
              <a:latin typeface="Bahnschrift" panose="020B0502040204020203" pitchFamily="34" charset="0"/>
            </a:endParaRPr>
          </a:p>
        </p:txBody>
      </p:sp>
      <p:sp>
        <p:nvSpPr>
          <p:cNvPr id="1048988" name="Rectangle: Rounded Corners 13"/>
          <p:cNvSpPr/>
          <p:nvPr/>
        </p:nvSpPr>
        <p:spPr>
          <a:xfrm>
            <a:off x="4438650" y="2101752"/>
            <a:ext cx="3524250" cy="103822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89" name="Rectangle: Rounded Corners 14"/>
          <p:cNvSpPr/>
          <p:nvPr/>
        </p:nvSpPr>
        <p:spPr>
          <a:xfrm>
            <a:off x="4438650" y="3879946"/>
            <a:ext cx="3524250" cy="103822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8990" name="Hexagon 17"/>
          <p:cNvSpPr/>
          <p:nvPr/>
        </p:nvSpPr>
        <p:spPr>
          <a:xfrm>
            <a:off x="5948362" y="2403267"/>
            <a:ext cx="504825" cy="435194"/>
          </a:xfrm>
          <a:prstGeom prst="hexagon">
            <a:avLst/>
          </a:prstGeom>
          <a:solidFill>
            <a:srgbClr val="F2B8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100" b="1" dirty="0">
                <a:solidFill>
                  <a:schemeClr val="tx1"/>
                </a:solidFill>
                <a:latin typeface="Bahnschrift" panose="020B0502040204020203" pitchFamily="34" charset="0"/>
              </a:rPr>
              <a:t>0</a:t>
            </a:r>
            <a:endParaRPr lang="en-US" sz="11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48991" name="Rectangle: Rounded Corners 19"/>
          <p:cNvSpPr/>
          <p:nvPr/>
        </p:nvSpPr>
        <p:spPr>
          <a:xfrm>
            <a:off x="5505450" y="4256328"/>
            <a:ext cx="442912" cy="30509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/>
              <a:t>+</a:t>
            </a:r>
            <a:endParaRPr lang="en-US" dirty="0"/>
          </a:p>
        </p:txBody>
      </p:sp>
      <p:sp>
        <p:nvSpPr>
          <p:cNvPr id="1048992" name="Rectangle: Rounded Corners 20"/>
          <p:cNvSpPr/>
          <p:nvPr/>
        </p:nvSpPr>
        <p:spPr>
          <a:xfrm>
            <a:off x="6503193" y="4256328"/>
            <a:ext cx="442912" cy="305090"/>
          </a:xfrm>
          <a:prstGeom prst="roundRect">
            <a:avLst/>
          </a:prstGeom>
          <a:solidFill>
            <a:srgbClr val="C0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/>
              <a:t>-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59" name="Graphic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172" y="5953084"/>
            <a:ext cx="586337" cy="620126"/>
          </a:xfrm>
          <a:prstGeom prst="rect">
            <a:avLst/>
          </a:prstGeom>
        </p:spPr>
      </p:pic>
      <p:sp>
        <p:nvSpPr>
          <p:cNvPr id="1048996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8997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33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9726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38" y="474194"/>
            <a:ext cx="3952245" cy="1921533"/>
          </a:xfrm>
          <a:prstGeom prst="rect">
            <a:avLst/>
          </a:prstGeom>
        </p:spPr>
      </p:pic>
      <p:sp>
        <p:nvSpPr>
          <p:cNvPr id="1048998" name="TextBox 11"/>
          <p:cNvSpPr txBox="1"/>
          <p:nvPr/>
        </p:nvSpPr>
        <p:spPr>
          <a:xfrm>
            <a:off x="2447453" y="134346"/>
            <a:ext cx="706614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latin typeface="Bahnschrift" panose="020B0502040204020203" pitchFamily="34" charset="0"/>
              </a:rPr>
              <a:t>Store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pic>
        <p:nvPicPr>
          <p:cNvPr id="2097261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238" y="473103"/>
            <a:ext cx="4421124" cy="1921330"/>
          </a:xfrm>
          <a:prstGeom prst="rect">
            <a:avLst/>
          </a:prstGeom>
        </p:spPr>
      </p:pic>
      <p:sp>
        <p:nvSpPr>
          <p:cNvPr id="1048999" name="TextBox 18"/>
          <p:cNvSpPr txBox="1"/>
          <p:nvPr/>
        </p:nvSpPr>
        <p:spPr>
          <a:xfrm>
            <a:off x="8803492" y="134346"/>
            <a:ext cx="1611523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latin typeface="Bahnschrift" panose="020B0502040204020203" pitchFamily="34" charset="0"/>
              </a:rPr>
              <a:t>app.config.ts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pic>
        <p:nvPicPr>
          <p:cNvPr id="209726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149" y="2488919"/>
            <a:ext cx="2758059" cy="1793140"/>
          </a:xfrm>
          <a:prstGeom prst="rect">
            <a:avLst/>
          </a:prstGeom>
        </p:spPr>
      </p:pic>
      <p:sp>
        <p:nvSpPr>
          <p:cNvPr id="1049000" name="TextBox 25"/>
          <p:cNvSpPr txBox="1"/>
          <p:nvPr/>
        </p:nvSpPr>
        <p:spPr>
          <a:xfrm>
            <a:off x="5563007" y="2150365"/>
            <a:ext cx="874342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latin typeface="Bahnschrift" panose="020B0502040204020203" pitchFamily="34" charset="0"/>
              </a:rPr>
              <a:t>Actions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pic>
        <p:nvPicPr>
          <p:cNvPr id="2097263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638" y="3454747"/>
            <a:ext cx="3496312" cy="2342889"/>
          </a:xfrm>
          <a:prstGeom prst="rect">
            <a:avLst/>
          </a:prstGeom>
        </p:spPr>
      </p:pic>
      <p:sp>
        <p:nvSpPr>
          <p:cNvPr id="1049001" name="TextBox 29"/>
          <p:cNvSpPr txBox="1"/>
          <p:nvPr/>
        </p:nvSpPr>
        <p:spPr>
          <a:xfrm>
            <a:off x="1785838" y="2869972"/>
            <a:ext cx="1573911" cy="5847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sz="1600" dirty="0">
                <a:latin typeface="Bahnschrift" panose="020B0502040204020203" pitchFamily="34" charset="0"/>
              </a:rPr>
              <a:t>Component </a:t>
            </a:r>
            <a:r>
              <a:rPr lang="en-US" sz="1600" dirty="0">
                <a:solidFill>
                  <a:srgbClr val="C00000"/>
                </a:solidFill>
                <a:latin typeface="Bahnschrift" panose="020B0502040204020203" pitchFamily="34" charset="0"/>
              </a:rPr>
              <a:t>(Sender)</a:t>
            </a:r>
            <a:endParaRPr lang="en-US" sz="160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049002" name="TextBox 30"/>
          <p:cNvSpPr txBox="1"/>
          <p:nvPr/>
        </p:nvSpPr>
        <p:spPr>
          <a:xfrm>
            <a:off x="8758288" y="2869971"/>
            <a:ext cx="1573911" cy="5847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sz="1600" dirty="0">
                <a:latin typeface="Bahnschrift" panose="020B0502040204020203" pitchFamily="34" charset="0"/>
              </a:rPr>
              <a:t>Component </a:t>
            </a:r>
            <a:r>
              <a:rPr lang="en-US" sz="1600" dirty="0">
                <a:solidFill>
                  <a:srgbClr val="C00000"/>
                </a:solidFill>
                <a:latin typeface="Bahnschrift" panose="020B0502040204020203" pitchFamily="34" charset="0"/>
              </a:rPr>
              <a:t>(Consumer)</a:t>
            </a:r>
            <a:endParaRPr lang="en-US" sz="1600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  <p:pic>
        <p:nvPicPr>
          <p:cNvPr id="2097264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613" y="3460655"/>
            <a:ext cx="3667262" cy="233698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65" name="Graphic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172" y="5953084"/>
            <a:ext cx="586337" cy="620126"/>
          </a:xfrm>
          <a:prstGeom prst="rect">
            <a:avLst/>
          </a:prstGeom>
        </p:spPr>
      </p:pic>
      <p:sp>
        <p:nvSpPr>
          <p:cNvPr id="1049006" name="Rectangle: Rounded Corners 3"/>
          <p:cNvSpPr/>
          <p:nvPr/>
        </p:nvSpPr>
        <p:spPr>
          <a:xfrm>
            <a:off x="1156305" y="459620"/>
            <a:ext cx="9743924" cy="628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NGRX [ </a:t>
            </a:r>
            <a:r>
              <a:rPr lang="en-US" sz="3200" dirty="0">
                <a:solidFill>
                  <a:srgbClr val="00B0F0"/>
                </a:solidFill>
                <a:latin typeface="Bahnschrift" panose="020B0502040204020203" pitchFamily="34" charset="0"/>
              </a:rPr>
              <a:t>SELECTORS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]</a:t>
            </a:r>
            <a:endParaRPr lang="en-US" sz="3200" dirty="0">
              <a:latin typeface="Google Sans"/>
            </a:endParaRPr>
          </a:p>
        </p:txBody>
      </p:sp>
      <p:sp>
        <p:nvSpPr>
          <p:cNvPr id="1049007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008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34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9009" name="Rectangle: Rounded Corners 1"/>
          <p:cNvSpPr/>
          <p:nvPr/>
        </p:nvSpPr>
        <p:spPr>
          <a:xfrm>
            <a:off x="152400" y="3429000"/>
            <a:ext cx="6267450" cy="12128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Let </a:t>
            </a:r>
            <a:r>
              <a:rPr lang="en-US" dirty="0">
                <a:solidFill>
                  <a:srgbClr val="C00000"/>
                </a:solidFill>
                <a:latin typeface="Bahnschrift" panose="020B0502040204020203" pitchFamily="34" charset="0"/>
              </a:rPr>
              <a:t>reducer1Sel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= CreateFeatureSelector&lt;&gt;(‘reducer1’)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US" b="1" dirty="0">
                <a:solidFill>
                  <a:srgbClr val="AF3EC6"/>
                </a:solidFill>
                <a:latin typeface="Bahnschrift" panose="020B0502040204020203" pitchFamily="34" charset="0"/>
              </a:rPr>
              <a:t>export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let </a:t>
            </a:r>
            <a:r>
              <a:rPr lang="en-US" dirty="0">
                <a:solidFill>
                  <a:srgbClr val="0070C0"/>
                </a:solidFill>
                <a:latin typeface="Bahnschrift" panose="020B0502040204020203" pitchFamily="34" charset="0"/>
              </a:rPr>
              <a:t>CounterSelector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= CreateSelector(</a:t>
            </a:r>
            <a:r>
              <a:rPr lang="en-US" dirty="0">
                <a:solidFill>
                  <a:srgbClr val="C00000"/>
                </a:solidFill>
                <a:latin typeface="Bahnschrift" panose="020B0502040204020203" pitchFamily="34" charset="0"/>
              </a:rPr>
              <a:t>reducer1Sel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49010" name="Rectangle: Rounded Corners 2"/>
          <p:cNvSpPr/>
          <p:nvPr/>
        </p:nvSpPr>
        <p:spPr>
          <a:xfrm>
            <a:off x="6526530" y="2682240"/>
            <a:ext cx="5308979" cy="26370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Counter:number = 0;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Constructor(store:Store){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 this.store.select(</a:t>
            </a:r>
            <a:r>
              <a:rPr lang="en-US" dirty="0">
                <a:solidFill>
                  <a:srgbClr val="0070C0"/>
                </a:solidFill>
                <a:latin typeface="Bahnschrift" panose="020B0502040204020203" pitchFamily="34" charset="0"/>
              </a:rPr>
              <a:t>CounterSelector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).subscribe({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                  next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:(data)=&gt;{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                        this.counter = data;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                    }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       })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}</a:t>
            </a:r>
            <a:endParaRPr lang="en-US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49011" name="TextBox 4"/>
          <p:cNvSpPr txBox="1"/>
          <p:nvPr/>
        </p:nvSpPr>
        <p:spPr>
          <a:xfrm>
            <a:off x="1156305" y="1162187"/>
            <a:ext cx="6631335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2000" dirty="0">
                <a:latin typeface="Bahnschrift" panose="020B0502040204020203" pitchFamily="34" charset="0"/>
              </a:rPr>
              <a:t>Use Part of state at Consumer Component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049012" name="TextBox 7"/>
          <p:cNvSpPr txBox="1"/>
          <p:nvPr/>
        </p:nvSpPr>
        <p:spPr>
          <a:xfrm>
            <a:off x="2436054" y="2967335"/>
            <a:ext cx="1700142" cy="4616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2400" dirty="0">
                <a:latin typeface="Bahnschrift" panose="020B0502040204020203" pitchFamily="34" charset="0"/>
              </a:rPr>
              <a:t>Selector.ts</a:t>
            </a: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1049013" name="TextBox 13"/>
          <p:cNvSpPr txBox="1"/>
          <p:nvPr/>
        </p:nvSpPr>
        <p:spPr>
          <a:xfrm>
            <a:off x="608874" y="2231637"/>
            <a:ext cx="3606959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2000" dirty="0">
                <a:latin typeface="Bahnschrift" panose="020B0502040204020203" pitchFamily="34" charset="0"/>
              </a:rPr>
              <a:t>State = {c:0, username:’  ‘ }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049014" name="TextBox 16"/>
          <p:cNvSpPr txBox="1"/>
          <p:nvPr/>
        </p:nvSpPr>
        <p:spPr>
          <a:xfrm>
            <a:off x="7428738" y="2200860"/>
            <a:ext cx="3504561" cy="4616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2400" dirty="0">
                <a:latin typeface="Bahnschrift" panose="020B0502040204020203" pitchFamily="34" charset="0"/>
              </a:rPr>
              <a:t>Consumer Component</a:t>
            </a:r>
            <a:endParaRPr lang="en-US" sz="2400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66" name="Graphic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9172" y="5953084"/>
            <a:ext cx="586337" cy="620126"/>
          </a:xfrm>
          <a:prstGeom prst="rect">
            <a:avLst/>
          </a:prstGeom>
        </p:spPr>
      </p:pic>
      <p:sp>
        <p:nvSpPr>
          <p:cNvPr id="1049018" name="Oval 8"/>
          <p:cNvSpPr/>
          <p:nvPr/>
        </p:nvSpPr>
        <p:spPr>
          <a:xfrm>
            <a:off x="412952" y="6046838"/>
            <a:ext cx="412955" cy="412955"/>
          </a:xfrm>
          <a:prstGeom prst="ellipse">
            <a:avLst/>
          </a:prstGeom>
          <a:solidFill>
            <a:srgbClr val="42525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1049019" name="TextBox 9"/>
          <p:cNvSpPr txBox="1"/>
          <p:nvPr/>
        </p:nvSpPr>
        <p:spPr>
          <a:xfrm>
            <a:off x="393110" y="607848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 dirty="0">
                <a:solidFill>
                  <a:schemeClr val="bg1"/>
                </a:solidFill>
              </a:rPr>
              <a:t>35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9020" name="TextBox 12"/>
          <p:cNvSpPr txBox="1"/>
          <p:nvPr/>
        </p:nvSpPr>
        <p:spPr>
          <a:xfrm>
            <a:off x="5303407" y="894250"/>
            <a:ext cx="190511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AppComponent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049021" name="Rectangle: Rounded Corners 1"/>
          <p:cNvSpPr/>
          <p:nvPr/>
        </p:nvSpPr>
        <p:spPr>
          <a:xfrm>
            <a:off x="3871912" y="709612"/>
            <a:ext cx="4448175" cy="4657725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9022" name="TextBox 3"/>
          <p:cNvSpPr txBox="1"/>
          <p:nvPr/>
        </p:nvSpPr>
        <p:spPr>
          <a:xfrm>
            <a:off x="4366483" y="1438425"/>
            <a:ext cx="1729515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600" dirty="0">
                <a:latin typeface="Bahnschrift" panose="020B0502040204020203" pitchFamily="34" charset="0"/>
              </a:rPr>
              <a:t>Component 1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049023" name="Rectangle: Rounded Corners 13"/>
          <p:cNvSpPr/>
          <p:nvPr/>
        </p:nvSpPr>
        <p:spPr>
          <a:xfrm>
            <a:off x="4175759" y="1803766"/>
            <a:ext cx="3840480" cy="3250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4194307" name="Table 2"/>
          <p:cNvGraphicFramePr>
            <a:graphicFrameLocks noGrp="1"/>
          </p:cNvGraphicFramePr>
          <p:nvPr/>
        </p:nvGraphicFramePr>
        <p:xfrm>
          <a:off x="4393041" y="2317164"/>
          <a:ext cx="3405915" cy="22700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5305"/>
                <a:gridCol w="1135305"/>
                <a:gridCol w="1135305"/>
              </a:tblGrid>
              <a:tr h="380316">
                <a:tc>
                  <a:txBody>
                    <a:bodyPr/>
                    <a:p>
                      <a:pPr algn="ctr"/>
                      <a:r>
                        <a:rPr lang="en-US" b="1" dirty="0"/>
                        <a:t>Name</a:t>
                      </a:r>
                      <a:endParaRPr 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b="1" dirty="0"/>
                        <a:t>Email</a:t>
                      </a:r>
                      <a:endParaRPr 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b="1" dirty="0"/>
                        <a:t>Phone</a:t>
                      </a:r>
                      <a:endParaRPr lang="en-US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1889760">
                <a:tc>
                  <a:txBody>
                    <a:bodyPr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9024" name="TextBox 4"/>
          <p:cNvSpPr txBox="1"/>
          <p:nvPr/>
        </p:nvSpPr>
        <p:spPr>
          <a:xfrm>
            <a:off x="608874" y="1422632"/>
            <a:ext cx="2959190" cy="9233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latin typeface="Bahnschrift" panose="020B0502040204020203" pitchFamily="34" charset="0"/>
              </a:rPr>
              <a:t>1- Start To Call API</a:t>
            </a:r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2- Success</a:t>
            </a:r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3- Fail</a:t>
            </a:r>
            <a:endParaRPr lang="en-US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62E32"/>
            </a:gs>
            <a:gs pos="100000">
              <a:srgbClr val="425259"/>
            </a:gs>
          </a:gsLst>
          <a:lin ang="5400000" scaled="1"/>
        </a:gradFill>
        <a:effectLst/>
      </p:bgPr>
    </p:bg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8" name="Title 1"/>
          <p:cNvSpPr>
            <a:spLocks noGrp="1"/>
          </p:cNvSpPr>
          <p:nvPr>
            <p:ph type="ctrTitle"/>
          </p:nvPr>
        </p:nvSpPr>
        <p:spPr>
          <a:xfrm>
            <a:off x="1524000" y="1781593"/>
            <a:ext cx="9144000" cy="896993"/>
          </a:xfrm>
        </p:spPr>
        <p:txBody>
          <a:bodyPr>
            <a:normAutofit fontScale="90000"/>
          </a:bodyPr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Thank You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049029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p>
            <a:endParaRPr lang="en-US"/>
          </a:p>
        </p:txBody>
      </p:sp>
      <p:pic>
        <p:nvPicPr>
          <p:cNvPr id="2097267" name="Graphic 8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55" y="3009855"/>
            <a:ext cx="1143090" cy="1143090"/>
          </a:xfrm>
          <a:prstGeom prst="rect">
            <a:avLst/>
          </a:prstGeom>
        </p:spPr>
      </p:pic>
      <p:sp>
        <p:nvSpPr>
          <p:cNvPr id="1049030" name="Title 1"/>
          <p:cNvSpPr txBox="1"/>
          <p:nvPr/>
        </p:nvSpPr>
        <p:spPr>
          <a:xfrm>
            <a:off x="1524000" y="4198204"/>
            <a:ext cx="9144000" cy="4708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mahmoudabdelazizibrahim11@gmail.com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049031" name="Freeform 3"/>
          <p:cNvSpPr/>
          <p:nvPr/>
        </p:nvSpPr>
        <p:spPr>
          <a:xfrm rot="16200000">
            <a:off x="-2480729" y="2766182"/>
            <a:ext cx="6858003" cy="1325636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</p:sp>
      <p:sp>
        <p:nvSpPr>
          <p:cNvPr id="1049032" name="Freeform 3"/>
          <p:cNvSpPr/>
          <p:nvPr/>
        </p:nvSpPr>
        <p:spPr>
          <a:xfrm rot="16200000">
            <a:off x="7901817" y="2766181"/>
            <a:ext cx="6858003" cy="1325636"/>
          </a:xfrm>
          <a:custGeom>
            <a:avLst/>
            <a:gdLst/>
            <a:ahLst/>
            <a:cxnLst/>
            <a:rect l="l" t="t" r="r" b="b"/>
            <a:pathLst>
              <a:path w="9441417" h="3416076">
                <a:moveTo>
                  <a:pt x="0" y="0"/>
                </a:moveTo>
                <a:lnTo>
                  <a:pt x="9441417" y="0"/>
                </a:lnTo>
                <a:lnTo>
                  <a:pt x="9441417" y="3416076"/>
                </a:lnTo>
                <a:lnTo>
                  <a:pt x="0" y="3416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9843BE9C8A54687BECE1C962241DE" ma:contentTypeVersion="11" ma:contentTypeDescription="Create a new document." ma:contentTypeScope="" ma:versionID="5303da4859f7fb6205292a9a253e8484">
  <xsd:schema xmlns:xsd="http://www.w3.org/2001/XMLSchema" xmlns:xs="http://www.w3.org/2001/XMLSchema" xmlns:p="http://schemas.microsoft.com/office/2006/metadata/properties" xmlns:ns2="a9426f9f-2a6a-403d-9984-0f17e3e6377d" xmlns:ns3="7473d3bc-240f-4a29-9442-65c9b41a6a64" targetNamespace="http://schemas.microsoft.com/office/2006/metadata/properties" ma:root="true" ma:fieldsID="14178f852c0080faadb1e3533221e417" ns2:_="" ns3:_="">
    <xsd:import namespace="a9426f9f-2a6a-403d-9984-0f17e3e6377d"/>
    <xsd:import namespace="7473d3bc-240f-4a29-9442-65c9b41a6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26f9f-2a6a-403d-9984-0f17e3e637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73d3bc-240f-4a29-9442-65c9b41a6a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94b558b-03e8-420f-8500-4935e605024d}" ma:internalName="TaxCatchAll" ma:showField="CatchAllData" ma:web="7473d3bc-240f-4a29-9442-65c9b41a6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73d3bc-240f-4a29-9442-65c9b41a6a64" xsi:nil="true"/>
    <lcf76f155ced4ddcb4097134ff3c332f xmlns="a9426f9f-2a6a-403d-9984-0f17e3e6377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B82E0C2-2499-4D7F-A3A7-117BA88F0C07}"/>
</file>

<file path=customXml/itemProps2.xml><?xml version="1.0" encoding="utf-8"?>
<ds:datastoreItem xmlns:ds="http://schemas.openxmlformats.org/officeDocument/2006/customXml" ds:itemID="{94783B7E-96EC-4E84-A4E6-08FA504A41A6}"/>
</file>

<file path=customXml/itemProps3.xml><?xml version="1.0" encoding="utf-8"?>
<ds:datastoreItem xmlns:ds="http://schemas.openxmlformats.org/officeDocument/2006/customXml" ds:itemID="{EE490CCD-E386-44BC-AFD2-297AC4BA1CC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4513</Words>
  <Application>WPS Presentation</Application>
  <PresentationFormat/>
  <Paragraphs>730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72" baseType="lpstr">
      <vt:lpstr>Arial</vt:lpstr>
      <vt:lpstr>SimSun</vt:lpstr>
      <vt:lpstr>Wingdings</vt:lpstr>
      <vt:lpstr>Bahnschrift</vt:lpstr>
      <vt:lpstr>Google Sans</vt:lpstr>
      <vt:lpstr>Segoe Print</vt:lpstr>
      <vt:lpstr>GulimChe</vt:lpstr>
      <vt:lpstr>Cavolini</vt:lpstr>
      <vt:lpstr>Another Shabby Light</vt:lpstr>
      <vt:lpstr>Segoe UI Symbol</vt:lpstr>
      <vt:lpstr>Arial Rounded MT Bold</vt:lpstr>
      <vt:lpstr>Aptos Display</vt:lpstr>
      <vt:lpstr>Segoe UI</vt:lpstr>
      <vt:lpstr>Aptos</vt:lpstr>
      <vt:lpstr>Microsoft YaHei</vt:lpstr>
      <vt:lpstr>Arial Unicode MS</vt:lpstr>
      <vt:lpstr>Malgun Gothic</vt:lpstr>
      <vt:lpstr>Aptos</vt:lpstr>
      <vt:lpstr>Office Theme</vt:lpstr>
      <vt:lpstr>RXJS &amp; NGRX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NGRX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RXJS &amp; NGRX</dc:title>
  <dc:creator>20912019100144</dc:creator>
  <cp:lastModifiedBy>omar waled</cp:lastModifiedBy>
  <cp:revision>2</cp:revision>
  <dcterms:created xsi:type="dcterms:W3CDTF">2026-06-22T06:20:00Z</dcterms:created>
  <dcterms:modified xsi:type="dcterms:W3CDTF">2026-06-22T08:37:42Z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0x010100E569843BE9C8A54687BECE1C962241DE</vt:lpwstr>
  </property>
  <property fmtid="{D5CDD505-2E9C-101B-9397-08002B2CF9AE}" pid="3" name="ICV">
    <vt:lpwstr>6d3368f9aa914de595598f82baeda052</vt:lpwstr>
  </property>
  <property fmtid="{D5CDD505-2E9C-101B-9397-08002B2CF9AE}" pid="4" name="KSOProductBuildVer">
    <vt:lpwstr>1033-12.1.0.26880</vt:lpwstr>
  </property>
</Properties>
</file>